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1" r:id="rId1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/>
    <p:restoredTop sz="94658"/>
  </p:normalViewPr>
  <p:slideViewPr>
    <p:cSldViewPr snapToGrid="0">
      <p:cViewPr varScale="1">
        <p:scale>
          <a:sx n="120" d="100"/>
          <a:sy n="120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BAD4190-BB31-4579-B2D0-EDB6A2E42F2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37920A-D44F-4C2F-8AA4-5FC23FEFE80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B2EAAB-7838-40CF-9914-0FAFADB75B2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EB4318-2D95-4635-82D2-6E8DD87C2A9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C8A55B-BAFD-41FC-A67F-53FF6C57327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AD86CC-A507-4AB2-AA7E-786827E63EA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148415-1EA2-48BB-9C3D-89455B08439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8C6012-10FE-4FE8-A76D-2E63F9F99ED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B2BC45-940C-44D0-9090-F7E24877BE7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76E373-C201-4735-81A1-A8C8F7A2C76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005910-B0CE-4565-A80A-F1B8FFBD970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975FC6-37E0-4468-8FEB-6B1EDF12BA9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AC2F66-A974-4145-9835-FBA2EF6B732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EB3E8E-30A0-4686-8C5A-BCE3D2C5C2A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delcontextprotocol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fhb_rainbow.png"/>
          <p:cNvPicPr/>
          <p:nvPr/>
        </p:nvPicPr>
        <p:blipFill>
          <a:blip r:embed="rId3"/>
          <a:stretch/>
        </p:blipFill>
        <p:spPr>
          <a:xfrm>
            <a:off x="-1554480" y="1828800"/>
            <a:ext cx="5028840" cy="502884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fhb_logo.png"/>
          <p:cNvPicPr/>
          <p:nvPr/>
        </p:nvPicPr>
        <p:blipFill>
          <a:blip r:embed="rId4"/>
          <a:stretch/>
        </p:blipFill>
        <p:spPr>
          <a:xfrm>
            <a:off x="8686800" y="457200"/>
            <a:ext cx="2742840" cy="502560"/>
          </a:xfrm>
          <a:prstGeom prst="rect">
            <a:avLst/>
          </a:prstGeom>
          <a:ln w="0">
            <a:noFill/>
          </a:ln>
        </p:spPr>
      </p:pic>
      <p:sp>
        <p:nvSpPr>
          <p:cNvPr id="10" name="Text 0"/>
          <p:cNvSpPr/>
          <p:nvPr/>
        </p:nvSpPr>
        <p:spPr>
          <a:xfrm>
            <a:off x="4572000" y="2148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8B0E15"/>
                </a:solidFill>
                <a:latin typeface="Calibri"/>
                <a:ea typeface="Calibri"/>
              </a:rPr>
              <a:t>AI TRAINING SERIES  ·  PART 2 OF 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26280" y="2560320"/>
            <a:ext cx="7040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8B0E15"/>
                </a:solidFill>
                <a:latin typeface="Open Sans"/>
                <a:ea typeface="Open Sans"/>
              </a:rPr>
              <a:t>The MCP Specification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0" y="352044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0" strike="noStrike" spc="-1">
                <a:solidFill>
                  <a:srgbClr val="231F20"/>
                </a:solidFill>
                <a:latin typeface="Open Sans"/>
                <a:ea typeface="Open Sans"/>
              </a:rPr>
              <a:t>From mental model to normative spec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0" y="4114800"/>
            <a:ext cx="2742840" cy="270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0" y="429768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A3536"/>
                </a:solidFill>
                <a:latin typeface="Calibri"/>
                <a:ea typeface="Calibri"/>
              </a:rPr>
              <a:t>What the protocol actually requires — primitives, lifecycle, capabilities, transports, and the security model the spec defines.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0" y="5166360"/>
            <a:ext cx="6857640" cy="7311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4754880" y="5330880"/>
            <a:ext cx="402120" cy="402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2" descr="preencoded.png"/>
          <p:cNvPicPr/>
          <p:nvPr/>
        </p:nvPicPr>
        <p:blipFill>
          <a:blip r:embed="rId5"/>
          <a:stretch/>
        </p:blipFill>
        <p:spPr>
          <a:xfrm>
            <a:off x="4843440" y="541944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5303520" y="516636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B0E15"/>
                </a:solidFill>
                <a:latin typeface="Calibri"/>
                <a:ea typeface="Calibri"/>
              </a:rPr>
              <a:t>Revision  </a:t>
            </a: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2025-11-25 (latest)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572000" y="598932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Deck 1 gave us the mental model. This deck is the rulebook.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READING A NORMATIVE SPEC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a specification gives you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500" spc="-1" dirty="0">
                <a:solidFill>
                  <a:srgbClr val="3A3536"/>
                </a:solidFill>
                <a:ea typeface="Calibri"/>
                <a:hlinkClick r:id="rId3"/>
              </a:rPr>
              <a:t>https://github.com/modelcontextprotocol</a:t>
            </a:r>
            <a:r>
              <a:rPr lang="en-US" sz="1500" spc="-1" dirty="0">
                <a:solidFill>
                  <a:srgbClr val="3A3536"/>
                </a:solidFill>
                <a:ea typeface="Calibri"/>
              </a:rPr>
              <a:t> 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457200" y="2148840"/>
            <a:ext cx="11246760" cy="1096920"/>
          </a:xfrm>
          <a:prstGeom prst="rect">
            <a:avLst/>
          </a:prstGeom>
          <a:solidFill>
            <a:srgbClr val="E3EEED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73152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4"/>
          <a:stretch/>
        </p:blipFill>
        <p:spPr>
          <a:xfrm>
            <a:off x="85212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1508760" y="231336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MUST / REQUIRED / SHALL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5303520" y="2313360"/>
            <a:ext cx="6126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An absolute requirement. A conformant implementation has no choice — omitting it means it isn't MCP.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457200" y="3429000"/>
            <a:ext cx="11246760" cy="10969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731520" y="37033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Image 1" descr="preencoded.png"/>
          <p:cNvPicPr/>
          <p:nvPr/>
        </p:nvPicPr>
        <p:blipFill>
          <a:blip r:embed="rId5"/>
          <a:stretch/>
        </p:blipFill>
        <p:spPr>
          <a:xfrm>
            <a:off x="852120" y="38239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1" name="Text 9"/>
          <p:cNvSpPr/>
          <p:nvPr/>
        </p:nvSpPr>
        <p:spPr>
          <a:xfrm>
            <a:off x="1508760" y="359352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SHOULD / RECOMMENDED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5303520" y="3593520"/>
            <a:ext cx="6126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Strongly advised. Deviation is allowed only with a clear, considered reason — and that reason is where risk often hides.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57200" y="4709160"/>
            <a:ext cx="11246760" cy="10969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731520" y="4983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Image 2" descr="preencoded.png"/>
          <p:cNvPicPr/>
          <p:nvPr/>
        </p:nvPicPr>
        <p:blipFill>
          <a:blip r:embed="rId6"/>
          <a:stretch/>
        </p:blipFill>
        <p:spPr>
          <a:xfrm>
            <a:off x="852120" y="5104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1508760" y="487368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MAY / OPTIONAL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5303520" y="4873680"/>
            <a:ext cx="6126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Genuinely discretionary. Two conformant implementations may differ here — which is exactly why behavior varies in the wild.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457200" y="6080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These keywords follow RFC 2119 / RFC 8174 — and they appear in all-caps in the spec for exactly this reason.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Image 3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1" name="Shape 17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BASE PROTOCOL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Built on JSON-RPC 2.0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Every MCP message is one of four JSON-RPC types. The presence or absence of an id is what distinguishes them — and determines whether a reply is expected.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8" name="Table 0"/>
          <p:cNvGraphicFramePr/>
          <p:nvPr/>
        </p:nvGraphicFramePr>
        <p:xfrm>
          <a:off x="457200" y="2148840"/>
          <a:ext cx="11247120" cy="3886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Message type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Has id?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Reply expected?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is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Request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Asks the other side to do something and return a result. Carries a method name and params.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Response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Matches request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The result for a specific request id. Exactly one per request.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Error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Matches request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A structured failure (code + message) for a request, instead of a result.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Notification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One-way signal. No id, no reply — e.g. "initialization complete."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Shape 3"/>
          <p:cNvSpPr/>
          <p:nvPr/>
        </p:nvSpPr>
        <p:spPr>
          <a:xfrm>
            <a:off x="457200" y="5806440"/>
            <a:ext cx="11246760" cy="54828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640080" y="58064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231F20"/>
                </a:solidFill>
                <a:latin typeface="Calibri"/>
                <a:ea typeface="Calibri"/>
              </a:rPr>
              <a:t>Stateful by design.  </a:t>
            </a: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Unlike stateless REST, an MCP connection is a session — context persists across messages until shutdown.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Image 0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53" name="Shape 6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CONNECTION LIFECYCLE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Initialize → operate → shut down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Every session moves through three phases. Nothing useful happens until initialization completes — capability negotiation gates everything.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457200" y="210312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45720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73152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3"/>
          <a:stretch/>
        </p:blipFill>
        <p:spPr>
          <a:xfrm>
            <a:off x="85608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64" name="Text 6"/>
          <p:cNvSpPr/>
          <p:nvPr/>
        </p:nvSpPr>
        <p:spPr>
          <a:xfrm>
            <a:off x="731520" y="30358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1 · Initialization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731520" y="345636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Client sends initialize (its protocol version + capabilities). Server replies with its own. Client sends an initialized notification to signal readiness.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4069080" y="3474720"/>
            <a:ext cx="164520" cy="360"/>
          </a:xfrm>
          <a:prstGeom prst="line">
            <a:avLst/>
          </a:prstGeom>
          <a:ln w="3175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4251960" y="210312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425196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452628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Image 1" descr="preencoded.png"/>
          <p:cNvPicPr/>
          <p:nvPr/>
        </p:nvPicPr>
        <p:blipFill>
          <a:blip r:embed="rId4"/>
          <a:stretch/>
        </p:blipFill>
        <p:spPr>
          <a:xfrm>
            <a:off x="465084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71" name="Text 12"/>
          <p:cNvSpPr/>
          <p:nvPr/>
        </p:nvSpPr>
        <p:spPr>
          <a:xfrm>
            <a:off x="4526280" y="30358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2 · Operation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4526280" y="345636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Normal request/response and notification traffic — bounded by what was negotiated. Tools called, resources read, prompts fetched.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7863840" y="3474720"/>
            <a:ext cx="164520" cy="360"/>
          </a:xfrm>
          <a:prstGeom prst="line">
            <a:avLst/>
          </a:prstGeom>
          <a:ln w="3175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8046720" y="210312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804672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832104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Image 2" descr="preencoded.png"/>
          <p:cNvPicPr/>
          <p:nvPr/>
        </p:nvPicPr>
        <p:blipFill>
          <a:blip r:embed="rId5"/>
          <a:stretch/>
        </p:blipFill>
        <p:spPr>
          <a:xfrm>
            <a:off x="844560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78" name="Text 18"/>
          <p:cNvSpPr/>
          <p:nvPr/>
        </p:nvSpPr>
        <p:spPr>
          <a:xfrm>
            <a:off x="8321040" y="30358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3 · Shutdown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8321040" y="345636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Either side can terminate cleanly. The transport closes; the session ends.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457200" y="5120640"/>
            <a:ext cx="11246760" cy="95976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21"/>
          <p:cNvSpPr/>
          <p:nvPr/>
        </p:nvSpPr>
        <p:spPr>
          <a:xfrm>
            <a:off x="457200" y="5120640"/>
            <a:ext cx="109440" cy="9597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777240" y="525780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WHY IT MATTERS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777240" y="553212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0E8DC"/>
                </a:solidFill>
                <a:latin typeface="Calibri"/>
                <a:ea typeface="Calibri"/>
              </a:rPr>
              <a:t>The handshake isn't a formality — it's the moment both sides commit to a protocol version and a capability set. Everything that follows is constrained by that agreement.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86" name="Shape 2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8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GATE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Capability negotiation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During initialization, each side declares what it supports. You cannot use a feature that wasn't negotiated — which makes this the spec's first security boundary.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457200" y="2194560"/>
            <a:ext cx="539460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457200" y="2194560"/>
            <a:ext cx="5394600" cy="4568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0" descr="preencoded.png"/>
          <p:cNvPicPr/>
          <p:nvPr/>
        </p:nvPicPr>
        <p:blipFill>
          <a:blip r:embed="rId3"/>
          <a:stretch/>
        </p:blipFill>
        <p:spPr>
          <a:xfrm>
            <a:off x="685800" y="22860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6" name="Text 5"/>
          <p:cNvSpPr/>
          <p:nvPr/>
        </p:nvSpPr>
        <p:spPr>
          <a:xfrm>
            <a:off x="1051560" y="2194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Server declares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731520" y="2834640"/>
            <a:ext cx="484596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tools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and whether the list can change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resources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with optional subscriptions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prompts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reusable templates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309360" y="2194560"/>
            <a:ext cx="539460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6309360" y="2194560"/>
            <a:ext cx="5394600" cy="4568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4"/>
          <a:stretch/>
        </p:blipFill>
        <p:spPr>
          <a:xfrm>
            <a:off x="6537960" y="22860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1" name="Text 9"/>
          <p:cNvSpPr/>
          <p:nvPr/>
        </p:nvSpPr>
        <p:spPr>
          <a:xfrm>
            <a:off x="6903720" y="2194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Client declares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6583680" y="2834640"/>
            <a:ext cx="484596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sampling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server may request LLM completions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roots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server may ask about FS/URI boundaries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elicitation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server may request user input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457200" y="5166360"/>
            <a:ext cx="1124676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457200" y="516636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" name="Image 2" descr="preencoded.png"/>
          <p:cNvPicPr/>
          <p:nvPr/>
        </p:nvPicPr>
        <p:blipFill>
          <a:blip r:embed="rId5"/>
          <a:stretch/>
        </p:blipFill>
        <p:spPr>
          <a:xfrm>
            <a:off x="685800" y="54406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06" name="Text 13"/>
          <p:cNvSpPr/>
          <p:nvPr/>
        </p:nvSpPr>
        <p:spPr>
          <a:xfrm>
            <a:off x="1188720" y="516636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8A5A12"/>
                </a:solidFill>
                <a:latin typeface="Calibri"/>
                <a:ea typeface="Calibri"/>
              </a:rPr>
              <a:t>Security read:  </a:t>
            </a:r>
            <a:r>
              <a:rPr lang="en-US" sz="1350" b="0" strike="noStrike" spc="-1">
                <a:solidFill>
                  <a:srgbClr val="8A5A12"/>
                </a:solidFill>
                <a:latin typeface="Calibri"/>
                <a:ea typeface="Calibri"/>
              </a:rPr>
              <a:t>negotiation is an allow-list. A capability never offered can't be invoked — so minimizing what each side declares is a concrete way to shrink the attack surface.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09" name="Shape 1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SERVER FEATURES · 1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Tools — functions the model can call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Tools are the most-used primitive: actions with side effects the LLM may choose to invoke. The spec defines two methods.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6" name="Table 0"/>
          <p:cNvGraphicFramePr/>
          <p:nvPr/>
        </p:nvGraphicFramePr>
        <p:xfrm>
          <a:off x="457200" y="2103120"/>
          <a:ext cx="1124712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Method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Direction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Purpose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tools/list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Discover available tools, each with a name, description, and input schema.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tools/call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Invoke a named tool with arguments; the server executes and returns a result.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7" name="Shape 3"/>
          <p:cNvSpPr/>
          <p:nvPr/>
        </p:nvSpPr>
        <p:spPr>
          <a:xfrm>
            <a:off x="457200" y="3931920"/>
            <a:ext cx="11246760" cy="13712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457200" y="3931920"/>
            <a:ext cx="91080" cy="13712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9" name="Image 0" descr="preencoded.png"/>
          <p:cNvPicPr/>
          <p:nvPr/>
        </p:nvPicPr>
        <p:blipFill>
          <a:blip r:embed="rId3"/>
          <a:stretch/>
        </p:blipFill>
        <p:spPr>
          <a:xfrm>
            <a:off x="713160" y="416052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20" name="Text 5"/>
          <p:cNvSpPr/>
          <p:nvPr/>
        </p:nvSpPr>
        <p:spPr>
          <a:xfrm>
            <a:off x="1280160" y="40690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A5A12"/>
                </a:solidFill>
                <a:latin typeface="Open Sans"/>
                <a:ea typeface="Open Sans"/>
              </a:rPr>
              <a:t>The spec's own warning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1280160" y="44348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8A5A12"/>
                </a:solidFill>
                <a:latin typeface="Calibri"/>
                <a:ea typeface="Calibri"/>
              </a:rPr>
              <a:t>Tool descriptions and annotations should be treated as untrusted unless they come from a server you trust. A tool represents arbitrary code execution — the host must obtain explicit user consent before invoking one. This is the spec telling you, in its own words, where the danger lives.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457200" y="5486400"/>
            <a:ext cx="11246760" cy="54828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40080" y="54864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New in 2025-11-25:  </a:t>
            </a: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sampling can now itself call tools (tools / toolChoice), and input-validation errors return as tool execution errors so the model can self-correct.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26" name="Shape 10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SERVER FEATURES · 2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Resources — context and data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Resources are read-only data the app or user brings in for the model: files, records, documents. Each is addressed by a URI.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Table 0"/>
          <p:cNvGraphicFramePr/>
          <p:nvPr/>
        </p:nvGraphicFramePr>
        <p:xfrm>
          <a:off x="457200" y="2103120"/>
          <a:ext cx="11247120" cy="283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Method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Direction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Purpose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resources/list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Enumerate available resources (and resource templates for dynamic URIs).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resources/read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Fetch the contents of a resource by URI.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resources/subscribe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Ask to be notified when a resource changes (optional capability).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notifications/…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→ Client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signals list changes or updates to a subscribed resource.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" name="Shape 3"/>
          <p:cNvSpPr/>
          <p:nvPr/>
        </p:nvSpPr>
        <p:spPr>
          <a:xfrm>
            <a:off x="457200" y="5074920"/>
            <a:ext cx="11246760" cy="1005480"/>
          </a:xfrm>
          <a:prstGeom prst="rect">
            <a:avLst/>
          </a:prstGeom>
          <a:solidFill>
            <a:srgbClr val="F7F4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3"/>
          <a:stretch/>
        </p:blipFill>
        <p:spPr>
          <a:xfrm>
            <a:off x="731520" y="53492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36" name="Text 4"/>
          <p:cNvSpPr/>
          <p:nvPr/>
        </p:nvSpPr>
        <p:spPr>
          <a:xfrm>
            <a:off x="1280160" y="5074920"/>
            <a:ext cx="10149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Calibri"/>
                <a:ea typeface="Calibri"/>
              </a:rPr>
              <a:t>In our example:  </a:t>
            </a: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the customer's transaction records would be exposed as a resource (e.g. </a:t>
            </a:r>
            <a:r>
              <a:rPr lang="en-US" sz="1350" b="0" strike="noStrike" spc="-1">
                <a:solidFill>
                  <a:srgbClr val="8B0E15"/>
                </a:solidFill>
                <a:latin typeface="Consolas"/>
                <a:ea typeface="Consolas"/>
              </a:rPr>
              <a:t>customer://1234/txns</a:t>
            </a: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) — read-only context the model reads, not an action it triggers. Control sits with the app, not the model.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39" name="Shape 6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7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SERVER FEATURES · 3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Prompts — reusable templates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Prompts are user-controlled: parameterized templates and workflows a person invokes deliberately, not something the model triggers on its own.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6" name="Table 0"/>
          <p:cNvGraphicFramePr/>
          <p:nvPr/>
        </p:nvGraphicFramePr>
        <p:xfrm>
          <a:off x="457200" y="2103120"/>
          <a:ext cx="1124712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Method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Direction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Purpose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prompts/list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Discover available prompt templates and the arguments each accepts.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prompts/get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Retrieve a prompt, with arguments filled in, ready to send to the model.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7" name="Text 3"/>
          <p:cNvSpPr/>
          <p:nvPr/>
        </p:nvSpPr>
        <p:spPr>
          <a:xfrm>
            <a:off x="457200" y="41148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B0E15"/>
                </a:solidFill>
                <a:latin typeface="Calibri"/>
                <a:ea typeface="Calibri"/>
              </a:rPr>
              <a:t>THE CONTROL AXIS — A QUICK RECAP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457200" y="4434840"/>
            <a:ext cx="3520080" cy="13712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731520" y="470916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3"/>
          <a:stretch/>
        </p:blipFill>
        <p:spPr>
          <a:xfrm>
            <a:off x="842040" y="48196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51" name="Text 6"/>
          <p:cNvSpPr/>
          <p:nvPr/>
        </p:nvSpPr>
        <p:spPr>
          <a:xfrm>
            <a:off x="1417320" y="46177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1417320" y="50292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Model-controlled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4251960" y="4434840"/>
            <a:ext cx="3520080" cy="13712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4526280" y="470916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mage 1" descr="preencoded.png"/>
          <p:cNvPicPr/>
          <p:nvPr/>
        </p:nvPicPr>
        <p:blipFill>
          <a:blip r:embed="rId4"/>
          <a:stretch/>
        </p:blipFill>
        <p:spPr>
          <a:xfrm>
            <a:off x="4636800" y="48196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56" name="Text 10"/>
          <p:cNvSpPr/>
          <p:nvPr/>
        </p:nvSpPr>
        <p:spPr>
          <a:xfrm>
            <a:off x="5212080" y="46177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Resources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5212080" y="50292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App / user-controlled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8046720" y="4434840"/>
            <a:ext cx="3520080" cy="1371240"/>
          </a:xfrm>
          <a:prstGeom prst="rect">
            <a:avLst/>
          </a:prstGeom>
          <a:solidFill>
            <a:srgbClr val="E3EEED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8321040" y="470916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2" descr="preencoded.png"/>
          <p:cNvPicPr/>
          <p:nvPr/>
        </p:nvPicPr>
        <p:blipFill>
          <a:blip r:embed="rId5"/>
          <a:stretch/>
        </p:blipFill>
        <p:spPr>
          <a:xfrm>
            <a:off x="8431560" y="48196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61" name="Text 14"/>
          <p:cNvSpPr/>
          <p:nvPr/>
        </p:nvSpPr>
        <p:spPr>
          <a:xfrm>
            <a:off x="9006840" y="46177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Prompts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9006840" y="50292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0E15"/>
                </a:solidFill>
                <a:latin typeface="Calibri"/>
                <a:ea typeface="Calibri"/>
              </a:rPr>
              <a:t>User-controlled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6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4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65" name="Shape 17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8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8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CLIENT FEATURES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the client offers the server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reverse direction, formalized. These are capabilities the client exposes — each gated by user consent the spec explicitly requires.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2" name="Table 0"/>
          <p:cNvGraphicFramePr/>
          <p:nvPr/>
        </p:nvGraphicFramePr>
        <p:xfrm>
          <a:off x="457200" y="2103120"/>
          <a:ext cx="11247120" cy="3474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Capability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Method (direction)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enables — and the required control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Sampling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sampling/createMessage  (S→C)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requests an LLM completion through the client. User must approve; server's view of the prompt is intentionally limited.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Roots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roots/list  (S→C)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asks which filesystem/URI boundaries it may operate in. The client defines the fence.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Elicitation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elicitation/create  (S→C)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requests additional input from the user mid-task. Routed and mediated by the client.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3" name="Text 3"/>
          <p:cNvSpPr/>
          <p:nvPr/>
        </p:nvSpPr>
        <p:spPr>
          <a:xfrm>
            <a:off x="457200" y="5806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S→C = server-initiated, surfaced through the client. The consent requirements aren't optional niceties — they're in the spec's security principles.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5" name="Image 0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76" name="Shape 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9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SUPPORTING CAST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Base utilities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Beyond features, the base protocol defines cross-cutting utilities every implementation can rely 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457200" y="210312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713160" y="23590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Image 0" descr="preencoded.png"/>
          <p:cNvPicPr/>
          <p:nvPr/>
        </p:nvPicPr>
        <p:blipFill>
          <a:blip r:embed="rId3"/>
          <a:stretch/>
        </p:blipFill>
        <p:spPr>
          <a:xfrm>
            <a:off x="824040" y="24699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86" name="Text 5"/>
          <p:cNvSpPr/>
          <p:nvPr/>
        </p:nvSpPr>
        <p:spPr>
          <a:xfrm>
            <a:off x="1371600" y="23774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Progress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731520" y="29718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Long-running calls can report incremental progress back to the client.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4251960" y="210312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4507920" y="23590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mage 1" descr="preencoded.png"/>
          <p:cNvPicPr/>
          <p:nvPr/>
        </p:nvPicPr>
        <p:blipFill>
          <a:blip r:embed="rId4"/>
          <a:stretch/>
        </p:blipFill>
        <p:spPr>
          <a:xfrm>
            <a:off x="4618800" y="24699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91" name="Text 9"/>
          <p:cNvSpPr/>
          <p:nvPr/>
        </p:nvSpPr>
        <p:spPr>
          <a:xfrm>
            <a:off x="5166360" y="23774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Cancellation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4526280" y="29718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Either side can cancel an in-flight request it no longer needs.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1"/>
          <p:cNvSpPr/>
          <p:nvPr/>
        </p:nvSpPr>
        <p:spPr>
          <a:xfrm>
            <a:off x="8046720" y="210312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2"/>
          <p:cNvSpPr/>
          <p:nvPr/>
        </p:nvSpPr>
        <p:spPr>
          <a:xfrm>
            <a:off x="8302680" y="23590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 2" descr="preencoded.png"/>
          <p:cNvPicPr/>
          <p:nvPr/>
        </p:nvPicPr>
        <p:blipFill>
          <a:blip r:embed="rId5"/>
          <a:stretch/>
        </p:blipFill>
        <p:spPr>
          <a:xfrm>
            <a:off x="8413560" y="24699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96" name="Text 13"/>
          <p:cNvSpPr/>
          <p:nvPr/>
        </p:nvSpPr>
        <p:spPr>
          <a:xfrm>
            <a:off x="8961120" y="23774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Logging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8321040" y="29718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Servers emit structured log messages the client can surface or record.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457200" y="397764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713160" y="423360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Image 3" descr="preencoded.png"/>
          <p:cNvPicPr/>
          <p:nvPr/>
        </p:nvPicPr>
        <p:blipFill>
          <a:blip r:embed="rId6"/>
          <a:stretch/>
        </p:blipFill>
        <p:spPr>
          <a:xfrm>
            <a:off x="824040" y="43444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01" name="Text 17"/>
          <p:cNvSpPr/>
          <p:nvPr/>
        </p:nvSpPr>
        <p:spPr>
          <a:xfrm>
            <a:off x="1371600" y="42519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Error reporting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731520" y="48463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Standardized JSON-RPC error codes make failures consistent and parseable.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4251960" y="397764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0"/>
          <p:cNvSpPr/>
          <p:nvPr/>
        </p:nvSpPr>
        <p:spPr>
          <a:xfrm>
            <a:off x="4507920" y="423360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Image 4" descr="preencoded.png"/>
          <p:cNvPicPr/>
          <p:nvPr/>
        </p:nvPicPr>
        <p:blipFill>
          <a:blip r:embed="rId7"/>
          <a:stretch/>
        </p:blipFill>
        <p:spPr>
          <a:xfrm>
            <a:off x="4618800" y="43444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06" name="Text 21"/>
          <p:cNvSpPr/>
          <p:nvPr/>
        </p:nvSpPr>
        <p:spPr>
          <a:xfrm>
            <a:off x="5166360" y="42519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Configuration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2"/>
          <p:cNvSpPr/>
          <p:nvPr/>
        </p:nvSpPr>
        <p:spPr>
          <a:xfrm>
            <a:off x="4526280" y="48463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Negotiated settings and metadata exchanged during initialization.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3"/>
          <p:cNvSpPr/>
          <p:nvPr/>
        </p:nvSpPr>
        <p:spPr>
          <a:xfrm>
            <a:off x="8046720" y="397764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4"/>
          <p:cNvSpPr/>
          <p:nvPr/>
        </p:nvSpPr>
        <p:spPr>
          <a:xfrm>
            <a:off x="8302680" y="423360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Image 5" descr="preencoded.png"/>
          <p:cNvPicPr/>
          <p:nvPr/>
        </p:nvPicPr>
        <p:blipFill>
          <a:blip r:embed="rId8"/>
          <a:stretch/>
        </p:blipFill>
        <p:spPr>
          <a:xfrm>
            <a:off x="8413560" y="43444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11" name="Text 25"/>
          <p:cNvSpPr/>
          <p:nvPr/>
        </p:nvSpPr>
        <p:spPr>
          <a:xfrm>
            <a:off x="8961120" y="42519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Ping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8321040" y="48463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 simple liveness check to confirm the connection is still healthy.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4" name="Image 6" descr="fhb_logo.png"/>
          <p:cNvPicPr/>
          <p:nvPr/>
        </p:nvPicPr>
        <p:blipFill>
          <a:blip r:embed="rId9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15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1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TRANSPORTS, FORMALLY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Two transports the spec defines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spec defines how messages move. Deck 1 covered the intuition; here is the normative shape and the session rules.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2" name="Table 0"/>
          <p:cNvGraphicFramePr/>
          <p:nvPr>
            <p:extLst>
              <p:ext uri="{D42A27DB-BD31-4B8C-83A1-F6EECF244321}">
                <p14:modId xmlns:p14="http://schemas.microsoft.com/office/powerpoint/2010/main" val="2471352661"/>
              </p:ext>
            </p:extLst>
          </p:nvPr>
        </p:nvGraphicFramePr>
        <p:xfrm>
          <a:off x="457200" y="2103120"/>
          <a:ext cx="11247120" cy="27432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Transport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Where it runs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Spec notes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stdio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Local subprocess, same machine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launches the server; messages over stdin/stdout. Servers may use stderr for logging of any kind.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Streamable HTTP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Remote, multi-client over HTTPS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 dirty="0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Supports SSE streaming and sessions. </a:t>
                      </a:r>
                      <a:endParaRPr lang="en-US" sz="125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3" name="Shape 3"/>
          <p:cNvSpPr/>
          <p:nvPr/>
        </p:nvSpPr>
        <p:spPr>
          <a:xfrm>
            <a:off x="457200" y="4572000"/>
            <a:ext cx="11246760" cy="68544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640080" y="457200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231F20"/>
                </a:solidFill>
                <a:latin typeface="Calibri"/>
                <a:ea typeface="Calibri"/>
              </a:rPr>
              <a:t>Deprecated:  </a:t>
            </a: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the older HTTP+SSE transport. Streamable HTTP replaced it as the recommended remote transport in the 2025-03-26 revision.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0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30" name="Shape 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Image 0" descr="fhb_logo.png"/>
          <p:cNvPicPr/>
          <p:nvPr/>
        </p:nvPicPr>
        <p:blipFill>
          <a:blip r:embed="rId3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59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822960" y="457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F5A800"/>
                </a:solidFill>
                <a:latin typeface="Calibri"/>
                <a:ea typeface="Calibri"/>
              </a:rPr>
              <a:t>THE HINGE INTO DECK 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777240" y="82296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spec's own security model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822960" y="15544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F0E8DC"/>
                </a:solidFill>
                <a:latin typeface="Calibri"/>
                <a:ea typeface="Calibri"/>
              </a:rPr>
              <a:t>The specification states four security principles — then admits it cannot enforce them at the protocol level.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822960" y="2148840"/>
            <a:ext cx="5211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1005840" y="2313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5A800"/>
                </a:solidFill>
                <a:latin typeface="Open Sans"/>
                <a:ea typeface="Open Sans"/>
              </a:rPr>
              <a:t>1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508760" y="22860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Open Sans"/>
                <a:ea typeface="Open Sans"/>
              </a:rPr>
              <a:t>User Consent &amp; Control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1"/>
          <p:cNvSpPr/>
          <p:nvPr/>
        </p:nvSpPr>
        <p:spPr>
          <a:xfrm>
            <a:off x="1508760" y="260604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Users must explicitly consent to data access and operations, and stay in control of what's shared.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6309360" y="2148840"/>
            <a:ext cx="5211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6492240" y="2313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5A800"/>
                </a:solidFill>
                <a:latin typeface="Open Sans"/>
                <a:ea typeface="Open Sans"/>
              </a:rPr>
              <a:t>2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14"/>
          <p:cNvSpPr/>
          <p:nvPr/>
        </p:nvSpPr>
        <p:spPr>
          <a:xfrm>
            <a:off x="6995160" y="22860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Open Sans"/>
                <a:ea typeface="Open Sans"/>
              </a:rPr>
              <a:t>Data Privacy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6995160" y="260604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Hosts must get consent before exposing user data to servers, and must not transmit it elsewhere freely.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16"/>
          <p:cNvSpPr/>
          <p:nvPr/>
        </p:nvSpPr>
        <p:spPr>
          <a:xfrm>
            <a:off x="822960" y="3383280"/>
            <a:ext cx="5211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1005840" y="354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5A800"/>
                </a:solidFill>
                <a:latin typeface="Open Sans"/>
                <a:ea typeface="Open Sans"/>
              </a:rPr>
              <a:t>3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1508760" y="35204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Open Sans"/>
                <a:ea typeface="Open Sans"/>
              </a:rPr>
              <a:t>Tool Safety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9"/>
          <p:cNvSpPr/>
          <p:nvPr/>
        </p:nvSpPr>
        <p:spPr>
          <a:xfrm>
            <a:off x="1508760" y="384048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Tools are arbitrary code execution. Consent required before invoking; descriptions are untrusted.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20"/>
          <p:cNvSpPr/>
          <p:nvPr/>
        </p:nvSpPr>
        <p:spPr>
          <a:xfrm>
            <a:off x="6309360" y="3383280"/>
            <a:ext cx="5211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6492240" y="354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5A800"/>
                </a:solidFill>
                <a:latin typeface="Open Sans"/>
                <a:ea typeface="Open Sans"/>
              </a:rPr>
              <a:t>4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22"/>
          <p:cNvSpPr/>
          <p:nvPr/>
        </p:nvSpPr>
        <p:spPr>
          <a:xfrm>
            <a:off x="6995160" y="35204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Open Sans"/>
                <a:ea typeface="Open Sans"/>
              </a:rPr>
              <a:t>LLM Sampling Controls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3"/>
          <p:cNvSpPr/>
          <p:nvPr/>
        </p:nvSpPr>
        <p:spPr>
          <a:xfrm>
            <a:off x="6995160" y="384048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Users must approve sampling requests and control what the server can see.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24"/>
          <p:cNvSpPr/>
          <p:nvPr/>
        </p:nvSpPr>
        <p:spPr>
          <a:xfrm>
            <a:off x="822960" y="5029200"/>
            <a:ext cx="10515240" cy="109692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25"/>
          <p:cNvSpPr/>
          <p:nvPr/>
        </p:nvSpPr>
        <p:spPr>
          <a:xfrm>
            <a:off x="1051560" y="530352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Image 1" descr="preencoded.png"/>
          <p:cNvPicPr/>
          <p:nvPr/>
        </p:nvPicPr>
        <p:blipFill>
          <a:blip r:embed="rId4"/>
          <a:stretch/>
        </p:blipFill>
        <p:spPr>
          <a:xfrm>
            <a:off x="1197720" y="54496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84" name="Text 26"/>
          <p:cNvSpPr/>
          <p:nvPr/>
        </p:nvSpPr>
        <p:spPr>
          <a:xfrm>
            <a:off x="1691640" y="5029200"/>
            <a:ext cx="94179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strike="noStrike" spc="-1">
                <a:solidFill>
                  <a:srgbClr val="FFFFFF"/>
                </a:solidFill>
                <a:latin typeface="Calibri"/>
                <a:ea typeface="Calibri"/>
              </a:rPr>
              <a:t>“MCP itself cannot enforce these security principles at the protocol level.”  </a:t>
            </a:r>
            <a:r>
              <a:rPr lang="en-US" sz="1400" b="0" strike="noStrike" spc="-1">
                <a:solidFill>
                  <a:srgbClr val="FBE7CF"/>
                </a:solidFill>
                <a:latin typeface="Calibri"/>
                <a:ea typeface="Calibri"/>
              </a:rPr>
              <a:t>— the spec, in its own words. That gap between principle and enforcement is the entire subject of Deck 3.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9" name="Image 0" descr="fhb_logo.png"/>
          <p:cNvPicPr/>
          <p:nvPr/>
        </p:nvPicPr>
        <p:blipFill>
          <a:blip r:embed="rId3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30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5"/>
          <p:cNvSpPr/>
          <p:nvPr/>
        </p:nvSpPr>
        <p:spPr>
          <a:xfrm>
            <a:off x="822960" y="5486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398">
                <a:solidFill>
                  <a:srgbClr val="F5A800"/>
                </a:solidFill>
                <a:latin typeface="Calibri"/>
                <a:ea typeface="Calibri"/>
              </a:rPr>
              <a:t>RECAP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6"/>
          <p:cNvSpPr/>
          <p:nvPr/>
        </p:nvSpPr>
        <p:spPr>
          <a:xfrm>
            <a:off x="777240" y="914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spec, in one slide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7"/>
          <p:cNvSpPr/>
          <p:nvPr/>
        </p:nvSpPr>
        <p:spPr>
          <a:xfrm>
            <a:off x="822960" y="192024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1051560" y="21488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Image 1" descr="preencoded.png"/>
          <p:cNvPicPr/>
          <p:nvPr/>
        </p:nvPicPr>
        <p:blipFill>
          <a:blip r:embed="rId4"/>
          <a:stretch/>
        </p:blipFill>
        <p:spPr>
          <a:xfrm>
            <a:off x="117216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38" name="Text 9"/>
          <p:cNvSpPr/>
          <p:nvPr/>
        </p:nvSpPr>
        <p:spPr>
          <a:xfrm>
            <a:off x="1783080" y="2121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JSON-RPC base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1783080" y="248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Four message types over a stateful session; requirement language is MUST / SHOULD / MAY.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6309360" y="192024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6537960" y="21488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Image 2" descr="preencoded.png"/>
          <p:cNvPicPr/>
          <p:nvPr/>
        </p:nvPicPr>
        <p:blipFill>
          <a:blip r:embed="rId5"/>
          <a:stretch/>
        </p:blipFill>
        <p:spPr>
          <a:xfrm>
            <a:off x="665856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43" name="Text 13"/>
          <p:cNvSpPr/>
          <p:nvPr/>
        </p:nvSpPr>
        <p:spPr>
          <a:xfrm>
            <a:off x="7269480" y="2121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Lifecycle &amp; capabilities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7269480" y="248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Initialize → operate → shut down; you can only use what was negotiated.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15"/>
          <p:cNvSpPr/>
          <p:nvPr/>
        </p:nvSpPr>
        <p:spPr>
          <a:xfrm>
            <a:off x="822960" y="361188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6"/>
          <p:cNvSpPr/>
          <p:nvPr/>
        </p:nvSpPr>
        <p:spPr>
          <a:xfrm>
            <a:off x="1051560" y="3840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7" name="Image 3" descr="preencoded.png"/>
          <p:cNvPicPr/>
          <p:nvPr/>
        </p:nvPicPr>
        <p:blipFill>
          <a:blip r:embed="rId6"/>
          <a:stretch/>
        </p:blipFill>
        <p:spPr>
          <a:xfrm>
            <a:off x="1172160" y="3961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48" name="Text 17"/>
          <p:cNvSpPr/>
          <p:nvPr/>
        </p:nvSpPr>
        <p:spPr>
          <a:xfrm>
            <a:off x="1783080" y="38131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Five primitives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18"/>
          <p:cNvSpPr/>
          <p:nvPr/>
        </p:nvSpPr>
        <p:spPr>
          <a:xfrm>
            <a:off x="178308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Server: tools, resources, prompts. Client: sampling, roots, elicitation.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19"/>
          <p:cNvSpPr/>
          <p:nvPr/>
        </p:nvSpPr>
        <p:spPr>
          <a:xfrm>
            <a:off x="6309360" y="361188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0"/>
          <p:cNvSpPr/>
          <p:nvPr/>
        </p:nvSpPr>
        <p:spPr>
          <a:xfrm>
            <a:off x="6537960" y="3840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 4" descr="preencoded.png"/>
          <p:cNvPicPr/>
          <p:nvPr/>
        </p:nvPicPr>
        <p:blipFill>
          <a:blip r:embed="rId7"/>
          <a:stretch/>
        </p:blipFill>
        <p:spPr>
          <a:xfrm>
            <a:off x="6658560" y="3961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53" name="Text 21"/>
          <p:cNvSpPr/>
          <p:nvPr/>
        </p:nvSpPr>
        <p:spPr>
          <a:xfrm>
            <a:off x="7269480" y="38131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Honest about limits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2"/>
          <p:cNvSpPr/>
          <p:nvPr/>
        </p:nvSpPr>
        <p:spPr>
          <a:xfrm>
            <a:off x="726948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Four security principles the protocol openly cannot enforce on its own.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23"/>
          <p:cNvSpPr/>
          <p:nvPr/>
        </p:nvSpPr>
        <p:spPr>
          <a:xfrm>
            <a:off x="822960" y="5440680"/>
            <a:ext cx="10515240" cy="77688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24"/>
          <p:cNvSpPr/>
          <p:nvPr/>
        </p:nvSpPr>
        <p:spPr>
          <a:xfrm>
            <a:off x="1097280" y="544068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  <a:ea typeface="Calibri"/>
              </a:rPr>
              <a:t>NEXT — Deck 3: MCP Security.  </a:t>
            </a:r>
            <a:r>
              <a:rPr lang="en-US" sz="1500" b="0" strike="noStrike" spc="-1">
                <a:solidFill>
                  <a:srgbClr val="E6F2F1"/>
                </a:solidFill>
                <a:latin typeface="Calibri"/>
                <a:ea typeface="Calibri"/>
              </a:rPr>
              <a:t>The spec told us what it can't enforce. The NSA guidance is how you cover that gap.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1700</Words>
  <Application>Microsoft Macintosh PowerPoint</Application>
  <PresentationFormat>Widescreen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Consolas</vt:lpstr>
      <vt:lpstr>Open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James Jaworski</cp:lastModifiedBy>
  <cp:revision>5</cp:revision>
  <dcterms:modified xsi:type="dcterms:W3CDTF">2026-06-01T19:51:19Z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2026-05-29T03:15:23Z</dcterms:created>
  <dc:creator>Jamie — FHB Cybersecurity &amp; Technology</dc:creator>
  <dc:description/>
  <dc:language>en-US</dc:language>
  <cp:lastModifiedBy>Jamie — FHB Cybersecurity &amp; Technology</cp:lastModifiedBy>
  <dcterms:modified xsi:type="dcterms:W3CDTF">2026-05-29T03:15:23Z</dcterms:modified>
  <cp:revision>1</cp:revision>
  <dc:subject>PptxGenJS Presentation</dc:subject>
  <dc:title>The MCP Specification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16</vt:r8>
  </property>
  <property fmtid="{D5CDD505-2E9C-101B-9397-08002B2CF9AE}" pid="3" name="PresentationFormat">
    <vt:lpwstr>On-screen Show (16:9)</vt:lpwstr>
  </property>
  <property fmtid="{D5CDD505-2E9C-101B-9397-08002B2CF9AE}" pid="4" name="Slides">
    <vt:r8>16</vt:r8>
  </property>
</Properties>
</file>