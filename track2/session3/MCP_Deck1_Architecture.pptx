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62852D7-5778-426D-B633-0CB37A50055C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A1B2E8-C0CB-4B3D-A583-34BFEB1179A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D65CEF-045F-41DE-B574-5F2E6450AAE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CB8F2F-1D84-4BB1-B122-88FEB63A3E4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8016B3-B34F-4231-894C-264BAF277F3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F22AED-3CE9-4D6A-82F6-5A9800AAD2D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2C7E31-0F19-4E7B-B239-EFC4DD253090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575730-719A-44B8-A254-E72C6F9BD29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CCF3C3-4D6C-4220-A5A0-F78C1C9EAE06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17F63D-2824-466E-9099-14B0C1F4982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01F453-E763-4018-9C68-1A65B2A287EC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E8BF41-DA7E-44C8-9F07-EC8BB4A59E8C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58B4FF-744A-4CEA-AB26-344DDA515B6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69CF78-B1D5-4DC2-8F87-647BF51F550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0F0E25-8B93-454C-B2E9-599646D53FF1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098DDF-F4F5-4650-A159-AFF905F67DE8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fhb_rainbow.png"/>
          <p:cNvPicPr/>
          <p:nvPr/>
        </p:nvPicPr>
        <p:blipFill>
          <a:blip r:embed="rId3"/>
          <a:stretch/>
        </p:blipFill>
        <p:spPr>
          <a:xfrm>
            <a:off x="-1554480" y="1828800"/>
            <a:ext cx="5028840" cy="5028840"/>
          </a:xfrm>
          <a:prstGeom prst="rect">
            <a:avLst/>
          </a:prstGeom>
          <a:ln w="0">
            <a:noFill/>
          </a:ln>
        </p:spPr>
      </p:pic>
      <p:pic>
        <p:nvPicPr>
          <p:cNvPr id="9" name="Image 1" descr="fhb_logo.png"/>
          <p:cNvPicPr/>
          <p:nvPr/>
        </p:nvPicPr>
        <p:blipFill>
          <a:blip r:embed="rId4"/>
          <a:stretch/>
        </p:blipFill>
        <p:spPr>
          <a:xfrm>
            <a:off x="8686800" y="457200"/>
            <a:ext cx="2742840" cy="502560"/>
          </a:xfrm>
          <a:prstGeom prst="rect">
            <a:avLst/>
          </a:prstGeom>
          <a:ln w="0">
            <a:noFill/>
          </a:ln>
        </p:spPr>
      </p:pic>
      <p:sp>
        <p:nvSpPr>
          <p:cNvPr id="10" name="Text 0"/>
          <p:cNvSpPr/>
          <p:nvPr/>
        </p:nvSpPr>
        <p:spPr>
          <a:xfrm>
            <a:off x="4572000" y="214884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299">
                <a:solidFill>
                  <a:srgbClr val="8B0E15"/>
                </a:solidFill>
                <a:latin typeface="Calibri"/>
                <a:ea typeface="Calibri"/>
              </a:rPr>
              <a:t>AI TRAINING SERIES  ·  PART 1 OF 3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4526280" y="2560320"/>
            <a:ext cx="70405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strike="noStrike" spc="-1">
                <a:solidFill>
                  <a:srgbClr val="8B0E15"/>
                </a:solidFill>
                <a:latin typeface="Open Sans"/>
                <a:ea typeface="Open Sans"/>
              </a:rPr>
              <a:t>MCP &amp; Agentic AI</a:t>
            </a:r>
            <a:endParaRPr lang="en-US" sz="4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4572000" y="3520440"/>
            <a:ext cx="69490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1">
                <a:solidFill>
                  <a:srgbClr val="231F20"/>
                </a:solidFill>
                <a:latin typeface="Open Sans"/>
                <a:ea typeface="Open Sans"/>
              </a:rPr>
              <a:t>Architecture and Mechanics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4572000" y="4160520"/>
            <a:ext cx="2742840" cy="270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4572000" y="4343400"/>
            <a:ext cx="68576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3A3536"/>
                </a:solidFill>
                <a:latin typeface="Calibri"/>
                <a:ea typeface="Calibri"/>
              </a:rPr>
              <a:t>How the Model Context Protocol connects models, tools, and data — the mental model behind agentic AI applications.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THE PROBLEM MCP SOLVES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Why MCP exists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457200" y="1417320"/>
            <a:ext cx="11246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Before MCP, every model-to-tool connection was a custom integration. M models × N tools means M×N bespoke connectors to build and maintain.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457200" y="2194560"/>
            <a:ext cx="5394600" cy="39315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4"/>
          <p:cNvSpPr/>
          <p:nvPr/>
        </p:nvSpPr>
        <p:spPr>
          <a:xfrm>
            <a:off x="640080" y="237744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8A8385"/>
                </a:solidFill>
                <a:latin typeface="Calibri"/>
                <a:ea typeface="Calibri"/>
              </a:rPr>
              <a:t>WITHOUT MCP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5"/>
          <p:cNvSpPr/>
          <p:nvPr/>
        </p:nvSpPr>
        <p:spPr>
          <a:xfrm>
            <a:off x="640080" y="265176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231F20"/>
                </a:solidFill>
                <a:latin typeface="Open Sans"/>
                <a:ea typeface="Open Sans"/>
              </a:rPr>
              <a:t>M × N custom connectors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6"/>
          <p:cNvSpPr/>
          <p:nvPr/>
        </p:nvSpPr>
        <p:spPr>
          <a:xfrm>
            <a:off x="1691640" y="3822120"/>
            <a:ext cx="3246120" cy="360"/>
          </a:xfrm>
          <a:prstGeom prst="line">
            <a:avLst/>
          </a:prstGeom>
          <a:ln w="12700">
            <a:solidFill>
              <a:srgbClr val="C0420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7"/>
          <p:cNvSpPr/>
          <p:nvPr/>
        </p:nvSpPr>
        <p:spPr>
          <a:xfrm>
            <a:off x="1691640" y="3822120"/>
            <a:ext cx="3246120" cy="777240"/>
          </a:xfrm>
          <a:prstGeom prst="line">
            <a:avLst/>
          </a:prstGeom>
          <a:ln w="12700">
            <a:solidFill>
              <a:srgbClr val="C0420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8"/>
          <p:cNvSpPr/>
          <p:nvPr/>
        </p:nvSpPr>
        <p:spPr>
          <a:xfrm>
            <a:off x="1691640" y="3822120"/>
            <a:ext cx="3246120" cy="1554480"/>
          </a:xfrm>
          <a:prstGeom prst="line">
            <a:avLst/>
          </a:prstGeom>
          <a:ln w="12700">
            <a:solidFill>
              <a:srgbClr val="C0420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9"/>
          <p:cNvSpPr/>
          <p:nvPr/>
        </p:nvSpPr>
        <p:spPr>
          <a:xfrm flipV="1">
            <a:off x="1691640" y="3822120"/>
            <a:ext cx="3246120" cy="777240"/>
          </a:xfrm>
          <a:prstGeom prst="line">
            <a:avLst/>
          </a:prstGeom>
          <a:ln w="12700">
            <a:solidFill>
              <a:srgbClr val="C0420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10"/>
          <p:cNvSpPr/>
          <p:nvPr/>
        </p:nvSpPr>
        <p:spPr>
          <a:xfrm>
            <a:off x="1691640" y="4599360"/>
            <a:ext cx="3246120" cy="360"/>
          </a:xfrm>
          <a:prstGeom prst="line">
            <a:avLst/>
          </a:prstGeom>
          <a:ln w="12700">
            <a:solidFill>
              <a:srgbClr val="C0420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11"/>
          <p:cNvSpPr/>
          <p:nvPr/>
        </p:nvSpPr>
        <p:spPr>
          <a:xfrm>
            <a:off x="1691640" y="4599360"/>
            <a:ext cx="3246120" cy="777240"/>
          </a:xfrm>
          <a:prstGeom prst="line">
            <a:avLst/>
          </a:prstGeom>
          <a:ln w="12700">
            <a:solidFill>
              <a:srgbClr val="C0420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12"/>
          <p:cNvSpPr/>
          <p:nvPr/>
        </p:nvSpPr>
        <p:spPr>
          <a:xfrm flipV="1">
            <a:off x="1691640" y="3822120"/>
            <a:ext cx="3246120" cy="1554480"/>
          </a:xfrm>
          <a:prstGeom prst="line">
            <a:avLst/>
          </a:prstGeom>
          <a:ln w="12700">
            <a:solidFill>
              <a:srgbClr val="C0420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13"/>
          <p:cNvSpPr/>
          <p:nvPr/>
        </p:nvSpPr>
        <p:spPr>
          <a:xfrm flipV="1">
            <a:off x="1691640" y="4599360"/>
            <a:ext cx="3246120" cy="777240"/>
          </a:xfrm>
          <a:prstGeom prst="line">
            <a:avLst/>
          </a:prstGeom>
          <a:ln w="12700">
            <a:solidFill>
              <a:srgbClr val="C0420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14"/>
          <p:cNvSpPr/>
          <p:nvPr/>
        </p:nvSpPr>
        <p:spPr>
          <a:xfrm>
            <a:off x="1691640" y="5376600"/>
            <a:ext cx="3246120" cy="360"/>
          </a:xfrm>
          <a:prstGeom prst="line">
            <a:avLst/>
          </a:prstGeom>
          <a:ln w="12700">
            <a:solidFill>
              <a:srgbClr val="C0420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15"/>
          <p:cNvSpPr/>
          <p:nvPr/>
        </p:nvSpPr>
        <p:spPr>
          <a:xfrm>
            <a:off x="1371600" y="3657600"/>
            <a:ext cx="685440" cy="328680"/>
          </a:xfrm>
          <a:prstGeom prst="roundRect">
            <a:avLst>
              <a:gd name="adj" fmla="val 11111"/>
            </a:avLst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16"/>
          <p:cNvSpPr/>
          <p:nvPr/>
        </p:nvSpPr>
        <p:spPr>
          <a:xfrm>
            <a:off x="1371600" y="3657600"/>
            <a:ext cx="6854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Calibri"/>
              </a:rPr>
              <a:t>AI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17"/>
          <p:cNvSpPr/>
          <p:nvPr/>
        </p:nvSpPr>
        <p:spPr>
          <a:xfrm>
            <a:off x="1371600" y="4434840"/>
            <a:ext cx="685440" cy="328680"/>
          </a:xfrm>
          <a:prstGeom prst="roundRect">
            <a:avLst>
              <a:gd name="adj" fmla="val 11111"/>
            </a:avLst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18"/>
          <p:cNvSpPr/>
          <p:nvPr/>
        </p:nvSpPr>
        <p:spPr>
          <a:xfrm>
            <a:off x="1371600" y="4434840"/>
            <a:ext cx="6854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Calibri"/>
              </a:rPr>
              <a:t>AI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19"/>
          <p:cNvSpPr/>
          <p:nvPr/>
        </p:nvSpPr>
        <p:spPr>
          <a:xfrm>
            <a:off x="1371600" y="5212080"/>
            <a:ext cx="685440" cy="328680"/>
          </a:xfrm>
          <a:prstGeom prst="roundRect">
            <a:avLst>
              <a:gd name="adj" fmla="val 11111"/>
            </a:avLst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20"/>
          <p:cNvSpPr/>
          <p:nvPr/>
        </p:nvSpPr>
        <p:spPr>
          <a:xfrm>
            <a:off x="1371600" y="5212080"/>
            <a:ext cx="6854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Calibri"/>
              </a:rPr>
              <a:t>AI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21"/>
          <p:cNvSpPr/>
          <p:nvPr/>
        </p:nvSpPr>
        <p:spPr>
          <a:xfrm>
            <a:off x="4937760" y="3657600"/>
            <a:ext cx="685440" cy="328680"/>
          </a:xfrm>
          <a:prstGeom prst="roundRect">
            <a:avLst>
              <a:gd name="adj" fmla="val 11111"/>
            </a:avLst>
          </a:prstGeom>
          <a:solidFill>
            <a:srgbClr val="9AA7A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22"/>
          <p:cNvSpPr/>
          <p:nvPr/>
        </p:nvSpPr>
        <p:spPr>
          <a:xfrm>
            <a:off x="4937760" y="3657600"/>
            <a:ext cx="6854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Calibri"/>
                <a:ea typeface="Calibri"/>
              </a:rPr>
              <a:t>Tool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23"/>
          <p:cNvSpPr/>
          <p:nvPr/>
        </p:nvSpPr>
        <p:spPr>
          <a:xfrm>
            <a:off x="4937760" y="4434840"/>
            <a:ext cx="685440" cy="328680"/>
          </a:xfrm>
          <a:prstGeom prst="roundRect">
            <a:avLst>
              <a:gd name="adj" fmla="val 11111"/>
            </a:avLst>
          </a:prstGeom>
          <a:solidFill>
            <a:srgbClr val="9AA7A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24"/>
          <p:cNvSpPr/>
          <p:nvPr/>
        </p:nvSpPr>
        <p:spPr>
          <a:xfrm>
            <a:off x="4937760" y="4434840"/>
            <a:ext cx="6854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Calibri"/>
                <a:ea typeface="Calibri"/>
              </a:rPr>
              <a:t>Tool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25"/>
          <p:cNvSpPr/>
          <p:nvPr/>
        </p:nvSpPr>
        <p:spPr>
          <a:xfrm>
            <a:off x="4937760" y="5212080"/>
            <a:ext cx="685440" cy="328680"/>
          </a:xfrm>
          <a:prstGeom prst="roundRect">
            <a:avLst>
              <a:gd name="adj" fmla="val 11111"/>
            </a:avLst>
          </a:prstGeom>
          <a:solidFill>
            <a:srgbClr val="9AA7A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26"/>
          <p:cNvSpPr/>
          <p:nvPr/>
        </p:nvSpPr>
        <p:spPr>
          <a:xfrm>
            <a:off x="4937760" y="5212080"/>
            <a:ext cx="6854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Calibri"/>
                <a:ea typeface="Calibri"/>
              </a:rPr>
              <a:t>Tool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27"/>
          <p:cNvSpPr/>
          <p:nvPr/>
        </p:nvSpPr>
        <p:spPr>
          <a:xfrm>
            <a:off x="6309360" y="2194560"/>
            <a:ext cx="5394600" cy="39315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28"/>
          <p:cNvSpPr/>
          <p:nvPr/>
        </p:nvSpPr>
        <p:spPr>
          <a:xfrm>
            <a:off x="6492240" y="237744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8B0E15"/>
                </a:solidFill>
                <a:latin typeface="Calibri"/>
                <a:ea typeface="Calibri"/>
              </a:rPr>
              <a:t>WITH MCP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29"/>
          <p:cNvSpPr/>
          <p:nvPr/>
        </p:nvSpPr>
        <p:spPr>
          <a:xfrm>
            <a:off x="6492240" y="265176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231F20"/>
                </a:solidFill>
                <a:latin typeface="Open Sans"/>
                <a:ea typeface="Open Sans"/>
              </a:rPr>
              <a:t>One standard interface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30"/>
          <p:cNvSpPr/>
          <p:nvPr/>
        </p:nvSpPr>
        <p:spPr>
          <a:xfrm>
            <a:off x="6492240" y="296280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8B0E15"/>
                </a:solidFill>
                <a:latin typeface="Open Sans"/>
                <a:ea typeface="Open Sans"/>
              </a:rPr>
              <a:t>"USB-C for AI"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31"/>
          <p:cNvSpPr/>
          <p:nvPr/>
        </p:nvSpPr>
        <p:spPr>
          <a:xfrm>
            <a:off x="7726680" y="3822120"/>
            <a:ext cx="868680" cy="749880"/>
          </a:xfrm>
          <a:prstGeom prst="line">
            <a:avLst/>
          </a:prstGeom>
          <a:ln w="19050">
            <a:solidFill>
              <a:srgbClr val="8B0E1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32"/>
          <p:cNvSpPr/>
          <p:nvPr/>
        </p:nvSpPr>
        <p:spPr>
          <a:xfrm flipV="1">
            <a:off x="7726680" y="4572000"/>
            <a:ext cx="868680" cy="27360"/>
          </a:xfrm>
          <a:prstGeom prst="line">
            <a:avLst/>
          </a:prstGeom>
          <a:ln w="19050">
            <a:solidFill>
              <a:srgbClr val="8B0E1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33"/>
          <p:cNvSpPr/>
          <p:nvPr/>
        </p:nvSpPr>
        <p:spPr>
          <a:xfrm flipV="1">
            <a:off x="7726680" y="4572000"/>
            <a:ext cx="868680" cy="804600"/>
          </a:xfrm>
          <a:prstGeom prst="line">
            <a:avLst/>
          </a:prstGeom>
          <a:ln w="19050">
            <a:solidFill>
              <a:srgbClr val="8B0E1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34"/>
          <p:cNvSpPr/>
          <p:nvPr/>
        </p:nvSpPr>
        <p:spPr>
          <a:xfrm flipV="1">
            <a:off x="9144000" y="3822120"/>
            <a:ext cx="1280160" cy="749880"/>
          </a:xfrm>
          <a:prstGeom prst="line">
            <a:avLst/>
          </a:prstGeom>
          <a:ln w="19050">
            <a:solidFill>
              <a:srgbClr val="8B0E1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35"/>
          <p:cNvSpPr/>
          <p:nvPr/>
        </p:nvSpPr>
        <p:spPr>
          <a:xfrm>
            <a:off x="9144000" y="4572000"/>
            <a:ext cx="1280160" cy="27360"/>
          </a:xfrm>
          <a:prstGeom prst="line">
            <a:avLst/>
          </a:prstGeom>
          <a:ln w="19050">
            <a:solidFill>
              <a:srgbClr val="8B0E1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36"/>
          <p:cNvSpPr/>
          <p:nvPr/>
        </p:nvSpPr>
        <p:spPr>
          <a:xfrm>
            <a:off x="9144000" y="4572000"/>
            <a:ext cx="1280160" cy="804600"/>
          </a:xfrm>
          <a:prstGeom prst="line">
            <a:avLst/>
          </a:prstGeom>
          <a:ln w="19050">
            <a:solidFill>
              <a:srgbClr val="8B0E1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37"/>
          <p:cNvSpPr/>
          <p:nvPr/>
        </p:nvSpPr>
        <p:spPr>
          <a:xfrm>
            <a:off x="7040880" y="3657600"/>
            <a:ext cx="685440" cy="328680"/>
          </a:xfrm>
          <a:prstGeom prst="roundRect">
            <a:avLst>
              <a:gd name="adj" fmla="val 11111"/>
            </a:avLst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38"/>
          <p:cNvSpPr/>
          <p:nvPr/>
        </p:nvSpPr>
        <p:spPr>
          <a:xfrm>
            <a:off x="7040880" y="3657600"/>
            <a:ext cx="6854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Calibri"/>
              </a:rPr>
              <a:t>AI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39"/>
          <p:cNvSpPr/>
          <p:nvPr/>
        </p:nvSpPr>
        <p:spPr>
          <a:xfrm>
            <a:off x="7040880" y="4434840"/>
            <a:ext cx="685440" cy="328680"/>
          </a:xfrm>
          <a:prstGeom prst="roundRect">
            <a:avLst>
              <a:gd name="adj" fmla="val 11111"/>
            </a:avLst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40"/>
          <p:cNvSpPr/>
          <p:nvPr/>
        </p:nvSpPr>
        <p:spPr>
          <a:xfrm>
            <a:off x="7040880" y="4434840"/>
            <a:ext cx="6854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Calibri"/>
              </a:rPr>
              <a:t>AI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41"/>
          <p:cNvSpPr/>
          <p:nvPr/>
        </p:nvSpPr>
        <p:spPr>
          <a:xfrm>
            <a:off x="7040880" y="5212080"/>
            <a:ext cx="685440" cy="328680"/>
          </a:xfrm>
          <a:prstGeom prst="roundRect">
            <a:avLst>
              <a:gd name="adj" fmla="val 11111"/>
            </a:avLst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42"/>
          <p:cNvSpPr/>
          <p:nvPr/>
        </p:nvSpPr>
        <p:spPr>
          <a:xfrm>
            <a:off x="7040880" y="5212080"/>
            <a:ext cx="6854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Calibri"/>
              </a:rPr>
              <a:t>AI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43"/>
          <p:cNvSpPr/>
          <p:nvPr/>
        </p:nvSpPr>
        <p:spPr>
          <a:xfrm>
            <a:off x="10424160" y="3657600"/>
            <a:ext cx="685440" cy="328680"/>
          </a:xfrm>
          <a:prstGeom prst="roundRect">
            <a:avLst>
              <a:gd name="adj" fmla="val 11111"/>
            </a:avLst>
          </a:prstGeom>
          <a:solidFill>
            <a:srgbClr val="9AA7A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44"/>
          <p:cNvSpPr/>
          <p:nvPr/>
        </p:nvSpPr>
        <p:spPr>
          <a:xfrm>
            <a:off x="10424160" y="3657600"/>
            <a:ext cx="6854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Calibri"/>
                <a:ea typeface="Calibri"/>
              </a:rPr>
              <a:t>Tool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45"/>
          <p:cNvSpPr/>
          <p:nvPr/>
        </p:nvSpPr>
        <p:spPr>
          <a:xfrm>
            <a:off x="10424160" y="4434840"/>
            <a:ext cx="685440" cy="328680"/>
          </a:xfrm>
          <a:prstGeom prst="roundRect">
            <a:avLst>
              <a:gd name="adj" fmla="val 11111"/>
            </a:avLst>
          </a:prstGeom>
          <a:solidFill>
            <a:srgbClr val="9AA7A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46"/>
          <p:cNvSpPr/>
          <p:nvPr/>
        </p:nvSpPr>
        <p:spPr>
          <a:xfrm>
            <a:off x="10424160" y="4434840"/>
            <a:ext cx="6854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Calibri"/>
                <a:ea typeface="Calibri"/>
              </a:rPr>
              <a:t>Tool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47"/>
          <p:cNvSpPr/>
          <p:nvPr/>
        </p:nvSpPr>
        <p:spPr>
          <a:xfrm>
            <a:off x="10424160" y="5212080"/>
            <a:ext cx="685440" cy="328680"/>
          </a:xfrm>
          <a:prstGeom prst="roundRect">
            <a:avLst>
              <a:gd name="adj" fmla="val 11111"/>
            </a:avLst>
          </a:prstGeom>
          <a:solidFill>
            <a:srgbClr val="9AA7A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48"/>
          <p:cNvSpPr/>
          <p:nvPr/>
        </p:nvSpPr>
        <p:spPr>
          <a:xfrm>
            <a:off x="10424160" y="5212080"/>
            <a:ext cx="6854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Calibri"/>
                <a:ea typeface="Calibri"/>
              </a:rPr>
              <a:t>Tool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49"/>
          <p:cNvSpPr/>
          <p:nvPr/>
        </p:nvSpPr>
        <p:spPr>
          <a:xfrm>
            <a:off x="8595360" y="4297680"/>
            <a:ext cx="548280" cy="548280"/>
          </a:xfrm>
          <a:prstGeom prst="ellipse">
            <a:avLst/>
          </a:prstGeom>
          <a:solidFill>
            <a:srgbClr val="8B0E15"/>
          </a:solidFill>
          <a:ln w="0">
            <a:noFill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50"/>
          <p:cNvSpPr/>
          <p:nvPr/>
        </p:nvSpPr>
        <p:spPr>
          <a:xfrm>
            <a:off x="8412480" y="48646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8B0E15"/>
                </a:solidFill>
                <a:latin typeface="Calibri"/>
                <a:ea typeface="Calibri"/>
              </a:rPr>
              <a:t>MCP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51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1" name="Image 0" descr="fhb_logo.png"/>
          <p:cNvPicPr/>
          <p:nvPr/>
        </p:nvPicPr>
        <p:blipFill>
          <a:blip r:embed="rId3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72" name="Shape 52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53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54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&amp; Agentic AI  ·  Deck 1 of 3  ·  Architecture &amp; Mechanics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55"/>
          <p:cNvSpPr/>
          <p:nvPr/>
        </p:nvSpPr>
        <p:spPr>
          <a:xfrm>
            <a:off x="111556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2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THE CAST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The core actors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2"/>
          <p:cNvSpPr/>
          <p:nvPr/>
        </p:nvSpPr>
        <p:spPr>
          <a:xfrm>
            <a:off x="457200" y="1417320"/>
            <a:ext cx="11246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Four roles do all the work. The relationships between them are the foundation everything else builds on.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3"/>
          <p:cNvSpPr/>
          <p:nvPr/>
        </p:nvSpPr>
        <p:spPr>
          <a:xfrm>
            <a:off x="457200" y="2103120"/>
            <a:ext cx="2697120" cy="22856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4"/>
          <p:cNvSpPr/>
          <p:nvPr/>
        </p:nvSpPr>
        <p:spPr>
          <a:xfrm>
            <a:off x="457200" y="2103120"/>
            <a:ext cx="269712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5"/>
          <p:cNvSpPr/>
          <p:nvPr/>
        </p:nvSpPr>
        <p:spPr>
          <a:xfrm>
            <a:off x="685800" y="2331720"/>
            <a:ext cx="566640" cy="566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2" name="Image 0" descr="preencoded.png"/>
          <p:cNvPicPr/>
          <p:nvPr/>
        </p:nvPicPr>
        <p:blipFill>
          <a:blip r:embed="rId3"/>
          <a:stretch/>
        </p:blipFill>
        <p:spPr>
          <a:xfrm>
            <a:off x="810360" y="2456280"/>
            <a:ext cx="317160" cy="317160"/>
          </a:xfrm>
          <a:prstGeom prst="rect">
            <a:avLst/>
          </a:prstGeom>
          <a:ln w="0">
            <a:noFill/>
          </a:ln>
        </p:spPr>
      </p:pic>
      <p:sp>
        <p:nvSpPr>
          <p:cNvPr id="83" name="Text 6"/>
          <p:cNvSpPr/>
          <p:nvPr/>
        </p:nvSpPr>
        <p:spPr>
          <a:xfrm>
            <a:off x="685800" y="301752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231F20"/>
                </a:solidFill>
                <a:latin typeface="Open Sans"/>
                <a:ea typeface="Open Sans"/>
              </a:rPr>
              <a:t>User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7"/>
          <p:cNvSpPr/>
          <p:nvPr/>
        </p:nvSpPr>
        <p:spPr>
          <a:xfrm>
            <a:off x="685800" y="3429000"/>
            <a:ext cx="22399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The person with a goal. Interacts only with the host application.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8"/>
          <p:cNvSpPr/>
          <p:nvPr/>
        </p:nvSpPr>
        <p:spPr>
          <a:xfrm>
            <a:off x="3319200" y="2103120"/>
            <a:ext cx="2697120" cy="22856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9"/>
          <p:cNvSpPr/>
          <p:nvPr/>
        </p:nvSpPr>
        <p:spPr>
          <a:xfrm>
            <a:off x="3319200" y="2103120"/>
            <a:ext cx="269712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Shape 10"/>
          <p:cNvSpPr/>
          <p:nvPr/>
        </p:nvSpPr>
        <p:spPr>
          <a:xfrm>
            <a:off x="3547800" y="2331720"/>
            <a:ext cx="566640" cy="566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Image 1" descr="preencoded.png"/>
          <p:cNvPicPr/>
          <p:nvPr/>
        </p:nvPicPr>
        <p:blipFill>
          <a:blip r:embed="rId4"/>
          <a:stretch/>
        </p:blipFill>
        <p:spPr>
          <a:xfrm>
            <a:off x="3672720" y="2456280"/>
            <a:ext cx="317160" cy="317160"/>
          </a:xfrm>
          <a:prstGeom prst="rect">
            <a:avLst/>
          </a:prstGeom>
          <a:ln w="0">
            <a:noFill/>
          </a:ln>
        </p:spPr>
      </p:pic>
      <p:sp>
        <p:nvSpPr>
          <p:cNvPr id="89" name="Text 11"/>
          <p:cNvSpPr/>
          <p:nvPr/>
        </p:nvSpPr>
        <p:spPr>
          <a:xfrm>
            <a:off x="3547800" y="301752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231F20"/>
                </a:solidFill>
                <a:latin typeface="Open Sans"/>
                <a:ea typeface="Open Sans"/>
              </a:rPr>
              <a:t>Host + LLM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12"/>
          <p:cNvSpPr/>
          <p:nvPr/>
        </p:nvSpPr>
        <p:spPr>
          <a:xfrm>
            <a:off x="3547800" y="3429000"/>
            <a:ext cx="22399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The application the user runs. Embeds the LLM and orchestrates one or more clients.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13"/>
          <p:cNvSpPr/>
          <p:nvPr/>
        </p:nvSpPr>
        <p:spPr>
          <a:xfrm>
            <a:off x="6181200" y="2103120"/>
            <a:ext cx="2697120" cy="22856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14"/>
          <p:cNvSpPr/>
          <p:nvPr/>
        </p:nvSpPr>
        <p:spPr>
          <a:xfrm>
            <a:off x="6181200" y="2103120"/>
            <a:ext cx="269712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Shape 15"/>
          <p:cNvSpPr/>
          <p:nvPr/>
        </p:nvSpPr>
        <p:spPr>
          <a:xfrm>
            <a:off x="6409800" y="2331720"/>
            <a:ext cx="566640" cy="566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" name="Image 2" descr="preencoded.png"/>
          <p:cNvPicPr/>
          <p:nvPr/>
        </p:nvPicPr>
        <p:blipFill>
          <a:blip r:embed="rId5"/>
          <a:stretch/>
        </p:blipFill>
        <p:spPr>
          <a:xfrm>
            <a:off x="6534720" y="2456280"/>
            <a:ext cx="317160" cy="317160"/>
          </a:xfrm>
          <a:prstGeom prst="rect">
            <a:avLst/>
          </a:prstGeom>
          <a:ln w="0">
            <a:noFill/>
          </a:ln>
        </p:spPr>
      </p:pic>
      <p:sp>
        <p:nvSpPr>
          <p:cNvPr id="95" name="Text 16"/>
          <p:cNvSpPr/>
          <p:nvPr/>
        </p:nvSpPr>
        <p:spPr>
          <a:xfrm>
            <a:off x="6409800" y="301752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231F20"/>
                </a:solidFill>
                <a:latin typeface="Open Sans"/>
                <a:ea typeface="Open Sans"/>
              </a:rPr>
              <a:t>Client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17"/>
          <p:cNvSpPr/>
          <p:nvPr/>
        </p:nvSpPr>
        <p:spPr>
          <a:xfrm>
            <a:off x="6409800" y="3429000"/>
            <a:ext cx="22399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A connector inside the host. Holds one session with exactly one server.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18"/>
          <p:cNvSpPr/>
          <p:nvPr/>
        </p:nvSpPr>
        <p:spPr>
          <a:xfrm>
            <a:off x="9043560" y="2103120"/>
            <a:ext cx="2697120" cy="22856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19"/>
          <p:cNvSpPr/>
          <p:nvPr/>
        </p:nvSpPr>
        <p:spPr>
          <a:xfrm>
            <a:off x="9043560" y="2103120"/>
            <a:ext cx="269712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Shape 20"/>
          <p:cNvSpPr/>
          <p:nvPr/>
        </p:nvSpPr>
        <p:spPr>
          <a:xfrm>
            <a:off x="9272160" y="2331720"/>
            <a:ext cx="566640" cy="566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Image 3" descr="preencoded.png"/>
          <p:cNvPicPr/>
          <p:nvPr/>
        </p:nvPicPr>
        <p:blipFill>
          <a:blip r:embed="rId6"/>
          <a:stretch/>
        </p:blipFill>
        <p:spPr>
          <a:xfrm>
            <a:off x="9396720" y="2456280"/>
            <a:ext cx="317160" cy="317160"/>
          </a:xfrm>
          <a:prstGeom prst="rect">
            <a:avLst/>
          </a:prstGeom>
          <a:ln w="0">
            <a:noFill/>
          </a:ln>
        </p:spPr>
      </p:pic>
      <p:sp>
        <p:nvSpPr>
          <p:cNvPr id="101" name="Text 21"/>
          <p:cNvSpPr/>
          <p:nvPr/>
        </p:nvSpPr>
        <p:spPr>
          <a:xfrm>
            <a:off x="9272160" y="301752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231F20"/>
                </a:solidFill>
                <a:latin typeface="Open Sans"/>
                <a:ea typeface="Open Sans"/>
              </a:rPr>
              <a:t>Server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22"/>
          <p:cNvSpPr/>
          <p:nvPr/>
        </p:nvSpPr>
        <p:spPr>
          <a:xfrm>
            <a:off x="9272160" y="3429000"/>
            <a:ext cx="22399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Exposes capabilities — tools, resources, prompts — and does the work.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23"/>
          <p:cNvSpPr/>
          <p:nvPr/>
        </p:nvSpPr>
        <p:spPr>
          <a:xfrm>
            <a:off x="457200" y="4709160"/>
            <a:ext cx="11246760" cy="1234080"/>
          </a:xfrm>
          <a:prstGeom prst="rect">
            <a:avLst/>
          </a:prstGeom>
          <a:solidFill>
            <a:srgbClr val="5A0E1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24"/>
          <p:cNvSpPr/>
          <p:nvPr/>
        </p:nvSpPr>
        <p:spPr>
          <a:xfrm>
            <a:off x="457200" y="4709160"/>
            <a:ext cx="109440" cy="123408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25"/>
          <p:cNvSpPr/>
          <p:nvPr/>
        </p:nvSpPr>
        <p:spPr>
          <a:xfrm>
            <a:off x="777240" y="4864680"/>
            <a:ext cx="10515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F5A800"/>
                </a:solidFill>
                <a:latin typeface="Calibri"/>
                <a:ea typeface="Calibri"/>
              </a:rPr>
              <a:t>THE FOUNDATIONAL RULE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26"/>
          <p:cNvSpPr/>
          <p:nvPr/>
        </p:nvSpPr>
        <p:spPr>
          <a:xfrm>
            <a:off x="777240" y="513900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Calibri"/>
              </a:rPr>
              <a:t>One host runs many clients — but each client maintains a 1:1 session with a single server. </a:t>
            </a:r>
            <a:r>
              <a:rPr lang="en-US" sz="1400" b="0" strike="noStrike" spc="-1">
                <a:solidFill>
                  <a:srgbClr val="E8DFD2"/>
                </a:solidFill>
                <a:latin typeface="Calibri"/>
                <a:ea typeface="Calibri"/>
              </a:rPr>
              <a:t>That isolation boundary is why a server only ever sees its own connection, and it shapes the entire security model.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27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8" name="Image 4" descr="fhb_logo.png"/>
          <p:cNvPicPr/>
          <p:nvPr/>
        </p:nvPicPr>
        <p:blipFill>
          <a:blip r:embed="rId7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109" name="Shape 28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29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30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&amp; Agentic AI  ·  Deck 1 of 3  ·  Architecture &amp; Mechanics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31"/>
          <p:cNvSpPr/>
          <p:nvPr/>
        </p:nvSpPr>
        <p:spPr>
          <a:xfrm>
            <a:off x="111556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3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HOW IT FITS TOGETHER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High-level architecture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2"/>
          <p:cNvSpPr/>
          <p:nvPr/>
        </p:nvSpPr>
        <p:spPr>
          <a:xfrm>
            <a:off x="457200" y="1371600"/>
            <a:ext cx="11246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3A3536"/>
                </a:solidFill>
                <a:latin typeface="Calibri"/>
                <a:ea typeface="Calibri"/>
              </a:rPr>
              <a:t>Following our example: the analyst's request flows down through the host and clients to servers, which reach external systems and return results back up.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3"/>
          <p:cNvSpPr/>
          <p:nvPr/>
        </p:nvSpPr>
        <p:spPr>
          <a:xfrm>
            <a:off x="3108960" y="2011680"/>
            <a:ext cx="5943240" cy="639720"/>
          </a:xfrm>
          <a:prstGeom prst="rect">
            <a:avLst/>
          </a:prstGeom>
          <a:solidFill>
            <a:srgbClr val="EFE9E0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" name="Image 0" descr="preencoded.png"/>
          <p:cNvPicPr/>
          <p:nvPr/>
        </p:nvPicPr>
        <p:blipFill>
          <a:blip r:embed="rId3"/>
          <a:stretch/>
        </p:blipFill>
        <p:spPr>
          <a:xfrm>
            <a:off x="3337560" y="213984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118" name="Text 4"/>
          <p:cNvSpPr/>
          <p:nvPr/>
        </p:nvSpPr>
        <p:spPr>
          <a:xfrm>
            <a:off x="3886200" y="208476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31F20"/>
                </a:solidFill>
                <a:latin typeface="Open Sans"/>
                <a:ea typeface="Open Sans"/>
              </a:rPr>
              <a:t>User App / UI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5"/>
          <p:cNvSpPr/>
          <p:nvPr/>
        </p:nvSpPr>
        <p:spPr>
          <a:xfrm>
            <a:off x="3886200" y="243216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8A8385"/>
                </a:solidFill>
                <a:latin typeface="Calibri"/>
                <a:ea typeface="Calibri"/>
              </a:rPr>
              <a:t>The analyst's entry point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6"/>
          <p:cNvSpPr/>
          <p:nvPr/>
        </p:nvSpPr>
        <p:spPr>
          <a:xfrm>
            <a:off x="3108960" y="2834640"/>
            <a:ext cx="5943240" cy="639720"/>
          </a:xfrm>
          <a:prstGeom prst="rect">
            <a:avLst/>
          </a:prstGeom>
          <a:solidFill>
            <a:srgbClr val="EFE9E0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Image 1" descr="preencoded.png"/>
          <p:cNvPicPr/>
          <p:nvPr/>
        </p:nvPicPr>
        <p:blipFill>
          <a:blip r:embed="rId4"/>
          <a:stretch/>
        </p:blipFill>
        <p:spPr>
          <a:xfrm>
            <a:off x="3337560" y="296280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122" name="Text 7"/>
          <p:cNvSpPr/>
          <p:nvPr/>
        </p:nvSpPr>
        <p:spPr>
          <a:xfrm>
            <a:off x="3886200" y="290772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31F20"/>
                </a:solidFill>
                <a:latin typeface="Open Sans"/>
                <a:ea typeface="Open Sans"/>
              </a:rPr>
              <a:t>Host + LLM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8"/>
          <p:cNvSpPr/>
          <p:nvPr/>
        </p:nvSpPr>
        <p:spPr>
          <a:xfrm>
            <a:off x="3886200" y="325512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8A8385"/>
                </a:solidFill>
                <a:latin typeface="Calibri"/>
                <a:ea typeface="Calibri"/>
              </a:rPr>
              <a:t>Interprets intent, decides what to call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9"/>
          <p:cNvSpPr/>
          <p:nvPr/>
        </p:nvSpPr>
        <p:spPr>
          <a:xfrm>
            <a:off x="3108960" y="3657600"/>
            <a:ext cx="5943240" cy="639720"/>
          </a:xfrm>
          <a:prstGeom prst="rect">
            <a:avLst/>
          </a:prstGeom>
          <a:solidFill>
            <a:srgbClr val="E3EEED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" name="Image 2" descr="preencoded.png"/>
          <p:cNvPicPr/>
          <p:nvPr/>
        </p:nvPicPr>
        <p:blipFill>
          <a:blip r:embed="rId5"/>
          <a:stretch/>
        </p:blipFill>
        <p:spPr>
          <a:xfrm>
            <a:off x="3337560" y="378576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126" name="Text 10"/>
          <p:cNvSpPr/>
          <p:nvPr/>
        </p:nvSpPr>
        <p:spPr>
          <a:xfrm>
            <a:off x="3886200" y="373068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31F20"/>
                </a:solidFill>
                <a:latin typeface="Open Sans"/>
                <a:ea typeface="Open Sans"/>
              </a:rPr>
              <a:t>MCP Clients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11"/>
          <p:cNvSpPr/>
          <p:nvPr/>
        </p:nvSpPr>
        <p:spPr>
          <a:xfrm>
            <a:off x="3886200" y="407808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8A8385"/>
                </a:solidFill>
                <a:latin typeface="Calibri"/>
                <a:ea typeface="Calibri"/>
              </a:rPr>
              <a:t>Middleware — one session per server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12"/>
          <p:cNvSpPr/>
          <p:nvPr/>
        </p:nvSpPr>
        <p:spPr>
          <a:xfrm>
            <a:off x="6080760" y="2633400"/>
            <a:ext cx="360" cy="201240"/>
          </a:xfrm>
          <a:prstGeom prst="line">
            <a:avLst/>
          </a:prstGeom>
          <a:ln w="25400">
            <a:solidFill>
              <a:srgbClr val="8B0E15"/>
            </a:solidFill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13"/>
          <p:cNvSpPr/>
          <p:nvPr/>
        </p:nvSpPr>
        <p:spPr>
          <a:xfrm>
            <a:off x="6080760" y="3456360"/>
            <a:ext cx="360" cy="201240"/>
          </a:xfrm>
          <a:prstGeom prst="line">
            <a:avLst/>
          </a:prstGeom>
          <a:ln w="25400">
            <a:solidFill>
              <a:srgbClr val="8B0E15"/>
            </a:solidFill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14"/>
          <p:cNvSpPr/>
          <p:nvPr/>
        </p:nvSpPr>
        <p:spPr>
          <a:xfrm>
            <a:off x="6080760" y="4279320"/>
            <a:ext cx="360" cy="201240"/>
          </a:xfrm>
          <a:prstGeom prst="line">
            <a:avLst/>
          </a:prstGeom>
          <a:ln w="25400">
            <a:solidFill>
              <a:srgbClr val="8B0E15"/>
            </a:solidFill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15"/>
          <p:cNvSpPr/>
          <p:nvPr/>
        </p:nvSpPr>
        <p:spPr>
          <a:xfrm>
            <a:off x="3108960" y="4709160"/>
            <a:ext cx="1874160" cy="1279800"/>
          </a:xfrm>
          <a:prstGeom prst="rect">
            <a:avLst/>
          </a:prstGeom>
          <a:solidFill>
            <a:srgbClr val="8B0E15"/>
          </a:solidFill>
          <a:ln w="0">
            <a:noFill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2" name="Image 3" descr="preencoded.png"/>
          <p:cNvPicPr/>
          <p:nvPr/>
        </p:nvPicPr>
        <p:blipFill>
          <a:blip r:embed="rId6"/>
          <a:stretch/>
        </p:blipFill>
        <p:spPr>
          <a:xfrm>
            <a:off x="3246120" y="48463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33" name="Text 16"/>
          <p:cNvSpPr/>
          <p:nvPr/>
        </p:nvSpPr>
        <p:spPr>
          <a:xfrm>
            <a:off x="3200400" y="518472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MCP Server A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17"/>
          <p:cNvSpPr/>
          <p:nvPr/>
        </p:nvSpPr>
        <p:spPr>
          <a:xfrm>
            <a:off x="3200400" y="548640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F5A800"/>
                </a:solidFill>
                <a:latin typeface="Consolas"/>
                <a:ea typeface="Consolas"/>
              </a:rPr>
              <a:t>get_transactions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18"/>
          <p:cNvSpPr/>
          <p:nvPr/>
        </p:nvSpPr>
        <p:spPr>
          <a:xfrm>
            <a:off x="4023360" y="4480560"/>
            <a:ext cx="360" cy="228600"/>
          </a:xfrm>
          <a:prstGeom prst="line">
            <a:avLst/>
          </a:prstGeom>
          <a:ln w="19050">
            <a:solidFill>
              <a:srgbClr val="8B0E1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19"/>
          <p:cNvSpPr/>
          <p:nvPr/>
        </p:nvSpPr>
        <p:spPr>
          <a:xfrm>
            <a:off x="5166360" y="4709160"/>
            <a:ext cx="1874160" cy="1279800"/>
          </a:xfrm>
          <a:prstGeom prst="rect">
            <a:avLst/>
          </a:prstGeom>
          <a:solidFill>
            <a:srgbClr val="8B0E15"/>
          </a:solidFill>
          <a:ln w="0">
            <a:noFill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7" name="Image 4" descr="preencoded.png"/>
          <p:cNvPicPr/>
          <p:nvPr/>
        </p:nvPicPr>
        <p:blipFill>
          <a:blip r:embed="rId7"/>
          <a:stretch/>
        </p:blipFill>
        <p:spPr>
          <a:xfrm>
            <a:off x="5303520" y="48463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38" name="Text 20"/>
          <p:cNvSpPr/>
          <p:nvPr/>
        </p:nvSpPr>
        <p:spPr>
          <a:xfrm>
            <a:off x="5257800" y="518472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MCP Server B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21"/>
          <p:cNvSpPr/>
          <p:nvPr/>
        </p:nvSpPr>
        <p:spPr>
          <a:xfrm>
            <a:off x="5257800" y="548640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F5A800"/>
                </a:solidFill>
                <a:latin typeface="Consolas"/>
                <a:ea typeface="Consolas"/>
              </a:rPr>
              <a:t>customer_lookup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22"/>
          <p:cNvSpPr/>
          <p:nvPr/>
        </p:nvSpPr>
        <p:spPr>
          <a:xfrm>
            <a:off x="6080760" y="4480560"/>
            <a:ext cx="360" cy="228600"/>
          </a:xfrm>
          <a:prstGeom prst="line">
            <a:avLst/>
          </a:prstGeom>
          <a:ln w="19050">
            <a:solidFill>
              <a:srgbClr val="8B0E1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23"/>
          <p:cNvSpPr/>
          <p:nvPr/>
        </p:nvSpPr>
        <p:spPr>
          <a:xfrm>
            <a:off x="7223760" y="4709160"/>
            <a:ext cx="1874160" cy="1279800"/>
          </a:xfrm>
          <a:prstGeom prst="rect">
            <a:avLst/>
          </a:prstGeom>
          <a:solidFill>
            <a:srgbClr val="8B0E15"/>
          </a:solidFill>
          <a:ln w="0">
            <a:noFill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2" name="Image 5" descr="preencoded.png"/>
          <p:cNvPicPr/>
          <p:nvPr/>
        </p:nvPicPr>
        <p:blipFill>
          <a:blip r:embed="rId8"/>
          <a:stretch/>
        </p:blipFill>
        <p:spPr>
          <a:xfrm>
            <a:off x="7360920" y="48463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43" name="Text 24"/>
          <p:cNvSpPr/>
          <p:nvPr/>
        </p:nvSpPr>
        <p:spPr>
          <a:xfrm>
            <a:off x="7315200" y="518472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MCP Server C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25"/>
          <p:cNvSpPr/>
          <p:nvPr/>
        </p:nvSpPr>
        <p:spPr>
          <a:xfrm>
            <a:off x="7315200" y="548640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F5A800"/>
                </a:solidFill>
                <a:latin typeface="Consolas"/>
                <a:ea typeface="Consolas"/>
              </a:rPr>
              <a:t>policy_docs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26"/>
          <p:cNvSpPr/>
          <p:nvPr/>
        </p:nvSpPr>
        <p:spPr>
          <a:xfrm>
            <a:off x="8138160" y="4480560"/>
            <a:ext cx="360" cy="228600"/>
          </a:xfrm>
          <a:prstGeom prst="line">
            <a:avLst/>
          </a:prstGeom>
          <a:ln w="19050">
            <a:solidFill>
              <a:srgbClr val="8B0E1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27"/>
          <p:cNvSpPr/>
          <p:nvPr/>
        </p:nvSpPr>
        <p:spPr>
          <a:xfrm>
            <a:off x="3108960" y="608076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strike="noStrike" spc="-1">
                <a:solidFill>
                  <a:srgbClr val="8A8385"/>
                </a:solidFill>
                <a:latin typeface="Calibri"/>
                <a:ea typeface="Calibri"/>
              </a:rPr>
              <a:t>→ external systems: core banking, databases, document stores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28"/>
          <p:cNvSpPr/>
          <p:nvPr/>
        </p:nvSpPr>
        <p:spPr>
          <a:xfrm>
            <a:off x="914400" y="2377440"/>
            <a:ext cx="16455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8B0E15"/>
                </a:solidFill>
                <a:latin typeface="Calibri"/>
                <a:ea typeface="Calibri"/>
              </a:rPr>
              <a:t>REQUEST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8B0E15"/>
                </a:solidFill>
                <a:latin typeface="Calibri"/>
                <a:ea typeface="Calibri"/>
              </a:rPr>
              <a:t>flows down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29"/>
          <p:cNvSpPr/>
          <p:nvPr/>
        </p:nvSpPr>
        <p:spPr>
          <a:xfrm>
            <a:off x="2377440" y="2286000"/>
            <a:ext cx="360" cy="2743200"/>
          </a:xfrm>
          <a:prstGeom prst="line">
            <a:avLst/>
          </a:prstGeom>
          <a:ln w="25400">
            <a:solidFill>
              <a:srgbClr val="8B0E1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30"/>
          <p:cNvSpPr/>
          <p:nvPr/>
        </p:nvSpPr>
        <p:spPr>
          <a:xfrm>
            <a:off x="9509760" y="2377440"/>
            <a:ext cx="17370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8B0E15"/>
                </a:solidFill>
                <a:latin typeface="Calibri"/>
                <a:ea typeface="Calibri"/>
              </a:rPr>
              <a:t>RESULTS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8B0E15"/>
                </a:solidFill>
                <a:latin typeface="Calibri"/>
                <a:ea typeface="Calibri"/>
              </a:rPr>
              <a:t>flow back up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31"/>
          <p:cNvSpPr/>
          <p:nvPr/>
        </p:nvSpPr>
        <p:spPr>
          <a:xfrm flipV="1">
            <a:off x="9326880" y="2286000"/>
            <a:ext cx="360" cy="2743200"/>
          </a:xfrm>
          <a:prstGeom prst="line">
            <a:avLst/>
          </a:prstGeom>
          <a:ln w="25400">
            <a:solidFill>
              <a:srgbClr val="8B0E1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32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2" name="Image 6" descr="fhb_logo.png"/>
          <p:cNvPicPr/>
          <p:nvPr/>
        </p:nvPicPr>
        <p:blipFill>
          <a:blip r:embed="rId9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153" name="Shape 33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34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35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&amp; Agentic AI  ·  Deck 1 of 3  ·  Architecture &amp; Mechanics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36"/>
          <p:cNvSpPr/>
          <p:nvPr/>
        </p:nvSpPr>
        <p:spPr>
          <a:xfrm>
            <a:off x="111556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4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WHAT A SERVER OFFERS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The three server primitives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2"/>
          <p:cNvSpPr/>
          <p:nvPr/>
        </p:nvSpPr>
        <p:spPr>
          <a:xfrm>
            <a:off x="457200" y="141732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The clearest way to keep these straight is to ask who is in control of each.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3"/>
          <p:cNvSpPr/>
          <p:nvPr/>
        </p:nvSpPr>
        <p:spPr>
          <a:xfrm>
            <a:off x="457200" y="2011680"/>
            <a:ext cx="3520080" cy="39315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4"/>
          <p:cNvSpPr/>
          <p:nvPr/>
        </p:nvSpPr>
        <p:spPr>
          <a:xfrm>
            <a:off x="457200" y="2011680"/>
            <a:ext cx="3520080" cy="12780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Shape 5"/>
          <p:cNvSpPr/>
          <p:nvPr/>
        </p:nvSpPr>
        <p:spPr>
          <a:xfrm>
            <a:off x="731520" y="2331720"/>
            <a:ext cx="639720" cy="639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3" name="Image 0" descr="preencoded.png"/>
          <p:cNvPicPr/>
          <p:nvPr/>
        </p:nvPicPr>
        <p:blipFill>
          <a:blip r:embed="rId3"/>
          <a:stretch/>
        </p:blipFill>
        <p:spPr>
          <a:xfrm>
            <a:off x="872280" y="2472480"/>
            <a:ext cx="358200" cy="358200"/>
          </a:xfrm>
          <a:prstGeom prst="rect">
            <a:avLst/>
          </a:prstGeom>
          <a:ln w="0">
            <a:noFill/>
          </a:ln>
        </p:spPr>
      </p:pic>
      <p:sp>
        <p:nvSpPr>
          <p:cNvPr id="164" name="Text 6"/>
          <p:cNvSpPr/>
          <p:nvPr/>
        </p:nvSpPr>
        <p:spPr>
          <a:xfrm>
            <a:off x="731520" y="310896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231F20"/>
                </a:solidFill>
                <a:latin typeface="Open Sans"/>
                <a:ea typeface="Open Sans"/>
              </a:rPr>
              <a:t>Tools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7"/>
          <p:cNvSpPr/>
          <p:nvPr/>
        </p:nvSpPr>
        <p:spPr>
          <a:xfrm>
            <a:off x="731520" y="3611880"/>
            <a:ext cx="2742840" cy="383760"/>
          </a:xfrm>
          <a:prstGeom prst="roundRect">
            <a:avLst>
              <a:gd name="adj" fmla="val 11905"/>
            </a:avLst>
          </a:prstGeom>
          <a:solidFill>
            <a:srgbClr val="E3EE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8"/>
          <p:cNvSpPr/>
          <p:nvPr/>
        </p:nvSpPr>
        <p:spPr>
          <a:xfrm>
            <a:off x="731520" y="361188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8B0E15"/>
                </a:solidFill>
                <a:latin typeface="Calibri"/>
                <a:ea typeface="Calibri"/>
              </a:rPr>
              <a:t>Model-controlled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9"/>
          <p:cNvSpPr/>
          <p:nvPr/>
        </p:nvSpPr>
        <p:spPr>
          <a:xfrm>
            <a:off x="731520" y="4114800"/>
            <a:ext cx="301716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Functions the LLM can choose to execute — e.g. run a query, call an API. The model decides when to invoke.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10"/>
          <p:cNvSpPr/>
          <p:nvPr/>
        </p:nvSpPr>
        <p:spPr>
          <a:xfrm>
            <a:off x="731520" y="544068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8B0E15"/>
                </a:solidFill>
                <a:latin typeface="Consolas"/>
                <a:ea typeface="Consolas"/>
              </a:rPr>
              <a:t>get_transactions()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11"/>
          <p:cNvSpPr/>
          <p:nvPr/>
        </p:nvSpPr>
        <p:spPr>
          <a:xfrm>
            <a:off x="4251960" y="2011680"/>
            <a:ext cx="3520080" cy="39315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12"/>
          <p:cNvSpPr/>
          <p:nvPr/>
        </p:nvSpPr>
        <p:spPr>
          <a:xfrm>
            <a:off x="4251960" y="2011680"/>
            <a:ext cx="3520080" cy="12780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Shape 13"/>
          <p:cNvSpPr/>
          <p:nvPr/>
        </p:nvSpPr>
        <p:spPr>
          <a:xfrm>
            <a:off x="4526280" y="2331720"/>
            <a:ext cx="639720" cy="639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2" name="Image 1" descr="preencoded.png"/>
          <p:cNvPicPr/>
          <p:nvPr/>
        </p:nvPicPr>
        <p:blipFill>
          <a:blip r:embed="rId4"/>
          <a:stretch/>
        </p:blipFill>
        <p:spPr>
          <a:xfrm>
            <a:off x="4667040" y="2472480"/>
            <a:ext cx="358200" cy="358200"/>
          </a:xfrm>
          <a:prstGeom prst="rect">
            <a:avLst/>
          </a:prstGeom>
          <a:ln w="0">
            <a:noFill/>
          </a:ln>
        </p:spPr>
      </p:pic>
      <p:sp>
        <p:nvSpPr>
          <p:cNvPr id="173" name="Text 14"/>
          <p:cNvSpPr/>
          <p:nvPr/>
        </p:nvSpPr>
        <p:spPr>
          <a:xfrm>
            <a:off x="4526280" y="310896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231F20"/>
                </a:solidFill>
                <a:latin typeface="Open Sans"/>
                <a:ea typeface="Open Sans"/>
              </a:rPr>
              <a:t>Resources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15"/>
          <p:cNvSpPr/>
          <p:nvPr/>
        </p:nvSpPr>
        <p:spPr>
          <a:xfrm>
            <a:off x="4526280" y="3611880"/>
            <a:ext cx="2742840" cy="383760"/>
          </a:xfrm>
          <a:prstGeom prst="roundRect">
            <a:avLst>
              <a:gd name="adj" fmla="val 11905"/>
            </a:avLst>
          </a:prstGeom>
          <a:solidFill>
            <a:srgbClr val="E3EE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16"/>
          <p:cNvSpPr/>
          <p:nvPr/>
        </p:nvSpPr>
        <p:spPr>
          <a:xfrm>
            <a:off x="4526280" y="361188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8B0E15"/>
                </a:solidFill>
                <a:latin typeface="Calibri"/>
                <a:ea typeface="Calibri"/>
              </a:rPr>
              <a:t>App / user-controlled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17"/>
          <p:cNvSpPr/>
          <p:nvPr/>
        </p:nvSpPr>
        <p:spPr>
          <a:xfrm>
            <a:off x="4526280" y="4114800"/>
            <a:ext cx="301716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Context and data the app or user pulls in for the model to read — files, records, documents.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18"/>
          <p:cNvSpPr/>
          <p:nvPr/>
        </p:nvSpPr>
        <p:spPr>
          <a:xfrm>
            <a:off x="4526280" y="544068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8B0E15"/>
                </a:solidFill>
                <a:latin typeface="Consolas"/>
                <a:ea typeface="Consolas"/>
              </a:rPr>
              <a:t>customer://1234/txns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19"/>
          <p:cNvSpPr/>
          <p:nvPr/>
        </p:nvSpPr>
        <p:spPr>
          <a:xfrm>
            <a:off x="8046720" y="2011680"/>
            <a:ext cx="3520080" cy="39315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20"/>
          <p:cNvSpPr/>
          <p:nvPr/>
        </p:nvSpPr>
        <p:spPr>
          <a:xfrm>
            <a:off x="8046720" y="2011680"/>
            <a:ext cx="3520080" cy="12780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Shape 21"/>
          <p:cNvSpPr/>
          <p:nvPr/>
        </p:nvSpPr>
        <p:spPr>
          <a:xfrm>
            <a:off x="8321040" y="2331720"/>
            <a:ext cx="639720" cy="639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1" name="Image 2" descr="preencoded.png"/>
          <p:cNvPicPr/>
          <p:nvPr/>
        </p:nvPicPr>
        <p:blipFill>
          <a:blip r:embed="rId5"/>
          <a:stretch/>
        </p:blipFill>
        <p:spPr>
          <a:xfrm>
            <a:off x="8461800" y="2472480"/>
            <a:ext cx="358200" cy="358200"/>
          </a:xfrm>
          <a:prstGeom prst="rect">
            <a:avLst/>
          </a:prstGeom>
          <a:ln w="0">
            <a:noFill/>
          </a:ln>
        </p:spPr>
      </p:pic>
      <p:sp>
        <p:nvSpPr>
          <p:cNvPr id="182" name="Text 22"/>
          <p:cNvSpPr/>
          <p:nvPr/>
        </p:nvSpPr>
        <p:spPr>
          <a:xfrm>
            <a:off x="8321040" y="310896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231F20"/>
                </a:solidFill>
                <a:latin typeface="Open Sans"/>
                <a:ea typeface="Open Sans"/>
              </a:rPr>
              <a:t>Prompts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23"/>
          <p:cNvSpPr/>
          <p:nvPr/>
        </p:nvSpPr>
        <p:spPr>
          <a:xfrm>
            <a:off x="8321040" y="3611880"/>
            <a:ext cx="2742840" cy="383760"/>
          </a:xfrm>
          <a:prstGeom prst="roundRect">
            <a:avLst>
              <a:gd name="adj" fmla="val 11905"/>
            </a:avLst>
          </a:prstGeom>
          <a:solidFill>
            <a:srgbClr val="E3EE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24"/>
          <p:cNvSpPr/>
          <p:nvPr/>
        </p:nvSpPr>
        <p:spPr>
          <a:xfrm>
            <a:off x="8321040" y="361188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8B0E15"/>
                </a:solidFill>
                <a:latin typeface="Calibri"/>
                <a:ea typeface="Calibri"/>
              </a:rPr>
              <a:t>User-controlled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25"/>
          <p:cNvSpPr/>
          <p:nvPr/>
        </p:nvSpPr>
        <p:spPr>
          <a:xfrm>
            <a:off x="8321040" y="4114800"/>
            <a:ext cx="301716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Reusable templates and workflows a user can invoke deliberately — e.g. a canned analysis.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26"/>
          <p:cNvSpPr/>
          <p:nvPr/>
        </p:nvSpPr>
        <p:spPr>
          <a:xfrm>
            <a:off x="8321040" y="544068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8B0E15"/>
                </a:solidFill>
                <a:latin typeface="Consolas"/>
                <a:ea typeface="Consolas"/>
              </a:rPr>
              <a:t>/flag-unusual-activity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27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8" name="Image 3" descr="fhb_logo.png"/>
          <p:cNvPicPr/>
          <p:nvPr/>
        </p:nvPicPr>
        <p:blipFill>
          <a:blip r:embed="rId6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189" name="Shape 28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29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30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&amp; Agentic AI  ·  Deck 1 of 3  ·  Architecture &amp; Mechanics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31"/>
          <p:cNvSpPr/>
          <p:nvPr/>
        </p:nvSpPr>
        <p:spPr>
          <a:xfrm>
            <a:off x="111556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5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THE AGENTIC LOOP — END TO END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What actually happens on one request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5" name="Image 0" descr="assets/seq_loop.png"/>
          <p:cNvPicPr/>
          <p:nvPr/>
        </p:nvPicPr>
        <p:blipFill>
          <a:blip r:embed="rId3"/>
          <a:stretch/>
        </p:blipFill>
        <p:spPr>
          <a:xfrm>
            <a:off x="1253520" y="1463040"/>
            <a:ext cx="7185600" cy="4571640"/>
          </a:xfrm>
          <a:prstGeom prst="rect">
            <a:avLst/>
          </a:prstGeom>
          <a:ln w="0">
            <a:noFill/>
          </a:ln>
        </p:spPr>
      </p:pic>
      <p:sp>
        <p:nvSpPr>
          <p:cNvPr id="196" name="Shape 2"/>
          <p:cNvSpPr/>
          <p:nvPr/>
        </p:nvSpPr>
        <p:spPr>
          <a:xfrm>
            <a:off x="9464040" y="1463040"/>
            <a:ext cx="2331360" cy="45716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3"/>
          <p:cNvSpPr/>
          <p:nvPr/>
        </p:nvSpPr>
        <p:spPr>
          <a:xfrm>
            <a:off x="9646920" y="164592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199">
                <a:solidFill>
                  <a:srgbClr val="8B0E15"/>
                </a:solidFill>
                <a:latin typeface="Calibri"/>
                <a:ea typeface="Calibri"/>
              </a:rPr>
              <a:t>READ IT AS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4"/>
          <p:cNvSpPr/>
          <p:nvPr/>
        </p:nvSpPr>
        <p:spPr>
          <a:xfrm>
            <a:off x="9646920" y="1965960"/>
            <a:ext cx="201132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231F20"/>
                </a:solidFill>
                <a:latin typeface="Calibri"/>
                <a:ea typeface="Calibri"/>
              </a:rPr>
              <a:t>Intent 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The LLM decides a tool is needed (steps 1–2).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endParaRPr lang="en-US" sz="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endParaRPr lang="en-US" sz="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231F20"/>
                </a:solidFill>
                <a:latin typeface="Calibri"/>
                <a:ea typeface="Calibri"/>
              </a:rPr>
              <a:t>Route &amp; call 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Client translates and calls the server (3–5).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endParaRPr lang="en-US" sz="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endParaRPr lang="en-US" sz="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231F20"/>
                </a:solidFill>
                <a:latin typeface="Calibri"/>
                <a:ea typeface="Calibri"/>
              </a:rPr>
              <a:t>Return 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Results travel back up the chain (6–8).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endParaRPr lang="en-US" sz="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endParaRPr lang="en-US" sz="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231F20"/>
                </a:solidFill>
                <a:latin typeface="Calibri"/>
                <a:ea typeface="Calibri"/>
              </a:rPr>
              <a:t>Reason &amp; answer 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The LLM interprets and responds (9–10).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5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0" name="Image 1" descr="fhb_logo.png"/>
          <p:cNvPicPr/>
          <p:nvPr/>
        </p:nvPicPr>
        <p:blipFill>
          <a:blip r:embed="rId4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201" name="Shape 6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7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8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&amp; Agentic AI  ·  Deck 1 of 3  ·  Architecture &amp; Mechanics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9"/>
          <p:cNvSpPr/>
          <p:nvPr/>
        </p:nvSpPr>
        <p:spPr>
          <a:xfrm>
            <a:off x="111556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6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A WRINKLE IN THE LOOP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Why servers need to talk back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2"/>
          <p:cNvSpPr/>
          <p:nvPr/>
        </p:nvSpPr>
        <p:spPr>
          <a:xfrm>
            <a:off x="457200" y="1371600"/>
            <a:ext cx="11246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In the loop we just saw, the client always speaks first. But real tool calls aren't instant — and that creates two things a server needs to send on its own initiative, mid-request.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3"/>
          <p:cNvSpPr/>
          <p:nvPr/>
        </p:nvSpPr>
        <p:spPr>
          <a:xfrm>
            <a:off x="457200" y="2194560"/>
            <a:ext cx="5531760" cy="23313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4"/>
          <p:cNvSpPr/>
          <p:nvPr/>
        </p:nvSpPr>
        <p:spPr>
          <a:xfrm>
            <a:off x="457200" y="2194560"/>
            <a:ext cx="553176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Shape 5"/>
          <p:cNvSpPr/>
          <p:nvPr/>
        </p:nvSpPr>
        <p:spPr>
          <a:xfrm>
            <a:off x="731520" y="2423160"/>
            <a:ext cx="566640" cy="566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1" name="Image 0" descr="preencoded.png"/>
          <p:cNvPicPr/>
          <p:nvPr/>
        </p:nvPicPr>
        <p:blipFill>
          <a:blip r:embed="rId3"/>
          <a:stretch/>
        </p:blipFill>
        <p:spPr>
          <a:xfrm>
            <a:off x="856080" y="2547720"/>
            <a:ext cx="317160" cy="317160"/>
          </a:xfrm>
          <a:prstGeom prst="rect">
            <a:avLst/>
          </a:prstGeom>
          <a:ln w="0">
            <a:noFill/>
          </a:ln>
        </p:spPr>
      </p:pic>
      <p:sp>
        <p:nvSpPr>
          <p:cNvPr id="212" name="Text 6"/>
          <p:cNvSpPr/>
          <p:nvPr/>
        </p:nvSpPr>
        <p:spPr>
          <a:xfrm>
            <a:off x="1417320" y="2432160"/>
            <a:ext cx="4388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231F20"/>
                </a:solidFill>
                <a:latin typeface="Open Sans"/>
                <a:ea typeface="Open Sans"/>
              </a:rPr>
              <a:t>Progress updates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7"/>
          <p:cNvSpPr/>
          <p:nvPr/>
        </p:nvSpPr>
        <p:spPr>
          <a:xfrm>
            <a:off x="731520" y="3154680"/>
            <a:ext cx="502884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A long-running tool — querying months of transactions, scanning documents — may take many seconds. Without interim signals the client (and user) just sees a frozen spinner. The server needs to report “40% done” while the work continues.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8"/>
          <p:cNvSpPr/>
          <p:nvPr/>
        </p:nvSpPr>
        <p:spPr>
          <a:xfrm>
            <a:off x="6172200" y="2194560"/>
            <a:ext cx="5531760" cy="23313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9"/>
          <p:cNvSpPr/>
          <p:nvPr/>
        </p:nvSpPr>
        <p:spPr>
          <a:xfrm>
            <a:off x="6172200" y="2194560"/>
            <a:ext cx="553176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Shape 10"/>
          <p:cNvSpPr/>
          <p:nvPr/>
        </p:nvSpPr>
        <p:spPr>
          <a:xfrm>
            <a:off x="6446520" y="2423160"/>
            <a:ext cx="566640" cy="566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7" name="Image 1" descr="preencoded.png"/>
          <p:cNvPicPr/>
          <p:nvPr/>
        </p:nvPicPr>
        <p:blipFill>
          <a:blip r:embed="rId4"/>
          <a:stretch/>
        </p:blipFill>
        <p:spPr>
          <a:xfrm>
            <a:off x="6571080" y="2547720"/>
            <a:ext cx="317160" cy="317160"/>
          </a:xfrm>
          <a:prstGeom prst="rect">
            <a:avLst/>
          </a:prstGeom>
          <a:ln w="0">
            <a:noFill/>
          </a:ln>
        </p:spPr>
      </p:pic>
      <p:sp>
        <p:nvSpPr>
          <p:cNvPr id="218" name="Text 11"/>
          <p:cNvSpPr/>
          <p:nvPr/>
        </p:nvSpPr>
        <p:spPr>
          <a:xfrm>
            <a:off x="7132320" y="2432160"/>
            <a:ext cx="4388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231F20"/>
                </a:solidFill>
                <a:latin typeface="Open Sans"/>
                <a:ea typeface="Open Sans"/>
              </a:rPr>
              <a:t>Logs &amp; notifications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12"/>
          <p:cNvSpPr/>
          <p:nvPr/>
        </p:nvSpPr>
        <p:spPr>
          <a:xfrm>
            <a:off x="6446520" y="3154680"/>
            <a:ext cx="502884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The server has useful things to say before it finishes: diagnostic logs, a notice that its tool list changed, an updated resource. These are one-way messages the server must push to the client when they happen — not when asked.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13"/>
          <p:cNvSpPr/>
          <p:nvPr/>
        </p:nvSpPr>
        <p:spPr>
          <a:xfrm>
            <a:off x="457200" y="4800600"/>
            <a:ext cx="11246760" cy="1188360"/>
          </a:xfrm>
          <a:prstGeom prst="rect">
            <a:avLst/>
          </a:prstGeom>
          <a:solidFill>
            <a:srgbClr val="5A0E1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Shape 14"/>
          <p:cNvSpPr/>
          <p:nvPr/>
        </p:nvSpPr>
        <p:spPr>
          <a:xfrm>
            <a:off x="457200" y="4800600"/>
            <a:ext cx="109440" cy="118836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15"/>
          <p:cNvSpPr/>
          <p:nvPr/>
        </p:nvSpPr>
        <p:spPr>
          <a:xfrm>
            <a:off x="777240" y="4956120"/>
            <a:ext cx="10515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F5A800"/>
                </a:solidFill>
                <a:latin typeface="Calibri"/>
                <a:ea typeface="Calibri"/>
              </a:rPr>
              <a:t>THE COMMON THREAD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16"/>
          <p:cNvSpPr/>
          <p:nvPr/>
        </p:nvSpPr>
        <p:spPr>
          <a:xfrm>
            <a:off x="777240" y="5230440"/>
            <a:ext cx="107895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F0E8DC"/>
                </a:solidFill>
                <a:latin typeface="Calibri"/>
                <a:ea typeface="Calibri"/>
              </a:rPr>
              <a:t>Both cases require the server to send a message to the client without the client having just asked for it. That is the capability the next slide is about — and the reason MCP's transport has to do something ordinary web requests cannot.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17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5" name="Image 2" descr="fhb_logo.png"/>
          <p:cNvPicPr/>
          <p:nvPr/>
        </p:nvPicPr>
        <p:blipFill>
          <a:blip r:embed="rId5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226" name="Shape 18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19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20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&amp; Agentic AI  ·  Deck 1 of 3  ·  Architecture &amp; Mechanics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21"/>
          <p:cNvSpPr/>
          <p:nvPr/>
        </p:nvSpPr>
        <p:spPr>
          <a:xfrm>
            <a:off x="111556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7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THE TRANSPORT PROBLEM — AND THE FIX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Plain HTTP can't; Streamable HTTP can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2"/>
          <p:cNvSpPr/>
          <p:nvPr/>
        </p:nvSpPr>
        <p:spPr>
          <a:xfrm>
            <a:off x="457200" y="1371600"/>
            <a:ext cx="11246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Ordinary HTTP is strictly request–response: the client asks, the server answers once, the exchange closes. There is no channel for the server to speak up later. MCP's remote transport solves exactly this.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3"/>
          <p:cNvSpPr/>
          <p:nvPr/>
        </p:nvSpPr>
        <p:spPr>
          <a:xfrm>
            <a:off x="457200" y="2194560"/>
            <a:ext cx="5531760" cy="32457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4"/>
          <p:cNvSpPr/>
          <p:nvPr/>
        </p:nvSpPr>
        <p:spPr>
          <a:xfrm>
            <a:off x="457200" y="2194560"/>
            <a:ext cx="5531760" cy="109440"/>
          </a:xfrm>
          <a:prstGeom prst="rect">
            <a:avLst/>
          </a:prstGeom>
          <a:solidFill>
            <a:srgbClr val="8A838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Shape 5"/>
          <p:cNvSpPr/>
          <p:nvPr/>
        </p:nvSpPr>
        <p:spPr>
          <a:xfrm>
            <a:off x="713160" y="2395800"/>
            <a:ext cx="529920" cy="529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6" name="Image 0" descr="preencoded.png"/>
          <p:cNvPicPr/>
          <p:nvPr/>
        </p:nvPicPr>
        <p:blipFill>
          <a:blip r:embed="rId3"/>
          <a:stretch/>
        </p:blipFill>
        <p:spPr>
          <a:xfrm>
            <a:off x="829800" y="2512440"/>
            <a:ext cx="296640" cy="296640"/>
          </a:xfrm>
          <a:prstGeom prst="rect">
            <a:avLst/>
          </a:prstGeom>
          <a:ln w="0">
            <a:noFill/>
          </a:ln>
        </p:spPr>
      </p:pic>
      <p:sp>
        <p:nvSpPr>
          <p:cNvPr id="237" name="Text 6"/>
          <p:cNvSpPr/>
          <p:nvPr/>
        </p:nvSpPr>
        <p:spPr>
          <a:xfrm>
            <a:off x="1371600" y="2395800"/>
            <a:ext cx="438876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231F20"/>
                </a:solidFill>
                <a:latin typeface="Open Sans"/>
                <a:ea typeface="Open Sans"/>
              </a:rPr>
              <a:t>Plain HTTP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7"/>
          <p:cNvSpPr/>
          <p:nvPr/>
        </p:nvSpPr>
        <p:spPr>
          <a:xfrm>
            <a:off x="777240" y="3200400"/>
            <a:ext cx="1828440" cy="594000"/>
          </a:xfrm>
          <a:prstGeom prst="roundRect">
            <a:avLst>
              <a:gd name="adj" fmla="val 7692"/>
            </a:avLst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Text 8"/>
          <p:cNvSpPr/>
          <p:nvPr/>
        </p:nvSpPr>
        <p:spPr>
          <a:xfrm>
            <a:off x="777240" y="320040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Client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9"/>
          <p:cNvSpPr/>
          <p:nvPr/>
        </p:nvSpPr>
        <p:spPr>
          <a:xfrm>
            <a:off x="3840480" y="3200400"/>
            <a:ext cx="1828440" cy="594000"/>
          </a:xfrm>
          <a:prstGeom prst="roundRect">
            <a:avLst>
              <a:gd name="adj" fmla="val 7692"/>
            </a:avLst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10"/>
          <p:cNvSpPr/>
          <p:nvPr/>
        </p:nvSpPr>
        <p:spPr>
          <a:xfrm>
            <a:off x="3840480" y="320040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Server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11"/>
          <p:cNvSpPr/>
          <p:nvPr/>
        </p:nvSpPr>
        <p:spPr>
          <a:xfrm>
            <a:off x="2651760" y="3401280"/>
            <a:ext cx="1143000" cy="360"/>
          </a:xfrm>
          <a:prstGeom prst="line">
            <a:avLst/>
          </a:prstGeom>
          <a:ln w="25400">
            <a:solidFill>
              <a:srgbClr val="8B0E1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12"/>
          <p:cNvSpPr/>
          <p:nvPr/>
        </p:nvSpPr>
        <p:spPr>
          <a:xfrm>
            <a:off x="2514600" y="315468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onsolas"/>
                <a:ea typeface="Consolas"/>
              </a:rPr>
              <a:t>request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13"/>
          <p:cNvSpPr/>
          <p:nvPr/>
        </p:nvSpPr>
        <p:spPr>
          <a:xfrm flipH="1">
            <a:off x="2697480" y="3611880"/>
            <a:ext cx="1143000" cy="360"/>
          </a:xfrm>
          <a:prstGeom prst="line">
            <a:avLst/>
          </a:prstGeom>
          <a:ln w="25400">
            <a:solidFill>
              <a:srgbClr val="8B0E15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14"/>
          <p:cNvSpPr/>
          <p:nvPr/>
        </p:nvSpPr>
        <p:spPr>
          <a:xfrm>
            <a:off x="2377440" y="364860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onsolas"/>
                <a:ea typeface="Consolas"/>
              </a:rPr>
              <a:t>one response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15"/>
          <p:cNvSpPr/>
          <p:nvPr/>
        </p:nvSpPr>
        <p:spPr>
          <a:xfrm>
            <a:off x="777240" y="4114800"/>
            <a:ext cx="493740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✕  then the connection closes. If the server wants to send progress or a log a moment later, it has no way to reach the client.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16"/>
          <p:cNvSpPr/>
          <p:nvPr/>
        </p:nvSpPr>
        <p:spPr>
          <a:xfrm>
            <a:off x="6172200" y="2194560"/>
            <a:ext cx="5531760" cy="32457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17"/>
          <p:cNvSpPr/>
          <p:nvPr/>
        </p:nvSpPr>
        <p:spPr>
          <a:xfrm>
            <a:off x="6172200" y="2194560"/>
            <a:ext cx="553176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Shape 18"/>
          <p:cNvSpPr/>
          <p:nvPr/>
        </p:nvSpPr>
        <p:spPr>
          <a:xfrm>
            <a:off x="6428160" y="2395800"/>
            <a:ext cx="529920" cy="529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0" name="Image 1" descr="preencoded.png"/>
          <p:cNvPicPr/>
          <p:nvPr/>
        </p:nvPicPr>
        <p:blipFill>
          <a:blip r:embed="rId4"/>
          <a:stretch/>
        </p:blipFill>
        <p:spPr>
          <a:xfrm>
            <a:off x="6544800" y="2512440"/>
            <a:ext cx="296640" cy="296640"/>
          </a:xfrm>
          <a:prstGeom prst="rect">
            <a:avLst/>
          </a:prstGeom>
          <a:ln w="0">
            <a:noFill/>
          </a:ln>
        </p:spPr>
      </p:pic>
      <p:sp>
        <p:nvSpPr>
          <p:cNvPr id="251" name="Text 19"/>
          <p:cNvSpPr/>
          <p:nvPr/>
        </p:nvSpPr>
        <p:spPr>
          <a:xfrm>
            <a:off x="7086600" y="2395800"/>
            <a:ext cx="438876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231F20"/>
                </a:solidFill>
                <a:latin typeface="Open Sans"/>
                <a:ea typeface="Open Sans"/>
              </a:rPr>
              <a:t>Streamable HTTP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20"/>
          <p:cNvSpPr/>
          <p:nvPr/>
        </p:nvSpPr>
        <p:spPr>
          <a:xfrm>
            <a:off x="6492240" y="3200400"/>
            <a:ext cx="1828440" cy="594000"/>
          </a:xfrm>
          <a:prstGeom prst="roundRect">
            <a:avLst>
              <a:gd name="adj" fmla="val 7692"/>
            </a:avLst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21"/>
          <p:cNvSpPr/>
          <p:nvPr/>
        </p:nvSpPr>
        <p:spPr>
          <a:xfrm>
            <a:off x="6492240" y="320040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Client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22"/>
          <p:cNvSpPr/>
          <p:nvPr/>
        </p:nvSpPr>
        <p:spPr>
          <a:xfrm>
            <a:off x="9555480" y="3200400"/>
            <a:ext cx="1828440" cy="594000"/>
          </a:xfrm>
          <a:prstGeom prst="roundRect">
            <a:avLst>
              <a:gd name="adj" fmla="val 7692"/>
            </a:avLst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 23"/>
          <p:cNvSpPr/>
          <p:nvPr/>
        </p:nvSpPr>
        <p:spPr>
          <a:xfrm>
            <a:off x="9555480" y="320040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Server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24"/>
          <p:cNvSpPr/>
          <p:nvPr/>
        </p:nvSpPr>
        <p:spPr>
          <a:xfrm>
            <a:off x="8366760" y="3346560"/>
            <a:ext cx="1143000" cy="360"/>
          </a:xfrm>
          <a:prstGeom prst="line">
            <a:avLst/>
          </a:prstGeom>
          <a:ln w="25400">
            <a:solidFill>
              <a:srgbClr val="8B0E1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25"/>
          <p:cNvSpPr/>
          <p:nvPr/>
        </p:nvSpPr>
        <p:spPr>
          <a:xfrm>
            <a:off x="8229600" y="310896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onsolas"/>
                <a:ea typeface="Consolas"/>
              </a:rPr>
              <a:t>request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26"/>
          <p:cNvSpPr/>
          <p:nvPr/>
        </p:nvSpPr>
        <p:spPr>
          <a:xfrm flipH="1">
            <a:off x="8412480" y="3529440"/>
            <a:ext cx="1143000" cy="360"/>
          </a:xfrm>
          <a:prstGeom prst="line">
            <a:avLst/>
          </a:prstGeom>
          <a:ln w="25400">
            <a:solidFill>
              <a:srgbClr val="8B0E15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27"/>
          <p:cNvSpPr/>
          <p:nvPr/>
        </p:nvSpPr>
        <p:spPr>
          <a:xfrm flipH="1">
            <a:off x="8412480" y="3657600"/>
            <a:ext cx="1143000" cy="360"/>
          </a:xfrm>
          <a:prstGeom prst="line">
            <a:avLst/>
          </a:prstGeom>
          <a:ln w="25400">
            <a:solidFill>
              <a:srgbClr val="8B0E15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28"/>
          <p:cNvSpPr/>
          <p:nvPr/>
        </p:nvSpPr>
        <p:spPr>
          <a:xfrm>
            <a:off x="7955280" y="369432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B0E15"/>
                </a:solidFill>
                <a:latin typeface="Consolas"/>
                <a:ea typeface="Consolas"/>
              </a:rPr>
              <a:t>stream of messages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29"/>
          <p:cNvSpPr/>
          <p:nvPr/>
        </p:nvSpPr>
        <p:spPr>
          <a:xfrm>
            <a:off x="6492240" y="4114800"/>
            <a:ext cx="493740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✓  the connection stays open. Using Server-Sent Events (SSE), the server pushes many messages over one channel — progress, logs, and its own requests.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30"/>
          <p:cNvSpPr/>
          <p:nvPr/>
        </p:nvSpPr>
        <p:spPr>
          <a:xfrm>
            <a:off x="457200" y="5623560"/>
            <a:ext cx="11246760" cy="456840"/>
          </a:xfrm>
          <a:prstGeom prst="rect">
            <a:avLst/>
          </a:prstGeom>
          <a:solidFill>
            <a:srgbClr val="EFE9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31"/>
          <p:cNvSpPr/>
          <p:nvPr/>
        </p:nvSpPr>
        <p:spPr>
          <a:xfrm>
            <a:off x="640080" y="562356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231F20"/>
                </a:solidFill>
                <a:latin typeface="Calibri"/>
                <a:ea typeface="Calibri"/>
              </a:rPr>
              <a:t>Result:  </a:t>
            </a: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a session-based, two-way channel. This is what makes server-initiated messaging possible — and it sets up the inversion on the next slide.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32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5" name="Image 2" descr="fhb_logo.png"/>
          <p:cNvPicPr/>
          <p:nvPr/>
        </p:nvPicPr>
        <p:blipFill>
          <a:blip r:embed="rId5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266" name="Shape 33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34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 35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&amp; Agentic AI  ·  Deck 1 of 3  ·  Architecture &amp; Mechanics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36"/>
          <p:cNvSpPr/>
          <p:nvPr/>
        </p:nvSpPr>
        <p:spPr>
          <a:xfrm>
            <a:off x="111556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8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A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hape 0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1"/>
          <p:cNvSpPr/>
          <p:nvPr/>
        </p:nvSpPr>
        <p:spPr>
          <a:xfrm>
            <a:off x="9829800" y="164520"/>
            <a:ext cx="2057040" cy="502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2" name="Image 0" descr="fhb_logo.png"/>
          <p:cNvPicPr/>
          <p:nvPr/>
        </p:nvPicPr>
        <p:blipFill>
          <a:blip r:embed="rId3"/>
          <a:stretch/>
        </p:blipFill>
        <p:spPr>
          <a:xfrm>
            <a:off x="9921240" y="2559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273" name="Shape 2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3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4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5"/>
          <p:cNvSpPr/>
          <p:nvPr/>
        </p:nvSpPr>
        <p:spPr>
          <a:xfrm>
            <a:off x="822960" y="5029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F5A800"/>
                </a:solidFill>
                <a:latin typeface="Calibri"/>
                <a:ea typeface="Calibri"/>
              </a:rPr>
              <a:t>WATCH THIS — WE RETURN TO IT IN DECK 3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Text 6"/>
          <p:cNvSpPr/>
          <p:nvPr/>
        </p:nvSpPr>
        <p:spPr>
          <a:xfrm>
            <a:off x="777240" y="86868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strike="noStrike" spc="-1">
                <a:solidFill>
                  <a:srgbClr val="FFFFFF"/>
                </a:solidFill>
                <a:latin typeface="Open Sans"/>
                <a:ea typeface="Open Sans"/>
              </a:rPr>
              <a:t>The interaction inversion</a:t>
            </a:r>
            <a:endParaRPr lang="en-US" sz="3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Shape 7"/>
          <p:cNvSpPr/>
          <p:nvPr/>
        </p:nvSpPr>
        <p:spPr>
          <a:xfrm>
            <a:off x="822960" y="1920240"/>
            <a:ext cx="731160" cy="731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9" name="Image 1" descr="preencoded.png"/>
          <p:cNvPicPr/>
          <p:nvPr/>
        </p:nvPicPr>
        <p:blipFill>
          <a:blip r:embed="rId4"/>
          <a:stretch/>
        </p:blipFill>
        <p:spPr>
          <a:xfrm>
            <a:off x="983880" y="2081160"/>
            <a:ext cx="409320" cy="409320"/>
          </a:xfrm>
          <a:prstGeom prst="rect">
            <a:avLst/>
          </a:prstGeom>
          <a:ln w="0">
            <a:noFill/>
          </a:ln>
        </p:spPr>
      </p:pic>
      <p:sp>
        <p:nvSpPr>
          <p:cNvPr id="280" name="Text 8"/>
          <p:cNvSpPr/>
          <p:nvPr/>
        </p:nvSpPr>
        <p:spPr>
          <a:xfrm>
            <a:off x="1783080" y="1874520"/>
            <a:ext cx="96008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F0E8DC"/>
                </a:solidFill>
                <a:latin typeface="Calibri"/>
                <a:ea typeface="Calibri"/>
              </a:rPr>
              <a:t>In the familiar web model, clients request and servers respond. MCP reverses this: servers can query, drive tool calls, and act on the client's side of the conversation.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Shape 9"/>
          <p:cNvSpPr/>
          <p:nvPr/>
        </p:nvSpPr>
        <p:spPr>
          <a:xfrm>
            <a:off x="822960" y="3017520"/>
            <a:ext cx="5120280" cy="2285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5A6B7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10"/>
          <p:cNvSpPr/>
          <p:nvPr/>
        </p:nvSpPr>
        <p:spPr>
          <a:xfrm>
            <a:off x="1051560" y="320040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199">
                <a:solidFill>
                  <a:srgbClr val="9FB0B7"/>
                </a:solidFill>
                <a:latin typeface="Calibri"/>
                <a:ea typeface="Calibri"/>
              </a:rPr>
              <a:t>FAMILIAR PATTERN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 11"/>
          <p:cNvSpPr/>
          <p:nvPr/>
        </p:nvSpPr>
        <p:spPr>
          <a:xfrm>
            <a:off x="1051560" y="347472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FFFFFF"/>
                </a:solidFill>
                <a:latin typeface="Open Sans"/>
                <a:ea typeface="Open Sans"/>
              </a:rPr>
              <a:t>Client asks → server answers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 12"/>
          <p:cNvSpPr/>
          <p:nvPr/>
        </p:nvSpPr>
        <p:spPr>
          <a:xfrm>
            <a:off x="1051560" y="3886200"/>
            <a:ext cx="466308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E8DFD2"/>
                </a:solidFill>
                <a:latin typeface="Calibri"/>
                <a:ea typeface="Calibri"/>
              </a:rPr>
              <a:t>Trust flows one way. The server is a passive responder. Attack paths are well understood after decades of web security.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Shape 13"/>
          <p:cNvSpPr/>
          <p:nvPr/>
        </p:nvSpPr>
        <p:spPr>
          <a:xfrm>
            <a:off x="6217920" y="3017520"/>
            <a:ext cx="5120280" cy="2285640"/>
          </a:xfrm>
          <a:prstGeom prst="rect">
            <a:avLst/>
          </a:prstGeom>
          <a:solidFill>
            <a:srgbClr val="B8860B">
              <a:alpha val="20000"/>
            </a:srgbClr>
          </a:solidFill>
          <a:ln w="19050">
            <a:solidFill>
              <a:srgbClr val="F5A8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 14"/>
          <p:cNvSpPr/>
          <p:nvPr/>
        </p:nvSpPr>
        <p:spPr>
          <a:xfrm>
            <a:off x="6446520" y="320040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199">
                <a:solidFill>
                  <a:srgbClr val="F5A800"/>
                </a:solidFill>
                <a:latin typeface="Calibri"/>
                <a:ea typeface="Calibri"/>
              </a:rPr>
              <a:t>MCP'S INVERSION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 15"/>
          <p:cNvSpPr/>
          <p:nvPr/>
        </p:nvSpPr>
        <p:spPr>
          <a:xfrm>
            <a:off x="6446520" y="347472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FFFFFF"/>
                </a:solidFill>
                <a:latin typeface="Open Sans"/>
                <a:ea typeface="Open Sans"/>
              </a:rPr>
              <a:t>Server can query &amp; act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 16"/>
          <p:cNvSpPr/>
          <p:nvPr/>
        </p:nvSpPr>
        <p:spPr>
          <a:xfrm>
            <a:off x="6446520" y="3886200"/>
            <a:ext cx="466308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FBE7CF"/>
                </a:solidFill>
                <a:latin typeface="Calibri"/>
                <a:ea typeface="Calibri"/>
              </a:rPr>
              <a:t>A server influences what the model does and reaches back toward the user's environment. These are new, poorly-traced attack paths — the seed of nearly every MCP security concern.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17"/>
          <p:cNvSpPr/>
          <p:nvPr/>
        </p:nvSpPr>
        <p:spPr>
          <a:xfrm>
            <a:off x="822960" y="566928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strike="noStrike" spc="-1">
                <a:solidFill>
                  <a:srgbClr val="C9BBA5"/>
                </a:solidFill>
                <a:latin typeface="Calibri"/>
                <a:ea typeface="Calibri"/>
              </a:rPr>
              <a:t>Keep this in mind — it is exactly where the NSA security guidance in Deck 3 begins.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THE REVERSE DIRECTION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Client features: when the server reaches back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2"/>
          <p:cNvSpPr/>
          <p:nvPr/>
        </p:nvSpPr>
        <p:spPr>
          <a:xfrm>
            <a:off x="457200" y="1371600"/>
            <a:ext cx="11246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The inversion in practice. Beyond responding, a server can initiate three things — each routed through the client, each a deliberate trust decision.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3"/>
          <p:cNvSpPr/>
          <p:nvPr/>
        </p:nvSpPr>
        <p:spPr>
          <a:xfrm>
            <a:off x="457200" y="2057400"/>
            <a:ext cx="3520080" cy="374868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4"/>
          <p:cNvSpPr/>
          <p:nvPr/>
        </p:nvSpPr>
        <p:spPr>
          <a:xfrm>
            <a:off x="731520" y="2286000"/>
            <a:ext cx="603000" cy="603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5" name="Image 0" descr="preencoded.png"/>
          <p:cNvPicPr/>
          <p:nvPr/>
        </p:nvPicPr>
        <p:blipFill>
          <a:blip r:embed="rId3"/>
          <a:stretch/>
        </p:blipFill>
        <p:spPr>
          <a:xfrm>
            <a:off x="864360" y="2418840"/>
            <a:ext cx="337680" cy="337680"/>
          </a:xfrm>
          <a:prstGeom prst="rect">
            <a:avLst/>
          </a:prstGeom>
          <a:ln w="0">
            <a:noFill/>
          </a:ln>
        </p:spPr>
      </p:pic>
      <p:sp>
        <p:nvSpPr>
          <p:cNvPr id="296" name="Text 5"/>
          <p:cNvSpPr/>
          <p:nvPr/>
        </p:nvSpPr>
        <p:spPr>
          <a:xfrm>
            <a:off x="1463040" y="2286000"/>
            <a:ext cx="237708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231F20"/>
                </a:solidFill>
                <a:latin typeface="Open Sans"/>
                <a:ea typeface="Open Sans"/>
              </a:rPr>
              <a:t>Sampling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6"/>
          <p:cNvSpPr/>
          <p:nvPr/>
        </p:nvSpPr>
        <p:spPr>
          <a:xfrm>
            <a:off x="731520" y="3063240"/>
            <a:ext cx="301716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3A3536"/>
                </a:solidFill>
                <a:latin typeface="Calibri"/>
                <a:ea typeface="Calibri"/>
              </a:rPr>
              <a:t>The server asks the client's LLM to run a completion on its behalf — recursive, agentic behavior.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7"/>
          <p:cNvSpPr/>
          <p:nvPr/>
        </p:nvSpPr>
        <p:spPr>
          <a:xfrm>
            <a:off x="457200" y="4892040"/>
            <a:ext cx="3520080" cy="914040"/>
          </a:xfrm>
          <a:prstGeom prst="rect">
            <a:avLst/>
          </a:prstGeom>
          <a:solidFill>
            <a:srgbClr val="FBF1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8"/>
          <p:cNvSpPr/>
          <p:nvPr/>
        </p:nvSpPr>
        <p:spPr>
          <a:xfrm>
            <a:off x="457200" y="4892040"/>
            <a:ext cx="91080" cy="9140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0" name="Image 1" descr="preencoded.png"/>
          <p:cNvPicPr/>
          <p:nvPr/>
        </p:nvPicPr>
        <p:blipFill>
          <a:blip r:embed="rId4"/>
          <a:stretch/>
        </p:blipFill>
        <p:spPr>
          <a:xfrm>
            <a:off x="685800" y="50749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301" name="Text 9"/>
          <p:cNvSpPr/>
          <p:nvPr/>
        </p:nvSpPr>
        <p:spPr>
          <a:xfrm>
            <a:off x="1051560" y="4956120"/>
            <a:ext cx="2788560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strike="noStrike" spc="-1">
                <a:solidFill>
                  <a:srgbClr val="8A5A12"/>
                </a:solidFill>
                <a:latin typeface="Calibri"/>
                <a:ea typeface="Calibri"/>
              </a:rPr>
              <a:t>A server influencing model calls is powerful and a real trust consideration.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10"/>
          <p:cNvSpPr/>
          <p:nvPr/>
        </p:nvSpPr>
        <p:spPr>
          <a:xfrm>
            <a:off x="4251960" y="2057400"/>
            <a:ext cx="3520080" cy="374868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11"/>
          <p:cNvSpPr/>
          <p:nvPr/>
        </p:nvSpPr>
        <p:spPr>
          <a:xfrm>
            <a:off x="4526280" y="2286000"/>
            <a:ext cx="603000" cy="603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4" name="Image 2" descr="preencoded.png"/>
          <p:cNvPicPr/>
          <p:nvPr/>
        </p:nvPicPr>
        <p:blipFill>
          <a:blip r:embed="rId5"/>
          <a:stretch/>
        </p:blipFill>
        <p:spPr>
          <a:xfrm>
            <a:off x="4659120" y="2418840"/>
            <a:ext cx="337680" cy="337680"/>
          </a:xfrm>
          <a:prstGeom prst="rect">
            <a:avLst/>
          </a:prstGeom>
          <a:ln w="0">
            <a:noFill/>
          </a:ln>
        </p:spPr>
      </p:pic>
      <p:sp>
        <p:nvSpPr>
          <p:cNvPr id="305" name="Text 12"/>
          <p:cNvSpPr/>
          <p:nvPr/>
        </p:nvSpPr>
        <p:spPr>
          <a:xfrm>
            <a:off x="5257800" y="2286000"/>
            <a:ext cx="237708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231F20"/>
                </a:solidFill>
                <a:latin typeface="Open Sans"/>
                <a:ea typeface="Open Sans"/>
              </a:rPr>
              <a:t>Roots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 13"/>
          <p:cNvSpPr/>
          <p:nvPr/>
        </p:nvSpPr>
        <p:spPr>
          <a:xfrm>
            <a:off x="4526280" y="3063240"/>
            <a:ext cx="301716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3A3536"/>
                </a:solidFill>
                <a:latin typeface="Calibri"/>
                <a:ea typeface="Calibri"/>
              </a:rPr>
              <a:t>The server asks which files or URI boundaries it's allowed to operate within.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14"/>
          <p:cNvSpPr/>
          <p:nvPr/>
        </p:nvSpPr>
        <p:spPr>
          <a:xfrm>
            <a:off x="4251960" y="4892040"/>
            <a:ext cx="3520080" cy="914040"/>
          </a:xfrm>
          <a:prstGeom prst="rect">
            <a:avLst/>
          </a:prstGeom>
          <a:solidFill>
            <a:srgbClr val="FBF1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15"/>
          <p:cNvSpPr/>
          <p:nvPr/>
        </p:nvSpPr>
        <p:spPr>
          <a:xfrm>
            <a:off x="4251960" y="4892040"/>
            <a:ext cx="91080" cy="9140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9" name="Image 3" descr="preencoded.png"/>
          <p:cNvPicPr/>
          <p:nvPr/>
        </p:nvPicPr>
        <p:blipFill>
          <a:blip r:embed="rId4"/>
          <a:stretch/>
        </p:blipFill>
        <p:spPr>
          <a:xfrm>
            <a:off x="4480560" y="50749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310" name="Text 16"/>
          <p:cNvSpPr/>
          <p:nvPr/>
        </p:nvSpPr>
        <p:spPr>
          <a:xfrm>
            <a:off x="4846320" y="4956120"/>
            <a:ext cx="2788560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strike="noStrike" spc="-1">
                <a:solidFill>
                  <a:srgbClr val="8A5A12"/>
                </a:solidFill>
                <a:latin typeface="Calibri"/>
                <a:ea typeface="Calibri"/>
              </a:rPr>
              <a:t>Probing the boundaries of the user's environment.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17"/>
          <p:cNvSpPr/>
          <p:nvPr/>
        </p:nvSpPr>
        <p:spPr>
          <a:xfrm>
            <a:off x="8046720" y="2057400"/>
            <a:ext cx="3520080" cy="374868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18"/>
          <p:cNvSpPr/>
          <p:nvPr/>
        </p:nvSpPr>
        <p:spPr>
          <a:xfrm>
            <a:off x="8321040" y="2286000"/>
            <a:ext cx="603000" cy="603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3" name="Image 4" descr="preencoded.png"/>
          <p:cNvPicPr/>
          <p:nvPr/>
        </p:nvPicPr>
        <p:blipFill>
          <a:blip r:embed="rId6"/>
          <a:stretch/>
        </p:blipFill>
        <p:spPr>
          <a:xfrm>
            <a:off x="8453880" y="2418840"/>
            <a:ext cx="337680" cy="337680"/>
          </a:xfrm>
          <a:prstGeom prst="rect">
            <a:avLst/>
          </a:prstGeom>
          <a:ln w="0">
            <a:noFill/>
          </a:ln>
        </p:spPr>
      </p:pic>
      <p:sp>
        <p:nvSpPr>
          <p:cNvPr id="314" name="Text 19"/>
          <p:cNvSpPr/>
          <p:nvPr/>
        </p:nvSpPr>
        <p:spPr>
          <a:xfrm>
            <a:off x="9052560" y="2286000"/>
            <a:ext cx="237708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231F20"/>
                </a:solidFill>
                <a:latin typeface="Open Sans"/>
                <a:ea typeface="Open Sans"/>
              </a:rPr>
              <a:t>Elicitation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20"/>
          <p:cNvSpPr/>
          <p:nvPr/>
        </p:nvSpPr>
        <p:spPr>
          <a:xfrm>
            <a:off x="8321040" y="3063240"/>
            <a:ext cx="301716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3A3536"/>
                </a:solidFill>
                <a:latin typeface="Calibri"/>
                <a:ea typeface="Calibri"/>
              </a:rPr>
              <a:t>The server requests additional information directly from the user mid-task.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21"/>
          <p:cNvSpPr/>
          <p:nvPr/>
        </p:nvSpPr>
        <p:spPr>
          <a:xfrm>
            <a:off x="8046720" y="4892040"/>
            <a:ext cx="3520080" cy="914040"/>
          </a:xfrm>
          <a:prstGeom prst="rect">
            <a:avLst/>
          </a:prstGeom>
          <a:solidFill>
            <a:srgbClr val="FBF1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22"/>
          <p:cNvSpPr/>
          <p:nvPr/>
        </p:nvSpPr>
        <p:spPr>
          <a:xfrm>
            <a:off x="8046720" y="4892040"/>
            <a:ext cx="91080" cy="9140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18" name="Image 5" descr="preencoded.png"/>
          <p:cNvPicPr/>
          <p:nvPr/>
        </p:nvPicPr>
        <p:blipFill>
          <a:blip r:embed="rId4"/>
          <a:stretch/>
        </p:blipFill>
        <p:spPr>
          <a:xfrm>
            <a:off x="8275320" y="50749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319" name="Text 23"/>
          <p:cNvSpPr/>
          <p:nvPr/>
        </p:nvSpPr>
        <p:spPr>
          <a:xfrm>
            <a:off x="8641080" y="4956120"/>
            <a:ext cx="2788560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strike="noStrike" spc="-1">
                <a:solidFill>
                  <a:srgbClr val="8A5A12"/>
                </a:solidFill>
                <a:latin typeface="Calibri"/>
                <a:ea typeface="Calibri"/>
              </a:rPr>
              <a:t>A server-driven prompt to the human — handle with care.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24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1" name="Image 6" descr="fhb_logo.png"/>
          <p:cNvPicPr/>
          <p:nvPr/>
        </p:nvPicPr>
        <p:blipFill>
          <a:blip r:embed="rId7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322" name="Shape 25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Shape 26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Text 27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&amp; Agentic AI  ·  Deck 1 of 3  ·  Architecture &amp; Mechanics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 28"/>
          <p:cNvSpPr/>
          <p:nvPr/>
        </p:nvSpPr>
        <p:spPr>
          <a:xfrm>
            <a:off x="111556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10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THE LOCAL TRANSPORT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stdio — local, in-process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2"/>
          <p:cNvSpPr/>
          <p:nvPr/>
        </p:nvSpPr>
        <p:spPr>
          <a:xfrm>
            <a:off x="457200" y="1417320"/>
            <a:ext cx="11246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The client launches the server as a local subprocess and talks to it over standard input/output. No network involved.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3"/>
          <p:cNvSpPr/>
          <p:nvPr/>
        </p:nvSpPr>
        <p:spPr>
          <a:xfrm>
            <a:off x="457200" y="2103120"/>
            <a:ext cx="6400440" cy="36572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4"/>
          <p:cNvSpPr/>
          <p:nvPr/>
        </p:nvSpPr>
        <p:spPr>
          <a:xfrm>
            <a:off x="731520" y="233172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1" name="Image 0" descr="preencoded.png"/>
          <p:cNvPicPr/>
          <p:nvPr/>
        </p:nvPicPr>
        <p:blipFill>
          <a:blip r:embed="rId3"/>
          <a:stretch/>
        </p:blipFill>
        <p:spPr>
          <a:xfrm>
            <a:off x="852120" y="245232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332" name="Text 5"/>
          <p:cNvSpPr/>
          <p:nvPr/>
        </p:nvSpPr>
        <p:spPr>
          <a:xfrm>
            <a:off x="1417320" y="233172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231F20"/>
                </a:solidFill>
                <a:latin typeface="Open Sans"/>
                <a:ea typeface="Open Sans"/>
              </a:rPr>
              <a:t>How it works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6"/>
          <p:cNvSpPr/>
          <p:nvPr/>
        </p:nvSpPr>
        <p:spPr>
          <a:xfrm>
            <a:off x="822960" y="3108960"/>
            <a:ext cx="2468520" cy="228564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9050">
            <a:solidFill>
              <a:srgbClr val="8B0E1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 7"/>
          <p:cNvSpPr/>
          <p:nvPr/>
        </p:nvSpPr>
        <p:spPr>
          <a:xfrm>
            <a:off x="822960" y="320040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8A8385"/>
                </a:solidFill>
                <a:latin typeface="Calibri"/>
                <a:ea typeface="Calibri"/>
              </a:rPr>
              <a:t>Host machine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8"/>
          <p:cNvSpPr/>
          <p:nvPr/>
        </p:nvSpPr>
        <p:spPr>
          <a:xfrm>
            <a:off x="1005840" y="3520440"/>
            <a:ext cx="2102760" cy="639720"/>
          </a:xfrm>
          <a:prstGeom prst="roundRect">
            <a:avLst>
              <a:gd name="adj" fmla="val 7143"/>
            </a:avLst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9"/>
          <p:cNvSpPr/>
          <p:nvPr/>
        </p:nvSpPr>
        <p:spPr>
          <a:xfrm>
            <a:off x="1005840" y="3520440"/>
            <a:ext cx="21027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Host + Client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10"/>
          <p:cNvSpPr/>
          <p:nvPr/>
        </p:nvSpPr>
        <p:spPr>
          <a:xfrm>
            <a:off x="1005840" y="4526280"/>
            <a:ext cx="2102760" cy="639720"/>
          </a:xfrm>
          <a:prstGeom prst="roundRect">
            <a:avLst>
              <a:gd name="adj" fmla="val 7143"/>
            </a:avLst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Text 11"/>
          <p:cNvSpPr/>
          <p:nvPr/>
        </p:nvSpPr>
        <p:spPr>
          <a:xfrm>
            <a:off x="1005840" y="4526280"/>
            <a:ext cx="21027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FFFFFF"/>
                </a:solidFill>
                <a:latin typeface="Calibri"/>
                <a:ea typeface="Calibri"/>
              </a:rPr>
              <a:t>Server (subprocess)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12"/>
          <p:cNvSpPr/>
          <p:nvPr/>
        </p:nvSpPr>
        <p:spPr>
          <a:xfrm>
            <a:off x="2057400" y="4160520"/>
            <a:ext cx="360" cy="365760"/>
          </a:xfrm>
          <a:prstGeom prst="line">
            <a:avLst/>
          </a:prstGeom>
          <a:ln w="25400">
            <a:solidFill>
              <a:srgbClr val="8B0E15"/>
            </a:solidFill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13"/>
          <p:cNvSpPr/>
          <p:nvPr/>
        </p:nvSpPr>
        <p:spPr>
          <a:xfrm>
            <a:off x="2240280" y="4114800"/>
            <a:ext cx="10054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8A8385"/>
                </a:solidFill>
                <a:latin typeface="Consolas"/>
                <a:ea typeface="Consolas"/>
              </a:rPr>
              <a:t>stdin /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8A8385"/>
                </a:solidFill>
                <a:latin typeface="Consolas"/>
                <a:ea typeface="Consolas"/>
              </a:rPr>
              <a:t>stdout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14"/>
          <p:cNvSpPr/>
          <p:nvPr/>
        </p:nvSpPr>
        <p:spPr>
          <a:xfrm>
            <a:off x="3657600" y="3520440"/>
            <a:ext cx="301716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Both processes live on the same host. Messages are piped over stdin/stdout — fast, simple, no ports.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15"/>
          <p:cNvSpPr/>
          <p:nvPr/>
        </p:nvSpPr>
        <p:spPr>
          <a:xfrm>
            <a:off x="7132320" y="2103120"/>
            <a:ext cx="4571640" cy="3657240"/>
          </a:xfrm>
          <a:prstGeom prst="rect">
            <a:avLst/>
          </a:prstGeom>
          <a:solidFill>
            <a:srgbClr val="5A0E12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 16"/>
          <p:cNvSpPr/>
          <p:nvPr/>
        </p:nvSpPr>
        <p:spPr>
          <a:xfrm>
            <a:off x="7360920" y="228600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199">
                <a:solidFill>
                  <a:srgbClr val="F5A800"/>
                </a:solidFill>
                <a:latin typeface="Calibri"/>
                <a:ea typeface="Calibri"/>
              </a:rPr>
              <a:t>CHARACTERISTICS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17"/>
          <p:cNvSpPr/>
          <p:nvPr/>
        </p:nvSpPr>
        <p:spPr>
          <a:xfrm>
            <a:off x="7360920" y="269748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97">
                <a:solidFill>
                  <a:srgbClr val="FFFFFF"/>
                </a:solidFill>
                <a:latin typeface="Calibri"/>
                <a:ea typeface="Calibri"/>
              </a:rPr>
              <a:t>BEST FOR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18"/>
          <p:cNvSpPr/>
          <p:nvPr/>
        </p:nvSpPr>
        <p:spPr>
          <a:xfrm>
            <a:off x="7360920" y="2971800"/>
            <a:ext cx="41601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E8DFD2"/>
                </a:solidFill>
                <a:latin typeface="Calibri"/>
                <a:ea typeface="Calibri"/>
              </a:rPr>
              <a:t>Local, single-user tools and desktop apps.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 19"/>
          <p:cNvSpPr/>
          <p:nvPr/>
        </p:nvSpPr>
        <p:spPr>
          <a:xfrm>
            <a:off x="7360920" y="368496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97">
                <a:solidFill>
                  <a:srgbClr val="FFFFFF"/>
                </a:solidFill>
                <a:latin typeface="Calibri"/>
                <a:ea typeface="Calibri"/>
              </a:rPr>
              <a:t>ISOLATION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 20"/>
          <p:cNvSpPr/>
          <p:nvPr/>
        </p:nvSpPr>
        <p:spPr>
          <a:xfrm>
            <a:off x="7360920" y="3959280"/>
            <a:ext cx="41601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E8DFD2"/>
                </a:solidFill>
                <a:latin typeface="Calibri"/>
                <a:ea typeface="Calibri"/>
              </a:rPr>
              <a:t>Naturally contained to the host; no network exposure by default.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21"/>
          <p:cNvSpPr/>
          <p:nvPr/>
        </p:nvSpPr>
        <p:spPr>
          <a:xfrm>
            <a:off x="7360920" y="467244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97">
                <a:solidFill>
                  <a:srgbClr val="FFFFFF"/>
                </a:solidFill>
                <a:latin typeface="Calibri"/>
                <a:ea typeface="Calibri"/>
              </a:rPr>
              <a:t>TRADE-OFF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 22"/>
          <p:cNvSpPr/>
          <p:nvPr/>
        </p:nvSpPr>
        <p:spPr>
          <a:xfrm>
            <a:off x="7360920" y="4946760"/>
            <a:ext cx="41601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E8DFD2"/>
                </a:solidFill>
                <a:latin typeface="Calibri"/>
                <a:ea typeface="Calibri"/>
              </a:rPr>
              <a:t>Doesn't scale across machines or users; one subprocess per client.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23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1" name="Image 1" descr="fhb_logo.png"/>
          <p:cNvPicPr/>
          <p:nvPr/>
        </p:nvPicPr>
        <p:blipFill>
          <a:blip r:embed="rId4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352" name="Shape 24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hape 25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 26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&amp; Agentic AI  ·  Deck 1 of 3  ·  Architecture &amp; Mechanics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 27"/>
          <p:cNvSpPr/>
          <p:nvPr/>
        </p:nvSpPr>
        <p:spPr>
          <a:xfrm>
            <a:off x="111556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11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THE VOCABULARY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MCP message types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 2"/>
          <p:cNvSpPr/>
          <p:nvPr/>
        </p:nvSpPr>
        <p:spPr>
          <a:xfrm>
            <a:off x="457200" y="1417320"/>
            <a:ext cx="11246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Under the hood, MCP speaks JSON-RPC 2.0. Conceptually there are just four kinds of message. (Deck 2 covers the formal structure.)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3"/>
          <p:cNvSpPr/>
          <p:nvPr/>
        </p:nvSpPr>
        <p:spPr>
          <a:xfrm>
            <a:off x="457200" y="2103120"/>
            <a:ext cx="2697120" cy="356580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4"/>
          <p:cNvSpPr/>
          <p:nvPr/>
        </p:nvSpPr>
        <p:spPr>
          <a:xfrm>
            <a:off x="457200" y="2103120"/>
            <a:ext cx="269712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Shape 5"/>
          <p:cNvSpPr/>
          <p:nvPr/>
        </p:nvSpPr>
        <p:spPr>
          <a:xfrm>
            <a:off x="685800" y="233172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2" name="Image 0" descr="preencoded.png"/>
          <p:cNvPicPr/>
          <p:nvPr/>
        </p:nvPicPr>
        <p:blipFill>
          <a:blip r:embed="rId3"/>
          <a:stretch/>
        </p:blipFill>
        <p:spPr>
          <a:xfrm>
            <a:off x="806400" y="245232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363" name="Text 6"/>
          <p:cNvSpPr/>
          <p:nvPr/>
        </p:nvSpPr>
        <p:spPr>
          <a:xfrm>
            <a:off x="685800" y="3017520"/>
            <a:ext cx="22399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231F20"/>
                </a:solidFill>
                <a:latin typeface="Open Sans"/>
                <a:ea typeface="Open Sans"/>
              </a:rPr>
              <a:t>Request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 7"/>
          <p:cNvSpPr/>
          <p:nvPr/>
        </p:nvSpPr>
        <p:spPr>
          <a:xfrm>
            <a:off x="685800" y="3456360"/>
            <a:ext cx="2239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i="1" strike="noStrike" spc="-1">
                <a:solidFill>
                  <a:srgbClr val="8B0E15"/>
                </a:solidFill>
                <a:latin typeface="Calibri"/>
                <a:ea typeface="Calibri"/>
              </a:rPr>
              <a:t>Expects a reply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 8"/>
          <p:cNvSpPr/>
          <p:nvPr/>
        </p:nvSpPr>
        <p:spPr>
          <a:xfrm>
            <a:off x="685800" y="3840480"/>
            <a:ext cx="223992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Carries an id so the response can be matched back. e.g. "call this tool."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9"/>
          <p:cNvSpPr/>
          <p:nvPr/>
        </p:nvSpPr>
        <p:spPr>
          <a:xfrm>
            <a:off x="3291840" y="2103120"/>
            <a:ext cx="2697120" cy="356580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Shape 10"/>
          <p:cNvSpPr/>
          <p:nvPr/>
        </p:nvSpPr>
        <p:spPr>
          <a:xfrm>
            <a:off x="3291840" y="2103120"/>
            <a:ext cx="269712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Shape 11"/>
          <p:cNvSpPr/>
          <p:nvPr/>
        </p:nvSpPr>
        <p:spPr>
          <a:xfrm>
            <a:off x="3520440" y="233172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9" name="Image 1" descr="preencoded.png"/>
          <p:cNvPicPr/>
          <p:nvPr/>
        </p:nvPicPr>
        <p:blipFill>
          <a:blip r:embed="rId4"/>
          <a:stretch/>
        </p:blipFill>
        <p:spPr>
          <a:xfrm>
            <a:off x="3641040" y="245232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370" name="Text 12"/>
          <p:cNvSpPr/>
          <p:nvPr/>
        </p:nvSpPr>
        <p:spPr>
          <a:xfrm>
            <a:off x="3520440" y="3017520"/>
            <a:ext cx="22399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231F20"/>
                </a:solidFill>
                <a:latin typeface="Open Sans"/>
                <a:ea typeface="Open Sans"/>
              </a:rPr>
              <a:t>Response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 13"/>
          <p:cNvSpPr/>
          <p:nvPr/>
        </p:nvSpPr>
        <p:spPr>
          <a:xfrm>
            <a:off x="3520440" y="3456360"/>
            <a:ext cx="2239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i="1" strike="noStrike" spc="-1">
                <a:solidFill>
                  <a:srgbClr val="8B0E15"/>
                </a:solidFill>
                <a:latin typeface="Calibri"/>
                <a:ea typeface="Calibri"/>
              </a:rPr>
              <a:t>The reply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Text 14"/>
          <p:cNvSpPr/>
          <p:nvPr/>
        </p:nvSpPr>
        <p:spPr>
          <a:xfrm>
            <a:off x="3520440" y="3840480"/>
            <a:ext cx="223992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Returns a result — or an error — for a specific request id.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15"/>
          <p:cNvSpPr/>
          <p:nvPr/>
        </p:nvSpPr>
        <p:spPr>
          <a:xfrm>
            <a:off x="6126480" y="2103120"/>
            <a:ext cx="2697120" cy="356580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16"/>
          <p:cNvSpPr/>
          <p:nvPr/>
        </p:nvSpPr>
        <p:spPr>
          <a:xfrm>
            <a:off x="6126480" y="2103120"/>
            <a:ext cx="269712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Shape 17"/>
          <p:cNvSpPr/>
          <p:nvPr/>
        </p:nvSpPr>
        <p:spPr>
          <a:xfrm>
            <a:off x="6355080" y="233172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6" name="Image 2" descr="preencoded.png"/>
          <p:cNvPicPr/>
          <p:nvPr/>
        </p:nvPicPr>
        <p:blipFill>
          <a:blip r:embed="rId5"/>
          <a:stretch/>
        </p:blipFill>
        <p:spPr>
          <a:xfrm>
            <a:off x="6475680" y="245232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377" name="Text 18"/>
          <p:cNvSpPr/>
          <p:nvPr/>
        </p:nvSpPr>
        <p:spPr>
          <a:xfrm>
            <a:off x="6355080" y="3017520"/>
            <a:ext cx="22399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231F20"/>
                </a:solidFill>
                <a:latin typeface="Open Sans"/>
                <a:ea typeface="Open Sans"/>
              </a:rPr>
              <a:t>Notification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 19"/>
          <p:cNvSpPr/>
          <p:nvPr/>
        </p:nvSpPr>
        <p:spPr>
          <a:xfrm>
            <a:off x="6355080" y="3456360"/>
            <a:ext cx="2239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i="1" strike="noStrike" spc="-1">
                <a:solidFill>
                  <a:srgbClr val="8B0E15"/>
                </a:solidFill>
                <a:latin typeface="Calibri"/>
                <a:ea typeface="Calibri"/>
              </a:rPr>
              <a:t>Fire-and-forget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 20"/>
          <p:cNvSpPr/>
          <p:nvPr/>
        </p:nvSpPr>
        <p:spPr>
          <a:xfrm>
            <a:off x="6355080" y="3840480"/>
            <a:ext cx="223992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No id, no reply expected. e.g. "initialization complete."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21"/>
          <p:cNvSpPr/>
          <p:nvPr/>
        </p:nvSpPr>
        <p:spPr>
          <a:xfrm>
            <a:off x="8961120" y="2103120"/>
            <a:ext cx="2697120" cy="356580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22"/>
          <p:cNvSpPr/>
          <p:nvPr/>
        </p:nvSpPr>
        <p:spPr>
          <a:xfrm>
            <a:off x="8961120" y="2103120"/>
            <a:ext cx="2697120" cy="1094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Shape 23"/>
          <p:cNvSpPr/>
          <p:nvPr/>
        </p:nvSpPr>
        <p:spPr>
          <a:xfrm>
            <a:off x="9189720" y="233172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3" name="Image 3" descr="preencoded.png"/>
          <p:cNvPicPr/>
          <p:nvPr/>
        </p:nvPicPr>
        <p:blipFill>
          <a:blip r:embed="rId6"/>
          <a:stretch/>
        </p:blipFill>
        <p:spPr>
          <a:xfrm>
            <a:off x="9310320" y="245232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384" name="Text 24"/>
          <p:cNvSpPr/>
          <p:nvPr/>
        </p:nvSpPr>
        <p:spPr>
          <a:xfrm>
            <a:off x="9189720" y="3017520"/>
            <a:ext cx="22399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231F20"/>
                </a:solidFill>
                <a:latin typeface="Open Sans"/>
                <a:ea typeface="Open Sans"/>
              </a:rPr>
              <a:t>Error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 25"/>
          <p:cNvSpPr/>
          <p:nvPr/>
        </p:nvSpPr>
        <p:spPr>
          <a:xfrm>
            <a:off x="9189720" y="3456360"/>
            <a:ext cx="2239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i="1" strike="noStrike" spc="-1">
                <a:solidFill>
                  <a:srgbClr val="B8860B"/>
                </a:solidFill>
                <a:latin typeface="Calibri"/>
                <a:ea typeface="Calibri"/>
              </a:rPr>
              <a:t>Something failed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 26"/>
          <p:cNvSpPr/>
          <p:nvPr/>
        </p:nvSpPr>
        <p:spPr>
          <a:xfrm>
            <a:off x="9189720" y="3840480"/>
            <a:ext cx="223992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A structured error code and message, tied to a request.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 27"/>
          <p:cNvSpPr/>
          <p:nvPr/>
        </p:nvSpPr>
        <p:spPr>
          <a:xfrm>
            <a:off x="457200" y="5852160"/>
            <a:ext cx="11246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strike="noStrike" spc="-1">
                <a:solidFill>
                  <a:srgbClr val="8A8385"/>
                </a:solidFill>
                <a:latin typeface="Calibri"/>
                <a:ea typeface="Calibri"/>
              </a:rPr>
              <a:t>Requests and responses pair up by id; notifications travel one-way. That's the whole grammar.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28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89" name="Image 4" descr="fhb_logo.png"/>
          <p:cNvPicPr/>
          <p:nvPr/>
        </p:nvPicPr>
        <p:blipFill>
          <a:blip r:embed="rId7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390" name="Shape 29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Shape 30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Text 31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&amp; Agentic AI  ·  Deck 1 of 3  ·  Architecture &amp; Mechanics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 32"/>
          <p:cNvSpPr/>
          <p:nvPr/>
        </p:nvSpPr>
        <p:spPr>
          <a:xfrm>
            <a:off x="111556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12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PUTTING THE GRAMMAR TO WORK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A typical exchange: connect, discover, work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Text 2"/>
          <p:cNvSpPr/>
          <p:nvPr/>
        </p:nvSpPr>
        <p:spPr>
          <a:xfrm>
            <a:off x="457200" y="1371600"/>
            <a:ext cx="11246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3A3536"/>
                </a:solidFill>
                <a:latin typeface="Calibri"/>
                <a:ea typeface="Calibri"/>
              </a:rPr>
              <a:t>Every MCP session follows the same shape — a handshake to agree on capabilities, discovery of what's available, then the actual work.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7" name="Image 0" descr="assets/seq_handshake.png"/>
          <p:cNvPicPr/>
          <p:nvPr/>
        </p:nvPicPr>
        <p:blipFill>
          <a:blip r:embed="rId3"/>
          <a:stretch/>
        </p:blipFill>
        <p:spPr>
          <a:xfrm>
            <a:off x="457200" y="1920240"/>
            <a:ext cx="4708800" cy="4205880"/>
          </a:xfrm>
          <a:prstGeom prst="rect">
            <a:avLst/>
          </a:prstGeom>
          <a:ln w="0">
            <a:noFill/>
          </a:ln>
        </p:spPr>
      </p:pic>
      <p:sp>
        <p:nvSpPr>
          <p:cNvPr id="398" name="Shape 3"/>
          <p:cNvSpPr/>
          <p:nvPr/>
        </p:nvSpPr>
        <p:spPr>
          <a:xfrm>
            <a:off x="7589520" y="1965960"/>
            <a:ext cx="456840" cy="456840"/>
          </a:xfrm>
          <a:prstGeom prst="ellipse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Text 4"/>
          <p:cNvSpPr/>
          <p:nvPr/>
        </p:nvSpPr>
        <p:spPr>
          <a:xfrm>
            <a:off x="7589520" y="196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Open Sans"/>
                <a:ea typeface="Open Sans"/>
              </a:rPr>
              <a:t>1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Text 5"/>
          <p:cNvSpPr/>
          <p:nvPr/>
        </p:nvSpPr>
        <p:spPr>
          <a:xfrm>
            <a:off x="8183880" y="194760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231F20"/>
                </a:solidFill>
                <a:latin typeface="Open Sans"/>
                <a:ea typeface="Open Sans"/>
              </a:rPr>
              <a:t>Connect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Text 6"/>
          <p:cNvSpPr/>
          <p:nvPr/>
        </p:nvSpPr>
        <p:spPr>
          <a:xfrm>
            <a:off x="8183880" y="2350080"/>
            <a:ext cx="361152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The client introduces itself and the two sides negotiate what each supports. Nothing happens until they agree.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Shape 7"/>
          <p:cNvSpPr/>
          <p:nvPr/>
        </p:nvSpPr>
        <p:spPr>
          <a:xfrm>
            <a:off x="7589520" y="3337560"/>
            <a:ext cx="456840" cy="456840"/>
          </a:xfrm>
          <a:prstGeom prst="ellipse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Text 8"/>
          <p:cNvSpPr/>
          <p:nvPr/>
        </p:nvSpPr>
        <p:spPr>
          <a:xfrm>
            <a:off x="7589520" y="33375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Open Sans"/>
                <a:ea typeface="Open Sans"/>
              </a:rPr>
              <a:t>2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 9"/>
          <p:cNvSpPr/>
          <p:nvPr/>
        </p:nvSpPr>
        <p:spPr>
          <a:xfrm>
            <a:off x="8183880" y="331920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231F20"/>
                </a:solidFill>
                <a:latin typeface="Open Sans"/>
                <a:ea typeface="Open Sans"/>
              </a:rPr>
              <a:t>Discover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Text 10"/>
          <p:cNvSpPr/>
          <p:nvPr/>
        </p:nvSpPr>
        <p:spPr>
          <a:xfrm>
            <a:off x="8183880" y="3721680"/>
            <a:ext cx="361152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The client asks what the server offers — listing tools (and resources, prompts).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11"/>
          <p:cNvSpPr/>
          <p:nvPr/>
        </p:nvSpPr>
        <p:spPr>
          <a:xfrm>
            <a:off x="7589520" y="4709160"/>
            <a:ext cx="456840" cy="456840"/>
          </a:xfrm>
          <a:prstGeom prst="ellipse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Text 12"/>
          <p:cNvSpPr/>
          <p:nvPr/>
        </p:nvSpPr>
        <p:spPr>
          <a:xfrm>
            <a:off x="7589520" y="47091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Open Sans"/>
                <a:ea typeface="Open Sans"/>
              </a:rPr>
              <a:t>3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Text 13"/>
          <p:cNvSpPr/>
          <p:nvPr/>
        </p:nvSpPr>
        <p:spPr>
          <a:xfrm>
            <a:off x="8183880" y="469080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231F20"/>
                </a:solidFill>
                <a:latin typeface="Open Sans"/>
                <a:ea typeface="Open Sans"/>
              </a:rPr>
              <a:t>Work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Text 14"/>
          <p:cNvSpPr/>
          <p:nvPr/>
        </p:nvSpPr>
        <p:spPr>
          <a:xfrm>
            <a:off x="8183880" y="5093280"/>
            <a:ext cx="361152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Only now does the real task run: call a tool, get a result. Repeat as needed.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Shape 15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11" name="Image 1" descr="fhb_logo.png"/>
          <p:cNvPicPr/>
          <p:nvPr/>
        </p:nvPicPr>
        <p:blipFill>
          <a:blip r:embed="rId4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412" name="Shape 16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Shape 17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Text 18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&amp; Agentic AI  ·  Deck 1 of 3  ·  Architecture &amp; Mechanics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Text 19"/>
          <p:cNvSpPr/>
          <p:nvPr/>
        </p:nvSpPr>
        <p:spPr>
          <a:xfrm>
            <a:off x="111556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13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A PRODUCTION DEPLOYMENT NOTE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Stateless mode — trading the channel for scale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Text 2"/>
          <p:cNvSpPr/>
          <p:nvPr/>
        </p:nvSpPr>
        <p:spPr>
          <a:xfrm>
            <a:off x="457200" y="1371600"/>
            <a:ext cx="11246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Slide 8 made the persistent connection the point. But the SDK lets you deliberately turn it off — and in a load-balanced deployment, that's often the right call.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Shape 3"/>
          <p:cNvSpPr/>
          <p:nvPr/>
        </p:nvSpPr>
        <p:spPr>
          <a:xfrm>
            <a:off x="457200" y="2194560"/>
            <a:ext cx="5531760" cy="37029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Shape 4"/>
          <p:cNvSpPr/>
          <p:nvPr/>
        </p:nvSpPr>
        <p:spPr>
          <a:xfrm>
            <a:off x="457200" y="2194560"/>
            <a:ext cx="553176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Text 5"/>
          <p:cNvSpPr/>
          <p:nvPr/>
        </p:nvSpPr>
        <p:spPr>
          <a:xfrm>
            <a:off x="713160" y="237744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199">
                <a:solidFill>
                  <a:srgbClr val="8B0E15"/>
                </a:solidFill>
                <a:latin typeface="Calibri"/>
                <a:ea typeface="Calibri"/>
              </a:rPr>
              <a:t>THE TWO SETTINGS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Shape 6"/>
          <p:cNvSpPr/>
          <p:nvPr/>
        </p:nvSpPr>
        <p:spPr>
          <a:xfrm>
            <a:off x="713160" y="2724840"/>
            <a:ext cx="5028840" cy="1371240"/>
          </a:xfrm>
          <a:prstGeom prst="rect">
            <a:avLst/>
          </a:prstGeom>
          <a:solidFill>
            <a:srgbClr val="231F2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Text 7"/>
          <p:cNvSpPr/>
          <p:nvPr/>
        </p:nvSpPr>
        <p:spPr>
          <a:xfrm>
            <a:off x="868680" y="2853000"/>
            <a:ext cx="475452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F0E8DC"/>
                </a:solidFill>
                <a:latin typeface="Consolas"/>
                <a:ea typeface="Consolas"/>
              </a:rPr>
              <a:t>FastMCP(</a:t>
            </a:r>
            <a:r>
              <a:rPr lang="en-US" sz="1400" b="0" strike="noStrike" spc="-1">
                <a:solidFill>
                  <a:srgbClr val="F5A800"/>
                </a:solidFill>
                <a:latin typeface="Consolas"/>
                <a:ea typeface="Consolas"/>
              </a:rPr>
              <a:t>"server"</a:t>
            </a:r>
            <a:r>
              <a:rPr lang="en-US" sz="1400" b="0" strike="noStrike" spc="-1">
                <a:solidFill>
                  <a:srgbClr val="F0E8DC"/>
                </a:solidFill>
                <a:latin typeface="Consolas"/>
                <a:ea typeface="Consolas"/>
              </a:rPr>
              <a:t>,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F0E8DC"/>
                </a:solidFill>
                <a:latin typeface="Consolas"/>
                <a:ea typeface="Consolas"/>
              </a:rPr>
              <a:t>  stateless_http=</a:t>
            </a:r>
            <a:r>
              <a:rPr lang="en-US" sz="1400" b="0" strike="noStrike" spc="-1">
                <a:solidFill>
                  <a:srgbClr val="7FB3E0"/>
                </a:solidFill>
                <a:latin typeface="Consolas"/>
                <a:ea typeface="Consolas"/>
              </a:rPr>
              <a:t>True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F0E8DC"/>
                </a:solidFill>
                <a:latin typeface="Consolas"/>
                <a:ea typeface="Consolas"/>
              </a:rPr>
              <a:t>  json_response=</a:t>
            </a:r>
            <a:r>
              <a:rPr lang="en-US" sz="1400" b="0" strike="noStrike" spc="-1">
                <a:solidFill>
                  <a:srgbClr val="7FB3E0"/>
                </a:solidFill>
                <a:latin typeface="Consolas"/>
                <a:ea typeface="Consolas"/>
              </a:rPr>
              <a:t>True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F0E8DC"/>
                </a:solidFill>
                <a:latin typeface="Consolas"/>
                <a:ea typeface="Consolas"/>
              </a:rPr>
              <a:t>)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Text 8"/>
          <p:cNvSpPr/>
          <p:nvPr/>
        </p:nvSpPr>
        <p:spPr>
          <a:xfrm>
            <a:off x="713160" y="4251960"/>
            <a:ext cx="502884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231F20"/>
                </a:solidFill>
                <a:latin typeface="Consolas"/>
                <a:ea typeface="Consolas"/>
              </a:rPr>
              <a:t>stateless_http=True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A fresh transport per request — no session is kept between calls.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endParaRPr lang="en-US" sz="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endParaRPr lang="en-US" sz="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231F20"/>
                </a:solidFill>
                <a:latin typeface="Consolas"/>
                <a:ea typeface="Consolas"/>
              </a:rPr>
              <a:t>json_response=True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Reply with a single JSON response instead of an SSE stream.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Shape 9"/>
          <p:cNvSpPr/>
          <p:nvPr/>
        </p:nvSpPr>
        <p:spPr>
          <a:xfrm>
            <a:off x="6172200" y="2194560"/>
            <a:ext cx="5531760" cy="3702960"/>
          </a:xfrm>
          <a:prstGeom prst="rect">
            <a:avLst/>
          </a:prstGeom>
          <a:solidFill>
            <a:srgbClr val="5A0E12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Shape 10"/>
          <p:cNvSpPr/>
          <p:nvPr/>
        </p:nvSpPr>
        <p:spPr>
          <a:xfrm>
            <a:off x="6172200" y="2194560"/>
            <a:ext cx="5531760" cy="10944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 11"/>
          <p:cNvSpPr/>
          <p:nvPr/>
        </p:nvSpPr>
        <p:spPr>
          <a:xfrm>
            <a:off x="6428160" y="237744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199">
                <a:solidFill>
                  <a:srgbClr val="F5A800"/>
                </a:solidFill>
                <a:latin typeface="Calibri"/>
                <a:ea typeface="Calibri"/>
              </a:rPr>
              <a:t>WHY: HORIZONTAL SCALE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hape 12"/>
          <p:cNvSpPr/>
          <p:nvPr/>
        </p:nvSpPr>
        <p:spPr>
          <a:xfrm>
            <a:off x="6812280" y="2788920"/>
            <a:ext cx="1371240" cy="502560"/>
          </a:xfrm>
          <a:prstGeom prst="roundRect">
            <a:avLst>
              <a:gd name="adj" fmla="val 9091"/>
            </a:avLst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 13"/>
          <p:cNvSpPr/>
          <p:nvPr/>
        </p:nvSpPr>
        <p:spPr>
          <a:xfrm>
            <a:off x="6812280" y="2788920"/>
            <a:ext cx="1371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231F20"/>
                </a:solidFill>
                <a:latin typeface="Calibri"/>
                <a:ea typeface="Calibri"/>
              </a:rPr>
              <a:t>Load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231F20"/>
                </a:solidFill>
                <a:latin typeface="Calibri"/>
                <a:ea typeface="Calibri"/>
              </a:rPr>
              <a:t>balancer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Shape 14"/>
          <p:cNvSpPr/>
          <p:nvPr/>
        </p:nvSpPr>
        <p:spPr>
          <a:xfrm>
            <a:off x="9509760" y="2743200"/>
            <a:ext cx="1554120" cy="456840"/>
          </a:xfrm>
          <a:prstGeom prst="roundRect">
            <a:avLst>
              <a:gd name="adj" fmla="val 8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5A8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Text 15"/>
          <p:cNvSpPr/>
          <p:nvPr/>
        </p:nvSpPr>
        <p:spPr>
          <a:xfrm>
            <a:off x="9509760" y="274320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F0E8DC"/>
                </a:solidFill>
                <a:latin typeface="Calibri"/>
                <a:ea typeface="Calibri"/>
              </a:rPr>
              <a:t>replica 1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Shape 16"/>
          <p:cNvSpPr/>
          <p:nvPr/>
        </p:nvSpPr>
        <p:spPr>
          <a:xfrm flipV="1">
            <a:off x="8183880" y="2971800"/>
            <a:ext cx="1325880" cy="63720"/>
          </a:xfrm>
          <a:prstGeom prst="line">
            <a:avLst/>
          </a:prstGeom>
          <a:ln w="12700">
            <a:solidFill>
              <a:srgbClr val="C9BBA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720" rIns="90000" bIns="1872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Shape 17"/>
          <p:cNvSpPr/>
          <p:nvPr/>
        </p:nvSpPr>
        <p:spPr>
          <a:xfrm>
            <a:off x="9509760" y="3310200"/>
            <a:ext cx="1554120" cy="456840"/>
          </a:xfrm>
          <a:prstGeom prst="roundRect">
            <a:avLst>
              <a:gd name="adj" fmla="val 8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5A8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Text 18"/>
          <p:cNvSpPr/>
          <p:nvPr/>
        </p:nvSpPr>
        <p:spPr>
          <a:xfrm>
            <a:off x="9509760" y="331020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F0E8DC"/>
                </a:solidFill>
                <a:latin typeface="Calibri"/>
                <a:ea typeface="Calibri"/>
              </a:rPr>
              <a:t>replica 2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Shape 19"/>
          <p:cNvSpPr/>
          <p:nvPr/>
        </p:nvSpPr>
        <p:spPr>
          <a:xfrm>
            <a:off x="8183880" y="3035520"/>
            <a:ext cx="1325880" cy="502920"/>
          </a:xfrm>
          <a:prstGeom prst="line">
            <a:avLst/>
          </a:prstGeom>
          <a:ln w="12700">
            <a:solidFill>
              <a:srgbClr val="C9BBA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Shape 20"/>
          <p:cNvSpPr/>
          <p:nvPr/>
        </p:nvSpPr>
        <p:spPr>
          <a:xfrm>
            <a:off x="9509760" y="3877200"/>
            <a:ext cx="1554120" cy="456840"/>
          </a:xfrm>
          <a:prstGeom prst="roundRect">
            <a:avLst>
              <a:gd name="adj" fmla="val 8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5A8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Text 21"/>
          <p:cNvSpPr/>
          <p:nvPr/>
        </p:nvSpPr>
        <p:spPr>
          <a:xfrm>
            <a:off x="9509760" y="387720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F0E8DC"/>
                </a:solidFill>
                <a:latin typeface="Calibri"/>
                <a:ea typeface="Calibri"/>
              </a:rPr>
              <a:t>replica 3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Shape 22"/>
          <p:cNvSpPr/>
          <p:nvPr/>
        </p:nvSpPr>
        <p:spPr>
          <a:xfrm>
            <a:off x="8183880" y="3035520"/>
            <a:ext cx="1325880" cy="1069920"/>
          </a:xfrm>
          <a:prstGeom prst="line">
            <a:avLst/>
          </a:prstGeom>
          <a:ln w="12700">
            <a:solidFill>
              <a:srgbClr val="C9BBA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Text 23"/>
          <p:cNvSpPr/>
          <p:nvPr/>
        </p:nvSpPr>
        <p:spPr>
          <a:xfrm>
            <a:off x="6428160" y="4572000"/>
            <a:ext cx="50288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F0E8DC"/>
                </a:solidFill>
                <a:latin typeface="Calibri"/>
                <a:ea typeface="Calibri"/>
              </a:rPr>
              <a:t>Any replica can serve any request, because none of them needs to remember a prior one.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Text 24"/>
          <p:cNvSpPr/>
          <p:nvPr/>
        </p:nvSpPr>
        <p:spPr>
          <a:xfrm>
            <a:off x="6428160" y="5166360"/>
            <a:ext cx="51202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F5A800"/>
                </a:solidFill>
                <a:latin typeface="Calibri"/>
                <a:ea typeface="Calibri"/>
              </a:rPr>
              <a:t>Solves:  </a:t>
            </a:r>
            <a:r>
              <a:rPr lang="en-US" sz="1150" b="0" strike="noStrike" spc="-1">
                <a:solidFill>
                  <a:srgbClr val="E8DFD2"/>
                </a:solidFill>
                <a:latin typeface="Calibri"/>
                <a:ea typeface="Calibri"/>
              </a:rPr>
              <a:t>the "session not found" error you hit when a load balancer routes a follow-up request to a replica that never held the session.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Shape 25"/>
          <p:cNvSpPr/>
          <p:nvPr/>
        </p:nvSpPr>
        <p:spPr>
          <a:xfrm>
            <a:off x="457200" y="6035040"/>
            <a:ext cx="11246760" cy="475200"/>
          </a:xfrm>
          <a:prstGeom prst="rect">
            <a:avLst/>
          </a:prstGeom>
          <a:solidFill>
            <a:srgbClr val="EFE9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Text 26"/>
          <p:cNvSpPr/>
          <p:nvPr/>
        </p:nvSpPr>
        <p:spPr>
          <a:xfrm>
            <a:off x="640080" y="6035040"/>
            <a:ext cx="109724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231F20"/>
                </a:solidFill>
                <a:latin typeface="Calibri"/>
                <a:ea typeface="Calibri"/>
              </a:rPr>
              <a:t>The trade-off:  </a:t>
            </a: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you give up server-initiated messaging (slide 8) — progress, logs, sampling. Fine for simple request/response tools; wrong for long-running or interactive ones.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Shape 27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44" name="Image 0" descr="fhb_logo.png"/>
          <p:cNvPicPr/>
          <p:nvPr/>
        </p:nvPicPr>
        <p:blipFill>
          <a:blip r:embed="rId3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445" name="Shape 28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29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Text 30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&amp; Agentic AI  ·  Deck 1 of 3  ·  Architecture &amp; Mechanics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Text 31"/>
          <p:cNvSpPr/>
          <p:nvPr/>
        </p:nvSpPr>
        <p:spPr>
          <a:xfrm>
            <a:off x="111556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14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A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Shape 0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1"/>
          <p:cNvSpPr/>
          <p:nvPr/>
        </p:nvSpPr>
        <p:spPr>
          <a:xfrm>
            <a:off x="9829800" y="164520"/>
            <a:ext cx="2057040" cy="502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1" name="Image 0" descr="fhb_logo.png"/>
          <p:cNvPicPr/>
          <p:nvPr/>
        </p:nvPicPr>
        <p:blipFill>
          <a:blip r:embed="rId3"/>
          <a:stretch/>
        </p:blipFill>
        <p:spPr>
          <a:xfrm>
            <a:off x="9921240" y="2559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452" name="Shape 2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Shape 3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Shape 4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Text 5"/>
          <p:cNvSpPr/>
          <p:nvPr/>
        </p:nvSpPr>
        <p:spPr>
          <a:xfrm>
            <a:off x="822960" y="54864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398">
                <a:solidFill>
                  <a:srgbClr val="F5A800"/>
                </a:solidFill>
                <a:latin typeface="Calibri"/>
                <a:ea typeface="Calibri"/>
              </a:rPr>
              <a:t>RECAP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Text 6"/>
          <p:cNvSpPr/>
          <p:nvPr/>
        </p:nvSpPr>
        <p:spPr>
          <a:xfrm>
            <a:off x="777240" y="91440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FFFFFF"/>
                </a:solidFill>
                <a:latin typeface="Open Sans"/>
                <a:ea typeface="Open Sans"/>
              </a:rPr>
              <a:t>The mental model, in one slide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Shape 7"/>
          <p:cNvSpPr/>
          <p:nvPr/>
        </p:nvSpPr>
        <p:spPr>
          <a:xfrm>
            <a:off x="822960" y="1920240"/>
            <a:ext cx="5211720" cy="1462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5A6B7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8"/>
          <p:cNvSpPr/>
          <p:nvPr/>
        </p:nvSpPr>
        <p:spPr>
          <a:xfrm>
            <a:off x="1051560" y="214884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9" name="Image 1" descr="preencoded.png"/>
          <p:cNvPicPr/>
          <p:nvPr/>
        </p:nvPicPr>
        <p:blipFill>
          <a:blip r:embed="rId4"/>
          <a:stretch/>
        </p:blipFill>
        <p:spPr>
          <a:xfrm>
            <a:off x="1172160" y="226944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460" name="Text 9"/>
          <p:cNvSpPr/>
          <p:nvPr/>
        </p:nvSpPr>
        <p:spPr>
          <a:xfrm>
            <a:off x="1783080" y="212148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Open Sans"/>
                <a:ea typeface="Open Sans"/>
              </a:rPr>
              <a:t>Four actors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Text 10"/>
          <p:cNvSpPr/>
          <p:nvPr/>
        </p:nvSpPr>
        <p:spPr>
          <a:xfrm>
            <a:off x="1783080" y="248724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E8DFD2"/>
                </a:solidFill>
                <a:latin typeface="Calibri"/>
                <a:ea typeface="Calibri"/>
              </a:rPr>
              <a:t>User, Host+LLM, Client, Server — one host, many clients, each 1:1 with a server.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Shape 11"/>
          <p:cNvSpPr/>
          <p:nvPr/>
        </p:nvSpPr>
        <p:spPr>
          <a:xfrm>
            <a:off x="6309360" y="1920240"/>
            <a:ext cx="5211720" cy="1462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5A6B7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12"/>
          <p:cNvSpPr/>
          <p:nvPr/>
        </p:nvSpPr>
        <p:spPr>
          <a:xfrm>
            <a:off x="6537960" y="214884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4" name="Image 2" descr="preencoded.png"/>
          <p:cNvPicPr/>
          <p:nvPr/>
        </p:nvPicPr>
        <p:blipFill>
          <a:blip r:embed="rId5"/>
          <a:stretch/>
        </p:blipFill>
        <p:spPr>
          <a:xfrm>
            <a:off x="6658560" y="226944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465" name="Text 13"/>
          <p:cNvSpPr/>
          <p:nvPr/>
        </p:nvSpPr>
        <p:spPr>
          <a:xfrm>
            <a:off x="7269480" y="212148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Open Sans"/>
                <a:ea typeface="Open Sans"/>
              </a:rPr>
              <a:t>Three primitives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Text 14"/>
          <p:cNvSpPr/>
          <p:nvPr/>
        </p:nvSpPr>
        <p:spPr>
          <a:xfrm>
            <a:off x="7269480" y="248724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E8DFD2"/>
                </a:solidFill>
                <a:latin typeface="Calibri"/>
                <a:ea typeface="Calibri"/>
              </a:rPr>
              <a:t>Tools (model), Resources (app/user), Prompts (user).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Shape 15"/>
          <p:cNvSpPr/>
          <p:nvPr/>
        </p:nvSpPr>
        <p:spPr>
          <a:xfrm>
            <a:off x="822960" y="3611880"/>
            <a:ext cx="5211720" cy="1462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5A6B7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Shape 16"/>
          <p:cNvSpPr/>
          <p:nvPr/>
        </p:nvSpPr>
        <p:spPr>
          <a:xfrm>
            <a:off x="1051560" y="384048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9" name="Image 3" descr="preencoded.png"/>
          <p:cNvPicPr/>
          <p:nvPr/>
        </p:nvPicPr>
        <p:blipFill>
          <a:blip r:embed="rId6"/>
          <a:stretch/>
        </p:blipFill>
        <p:spPr>
          <a:xfrm>
            <a:off x="1172160" y="396108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470" name="Text 17"/>
          <p:cNvSpPr/>
          <p:nvPr/>
        </p:nvSpPr>
        <p:spPr>
          <a:xfrm>
            <a:off x="1783080" y="381312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Open Sans"/>
                <a:ea typeface="Open Sans"/>
              </a:rPr>
              <a:t>The inversion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Text 18"/>
          <p:cNvSpPr/>
          <p:nvPr/>
        </p:nvSpPr>
        <p:spPr>
          <a:xfrm>
            <a:off x="1783080" y="417888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E8DFD2"/>
                </a:solidFill>
                <a:latin typeface="Calibri"/>
                <a:ea typeface="Calibri"/>
              </a:rPr>
              <a:t>Servers can query and act — the root of the security story.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Shape 19"/>
          <p:cNvSpPr/>
          <p:nvPr/>
        </p:nvSpPr>
        <p:spPr>
          <a:xfrm>
            <a:off x="6309360" y="3611880"/>
            <a:ext cx="5211720" cy="1462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5A6B7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Shape 20"/>
          <p:cNvSpPr/>
          <p:nvPr/>
        </p:nvSpPr>
        <p:spPr>
          <a:xfrm>
            <a:off x="6537960" y="384048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4" name="Image 4" descr="preencoded.png"/>
          <p:cNvPicPr/>
          <p:nvPr/>
        </p:nvPicPr>
        <p:blipFill>
          <a:blip r:embed="rId7"/>
          <a:stretch/>
        </p:blipFill>
        <p:spPr>
          <a:xfrm>
            <a:off x="6658560" y="396108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475" name="Text 21"/>
          <p:cNvSpPr/>
          <p:nvPr/>
        </p:nvSpPr>
        <p:spPr>
          <a:xfrm>
            <a:off x="7269480" y="381312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Open Sans"/>
                <a:ea typeface="Open Sans"/>
              </a:rPr>
              <a:t>One exchange shape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Text 22"/>
          <p:cNvSpPr/>
          <p:nvPr/>
        </p:nvSpPr>
        <p:spPr>
          <a:xfrm>
            <a:off x="7269480" y="417888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E8DFD2"/>
                </a:solidFill>
                <a:latin typeface="Calibri"/>
                <a:ea typeface="Calibri"/>
              </a:rPr>
              <a:t>Connect → discover → work, spoken in JSON-RPC messages.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Shape 23"/>
          <p:cNvSpPr/>
          <p:nvPr/>
        </p:nvSpPr>
        <p:spPr>
          <a:xfrm>
            <a:off x="822960" y="5440680"/>
            <a:ext cx="10515240" cy="77688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Text 24"/>
          <p:cNvSpPr/>
          <p:nvPr/>
        </p:nvSpPr>
        <p:spPr>
          <a:xfrm>
            <a:off x="1097280" y="5440680"/>
            <a:ext cx="100580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FFFFFF"/>
                </a:solidFill>
                <a:latin typeface="Calibri"/>
                <a:ea typeface="Calibri"/>
              </a:rPr>
              <a:t>NEXT — Deck 2: The MCP Specification.  </a:t>
            </a:r>
            <a:r>
              <a:rPr lang="en-US" sz="1500" b="0" strike="noStrike" spc="-1">
                <a:solidFill>
                  <a:srgbClr val="E6F2F1"/>
                </a:solidFill>
                <a:latin typeface="Calibri"/>
                <a:ea typeface="Calibri"/>
              </a:rPr>
              <a:t>From this mental model to what the spec actually requires.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1892</Words>
  <Application>Microsoft Macintosh PowerPoint</Application>
  <PresentationFormat>Widescreen</PresentationFormat>
  <Paragraphs>255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Consolas</vt:lpstr>
      <vt:lpstr>Open Sans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James Jaworski</cp:lastModifiedBy>
  <cp:revision>2</cp:revision>
  <dcterms:modified xsi:type="dcterms:W3CDTF">2026-05-29T06:54:58Z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2026-05-29T02:46:07Z</dcterms:created>
  <dc:creator>Jamie — FHB Cybersecurity &amp; Technology</dc:creator>
  <dc:description/>
  <dc:language>en-US</dc:language>
  <cp:lastModifiedBy>Jamie — FHB Cybersecurity &amp; Technology</cp:lastModifiedBy>
  <dcterms:modified xsi:type="dcterms:W3CDTF">2026-05-29T02:46:07Z</dcterms:modified>
  <cp:revision>1</cp:revision>
  <dc:subject>PptxGenJS Presentation</dc:subject>
  <dc:title>MCP &amp; Agentic AI: Architecture and Mechanics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15</vt:r8>
  </property>
  <property fmtid="{D5CDD505-2E9C-101B-9397-08002B2CF9AE}" pid="3" name="PresentationFormat">
    <vt:lpwstr>On-screen Show (16:9)</vt:lpwstr>
  </property>
  <property fmtid="{D5CDD505-2E9C-101B-9397-08002B2CF9AE}" pid="4" name="Slides">
    <vt:r8>15</vt:r8>
  </property>
</Properties>
</file>