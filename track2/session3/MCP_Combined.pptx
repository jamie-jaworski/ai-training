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ore0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openxmlformats.org/officedocument/2006/relationships/metadata/core-properties" Target="docProps/core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B62852D7-5778-426D-B633-0CB37A50055C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7A1B2E8-C0CB-4B3D-A583-34BFEB1179AB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4D65CEF-045F-41DE-B574-5F2E6450AAE2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2CB8F2F-1D84-4BB1-B122-88FEB63A3E49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18016B3-B34F-4231-894C-264BAF277F3A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7F22AED-3CE9-4D6A-82F6-5A9800AAD2D5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D2C7E31-0F19-4E7B-B239-EFC4DD253090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2575730-719A-44B8-A254-E72C6F9BD297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7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CCCF3C3-4D6C-4220-A5A0-F78C1C9EAE06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8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5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E17F63D-2824-466E-9099-14B0C1F49822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9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E01F453-E763-4018-9C68-1A65B2A287EC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10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FE8BF41-DA7E-44C8-9F07-EC8BB4A59E8C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B58B4FF-744A-4CEA-AB26-344DDA515B6A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969CF78-B1D5-4DC2-8F87-647BF51F5504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0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E0F0E25-8B93-454C-B2E9-599646D53FF1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3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098DDF-F4F5-4650-A159-AFF905F67DE8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image" Target="../media/image17.png"/><Relationship Id="rId7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16.png"/><Relationship Id="rId7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Relationship Id="rId4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22.png"/><Relationship Id="rId5" Type="http://schemas.openxmlformats.org/officeDocument/2006/relationships/image" Target="../media/image7.png"/><Relationship Id="rId6" Type="http://schemas.openxmlformats.org/officeDocument/2006/relationships/image" Target="../media/image15.png"/><Relationship Id="rId7" Type="http://schemas.openxmlformats.org/officeDocument/2006/relationships/image" Target="../media/image2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github.com/modelcontextprotocol" TargetMode="External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Relationship Id="rId7" Type="http://schemas.openxmlformats.org/officeDocument/2006/relationships/image" Target="../media/image54.png"/><Relationship Id="rId8" Type="http://schemas.openxmlformats.org/officeDocument/2006/relationships/image" Target="../media/image5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7.png"/><Relationship Id="rId3" Type="http://schemas.openxmlformats.org/officeDocument/2006/relationships/image" Target="../media/image5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9.png"/><Relationship Id="rId3" Type="http://schemas.openxmlformats.org/officeDocument/2006/relationships/image" Target="../media/image60.png"/><Relationship Id="rId4" Type="http://schemas.openxmlformats.org/officeDocument/2006/relationships/image" Target="../media/image61.png"/><Relationship Id="rId5" Type="http://schemas.openxmlformats.org/officeDocument/2006/relationships/image" Target="../media/image62.png"/><Relationship Id="rId6" Type="http://schemas.openxmlformats.org/officeDocument/2006/relationships/image" Target="../media/image6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4.png"/><Relationship Id="rId3" Type="http://schemas.openxmlformats.org/officeDocument/2006/relationships/image" Target="../media/image65.png"/><Relationship Id="rId4" Type="http://schemas.openxmlformats.org/officeDocument/2006/relationships/image" Target="../media/image6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7.png"/><Relationship Id="rId3" Type="http://schemas.openxmlformats.org/officeDocument/2006/relationships/image" Target="../media/image68.png"/><Relationship Id="rId4" Type="http://schemas.openxmlformats.org/officeDocument/2006/relationships/image" Target="../media/image69.png"/><Relationship Id="rId5" Type="http://schemas.openxmlformats.org/officeDocument/2006/relationships/image" Target="../media/image7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1.png"/><Relationship Id="rId3" Type="http://schemas.openxmlformats.org/officeDocument/2006/relationships/image" Target="../media/image72.png"/><Relationship Id="rId4" Type="http://schemas.openxmlformats.org/officeDocument/2006/relationships/image" Target="../media/image73.png"/><Relationship Id="rId5" Type="http://schemas.openxmlformats.org/officeDocument/2006/relationships/image" Target="../media/image7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5.png"/><Relationship Id="rId3" Type="http://schemas.openxmlformats.org/officeDocument/2006/relationships/image" Target="../media/image7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7.png"/><Relationship Id="rId3" Type="http://schemas.openxmlformats.org/officeDocument/2006/relationships/image" Target="../media/image78.png"/><Relationship Id="rId4" Type="http://schemas.openxmlformats.org/officeDocument/2006/relationships/image" Target="../media/image79.png"/><Relationship Id="rId5" Type="http://schemas.openxmlformats.org/officeDocument/2006/relationships/image" Target="../media/image80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1.png"/><Relationship Id="rId3" Type="http://schemas.openxmlformats.org/officeDocument/2006/relationships/image" Target="../media/image8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3.png"/><Relationship Id="rId3" Type="http://schemas.openxmlformats.org/officeDocument/2006/relationships/image" Target="../media/image84.png"/><Relationship Id="rId4" Type="http://schemas.openxmlformats.org/officeDocument/2006/relationships/image" Target="../media/image85.png"/><Relationship Id="rId5" Type="http://schemas.openxmlformats.org/officeDocument/2006/relationships/image" Target="../media/image86.png"/><Relationship Id="rId6" Type="http://schemas.openxmlformats.org/officeDocument/2006/relationships/image" Target="../media/image87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8.png"/><Relationship Id="rId3" Type="http://schemas.openxmlformats.org/officeDocument/2006/relationships/image" Target="../media/image89.png"/><Relationship Id="rId4" Type="http://schemas.openxmlformats.org/officeDocument/2006/relationships/image" Target="../media/image90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1.png"/><Relationship Id="rId3" Type="http://schemas.openxmlformats.org/officeDocument/2006/relationships/image" Target="../media/image92.png"/><Relationship Id="rId4" Type="http://schemas.openxmlformats.org/officeDocument/2006/relationships/image" Target="../media/image93.png"/><Relationship Id="rId5" Type="http://schemas.openxmlformats.org/officeDocument/2006/relationships/image" Target="../media/image94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5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6.png"/><Relationship Id="rId3" Type="http://schemas.openxmlformats.org/officeDocument/2006/relationships/image" Target="../media/image97.png"/><Relationship Id="rId4" Type="http://schemas.openxmlformats.org/officeDocument/2006/relationships/image" Target="../media/image98.png"/><Relationship Id="rId5" Type="http://schemas.openxmlformats.org/officeDocument/2006/relationships/image" Target="../media/image99.png"/><Relationship Id="rId6" Type="http://schemas.openxmlformats.org/officeDocument/2006/relationships/image" Target="../media/image100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1.png"/><Relationship Id="rId3" Type="http://schemas.openxmlformats.org/officeDocument/2006/relationships/image" Target="../media/image102.png"/><Relationship Id="rId4" Type="http://schemas.openxmlformats.org/officeDocument/2006/relationships/image" Target="../media/image103.png"/><Relationship Id="rId5" Type="http://schemas.openxmlformats.org/officeDocument/2006/relationships/image" Target="../media/image104.png"/><Relationship Id="rId6" Type="http://schemas.openxmlformats.org/officeDocument/2006/relationships/image" Target="../media/image105.png"/><Relationship Id="rId7" Type="http://schemas.openxmlformats.org/officeDocument/2006/relationships/image" Target="../media/image106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7.png"/><Relationship Id="rId3" Type="http://schemas.openxmlformats.org/officeDocument/2006/relationships/image" Target="../media/image108.png"/><Relationship Id="rId4" Type="http://schemas.openxmlformats.org/officeDocument/2006/relationships/image" Target="../media/image109.png"/><Relationship Id="rId5" Type="http://schemas.openxmlformats.org/officeDocument/2006/relationships/image" Target="../media/image110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1.png"/><Relationship Id="rId3" Type="http://schemas.openxmlformats.org/officeDocument/2006/relationships/image" Target="../media/image112.png"/><Relationship Id="rId4" Type="http://schemas.openxmlformats.org/officeDocument/2006/relationships/image" Target="../media/image113.png"/><Relationship Id="rId5" Type="http://schemas.openxmlformats.org/officeDocument/2006/relationships/image" Target="../media/image114.png"/><Relationship Id="rId6" Type="http://schemas.openxmlformats.org/officeDocument/2006/relationships/image" Target="../media/image115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6.png"/><Relationship Id="rId3" Type="http://schemas.openxmlformats.org/officeDocument/2006/relationships/image" Target="../media/image117.png"/><Relationship Id="rId4" Type="http://schemas.openxmlformats.org/officeDocument/2006/relationships/image" Target="../media/image118.png"/><Relationship Id="rId5" Type="http://schemas.openxmlformats.org/officeDocument/2006/relationships/image" Target="../media/image119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0.png"/><Relationship Id="rId3" Type="http://schemas.openxmlformats.org/officeDocument/2006/relationships/image" Target="../media/image121.png"/><Relationship Id="rId4" Type="http://schemas.openxmlformats.org/officeDocument/2006/relationships/image" Target="../media/image122.png"/><Relationship Id="rId5" Type="http://schemas.openxmlformats.org/officeDocument/2006/relationships/image" Target="../media/image123.png"/><Relationship Id="rId6" Type="http://schemas.openxmlformats.org/officeDocument/2006/relationships/image" Target="../media/image124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0" descr="fhb_rainbow.png"/>
          <p:cNvPicPr/>
          <p:nvPr/>
        </p:nvPicPr>
        <p:blipFill>
          <a:blip r:embed="rId3"/>
          <a:stretch/>
        </p:blipFill>
        <p:spPr>
          <a:xfrm>
            <a:off x="-1554480" y="1828800"/>
            <a:ext cx="5028840" cy="5028840"/>
          </a:xfrm>
          <a:prstGeom prst="rect">
            <a:avLst/>
          </a:prstGeom>
          <a:ln w="0">
            <a:noFill/>
          </a:ln>
        </p:spPr>
      </p:pic>
      <p:pic>
        <p:nvPicPr>
          <p:cNvPr id="9" name="Image 1" descr="fhb_logo.png"/>
          <p:cNvPicPr/>
          <p:nvPr/>
        </p:nvPicPr>
        <p:blipFill>
          <a:blip r:embed="rId4"/>
          <a:stretch/>
        </p:blipFill>
        <p:spPr>
          <a:xfrm>
            <a:off x="8686800" y="457200"/>
            <a:ext cx="2742840" cy="502560"/>
          </a:xfrm>
          <a:prstGeom prst="rect">
            <a:avLst/>
          </a:prstGeom>
          <a:ln w="0">
            <a:noFill/>
          </a:ln>
        </p:spPr>
      </p:pic>
      <p:sp>
        <p:nvSpPr>
          <p:cNvPr id="10" name="Text 0"/>
          <p:cNvSpPr/>
          <p:nvPr/>
        </p:nvSpPr>
        <p:spPr>
          <a:xfrm>
            <a:off x="4572000" y="2148840"/>
            <a:ext cx="69490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299">
                <a:solidFill>
                  <a:srgbClr val="8B0E15"/>
                </a:solidFill>
                <a:latin typeface="Calibri"/>
                <a:ea typeface="Calibri"/>
              </a:rPr>
              <a:t>AI TRAINING SERIES  ·  PART 1 OF 3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4526280" y="2560320"/>
            <a:ext cx="704052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600" b="1" strike="noStrike" spc="-1">
                <a:solidFill>
                  <a:srgbClr val="8B0E15"/>
                </a:solidFill>
                <a:latin typeface="Open Sans"/>
                <a:ea typeface="Open Sans"/>
              </a:rPr>
              <a:t>MCP &amp; Agentic AI</a:t>
            </a:r>
            <a:endParaRPr lang="en-US" sz="4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4572000" y="3520440"/>
            <a:ext cx="69490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strike="noStrike" spc="-1">
                <a:solidFill>
                  <a:srgbClr val="231F20"/>
                </a:solidFill>
                <a:latin typeface="Open Sans"/>
                <a:ea typeface="Open Sans"/>
              </a:rPr>
              <a:t>Architecture and Mechanics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4572000" y="4160520"/>
            <a:ext cx="2742840" cy="2700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7640" rIns="90000" bIns="-176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4572000" y="4343400"/>
            <a:ext cx="68576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3A3536"/>
                </a:solidFill>
                <a:latin typeface="Calibri"/>
                <a:ea typeface="Calibri"/>
              </a:rPr>
              <a:t>How the Model Context Protocol connects models, tools, and data — the mental model behind agentic AI applications.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0"/>
          <p:cNvSpPr/>
          <p:nvPr/>
        </p:nvSpPr>
        <p:spPr>
          <a:xfrm>
            <a:off x="457200" y="457200"/>
            <a:ext cx="9417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299">
                <a:solidFill>
                  <a:srgbClr val="8B0E15"/>
                </a:solidFill>
                <a:latin typeface="Calibri"/>
                <a:ea typeface="Calibri"/>
              </a:rPr>
              <a:t>THE PROBLEM MCP SOLVES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Text 1"/>
          <p:cNvSpPr/>
          <p:nvPr/>
        </p:nvSpPr>
        <p:spPr>
          <a:xfrm>
            <a:off x="457200" y="73152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231F20"/>
                </a:solidFill>
                <a:latin typeface="Open Sans"/>
                <a:ea typeface="Open Sans"/>
              </a:rPr>
              <a:t>Why MCP exists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 2"/>
          <p:cNvSpPr/>
          <p:nvPr/>
        </p:nvSpPr>
        <p:spPr>
          <a:xfrm>
            <a:off x="457200" y="1417320"/>
            <a:ext cx="112467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3A3536"/>
                </a:solidFill>
                <a:latin typeface="Calibri"/>
                <a:ea typeface="Calibri"/>
              </a:rPr>
              <a:t>Before MCP, every model-to-tool connection was a custom integration. M models × N tools means M×N bespoke connectors to build and maintain.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Shape 3"/>
          <p:cNvSpPr/>
          <p:nvPr/>
        </p:nvSpPr>
        <p:spPr>
          <a:xfrm>
            <a:off x="457200" y="2194560"/>
            <a:ext cx="5394600" cy="393156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Text 4"/>
          <p:cNvSpPr/>
          <p:nvPr/>
        </p:nvSpPr>
        <p:spPr>
          <a:xfrm>
            <a:off x="640080" y="2377440"/>
            <a:ext cx="5028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199">
                <a:solidFill>
                  <a:srgbClr val="8A8385"/>
                </a:solidFill>
                <a:latin typeface="Calibri"/>
                <a:ea typeface="Calibri"/>
              </a:rPr>
              <a:t>WITHOUT MCP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Text 5"/>
          <p:cNvSpPr/>
          <p:nvPr/>
        </p:nvSpPr>
        <p:spPr>
          <a:xfrm>
            <a:off x="640080" y="265176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231F20"/>
                </a:solidFill>
                <a:latin typeface="Open Sans"/>
                <a:ea typeface="Open Sans"/>
              </a:rPr>
              <a:t>M × N custom connectors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Shape 6"/>
          <p:cNvSpPr/>
          <p:nvPr/>
        </p:nvSpPr>
        <p:spPr>
          <a:xfrm>
            <a:off x="1691640" y="3822120"/>
            <a:ext cx="3246120" cy="360"/>
          </a:xfrm>
          <a:prstGeom prst="line">
            <a:avLst/>
          </a:prstGeom>
          <a:ln w="12700">
            <a:solidFill>
              <a:srgbClr val="C0420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Shape 7"/>
          <p:cNvSpPr/>
          <p:nvPr/>
        </p:nvSpPr>
        <p:spPr>
          <a:xfrm>
            <a:off x="1691640" y="3822120"/>
            <a:ext cx="3246120" cy="777240"/>
          </a:xfrm>
          <a:prstGeom prst="line">
            <a:avLst/>
          </a:prstGeom>
          <a:ln w="12700">
            <a:solidFill>
              <a:srgbClr val="C0420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Shape 8"/>
          <p:cNvSpPr/>
          <p:nvPr/>
        </p:nvSpPr>
        <p:spPr>
          <a:xfrm>
            <a:off x="1691640" y="3822120"/>
            <a:ext cx="3246120" cy="1554480"/>
          </a:xfrm>
          <a:prstGeom prst="line">
            <a:avLst/>
          </a:prstGeom>
          <a:ln w="12700">
            <a:solidFill>
              <a:srgbClr val="C0420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Shape 9"/>
          <p:cNvSpPr/>
          <p:nvPr/>
        </p:nvSpPr>
        <p:spPr>
          <a:xfrm flipV="1">
            <a:off x="1691640" y="3822120"/>
            <a:ext cx="3246120" cy="777240"/>
          </a:xfrm>
          <a:prstGeom prst="line">
            <a:avLst/>
          </a:prstGeom>
          <a:ln w="12700">
            <a:solidFill>
              <a:srgbClr val="C0420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Shape 10"/>
          <p:cNvSpPr/>
          <p:nvPr/>
        </p:nvSpPr>
        <p:spPr>
          <a:xfrm>
            <a:off x="1691640" y="4599360"/>
            <a:ext cx="3246120" cy="360"/>
          </a:xfrm>
          <a:prstGeom prst="line">
            <a:avLst/>
          </a:prstGeom>
          <a:ln w="12700">
            <a:solidFill>
              <a:srgbClr val="C0420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Shape 11"/>
          <p:cNvSpPr/>
          <p:nvPr/>
        </p:nvSpPr>
        <p:spPr>
          <a:xfrm>
            <a:off x="1691640" y="4599360"/>
            <a:ext cx="3246120" cy="777240"/>
          </a:xfrm>
          <a:prstGeom prst="line">
            <a:avLst/>
          </a:prstGeom>
          <a:ln w="12700">
            <a:solidFill>
              <a:srgbClr val="C0420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Shape 12"/>
          <p:cNvSpPr/>
          <p:nvPr/>
        </p:nvSpPr>
        <p:spPr>
          <a:xfrm flipV="1">
            <a:off x="1691640" y="3822120"/>
            <a:ext cx="3246120" cy="1554480"/>
          </a:xfrm>
          <a:prstGeom prst="line">
            <a:avLst/>
          </a:prstGeom>
          <a:ln w="12700">
            <a:solidFill>
              <a:srgbClr val="C0420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Shape 13"/>
          <p:cNvSpPr/>
          <p:nvPr/>
        </p:nvSpPr>
        <p:spPr>
          <a:xfrm flipV="1">
            <a:off x="1691640" y="4599360"/>
            <a:ext cx="3246120" cy="777240"/>
          </a:xfrm>
          <a:prstGeom prst="line">
            <a:avLst/>
          </a:prstGeom>
          <a:ln w="12700">
            <a:solidFill>
              <a:srgbClr val="C0420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Shape 14"/>
          <p:cNvSpPr/>
          <p:nvPr/>
        </p:nvSpPr>
        <p:spPr>
          <a:xfrm>
            <a:off x="1691640" y="5376600"/>
            <a:ext cx="3246120" cy="360"/>
          </a:xfrm>
          <a:prstGeom prst="line">
            <a:avLst/>
          </a:prstGeom>
          <a:ln w="12700">
            <a:solidFill>
              <a:srgbClr val="C0420F">
                <a:alpha val="6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Shape 15"/>
          <p:cNvSpPr/>
          <p:nvPr/>
        </p:nvSpPr>
        <p:spPr>
          <a:xfrm>
            <a:off x="1371600" y="3657600"/>
            <a:ext cx="685440" cy="328680"/>
          </a:xfrm>
          <a:prstGeom prst="roundRect">
            <a:avLst>
              <a:gd name="adj" fmla="val 11111"/>
            </a:avLst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Text 16"/>
          <p:cNvSpPr/>
          <p:nvPr/>
        </p:nvSpPr>
        <p:spPr>
          <a:xfrm>
            <a:off x="1371600" y="3657600"/>
            <a:ext cx="6854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FFFFFF"/>
                </a:solidFill>
                <a:latin typeface="Calibri"/>
                <a:ea typeface="Calibri"/>
              </a:rPr>
              <a:t>AI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Shape 17"/>
          <p:cNvSpPr/>
          <p:nvPr/>
        </p:nvSpPr>
        <p:spPr>
          <a:xfrm>
            <a:off x="1371600" y="4434840"/>
            <a:ext cx="685440" cy="328680"/>
          </a:xfrm>
          <a:prstGeom prst="roundRect">
            <a:avLst>
              <a:gd name="adj" fmla="val 11111"/>
            </a:avLst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Text 18"/>
          <p:cNvSpPr/>
          <p:nvPr/>
        </p:nvSpPr>
        <p:spPr>
          <a:xfrm>
            <a:off x="1371600" y="4434840"/>
            <a:ext cx="6854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FFFFFF"/>
                </a:solidFill>
                <a:latin typeface="Calibri"/>
                <a:ea typeface="Calibri"/>
              </a:rPr>
              <a:t>AI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Shape 19"/>
          <p:cNvSpPr/>
          <p:nvPr/>
        </p:nvSpPr>
        <p:spPr>
          <a:xfrm>
            <a:off x="1371600" y="5212080"/>
            <a:ext cx="685440" cy="328680"/>
          </a:xfrm>
          <a:prstGeom prst="roundRect">
            <a:avLst>
              <a:gd name="adj" fmla="val 11111"/>
            </a:avLst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Text 20"/>
          <p:cNvSpPr/>
          <p:nvPr/>
        </p:nvSpPr>
        <p:spPr>
          <a:xfrm>
            <a:off x="1371600" y="5212080"/>
            <a:ext cx="6854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FFFFFF"/>
                </a:solidFill>
                <a:latin typeface="Calibri"/>
                <a:ea typeface="Calibri"/>
              </a:rPr>
              <a:t>AI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Shape 21"/>
          <p:cNvSpPr/>
          <p:nvPr/>
        </p:nvSpPr>
        <p:spPr>
          <a:xfrm>
            <a:off x="4937760" y="3657600"/>
            <a:ext cx="685440" cy="328680"/>
          </a:xfrm>
          <a:prstGeom prst="roundRect">
            <a:avLst>
              <a:gd name="adj" fmla="val 11111"/>
            </a:avLst>
          </a:prstGeom>
          <a:solidFill>
            <a:srgbClr val="9AA7A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22"/>
          <p:cNvSpPr/>
          <p:nvPr/>
        </p:nvSpPr>
        <p:spPr>
          <a:xfrm>
            <a:off x="4937760" y="3657600"/>
            <a:ext cx="6854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FFFFFF"/>
                </a:solidFill>
                <a:latin typeface="Calibri"/>
                <a:ea typeface="Calibri"/>
              </a:rPr>
              <a:t>Tool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Shape 23"/>
          <p:cNvSpPr/>
          <p:nvPr/>
        </p:nvSpPr>
        <p:spPr>
          <a:xfrm>
            <a:off x="4937760" y="4434840"/>
            <a:ext cx="685440" cy="328680"/>
          </a:xfrm>
          <a:prstGeom prst="roundRect">
            <a:avLst>
              <a:gd name="adj" fmla="val 11111"/>
            </a:avLst>
          </a:prstGeom>
          <a:solidFill>
            <a:srgbClr val="9AA7A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24"/>
          <p:cNvSpPr/>
          <p:nvPr/>
        </p:nvSpPr>
        <p:spPr>
          <a:xfrm>
            <a:off x="4937760" y="4434840"/>
            <a:ext cx="6854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FFFFFF"/>
                </a:solidFill>
                <a:latin typeface="Calibri"/>
                <a:ea typeface="Calibri"/>
              </a:rPr>
              <a:t>Tool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Shape 25"/>
          <p:cNvSpPr/>
          <p:nvPr/>
        </p:nvSpPr>
        <p:spPr>
          <a:xfrm>
            <a:off x="4937760" y="5212080"/>
            <a:ext cx="685440" cy="328680"/>
          </a:xfrm>
          <a:prstGeom prst="roundRect">
            <a:avLst>
              <a:gd name="adj" fmla="val 11111"/>
            </a:avLst>
          </a:prstGeom>
          <a:solidFill>
            <a:srgbClr val="9AA7A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 26"/>
          <p:cNvSpPr/>
          <p:nvPr/>
        </p:nvSpPr>
        <p:spPr>
          <a:xfrm>
            <a:off x="4937760" y="5212080"/>
            <a:ext cx="6854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FFFFFF"/>
                </a:solidFill>
                <a:latin typeface="Calibri"/>
                <a:ea typeface="Calibri"/>
              </a:rPr>
              <a:t>Tool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Shape 27"/>
          <p:cNvSpPr/>
          <p:nvPr/>
        </p:nvSpPr>
        <p:spPr>
          <a:xfrm>
            <a:off x="6309360" y="2194560"/>
            <a:ext cx="5394600" cy="393156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 28"/>
          <p:cNvSpPr/>
          <p:nvPr/>
        </p:nvSpPr>
        <p:spPr>
          <a:xfrm>
            <a:off x="6492240" y="2377440"/>
            <a:ext cx="5028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199">
                <a:solidFill>
                  <a:srgbClr val="8B0E15"/>
                </a:solidFill>
                <a:latin typeface="Calibri"/>
                <a:ea typeface="Calibri"/>
              </a:rPr>
              <a:t>WITH MCP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29"/>
          <p:cNvSpPr/>
          <p:nvPr/>
        </p:nvSpPr>
        <p:spPr>
          <a:xfrm>
            <a:off x="6492240" y="265176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231F20"/>
                </a:solidFill>
                <a:latin typeface="Open Sans"/>
                <a:ea typeface="Open Sans"/>
              </a:rPr>
              <a:t>One standard interface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 30"/>
          <p:cNvSpPr/>
          <p:nvPr/>
        </p:nvSpPr>
        <p:spPr>
          <a:xfrm>
            <a:off x="6492240" y="2962800"/>
            <a:ext cx="5028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strike="noStrike" spc="-1">
                <a:solidFill>
                  <a:srgbClr val="8B0E15"/>
                </a:solidFill>
                <a:latin typeface="Open Sans"/>
                <a:ea typeface="Open Sans"/>
              </a:rPr>
              <a:t>"USB-C for AI"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Shape 31"/>
          <p:cNvSpPr/>
          <p:nvPr/>
        </p:nvSpPr>
        <p:spPr>
          <a:xfrm>
            <a:off x="7726680" y="3822120"/>
            <a:ext cx="868680" cy="749880"/>
          </a:xfrm>
          <a:prstGeom prst="line">
            <a:avLst/>
          </a:prstGeom>
          <a:ln w="19050">
            <a:solidFill>
              <a:srgbClr val="8B0E1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Shape 32"/>
          <p:cNvSpPr/>
          <p:nvPr/>
        </p:nvSpPr>
        <p:spPr>
          <a:xfrm flipV="1">
            <a:off x="7726680" y="4572000"/>
            <a:ext cx="868680" cy="27360"/>
          </a:xfrm>
          <a:prstGeom prst="line">
            <a:avLst/>
          </a:prstGeom>
          <a:ln w="19050">
            <a:solidFill>
              <a:srgbClr val="8B0E1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7640" rIns="90000" bIns="-17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Shape 33"/>
          <p:cNvSpPr/>
          <p:nvPr/>
        </p:nvSpPr>
        <p:spPr>
          <a:xfrm flipV="1">
            <a:off x="7726680" y="4572000"/>
            <a:ext cx="868680" cy="804600"/>
          </a:xfrm>
          <a:prstGeom prst="line">
            <a:avLst/>
          </a:prstGeom>
          <a:ln w="19050">
            <a:solidFill>
              <a:srgbClr val="8B0E1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Shape 34"/>
          <p:cNvSpPr/>
          <p:nvPr/>
        </p:nvSpPr>
        <p:spPr>
          <a:xfrm flipV="1">
            <a:off x="9144000" y="3822120"/>
            <a:ext cx="1280160" cy="749880"/>
          </a:xfrm>
          <a:prstGeom prst="line">
            <a:avLst/>
          </a:prstGeom>
          <a:ln w="19050">
            <a:solidFill>
              <a:srgbClr val="8B0E1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Shape 35"/>
          <p:cNvSpPr/>
          <p:nvPr/>
        </p:nvSpPr>
        <p:spPr>
          <a:xfrm>
            <a:off x="9144000" y="4572000"/>
            <a:ext cx="1280160" cy="27360"/>
          </a:xfrm>
          <a:prstGeom prst="line">
            <a:avLst/>
          </a:prstGeom>
          <a:ln w="19050">
            <a:solidFill>
              <a:srgbClr val="8B0E1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7640" rIns="90000" bIns="-17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Shape 36"/>
          <p:cNvSpPr/>
          <p:nvPr/>
        </p:nvSpPr>
        <p:spPr>
          <a:xfrm>
            <a:off x="9144000" y="4572000"/>
            <a:ext cx="1280160" cy="804600"/>
          </a:xfrm>
          <a:prstGeom prst="line">
            <a:avLst/>
          </a:prstGeom>
          <a:ln w="19050">
            <a:solidFill>
              <a:srgbClr val="8B0E1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Shape 37"/>
          <p:cNvSpPr/>
          <p:nvPr/>
        </p:nvSpPr>
        <p:spPr>
          <a:xfrm>
            <a:off x="7040880" y="3657600"/>
            <a:ext cx="685440" cy="328680"/>
          </a:xfrm>
          <a:prstGeom prst="roundRect">
            <a:avLst>
              <a:gd name="adj" fmla="val 11111"/>
            </a:avLst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Text 38"/>
          <p:cNvSpPr/>
          <p:nvPr/>
        </p:nvSpPr>
        <p:spPr>
          <a:xfrm>
            <a:off x="7040880" y="3657600"/>
            <a:ext cx="6854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FFFFFF"/>
                </a:solidFill>
                <a:latin typeface="Calibri"/>
                <a:ea typeface="Calibri"/>
              </a:rPr>
              <a:t>AI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39"/>
          <p:cNvSpPr/>
          <p:nvPr/>
        </p:nvSpPr>
        <p:spPr>
          <a:xfrm>
            <a:off x="7040880" y="4434840"/>
            <a:ext cx="685440" cy="328680"/>
          </a:xfrm>
          <a:prstGeom prst="roundRect">
            <a:avLst>
              <a:gd name="adj" fmla="val 11111"/>
            </a:avLst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Text 40"/>
          <p:cNvSpPr/>
          <p:nvPr/>
        </p:nvSpPr>
        <p:spPr>
          <a:xfrm>
            <a:off x="7040880" y="4434840"/>
            <a:ext cx="6854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FFFFFF"/>
                </a:solidFill>
                <a:latin typeface="Calibri"/>
                <a:ea typeface="Calibri"/>
              </a:rPr>
              <a:t>AI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Shape 41"/>
          <p:cNvSpPr/>
          <p:nvPr/>
        </p:nvSpPr>
        <p:spPr>
          <a:xfrm>
            <a:off x="7040880" y="5212080"/>
            <a:ext cx="685440" cy="328680"/>
          </a:xfrm>
          <a:prstGeom prst="roundRect">
            <a:avLst>
              <a:gd name="adj" fmla="val 11111"/>
            </a:avLst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Text 42"/>
          <p:cNvSpPr/>
          <p:nvPr/>
        </p:nvSpPr>
        <p:spPr>
          <a:xfrm>
            <a:off x="7040880" y="5212080"/>
            <a:ext cx="6854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FFFFFF"/>
                </a:solidFill>
                <a:latin typeface="Calibri"/>
                <a:ea typeface="Calibri"/>
              </a:rPr>
              <a:t>AI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Shape 43"/>
          <p:cNvSpPr/>
          <p:nvPr/>
        </p:nvSpPr>
        <p:spPr>
          <a:xfrm>
            <a:off x="10424160" y="3657600"/>
            <a:ext cx="685440" cy="328680"/>
          </a:xfrm>
          <a:prstGeom prst="roundRect">
            <a:avLst>
              <a:gd name="adj" fmla="val 11111"/>
            </a:avLst>
          </a:prstGeom>
          <a:solidFill>
            <a:srgbClr val="9AA7A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44"/>
          <p:cNvSpPr/>
          <p:nvPr/>
        </p:nvSpPr>
        <p:spPr>
          <a:xfrm>
            <a:off x="10424160" y="3657600"/>
            <a:ext cx="6854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FFFFFF"/>
                </a:solidFill>
                <a:latin typeface="Calibri"/>
                <a:ea typeface="Calibri"/>
              </a:rPr>
              <a:t>Tool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45"/>
          <p:cNvSpPr/>
          <p:nvPr/>
        </p:nvSpPr>
        <p:spPr>
          <a:xfrm>
            <a:off x="10424160" y="4434840"/>
            <a:ext cx="685440" cy="328680"/>
          </a:xfrm>
          <a:prstGeom prst="roundRect">
            <a:avLst>
              <a:gd name="adj" fmla="val 11111"/>
            </a:avLst>
          </a:prstGeom>
          <a:solidFill>
            <a:srgbClr val="9AA7A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46"/>
          <p:cNvSpPr/>
          <p:nvPr/>
        </p:nvSpPr>
        <p:spPr>
          <a:xfrm>
            <a:off x="10424160" y="4434840"/>
            <a:ext cx="6854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FFFFFF"/>
                </a:solidFill>
                <a:latin typeface="Calibri"/>
                <a:ea typeface="Calibri"/>
              </a:rPr>
              <a:t>Tool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hape 47"/>
          <p:cNvSpPr/>
          <p:nvPr/>
        </p:nvSpPr>
        <p:spPr>
          <a:xfrm>
            <a:off x="10424160" y="5212080"/>
            <a:ext cx="685440" cy="328680"/>
          </a:xfrm>
          <a:prstGeom prst="roundRect">
            <a:avLst>
              <a:gd name="adj" fmla="val 11111"/>
            </a:avLst>
          </a:prstGeom>
          <a:solidFill>
            <a:srgbClr val="9AA7A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48"/>
          <p:cNvSpPr/>
          <p:nvPr/>
        </p:nvSpPr>
        <p:spPr>
          <a:xfrm>
            <a:off x="10424160" y="5212080"/>
            <a:ext cx="68544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strike="noStrike" spc="-1">
                <a:solidFill>
                  <a:srgbClr val="FFFFFF"/>
                </a:solidFill>
                <a:latin typeface="Calibri"/>
                <a:ea typeface="Calibri"/>
              </a:rPr>
              <a:t>Tool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49"/>
          <p:cNvSpPr/>
          <p:nvPr/>
        </p:nvSpPr>
        <p:spPr>
          <a:xfrm>
            <a:off x="8595360" y="4297680"/>
            <a:ext cx="548280" cy="548280"/>
          </a:xfrm>
          <a:prstGeom prst="ellipse">
            <a:avLst/>
          </a:prstGeom>
          <a:solidFill>
            <a:srgbClr val="8B0E15"/>
          </a:solidFill>
          <a:ln w="0">
            <a:noFill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 50"/>
          <p:cNvSpPr/>
          <p:nvPr/>
        </p:nvSpPr>
        <p:spPr>
          <a:xfrm>
            <a:off x="8412480" y="486468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8B0E15"/>
                </a:solidFill>
                <a:latin typeface="Calibri"/>
                <a:ea typeface="Calibri"/>
              </a:rPr>
              <a:t>MCP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hape 51"/>
          <p:cNvSpPr/>
          <p:nvPr/>
        </p:nvSpPr>
        <p:spPr>
          <a:xfrm>
            <a:off x="0" y="0"/>
            <a:ext cx="12161160" cy="7272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1" name="Image 0" descr="fhb_logo.png"/>
          <p:cNvPicPr/>
          <p:nvPr/>
        </p:nvPicPr>
        <p:blipFill>
          <a:blip r:embed="rId3"/>
          <a:stretch/>
        </p:blipFill>
        <p:spPr>
          <a:xfrm>
            <a:off x="10031040" y="146160"/>
            <a:ext cx="1828440" cy="338040"/>
          </a:xfrm>
          <a:prstGeom prst="rect">
            <a:avLst/>
          </a:prstGeom>
          <a:ln w="0">
            <a:noFill/>
          </a:ln>
        </p:spPr>
      </p:pic>
      <p:sp>
        <p:nvSpPr>
          <p:cNvPr id="72" name="Shape 52"/>
          <p:cNvSpPr/>
          <p:nvPr/>
        </p:nvSpPr>
        <p:spPr>
          <a:xfrm>
            <a:off x="457200" y="6583680"/>
            <a:ext cx="11274120" cy="1980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53"/>
          <p:cNvSpPr/>
          <p:nvPr/>
        </p:nvSpPr>
        <p:spPr>
          <a:xfrm>
            <a:off x="457200" y="6510600"/>
            <a:ext cx="164160" cy="16416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Text 54"/>
          <p:cNvSpPr/>
          <p:nvPr/>
        </p:nvSpPr>
        <p:spPr>
          <a:xfrm>
            <a:off x="713160" y="64008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MCP &amp; Agentic AI  ·  Deck 1 of 3  ·  Architecture &amp; Mechanics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55"/>
          <p:cNvSpPr/>
          <p:nvPr/>
        </p:nvSpPr>
        <p:spPr>
          <a:xfrm>
            <a:off x="111556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2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 0"/>
          <p:cNvSpPr/>
          <p:nvPr/>
        </p:nvSpPr>
        <p:spPr>
          <a:xfrm>
            <a:off x="457200" y="457200"/>
            <a:ext cx="9417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299">
                <a:solidFill>
                  <a:srgbClr val="8B0E15"/>
                </a:solidFill>
                <a:latin typeface="Calibri"/>
                <a:ea typeface="Calibri"/>
              </a:rPr>
              <a:t>THE CAST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1"/>
          <p:cNvSpPr/>
          <p:nvPr/>
        </p:nvSpPr>
        <p:spPr>
          <a:xfrm>
            <a:off x="457200" y="73152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231F20"/>
                </a:solidFill>
                <a:latin typeface="Open Sans"/>
                <a:ea typeface="Open Sans"/>
              </a:rPr>
              <a:t>The core actors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 2"/>
          <p:cNvSpPr/>
          <p:nvPr/>
        </p:nvSpPr>
        <p:spPr>
          <a:xfrm>
            <a:off x="457200" y="1417320"/>
            <a:ext cx="11246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3A3536"/>
                </a:solidFill>
                <a:latin typeface="Calibri"/>
                <a:ea typeface="Calibri"/>
              </a:rPr>
              <a:t>Four roles do all the work. The relationships between them are the foundation everything else builds on.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Shape 3"/>
          <p:cNvSpPr/>
          <p:nvPr/>
        </p:nvSpPr>
        <p:spPr>
          <a:xfrm>
            <a:off x="457200" y="2103120"/>
            <a:ext cx="2697120" cy="228564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4"/>
          <p:cNvSpPr/>
          <p:nvPr/>
        </p:nvSpPr>
        <p:spPr>
          <a:xfrm>
            <a:off x="457200" y="2103120"/>
            <a:ext cx="2697120" cy="10944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Shape 5"/>
          <p:cNvSpPr/>
          <p:nvPr/>
        </p:nvSpPr>
        <p:spPr>
          <a:xfrm>
            <a:off x="685800" y="2331720"/>
            <a:ext cx="566640" cy="566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2" name="Image 0" descr="preencoded.png"/>
          <p:cNvPicPr/>
          <p:nvPr/>
        </p:nvPicPr>
        <p:blipFill>
          <a:blip r:embed="rId3"/>
          <a:stretch/>
        </p:blipFill>
        <p:spPr>
          <a:xfrm>
            <a:off x="810360" y="2456280"/>
            <a:ext cx="317160" cy="317160"/>
          </a:xfrm>
          <a:prstGeom prst="rect">
            <a:avLst/>
          </a:prstGeom>
          <a:ln w="0">
            <a:noFill/>
          </a:ln>
        </p:spPr>
      </p:pic>
      <p:sp>
        <p:nvSpPr>
          <p:cNvPr id="83" name="Text 6"/>
          <p:cNvSpPr/>
          <p:nvPr/>
        </p:nvSpPr>
        <p:spPr>
          <a:xfrm>
            <a:off x="685800" y="3017520"/>
            <a:ext cx="22399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strike="noStrike" spc="-1">
                <a:solidFill>
                  <a:srgbClr val="231F20"/>
                </a:solidFill>
                <a:latin typeface="Open Sans"/>
                <a:ea typeface="Open Sans"/>
              </a:rPr>
              <a:t>User</a:t>
            </a:r>
            <a:endParaRPr lang="en-US" sz="1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 7"/>
          <p:cNvSpPr/>
          <p:nvPr/>
        </p:nvSpPr>
        <p:spPr>
          <a:xfrm>
            <a:off x="685800" y="3429000"/>
            <a:ext cx="223992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3A3536"/>
                </a:solidFill>
                <a:latin typeface="Calibri"/>
                <a:ea typeface="Calibri"/>
              </a:rPr>
              <a:t>The person with a goal. Interacts only with the host application.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Shape 8"/>
          <p:cNvSpPr/>
          <p:nvPr/>
        </p:nvSpPr>
        <p:spPr>
          <a:xfrm>
            <a:off x="3319200" y="2103120"/>
            <a:ext cx="2697120" cy="228564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9"/>
          <p:cNvSpPr/>
          <p:nvPr/>
        </p:nvSpPr>
        <p:spPr>
          <a:xfrm>
            <a:off x="3319200" y="2103120"/>
            <a:ext cx="2697120" cy="10944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Shape 10"/>
          <p:cNvSpPr/>
          <p:nvPr/>
        </p:nvSpPr>
        <p:spPr>
          <a:xfrm>
            <a:off x="3547800" y="2331720"/>
            <a:ext cx="566640" cy="566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8" name="Image 1" descr="preencoded.png"/>
          <p:cNvPicPr/>
          <p:nvPr/>
        </p:nvPicPr>
        <p:blipFill>
          <a:blip r:embed="rId4"/>
          <a:stretch/>
        </p:blipFill>
        <p:spPr>
          <a:xfrm>
            <a:off x="3672720" y="2456280"/>
            <a:ext cx="317160" cy="317160"/>
          </a:xfrm>
          <a:prstGeom prst="rect">
            <a:avLst/>
          </a:prstGeom>
          <a:ln w="0">
            <a:noFill/>
          </a:ln>
        </p:spPr>
      </p:pic>
      <p:sp>
        <p:nvSpPr>
          <p:cNvPr id="89" name="Text 11"/>
          <p:cNvSpPr/>
          <p:nvPr/>
        </p:nvSpPr>
        <p:spPr>
          <a:xfrm>
            <a:off x="3547800" y="3017520"/>
            <a:ext cx="22399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strike="noStrike" spc="-1">
                <a:solidFill>
                  <a:srgbClr val="231F20"/>
                </a:solidFill>
                <a:latin typeface="Open Sans"/>
                <a:ea typeface="Open Sans"/>
              </a:rPr>
              <a:t>Host + LLM</a:t>
            </a:r>
            <a:endParaRPr lang="en-US" sz="1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12"/>
          <p:cNvSpPr/>
          <p:nvPr/>
        </p:nvSpPr>
        <p:spPr>
          <a:xfrm>
            <a:off x="3547800" y="3429000"/>
            <a:ext cx="223992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3A3536"/>
                </a:solidFill>
                <a:latin typeface="Calibri"/>
                <a:ea typeface="Calibri"/>
              </a:rPr>
              <a:t>The application the user runs. Embeds the LLM and orchestrates one or more clients.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Shape 13"/>
          <p:cNvSpPr/>
          <p:nvPr/>
        </p:nvSpPr>
        <p:spPr>
          <a:xfrm>
            <a:off x="6181200" y="2103120"/>
            <a:ext cx="2697120" cy="228564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Shape 14"/>
          <p:cNvSpPr/>
          <p:nvPr/>
        </p:nvSpPr>
        <p:spPr>
          <a:xfrm>
            <a:off x="6181200" y="2103120"/>
            <a:ext cx="2697120" cy="10944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Shape 15"/>
          <p:cNvSpPr/>
          <p:nvPr/>
        </p:nvSpPr>
        <p:spPr>
          <a:xfrm>
            <a:off x="6409800" y="2331720"/>
            <a:ext cx="566640" cy="566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4" name="Image 2" descr="preencoded.png"/>
          <p:cNvPicPr/>
          <p:nvPr/>
        </p:nvPicPr>
        <p:blipFill>
          <a:blip r:embed="rId5"/>
          <a:stretch/>
        </p:blipFill>
        <p:spPr>
          <a:xfrm>
            <a:off x="6534720" y="2456280"/>
            <a:ext cx="317160" cy="317160"/>
          </a:xfrm>
          <a:prstGeom prst="rect">
            <a:avLst/>
          </a:prstGeom>
          <a:ln w="0">
            <a:noFill/>
          </a:ln>
        </p:spPr>
      </p:pic>
      <p:sp>
        <p:nvSpPr>
          <p:cNvPr id="95" name="Text 16"/>
          <p:cNvSpPr/>
          <p:nvPr/>
        </p:nvSpPr>
        <p:spPr>
          <a:xfrm>
            <a:off x="6409800" y="3017520"/>
            <a:ext cx="22399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strike="noStrike" spc="-1">
                <a:solidFill>
                  <a:srgbClr val="231F20"/>
                </a:solidFill>
                <a:latin typeface="Open Sans"/>
                <a:ea typeface="Open Sans"/>
              </a:rPr>
              <a:t>Client</a:t>
            </a:r>
            <a:endParaRPr lang="en-US" sz="1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 17"/>
          <p:cNvSpPr/>
          <p:nvPr/>
        </p:nvSpPr>
        <p:spPr>
          <a:xfrm>
            <a:off x="6409800" y="3429000"/>
            <a:ext cx="223992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3A3536"/>
                </a:solidFill>
                <a:latin typeface="Calibri"/>
                <a:ea typeface="Calibri"/>
              </a:rPr>
              <a:t>A connector inside the host. Holds one session with exactly one server.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Shape 18"/>
          <p:cNvSpPr/>
          <p:nvPr/>
        </p:nvSpPr>
        <p:spPr>
          <a:xfrm>
            <a:off x="9043560" y="2103120"/>
            <a:ext cx="2697120" cy="228564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Shape 19"/>
          <p:cNvSpPr/>
          <p:nvPr/>
        </p:nvSpPr>
        <p:spPr>
          <a:xfrm>
            <a:off x="9043560" y="2103120"/>
            <a:ext cx="2697120" cy="10944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Shape 20"/>
          <p:cNvSpPr/>
          <p:nvPr/>
        </p:nvSpPr>
        <p:spPr>
          <a:xfrm>
            <a:off x="9272160" y="2331720"/>
            <a:ext cx="566640" cy="566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0" name="Image 3" descr="preencoded.png"/>
          <p:cNvPicPr/>
          <p:nvPr/>
        </p:nvPicPr>
        <p:blipFill>
          <a:blip r:embed="rId6"/>
          <a:stretch/>
        </p:blipFill>
        <p:spPr>
          <a:xfrm>
            <a:off x="9396720" y="2456280"/>
            <a:ext cx="317160" cy="317160"/>
          </a:xfrm>
          <a:prstGeom prst="rect">
            <a:avLst/>
          </a:prstGeom>
          <a:ln w="0">
            <a:noFill/>
          </a:ln>
        </p:spPr>
      </p:pic>
      <p:sp>
        <p:nvSpPr>
          <p:cNvPr id="101" name="Text 21"/>
          <p:cNvSpPr/>
          <p:nvPr/>
        </p:nvSpPr>
        <p:spPr>
          <a:xfrm>
            <a:off x="9272160" y="3017520"/>
            <a:ext cx="22399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strike="noStrike" spc="-1">
                <a:solidFill>
                  <a:srgbClr val="231F20"/>
                </a:solidFill>
                <a:latin typeface="Open Sans"/>
                <a:ea typeface="Open Sans"/>
              </a:rPr>
              <a:t>Server</a:t>
            </a:r>
            <a:endParaRPr lang="en-US" sz="1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22"/>
          <p:cNvSpPr/>
          <p:nvPr/>
        </p:nvSpPr>
        <p:spPr>
          <a:xfrm>
            <a:off x="9272160" y="3429000"/>
            <a:ext cx="223992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3A3536"/>
                </a:solidFill>
                <a:latin typeface="Calibri"/>
                <a:ea typeface="Calibri"/>
              </a:rPr>
              <a:t>Exposes capabilities — tools, resources, prompts — and does the work.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Shape 23"/>
          <p:cNvSpPr/>
          <p:nvPr/>
        </p:nvSpPr>
        <p:spPr>
          <a:xfrm>
            <a:off x="457200" y="4709160"/>
            <a:ext cx="11246760" cy="1234080"/>
          </a:xfrm>
          <a:prstGeom prst="rect">
            <a:avLst/>
          </a:prstGeom>
          <a:solidFill>
            <a:srgbClr val="5A0E1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Shape 24"/>
          <p:cNvSpPr/>
          <p:nvPr/>
        </p:nvSpPr>
        <p:spPr>
          <a:xfrm>
            <a:off x="457200" y="4709160"/>
            <a:ext cx="109440" cy="123408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Text 25"/>
          <p:cNvSpPr/>
          <p:nvPr/>
        </p:nvSpPr>
        <p:spPr>
          <a:xfrm>
            <a:off x="777240" y="4864680"/>
            <a:ext cx="10515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299">
                <a:solidFill>
                  <a:srgbClr val="F5A800"/>
                </a:solidFill>
                <a:latin typeface="Calibri"/>
                <a:ea typeface="Calibri"/>
              </a:rPr>
              <a:t>THE FOUNDATIONAL RULE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26"/>
          <p:cNvSpPr/>
          <p:nvPr/>
        </p:nvSpPr>
        <p:spPr>
          <a:xfrm>
            <a:off x="777240" y="5139000"/>
            <a:ext cx="1069812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libri"/>
                <a:ea typeface="Calibri"/>
              </a:rPr>
              <a:t>One host runs many clients — but each client maintains a 1:1 session with a single server. </a:t>
            </a:r>
            <a:r>
              <a:rPr lang="en-US" sz="1400" b="0" strike="noStrike" spc="-1">
                <a:solidFill>
                  <a:srgbClr val="E8DFD2"/>
                </a:solidFill>
                <a:latin typeface="Calibri"/>
                <a:ea typeface="Calibri"/>
              </a:rPr>
              <a:t>That isolation boundary is why a server only ever sees its own connection, and it shapes the entire security model.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Shape 27"/>
          <p:cNvSpPr/>
          <p:nvPr/>
        </p:nvSpPr>
        <p:spPr>
          <a:xfrm>
            <a:off x="0" y="0"/>
            <a:ext cx="12161160" cy="7272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8" name="Image 4" descr="fhb_logo.png"/>
          <p:cNvPicPr/>
          <p:nvPr/>
        </p:nvPicPr>
        <p:blipFill>
          <a:blip r:embed="rId7"/>
          <a:stretch/>
        </p:blipFill>
        <p:spPr>
          <a:xfrm>
            <a:off x="10031040" y="146160"/>
            <a:ext cx="1828440" cy="338040"/>
          </a:xfrm>
          <a:prstGeom prst="rect">
            <a:avLst/>
          </a:prstGeom>
          <a:ln w="0">
            <a:noFill/>
          </a:ln>
        </p:spPr>
      </p:pic>
      <p:sp>
        <p:nvSpPr>
          <p:cNvPr id="109" name="Shape 28"/>
          <p:cNvSpPr/>
          <p:nvPr/>
        </p:nvSpPr>
        <p:spPr>
          <a:xfrm>
            <a:off x="457200" y="6583680"/>
            <a:ext cx="11274120" cy="1980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Shape 29"/>
          <p:cNvSpPr/>
          <p:nvPr/>
        </p:nvSpPr>
        <p:spPr>
          <a:xfrm>
            <a:off x="457200" y="6510600"/>
            <a:ext cx="164160" cy="16416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Text 30"/>
          <p:cNvSpPr/>
          <p:nvPr/>
        </p:nvSpPr>
        <p:spPr>
          <a:xfrm>
            <a:off x="713160" y="64008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MCP &amp; Agentic AI  ·  Deck 1 of 3  ·  Architecture &amp; Mechanics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31"/>
          <p:cNvSpPr/>
          <p:nvPr/>
        </p:nvSpPr>
        <p:spPr>
          <a:xfrm>
            <a:off x="111556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3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 0"/>
          <p:cNvSpPr/>
          <p:nvPr/>
        </p:nvSpPr>
        <p:spPr>
          <a:xfrm>
            <a:off x="457200" y="457200"/>
            <a:ext cx="9417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299">
                <a:solidFill>
                  <a:srgbClr val="8B0E15"/>
                </a:solidFill>
                <a:latin typeface="Calibri"/>
                <a:ea typeface="Calibri"/>
              </a:rPr>
              <a:t>HOW IT FITS TOGETHER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1"/>
          <p:cNvSpPr/>
          <p:nvPr/>
        </p:nvSpPr>
        <p:spPr>
          <a:xfrm>
            <a:off x="457200" y="73152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231F20"/>
                </a:solidFill>
                <a:latin typeface="Open Sans"/>
                <a:ea typeface="Open Sans"/>
              </a:rPr>
              <a:t>High-level architecture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 2"/>
          <p:cNvSpPr/>
          <p:nvPr/>
        </p:nvSpPr>
        <p:spPr>
          <a:xfrm>
            <a:off x="457200" y="1371600"/>
            <a:ext cx="11246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3A3536"/>
                </a:solidFill>
                <a:latin typeface="Calibri"/>
                <a:ea typeface="Calibri"/>
              </a:rPr>
              <a:t>Following our example: the analyst's request flows down through the host and clients to servers, which reach external systems and return results back up.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Shape 3"/>
          <p:cNvSpPr/>
          <p:nvPr/>
        </p:nvSpPr>
        <p:spPr>
          <a:xfrm>
            <a:off x="3108960" y="2011680"/>
            <a:ext cx="5943240" cy="639720"/>
          </a:xfrm>
          <a:prstGeom prst="rect">
            <a:avLst/>
          </a:prstGeom>
          <a:solidFill>
            <a:srgbClr val="EFE9E0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7" name="Image 0" descr="preencoded.png"/>
          <p:cNvPicPr/>
          <p:nvPr/>
        </p:nvPicPr>
        <p:blipFill>
          <a:blip r:embed="rId3"/>
          <a:stretch/>
        </p:blipFill>
        <p:spPr>
          <a:xfrm>
            <a:off x="3337560" y="2139840"/>
            <a:ext cx="383760" cy="383760"/>
          </a:xfrm>
          <a:prstGeom prst="rect">
            <a:avLst/>
          </a:prstGeom>
          <a:ln w="0">
            <a:noFill/>
          </a:ln>
        </p:spPr>
      </p:pic>
      <p:sp>
        <p:nvSpPr>
          <p:cNvPr id="118" name="Text 4"/>
          <p:cNvSpPr/>
          <p:nvPr/>
        </p:nvSpPr>
        <p:spPr>
          <a:xfrm>
            <a:off x="3886200" y="208476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231F20"/>
                </a:solidFill>
                <a:latin typeface="Open Sans"/>
                <a:ea typeface="Open Sans"/>
              </a:rPr>
              <a:t>User App / UI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5"/>
          <p:cNvSpPr/>
          <p:nvPr/>
        </p:nvSpPr>
        <p:spPr>
          <a:xfrm>
            <a:off x="3886200" y="2432160"/>
            <a:ext cx="5028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8A8385"/>
                </a:solidFill>
                <a:latin typeface="Calibri"/>
                <a:ea typeface="Calibri"/>
              </a:rPr>
              <a:t>The analyst's entry point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Shape 6"/>
          <p:cNvSpPr/>
          <p:nvPr/>
        </p:nvSpPr>
        <p:spPr>
          <a:xfrm>
            <a:off x="3108960" y="2834640"/>
            <a:ext cx="5943240" cy="639720"/>
          </a:xfrm>
          <a:prstGeom prst="rect">
            <a:avLst/>
          </a:prstGeom>
          <a:solidFill>
            <a:srgbClr val="EFE9E0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1" name="Image 1" descr="preencoded.png"/>
          <p:cNvPicPr/>
          <p:nvPr/>
        </p:nvPicPr>
        <p:blipFill>
          <a:blip r:embed="rId4"/>
          <a:stretch/>
        </p:blipFill>
        <p:spPr>
          <a:xfrm>
            <a:off x="3337560" y="2962800"/>
            <a:ext cx="383760" cy="383760"/>
          </a:xfrm>
          <a:prstGeom prst="rect">
            <a:avLst/>
          </a:prstGeom>
          <a:ln w="0">
            <a:noFill/>
          </a:ln>
        </p:spPr>
      </p:pic>
      <p:sp>
        <p:nvSpPr>
          <p:cNvPr id="122" name="Text 7"/>
          <p:cNvSpPr/>
          <p:nvPr/>
        </p:nvSpPr>
        <p:spPr>
          <a:xfrm>
            <a:off x="3886200" y="290772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231F20"/>
                </a:solidFill>
                <a:latin typeface="Open Sans"/>
                <a:ea typeface="Open Sans"/>
              </a:rPr>
              <a:t>Host + LLM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8"/>
          <p:cNvSpPr/>
          <p:nvPr/>
        </p:nvSpPr>
        <p:spPr>
          <a:xfrm>
            <a:off x="3886200" y="3255120"/>
            <a:ext cx="5028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8A8385"/>
                </a:solidFill>
                <a:latin typeface="Calibri"/>
                <a:ea typeface="Calibri"/>
              </a:rPr>
              <a:t>Interprets intent, decides what to call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Shape 9"/>
          <p:cNvSpPr/>
          <p:nvPr/>
        </p:nvSpPr>
        <p:spPr>
          <a:xfrm>
            <a:off x="3108960" y="3657600"/>
            <a:ext cx="5943240" cy="639720"/>
          </a:xfrm>
          <a:prstGeom prst="rect">
            <a:avLst/>
          </a:prstGeom>
          <a:solidFill>
            <a:srgbClr val="E3EEED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5" name="Image 2" descr="preencoded.png"/>
          <p:cNvPicPr/>
          <p:nvPr/>
        </p:nvPicPr>
        <p:blipFill>
          <a:blip r:embed="rId5"/>
          <a:stretch/>
        </p:blipFill>
        <p:spPr>
          <a:xfrm>
            <a:off x="3337560" y="3785760"/>
            <a:ext cx="383760" cy="383760"/>
          </a:xfrm>
          <a:prstGeom prst="rect">
            <a:avLst/>
          </a:prstGeom>
          <a:ln w="0">
            <a:noFill/>
          </a:ln>
        </p:spPr>
      </p:pic>
      <p:sp>
        <p:nvSpPr>
          <p:cNvPr id="126" name="Text 10"/>
          <p:cNvSpPr/>
          <p:nvPr/>
        </p:nvSpPr>
        <p:spPr>
          <a:xfrm>
            <a:off x="3886200" y="373068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231F20"/>
                </a:solidFill>
                <a:latin typeface="Open Sans"/>
                <a:ea typeface="Open Sans"/>
              </a:rPr>
              <a:t>MCP Clients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 11"/>
          <p:cNvSpPr/>
          <p:nvPr/>
        </p:nvSpPr>
        <p:spPr>
          <a:xfrm>
            <a:off x="3886200" y="4078080"/>
            <a:ext cx="5028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8A8385"/>
                </a:solidFill>
                <a:latin typeface="Calibri"/>
                <a:ea typeface="Calibri"/>
              </a:rPr>
              <a:t>Middleware — one session per server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hape 12"/>
          <p:cNvSpPr/>
          <p:nvPr/>
        </p:nvSpPr>
        <p:spPr>
          <a:xfrm>
            <a:off x="6080760" y="2633400"/>
            <a:ext cx="360" cy="201240"/>
          </a:xfrm>
          <a:prstGeom prst="line">
            <a:avLst/>
          </a:prstGeom>
          <a:ln w="25400">
            <a:solidFill>
              <a:srgbClr val="8B0E15"/>
            </a:solidFill>
            <a:round/>
            <a:headEnd type="triangl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Shape 13"/>
          <p:cNvSpPr/>
          <p:nvPr/>
        </p:nvSpPr>
        <p:spPr>
          <a:xfrm>
            <a:off x="6080760" y="3456360"/>
            <a:ext cx="360" cy="201240"/>
          </a:xfrm>
          <a:prstGeom prst="line">
            <a:avLst/>
          </a:prstGeom>
          <a:ln w="25400">
            <a:solidFill>
              <a:srgbClr val="8B0E15"/>
            </a:solidFill>
            <a:round/>
            <a:headEnd type="triangl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Shape 14"/>
          <p:cNvSpPr/>
          <p:nvPr/>
        </p:nvSpPr>
        <p:spPr>
          <a:xfrm>
            <a:off x="6080760" y="4279320"/>
            <a:ext cx="360" cy="201240"/>
          </a:xfrm>
          <a:prstGeom prst="line">
            <a:avLst/>
          </a:prstGeom>
          <a:ln w="25400">
            <a:solidFill>
              <a:srgbClr val="8B0E15"/>
            </a:solidFill>
            <a:round/>
            <a:headEnd type="triangl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Shape 15"/>
          <p:cNvSpPr/>
          <p:nvPr/>
        </p:nvSpPr>
        <p:spPr>
          <a:xfrm>
            <a:off x="3108960" y="4709160"/>
            <a:ext cx="1874160" cy="1279800"/>
          </a:xfrm>
          <a:prstGeom prst="rect">
            <a:avLst/>
          </a:prstGeom>
          <a:solidFill>
            <a:srgbClr val="8B0E15"/>
          </a:solidFill>
          <a:ln w="0">
            <a:noFill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2" name="Image 3" descr="preencoded.png"/>
          <p:cNvPicPr/>
          <p:nvPr/>
        </p:nvPicPr>
        <p:blipFill>
          <a:blip r:embed="rId6"/>
          <a:stretch/>
        </p:blipFill>
        <p:spPr>
          <a:xfrm>
            <a:off x="3246120" y="484632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133" name="Text 16"/>
          <p:cNvSpPr/>
          <p:nvPr/>
        </p:nvSpPr>
        <p:spPr>
          <a:xfrm>
            <a:off x="3200400" y="5184720"/>
            <a:ext cx="16912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FFFFFF"/>
                </a:solidFill>
                <a:latin typeface="Calibri"/>
                <a:ea typeface="Calibri"/>
              </a:rPr>
              <a:t>MCP Server A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 17"/>
          <p:cNvSpPr/>
          <p:nvPr/>
        </p:nvSpPr>
        <p:spPr>
          <a:xfrm>
            <a:off x="3200400" y="5486400"/>
            <a:ext cx="16912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F5A800"/>
                </a:solidFill>
                <a:latin typeface="Consolas"/>
                <a:ea typeface="Consolas"/>
              </a:rPr>
              <a:t>get_transactions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Shape 18"/>
          <p:cNvSpPr/>
          <p:nvPr/>
        </p:nvSpPr>
        <p:spPr>
          <a:xfrm>
            <a:off x="4023360" y="4480560"/>
            <a:ext cx="360" cy="228600"/>
          </a:xfrm>
          <a:prstGeom prst="line">
            <a:avLst/>
          </a:prstGeom>
          <a:ln w="19050">
            <a:solidFill>
              <a:srgbClr val="8B0E1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Shape 19"/>
          <p:cNvSpPr/>
          <p:nvPr/>
        </p:nvSpPr>
        <p:spPr>
          <a:xfrm>
            <a:off x="5166360" y="4709160"/>
            <a:ext cx="1874160" cy="1279800"/>
          </a:xfrm>
          <a:prstGeom prst="rect">
            <a:avLst/>
          </a:prstGeom>
          <a:solidFill>
            <a:srgbClr val="8B0E15"/>
          </a:solidFill>
          <a:ln w="0">
            <a:noFill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7" name="Image 4" descr="preencoded.png"/>
          <p:cNvPicPr/>
          <p:nvPr/>
        </p:nvPicPr>
        <p:blipFill>
          <a:blip r:embed="rId7"/>
          <a:stretch/>
        </p:blipFill>
        <p:spPr>
          <a:xfrm>
            <a:off x="5303520" y="484632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138" name="Text 20"/>
          <p:cNvSpPr/>
          <p:nvPr/>
        </p:nvSpPr>
        <p:spPr>
          <a:xfrm>
            <a:off x="5257800" y="5184720"/>
            <a:ext cx="16912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FFFFFF"/>
                </a:solidFill>
                <a:latin typeface="Calibri"/>
                <a:ea typeface="Calibri"/>
              </a:rPr>
              <a:t>MCP Server B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 21"/>
          <p:cNvSpPr/>
          <p:nvPr/>
        </p:nvSpPr>
        <p:spPr>
          <a:xfrm>
            <a:off x="5257800" y="5486400"/>
            <a:ext cx="16912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F5A800"/>
                </a:solidFill>
                <a:latin typeface="Consolas"/>
                <a:ea typeface="Consolas"/>
              </a:rPr>
              <a:t>customer_lookup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Shape 22"/>
          <p:cNvSpPr/>
          <p:nvPr/>
        </p:nvSpPr>
        <p:spPr>
          <a:xfrm>
            <a:off x="6080760" y="4480560"/>
            <a:ext cx="360" cy="228600"/>
          </a:xfrm>
          <a:prstGeom prst="line">
            <a:avLst/>
          </a:prstGeom>
          <a:ln w="19050">
            <a:solidFill>
              <a:srgbClr val="8B0E1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Shape 23"/>
          <p:cNvSpPr/>
          <p:nvPr/>
        </p:nvSpPr>
        <p:spPr>
          <a:xfrm>
            <a:off x="7223760" y="4709160"/>
            <a:ext cx="1874160" cy="1279800"/>
          </a:xfrm>
          <a:prstGeom prst="rect">
            <a:avLst/>
          </a:prstGeom>
          <a:solidFill>
            <a:srgbClr val="8B0E15"/>
          </a:solidFill>
          <a:ln w="0">
            <a:noFill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2" name="Image 5" descr="preencoded.png"/>
          <p:cNvPicPr/>
          <p:nvPr/>
        </p:nvPicPr>
        <p:blipFill>
          <a:blip r:embed="rId8"/>
          <a:stretch/>
        </p:blipFill>
        <p:spPr>
          <a:xfrm>
            <a:off x="7360920" y="4846320"/>
            <a:ext cx="310680" cy="310680"/>
          </a:xfrm>
          <a:prstGeom prst="rect">
            <a:avLst/>
          </a:prstGeom>
          <a:ln w="0">
            <a:noFill/>
          </a:ln>
        </p:spPr>
      </p:pic>
      <p:sp>
        <p:nvSpPr>
          <p:cNvPr id="143" name="Text 24"/>
          <p:cNvSpPr/>
          <p:nvPr/>
        </p:nvSpPr>
        <p:spPr>
          <a:xfrm>
            <a:off x="7315200" y="5184720"/>
            <a:ext cx="16912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FFFFFF"/>
                </a:solidFill>
                <a:latin typeface="Calibri"/>
                <a:ea typeface="Calibri"/>
              </a:rPr>
              <a:t>MCP Server C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 25"/>
          <p:cNvSpPr/>
          <p:nvPr/>
        </p:nvSpPr>
        <p:spPr>
          <a:xfrm>
            <a:off x="7315200" y="5486400"/>
            <a:ext cx="16912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F5A800"/>
                </a:solidFill>
                <a:latin typeface="Consolas"/>
                <a:ea typeface="Consolas"/>
              </a:rPr>
              <a:t>policy_docs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Shape 26"/>
          <p:cNvSpPr/>
          <p:nvPr/>
        </p:nvSpPr>
        <p:spPr>
          <a:xfrm>
            <a:off x="8138160" y="4480560"/>
            <a:ext cx="360" cy="228600"/>
          </a:xfrm>
          <a:prstGeom prst="line">
            <a:avLst/>
          </a:prstGeom>
          <a:ln w="19050">
            <a:solidFill>
              <a:srgbClr val="8B0E1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 27"/>
          <p:cNvSpPr/>
          <p:nvPr/>
        </p:nvSpPr>
        <p:spPr>
          <a:xfrm>
            <a:off x="3108960" y="608076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strike="noStrike" spc="-1">
                <a:solidFill>
                  <a:srgbClr val="8A8385"/>
                </a:solidFill>
                <a:latin typeface="Calibri"/>
                <a:ea typeface="Calibri"/>
              </a:rPr>
              <a:t>→ external systems: core banking, databases, document stores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 28"/>
          <p:cNvSpPr/>
          <p:nvPr/>
        </p:nvSpPr>
        <p:spPr>
          <a:xfrm>
            <a:off x="914400" y="2377440"/>
            <a:ext cx="16455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8B0E15"/>
                </a:solidFill>
                <a:latin typeface="Calibri"/>
                <a:ea typeface="Calibri"/>
              </a:rPr>
              <a:t>REQUEST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8B0E15"/>
                </a:solidFill>
                <a:latin typeface="Calibri"/>
                <a:ea typeface="Calibri"/>
              </a:rPr>
              <a:t>flows down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Shape 29"/>
          <p:cNvSpPr/>
          <p:nvPr/>
        </p:nvSpPr>
        <p:spPr>
          <a:xfrm>
            <a:off x="2377440" y="2286000"/>
            <a:ext cx="360" cy="2743200"/>
          </a:xfrm>
          <a:prstGeom prst="line">
            <a:avLst/>
          </a:prstGeom>
          <a:ln w="25400">
            <a:solidFill>
              <a:srgbClr val="8B0E15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 30"/>
          <p:cNvSpPr/>
          <p:nvPr/>
        </p:nvSpPr>
        <p:spPr>
          <a:xfrm>
            <a:off x="9509760" y="2377440"/>
            <a:ext cx="173700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8B0E15"/>
                </a:solidFill>
                <a:latin typeface="Calibri"/>
                <a:ea typeface="Calibri"/>
              </a:rPr>
              <a:t>RESULTS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8B0E15"/>
                </a:solidFill>
                <a:latin typeface="Calibri"/>
                <a:ea typeface="Calibri"/>
              </a:rPr>
              <a:t>flow back up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Shape 31"/>
          <p:cNvSpPr/>
          <p:nvPr/>
        </p:nvSpPr>
        <p:spPr>
          <a:xfrm flipV="1">
            <a:off x="9326880" y="2286000"/>
            <a:ext cx="360" cy="2743200"/>
          </a:xfrm>
          <a:prstGeom prst="line">
            <a:avLst/>
          </a:prstGeom>
          <a:ln w="25400">
            <a:solidFill>
              <a:srgbClr val="8B0E15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Shape 32"/>
          <p:cNvSpPr/>
          <p:nvPr/>
        </p:nvSpPr>
        <p:spPr>
          <a:xfrm>
            <a:off x="0" y="0"/>
            <a:ext cx="12161160" cy="7272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2" name="Image 6" descr="fhb_logo.png"/>
          <p:cNvPicPr/>
          <p:nvPr/>
        </p:nvPicPr>
        <p:blipFill>
          <a:blip r:embed="rId9"/>
          <a:stretch/>
        </p:blipFill>
        <p:spPr>
          <a:xfrm>
            <a:off x="10031040" y="146160"/>
            <a:ext cx="1828440" cy="338040"/>
          </a:xfrm>
          <a:prstGeom prst="rect">
            <a:avLst/>
          </a:prstGeom>
          <a:ln w="0">
            <a:noFill/>
          </a:ln>
        </p:spPr>
      </p:pic>
      <p:sp>
        <p:nvSpPr>
          <p:cNvPr id="153" name="Shape 33"/>
          <p:cNvSpPr/>
          <p:nvPr/>
        </p:nvSpPr>
        <p:spPr>
          <a:xfrm>
            <a:off x="457200" y="6583680"/>
            <a:ext cx="11274120" cy="1980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Shape 34"/>
          <p:cNvSpPr/>
          <p:nvPr/>
        </p:nvSpPr>
        <p:spPr>
          <a:xfrm>
            <a:off x="457200" y="6510600"/>
            <a:ext cx="164160" cy="16416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Text 35"/>
          <p:cNvSpPr/>
          <p:nvPr/>
        </p:nvSpPr>
        <p:spPr>
          <a:xfrm>
            <a:off x="713160" y="64008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MCP &amp; Agentic AI  ·  Deck 1 of 3  ·  Architecture &amp; Mechanics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 36"/>
          <p:cNvSpPr/>
          <p:nvPr/>
        </p:nvSpPr>
        <p:spPr>
          <a:xfrm>
            <a:off x="111556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4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Text 0"/>
          <p:cNvSpPr/>
          <p:nvPr/>
        </p:nvSpPr>
        <p:spPr>
          <a:xfrm>
            <a:off x="457200" y="457200"/>
            <a:ext cx="9417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299">
                <a:solidFill>
                  <a:srgbClr val="8B0E15"/>
                </a:solidFill>
                <a:latin typeface="Calibri"/>
                <a:ea typeface="Calibri"/>
              </a:rPr>
              <a:t>WHAT A SERVER OFFERS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 1"/>
          <p:cNvSpPr/>
          <p:nvPr/>
        </p:nvSpPr>
        <p:spPr>
          <a:xfrm>
            <a:off x="457200" y="73152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231F20"/>
                </a:solidFill>
                <a:latin typeface="Open Sans"/>
                <a:ea typeface="Open Sans"/>
              </a:rPr>
              <a:t>The three server primitives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 2"/>
          <p:cNvSpPr/>
          <p:nvPr/>
        </p:nvSpPr>
        <p:spPr>
          <a:xfrm>
            <a:off x="457200" y="1417320"/>
            <a:ext cx="112467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3A3536"/>
                </a:solidFill>
                <a:latin typeface="Calibri"/>
                <a:ea typeface="Calibri"/>
              </a:rPr>
              <a:t>The clearest way to keep these straight is to ask who is in control of each.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Shape 3"/>
          <p:cNvSpPr/>
          <p:nvPr/>
        </p:nvSpPr>
        <p:spPr>
          <a:xfrm>
            <a:off x="457200" y="2011680"/>
            <a:ext cx="3520080" cy="393156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Shape 4"/>
          <p:cNvSpPr/>
          <p:nvPr/>
        </p:nvSpPr>
        <p:spPr>
          <a:xfrm>
            <a:off x="457200" y="2011680"/>
            <a:ext cx="3520080" cy="12780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Shape 5"/>
          <p:cNvSpPr/>
          <p:nvPr/>
        </p:nvSpPr>
        <p:spPr>
          <a:xfrm>
            <a:off x="731520" y="2331720"/>
            <a:ext cx="639720" cy="6397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3" name="Image 0" descr="preencoded.png"/>
          <p:cNvPicPr/>
          <p:nvPr/>
        </p:nvPicPr>
        <p:blipFill>
          <a:blip r:embed="rId3"/>
          <a:stretch/>
        </p:blipFill>
        <p:spPr>
          <a:xfrm>
            <a:off x="872280" y="2472480"/>
            <a:ext cx="358200" cy="358200"/>
          </a:xfrm>
          <a:prstGeom prst="rect">
            <a:avLst/>
          </a:prstGeom>
          <a:ln w="0">
            <a:noFill/>
          </a:ln>
        </p:spPr>
      </p:pic>
      <p:sp>
        <p:nvSpPr>
          <p:cNvPr id="164" name="Text 6"/>
          <p:cNvSpPr/>
          <p:nvPr/>
        </p:nvSpPr>
        <p:spPr>
          <a:xfrm>
            <a:off x="731520" y="3108960"/>
            <a:ext cx="30171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1">
                <a:solidFill>
                  <a:srgbClr val="231F20"/>
                </a:solidFill>
                <a:latin typeface="Open Sans"/>
                <a:ea typeface="Open Sans"/>
              </a:rPr>
              <a:t>Tools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Shape 7"/>
          <p:cNvSpPr/>
          <p:nvPr/>
        </p:nvSpPr>
        <p:spPr>
          <a:xfrm>
            <a:off x="731520" y="3611880"/>
            <a:ext cx="2742840" cy="383760"/>
          </a:xfrm>
          <a:prstGeom prst="roundRect">
            <a:avLst>
              <a:gd name="adj" fmla="val 11905"/>
            </a:avLst>
          </a:prstGeom>
          <a:solidFill>
            <a:srgbClr val="E3EEE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 8"/>
          <p:cNvSpPr/>
          <p:nvPr/>
        </p:nvSpPr>
        <p:spPr>
          <a:xfrm>
            <a:off x="731520" y="3611880"/>
            <a:ext cx="27428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8B0E15"/>
                </a:solidFill>
                <a:latin typeface="Calibri"/>
                <a:ea typeface="Calibri"/>
              </a:rPr>
              <a:t>Model-controlled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 9"/>
          <p:cNvSpPr/>
          <p:nvPr/>
        </p:nvSpPr>
        <p:spPr>
          <a:xfrm>
            <a:off x="731520" y="4114800"/>
            <a:ext cx="3017160" cy="118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3A3536"/>
                </a:solidFill>
                <a:latin typeface="Calibri"/>
                <a:ea typeface="Calibri"/>
              </a:rPr>
              <a:t>Functions the LLM can choose to execute — e.g. run a query, call an API. The model decides when to invoke.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10"/>
          <p:cNvSpPr/>
          <p:nvPr/>
        </p:nvSpPr>
        <p:spPr>
          <a:xfrm>
            <a:off x="731520" y="544068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8B0E15"/>
                </a:solidFill>
                <a:latin typeface="Consolas"/>
                <a:ea typeface="Consolas"/>
              </a:rPr>
              <a:t>get_transactions()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Shape 11"/>
          <p:cNvSpPr/>
          <p:nvPr/>
        </p:nvSpPr>
        <p:spPr>
          <a:xfrm>
            <a:off x="4251960" y="2011680"/>
            <a:ext cx="3520080" cy="393156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Shape 12"/>
          <p:cNvSpPr/>
          <p:nvPr/>
        </p:nvSpPr>
        <p:spPr>
          <a:xfrm>
            <a:off x="4251960" y="2011680"/>
            <a:ext cx="3520080" cy="12780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Shape 13"/>
          <p:cNvSpPr/>
          <p:nvPr/>
        </p:nvSpPr>
        <p:spPr>
          <a:xfrm>
            <a:off x="4526280" y="2331720"/>
            <a:ext cx="639720" cy="6397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2" name="Image 1" descr="preencoded.png"/>
          <p:cNvPicPr/>
          <p:nvPr/>
        </p:nvPicPr>
        <p:blipFill>
          <a:blip r:embed="rId4"/>
          <a:stretch/>
        </p:blipFill>
        <p:spPr>
          <a:xfrm>
            <a:off x="4667040" y="2472480"/>
            <a:ext cx="358200" cy="358200"/>
          </a:xfrm>
          <a:prstGeom prst="rect">
            <a:avLst/>
          </a:prstGeom>
          <a:ln w="0">
            <a:noFill/>
          </a:ln>
        </p:spPr>
      </p:pic>
      <p:sp>
        <p:nvSpPr>
          <p:cNvPr id="173" name="Text 14"/>
          <p:cNvSpPr/>
          <p:nvPr/>
        </p:nvSpPr>
        <p:spPr>
          <a:xfrm>
            <a:off x="4526280" y="3108960"/>
            <a:ext cx="30171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1">
                <a:solidFill>
                  <a:srgbClr val="231F20"/>
                </a:solidFill>
                <a:latin typeface="Open Sans"/>
                <a:ea typeface="Open Sans"/>
              </a:rPr>
              <a:t>Resources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Shape 15"/>
          <p:cNvSpPr/>
          <p:nvPr/>
        </p:nvSpPr>
        <p:spPr>
          <a:xfrm>
            <a:off x="4526280" y="3611880"/>
            <a:ext cx="2742840" cy="383760"/>
          </a:xfrm>
          <a:prstGeom prst="roundRect">
            <a:avLst>
              <a:gd name="adj" fmla="val 11905"/>
            </a:avLst>
          </a:prstGeom>
          <a:solidFill>
            <a:srgbClr val="E3EEE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 16"/>
          <p:cNvSpPr/>
          <p:nvPr/>
        </p:nvSpPr>
        <p:spPr>
          <a:xfrm>
            <a:off x="4526280" y="3611880"/>
            <a:ext cx="27428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8B0E15"/>
                </a:solidFill>
                <a:latin typeface="Calibri"/>
                <a:ea typeface="Calibri"/>
              </a:rPr>
              <a:t>App / user-controlled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 17"/>
          <p:cNvSpPr/>
          <p:nvPr/>
        </p:nvSpPr>
        <p:spPr>
          <a:xfrm>
            <a:off x="4526280" y="4114800"/>
            <a:ext cx="3017160" cy="118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3A3536"/>
                </a:solidFill>
                <a:latin typeface="Calibri"/>
                <a:ea typeface="Calibri"/>
              </a:rPr>
              <a:t>Context and data the app or user pulls in for the model to read — files, records, documents.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 18"/>
          <p:cNvSpPr/>
          <p:nvPr/>
        </p:nvSpPr>
        <p:spPr>
          <a:xfrm>
            <a:off x="4526280" y="544068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8B0E15"/>
                </a:solidFill>
                <a:latin typeface="Consolas"/>
                <a:ea typeface="Consolas"/>
              </a:rPr>
              <a:t>customer://1234/txns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Shape 19"/>
          <p:cNvSpPr/>
          <p:nvPr/>
        </p:nvSpPr>
        <p:spPr>
          <a:xfrm>
            <a:off x="8046720" y="2011680"/>
            <a:ext cx="3520080" cy="393156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Shape 20"/>
          <p:cNvSpPr/>
          <p:nvPr/>
        </p:nvSpPr>
        <p:spPr>
          <a:xfrm>
            <a:off x="8046720" y="2011680"/>
            <a:ext cx="3520080" cy="12780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Shape 21"/>
          <p:cNvSpPr/>
          <p:nvPr/>
        </p:nvSpPr>
        <p:spPr>
          <a:xfrm>
            <a:off x="8321040" y="2331720"/>
            <a:ext cx="639720" cy="6397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1" name="Image 2" descr="preencoded.png"/>
          <p:cNvPicPr/>
          <p:nvPr/>
        </p:nvPicPr>
        <p:blipFill>
          <a:blip r:embed="rId5"/>
          <a:stretch/>
        </p:blipFill>
        <p:spPr>
          <a:xfrm>
            <a:off x="8461800" y="2472480"/>
            <a:ext cx="358200" cy="358200"/>
          </a:xfrm>
          <a:prstGeom prst="rect">
            <a:avLst/>
          </a:prstGeom>
          <a:ln w="0">
            <a:noFill/>
          </a:ln>
        </p:spPr>
      </p:pic>
      <p:sp>
        <p:nvSpPr>
          <p:cNvPr id="182" name="Text 22"/>
          <p:cNvSpPr/>
          <p:nvPr/>
        </p:nvSpPr>
        <p:spPr>
          <a:xfrm>
            <a:off x="8321040" y="3108960"/>
            <a:ext cx="30171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1">
                <a:solidFill>
                  <a:srgbClr val="231F20"/>
                </a:solidFill>
                <a:latin typeface="Open Sans"/>
                <a:ea typeface="Open Sans"/>
              </a:rPr>
              <a:t>Prompts</a:t>
            </a:r>
            <a:endParaRPr lang="en-US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Shape 23"/>
          <p:cNvSpPr/>
          <p:nvPr/>
        </p:nvSpPr>
        <p:spPr>
          <a:xfrm>
            <a:off x="8321040" y="3611880"/>
            <a:ext cx="2742840" cy="383760"/>
          </a:xfrm>
          <a:prstGeom prst="roundRect">
            <a:avLst>
              <a:gd name="adj" fmla="val 11905"/>
            </a:avLst>
          </a:prstGeom>
          <a:solidFill>
            <a:srgbClr val="E3EEE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 24"/>
          <p:cNvSpPr/>
          <p:nvPr/>
        </p:nvSpPr>
        <p:spPr>
          <a:xfrm>
            <a:off x="8321040" y="3611880"/>
            <a:ext cx="27428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8B0E15"/>
                </a:solidFill>
                <a:latin typeface="Calibri"/>
                <a:ea typeface="Calibri"/>
              </a:rPr>
              <a:t>User-controlled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 25"/>
          <p:cNvSpPr/>
          <p:nvPr/>
        </p:nvSpPr>
        <p:spPr>
          <a:xfrm>
            <a:off x="8321040" y="4114800"/>
            <a:ext cx="3017160" cy="118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3A3536"/>
                </a:solidFill>
                <a:latin typeface="Calibri"/>
                <a:ea typeface="Calibri"/>
              </a:rPr>
              <a:t>Reusable templates and workflows a user can invoke deliberately — e.g. a canned analysis.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 26"/>
          <p:cNvSpPr/>
          <p:nvPr/>
        </p:nvSpPr>
        <p:spPr>
          <a:xfrm>
            <a:off x="8321040" y="544068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8B0E15"/>
                </a:solidFill>
                <a:latin typeface="Consolas"/>
                <a:ea typeface="Consolas"/>
              </a:rPr>
              <a:t>/flag-unusual-activity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Shape 27"/>
          <p:cNvSpPr/>
          <p:nvPr/>
        </p:nvSpPr>
        <p:spPr>
          <a:xfrm>
            <a:off x="0" y="0"/>
            <a:ext cx="12161160" cy="7272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88" name="Image 3" descr="fhb_logo.png"/>
          <p:cNvPicPr/>
          <p:nvPr/>
        </p:nvPicPr>
        <p:blipFill>
          <a:blip r:embed="rId6"/>
          <a:stretch/>
        </p:blipFill>
        <p:spPr>
          <a:xfrm>
            <a:off x="10031040" y="146160"/>
            <a:ext cx="1828440" cy="338040"/>
          </a:xfrm>
          <a:prstGeom prst="rect">
            <a:avLst/>
          </a:prstGeom>
          <a:ln w="0">
            <a:noFill/>
          </a:ln>
        </p:spPr>
      </p:pic>
      <p:sp>
        <p:nvSpPr>
          <p:cNvPr id="189" name="Shape 28"/>
          <p:cNvSpPr/>
          <p:nvPr/>
        </p:nvSpPr>
        <p:spPr>
          <a:xfrm>
            <a:off x="457200" y="6583680"/>
            <a:ext cx="11274120" cy="1980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Shape 29"/>
          <p:cNvSpPr/>
          <p:nvPr/>
        </p:nvSpPr>
        <p:spPr>
          <a:xfrm>
            <a:off x="457200" y="6510600"/>
            <a:ext cx="164160" cy="16416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Text 30"/>
          <p:cNvSpPr/>
          <p:nvPr/>
        </p:nvSpPr>
        <p:spPr>
          <a:xfrm>
            <a:off x="713160" y="64008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MCP &amp; Agentic AI  ·  Deck 1 of 3  ·  Architecture &amp; Mechanics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 31"/>
          <p:cNvSpPr/>
          <p:nvPr/>
        </p:nvSpPr>
        <p:spPr>
          <a:xfrm>
            <a:off x="111556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5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ext 0"/>
          <p:cNvSpPr/>
          <p:nvPr/>
        </p:nvSpPr>
        <p:spPr>
          <a:xfrm>
            <a:off x="457200" y="457200"/>
            <a:ext cx="9417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299">
                <a:solidFill>
                  <a:srgbClr val="8B0E15"/>
                </a:solidFill>
                <a:latin typeface="Calibri"/>
                <a:ea typeface="Calibri"/>
              </a:rPr>
              <a:t>THE AGENTIC LOOP — END TO END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Text 1"/>
          <p:cNvSpPr/>
          <p:nvPr/>
        </p:nvSpPr>
        <p:spPr>
          <a:xfrm>
            <a:off x="457200" y="73152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231F20"/>
                </a:solidFill>
                <a:latin typeface="Open Sans"/>
                <a:ea typeface="Open Sans"/>
              </a:rPr>
              <a:t>What actually happens on one request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5" name="Image 0" descr="assets/seq_loop.png"/>
          <p:cNvPicPr/>
          <p:nvPr/>
        </p:nvPicPr>
        <p:blipFill>
          <a:blip r:embed="rId3"/>
          <a:stretch/>
        </p:blipFill>
        <p:spPr>
          <a:xfrm>
            <a:off x="1253520" y="1463040"/>
            <a:ext cx="7185600" cy="4571640"/>
          </a:xfrm>
          <a:prstGeom prst="rect">
            <a:avLst/>
          </a:prstGeom>
          <a:ln w="0">
            <a:noFill/>
          </a:ln>
        </p:spPr>
      </p:pic>
      <p:sp>
        <p:nvSpPr>
          <p:cNvPr id="196" name="Shape 2"/>
          <p:cNvSpPr/>
          <p:nvPr/>
        </p:nvSpPr>
        <p:spPr>
          <a:xfrm>
            <a:off x="9464040" y="1463040"/>
            <a:ext cx="2331360" cy="457164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 3"/>
          <p:cNvSpPr/>
          <p:nvPr/>
        </p:nvSpPr>
        <p:spPr>
          <a:xfrm>
            <a:off x="9646920" y="164592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199">
                <a:solidFill>
                  <a:srgbClr val="8B0E15"/>
                </a:solidFill>
                <a:latin typeface="Calibri"/>
                <a:ea typeface="Calibri"/>
              </a:rPr>
              <a:t>READ IT AS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 4"/>
          <p:cNvSpPr/>
          <p:nvPr/>
        </p:nvSpPr>
        <p:spPr>
          <a:xfrm>
            <a:off x="9646920" y="1965960"/>
            <a:ext cx="2011320" cy="393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231F20"/>
                </a:solidFill>
                <a:latin typeface="Calibri"/>
                <a:ea typeface="Calibri"/>
              </a:rPr>
              <a:t>Intent 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3A3536"/>
                </a:solidFill>
                <a:latin typeface="Calibri"/>
                <a:ea typeface="Calibri"/>
              </a:rPr>
              <a:t>The LLM decides a tool is needed (steps 1–2).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pos="0" algn="l"/>
              </a:tabLst>
            </a:pPr>
            <a:endParaRPr lang="en-US" sz="6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pos="0" algn="l"/>
              </a:tabLst>
            </a:pPr>
            <a:endParaRPr lang="en-US" sz="6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231F20"/>
                </a:solidFill>
                <a:latin typeface="Calibri"/>
                <a:ea typeface="Calibri"/>
              </a:rPr>
              <a:t>Route &amp; call 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3A3536"/>
                </a:solidFill>
                <a:latin typeface="Calibri"/>
                <a:ea typeface="Calibri"/>
              </a:rPr>
              <a:t>Client translates and calls the server (3–5).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pos="0" algn="l"/>
              </a:tabLst>
            </a:pPr>
            <a:endParaRPr lang="en-US" sz="6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pos="0" algn="l"/>
              </a:tabLst>
            </a:pPr>
            <a:endParaRPr lang="en-US" sz="6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231F20"/>
                </a:solidFill>
                <a:latin typeface="Calibri"/>
                <a:ea typeface="Calibri"/>
              </a:rPr>
              <a:t>Return 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3A3536"/>
                </a:solidFill>
                <a:latin typeface="Calibri"/>
                <a:ea typeface="Calibri"/>
              </a:rPr>
              <a:t>Results travel back up the chain (6–8).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pos="0" algn="l"/>
              </a:tabLst>
            </a:pPr>
            <a:endParaRPr lang="en-US" sz="6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pos="0" algn="l"/>
              </a:tabLst>
            </a:pPr>
            <a:endParaRPr lang="en-US" sz="6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231F20"/>
                </a:solidFill>
                <a:latin typeface="Calibri"/>
                <a:ea typeface="Calibri"/>
              </a:rPr>
              <a:t>Reason &amp; answer 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2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3A3536"/>
                </a:solidFill>
                <a:latin typeface="Calibri"/>
                <a:ea typeface="Calibri"/>
              </a:rPr>
              <a:t>The LLM interprets and responds (9–10).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Shape 5"/>
          <p:cNvSpPr/>
          <p:nvPr/>
        </p:nvSpPr>
        <p:spPr>
          <a:xfrm>
            <a:off x="0" y="0"/>
            <a:ext cx="12161160" cy="7272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00" name="Image 1" descr="fhb_logo.png"/>
          <p:cNvPicPr/>
          <p:nvPr/>
        </p:nvPicPr>
        <p:blipFill>
          <a:blip r:embed="rId4"/>
          <a:stretch/>
        </p:blipFill>
        <p:spPr>
          <a:xfrm>
            <a:off x="10031040" y="146160"/>
            <a:ext cx="1828440" cy="338040"/>
          </a:xfrm>
          <a:prstGeom prst="rect">
            <a:avLst/>
          </a:prstGeom>
          <a:ln w="0">
            <a:noFill/>
          </a:ln>
        </p:spPr>
      </p:pic>
      <p:sp>
        <p:nvSpPr>
          <p:cNvPr id="201" name="Shape 6"/>
          <p:cNvSpPr/>
          <p:nvPr/>
        </p:nvSpPr>
        <p:spPr>
          <a:xfrm>
            <a:off x="457200" y="6583680"/>
            <a:ext cx="11274120" cy="1980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Shape 7"/>
          <p:cNvSpPr/>
          <p:nvPr/>
        </p:nvSpPr>
        <p:spPr>
          <a:xfrm>
            <a:off x="457200" y="6510600"/>
            <a:ext cx="164160" cy="16416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Text 8"/>
          <p:cNvSpPr/>
          <p:nvPr/>
        </p:nvSpPr>
        <p:spPr>
          <a:xfrm>
            <a:off x="713160" y="64008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MCP &amp; Agentic AI  ·  Deck 1 of 3  ·  Architecture &amp; Mechanics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Text 9"/>
          <p:cNvSpPr/>
          <p:nvPr/>
        </p:nvSpPr>
        <p:spPr>
          <a:xfrm>
            <a:off x="111556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6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Text 0"/>
          <p:cNvSpPr/>
          <p:nvPr/>
        </p:nvSpPr>
        <p:spPr>
          <a:xfrm>
            <a:off x="457200" y="457200"/>
            <a:ext cx="9417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299">
                <a:solidFill>
                  <a:srgbClr val="8B0E15"/>
                </a:solidFill>
                <a:latin typeface="Calibri"/>
                <a:ea typeface="Calibri"/>
              </a:rPr>
              <a:t>A WRINKLE IN THE LOOP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Text 1"/>
          <p:cNvSpPr/>
          <p:nvPr/>
        </p:nvSpPr>
        <p:spPr>
          <a:xfrm>
            <a:off x="457200" y="73152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231F20"/>
                </a:solidFill>
                <a:latin typeface="Open Sans"/>
                <a:ea typeface="Open Sans"/>
              </a:rPr>
              <a:t>Why servers need to talk back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Text 2"/>
          <p:cNvSpPr/>
          <p:nvPr/>
        </p:nvSpPr>
        <p:spPr>
          <a:xfrm>
            <a:off x="457200" y="1371600"/>
            <a:ext cx="112467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3A3536"/>
                </a:solidFill>
                <a:latin typeface="Calibri"/>
                <a:ea typeface="Calibri"/>
              </a:rPr>
              <a:t>In the loop we just saw, the client always speaks first. But real tool calls aren't instant — and that creates two things a server needs to send on its own initiative, mid-request.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Shape 3"/>
          <p:cNvSpPr/>
          <p:nvPr/>
        </p:nvSpPr>
        <p:spPr>
          <a:xfrm>
            <a:off x="457200" y="2194560"/>
            <a:ext cx="5531760" cy="233136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Shape 4"/>
          <p:cNvSpPr/>
          <p:nvPr/>
        </p:nvSpPr>
        <p:spPr>
          <a:xfrm>
            <a:off x="457200" y="2194560"/>
            <a:ext cx="5531760" cy="10944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Shape 5"/>
          <p:cNvSpPr/>
          <p:nvPr/>
        </p:nvSpPr>
        <p:spPr>
          <a:xfrm>
            <a:off x="731520" y="2423160"/>
            <a:ext cx="566640" cy="566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1" name="Image 0" descr="preencoded.png"/>
          <p:cNvPicPr/>
          <p:nvPr/>
        </p:nvPicPr>
        <p:blipFill>
          <a:blip r:embed="rId3"/>
          <a:stretch/>
        </p:blipFill>
        <p:spPr>
          <a:xfrm>
            <a:off x="856080" y="2547720"/>
            <a:ext cx="317160" cy="317160"/>
          </a:xfrm>
          <a:prstGeom prst="rect">
            <a:avLst/>
          </a:prstGeom>
          <a:ln w="0">
            <a:noFill/>
          </a:ln>
        </p:spPr>
      </p:pic>
      <p:sp>
        <p:nvSpPr>
          <p:cNvPr id="212" name="Text 6"/>
          <p:cNvSpPr/>
          <p:nvPr/>
        </p:nvSpPr>
        <p:spPr>
          <a:xfrm>
            <a:off x="1417320" y="2432160"/>
            <a:ext cx="43887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231F20"/>
                </a:solidFill>
                <a:latin typeface="Open Sans"/>
                <a:ea typeface="Open Sans"/>
              </a:rPr>
              <a:t>Progress updates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 7"/>
          <p:cNvSpPr/>
          <p:nvPr/>
        </p:nvSpPr>
        <p:spPr>
          <a:xfrm>
            <a:off x="731520" y="3154680"/>
            <a:ext cx="502884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3A3536"/>
                </a:solidFill>
                <a:latin typeface="Calibri"/>
                <a:ea typeface="Calibri"/>
              </a:rPr>
              <a:t>A long-running tool — querying months of transactions, scanning documents — may take many seconds. Without interim signals the client (and user) just sees a frozen spinner. The server needs to report “40% done” while the work continues.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Shape 8"/>
          <p:cNvSpPr/>
          <p:nvPr/>
        </p:nvSpPr>
        <p:spPr>
          <a:xfrm>
            <a:off x="6172200" y="2194560"/>
            <a:ext cx="5531760" cy="233136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Shape 9"/>
          <p:cNvSpPr/>
          <p:nvPr/>
        </p:nvSpPr>
        <p:spPr>
          <a:xfrm>
            <a:off x="6172200" y="2194560"/>
            <a:ext cx="5531760" cy="10944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Shape 10"/>
          <p:cNvSpPr/>
          <p:nvPr/>
        </p:nvSpPr>
        <p:spPr>
          <a:xfrm>
            <a:off x="6446520" y="2423160"/>
            <a:ext cx="566640" cy="566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7" name="Image 1" descr="preencoded.png"/>
          <p:cNvPicPr/>
          <p:nvPr/>
        </p:nvPicPr>
        <p:blipFill>
          <a:blip r:embed="rId4"/>
          <a:stretch/>
        </p:blipFill>
        <p:spPr>
          <a:xfrm>
            <a:off x="6571080" y="2547720"/>
            <a:ext cx="317160" cy="317160"/>
          </a:xfrm>
          <a:prstGeom prst="rect">
            <a:avLst/>
          </a:prstGeom>
          <a:ln w="0">
            <a:noFill/>
          </a:ln>
        </p:spPr>
      </p:pic>
      <p:sp>
        <p:nvSpPr>
          <p:cNvPr id="218" name="Text 11"/>
          <p:cNvSpPr/>
          <p:nvPr/>
        </p:nvSpPr>
        <p:spPr>
          <a:xfrm>
            <a:off x="7132320" y="2432160"/>
            <a:ext cx="43887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231F20"/>
                </a:solidFill>
                <a:latin typeface="Open Sans"/>
                <a:ea typeface="Open Sans"/>
              </a:rPr>
              <a:t>Logs &amp; notifications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 12"/>
          <p:cNvSpPr/>
          <p:nvPr/>
        </p:nvSpPr>
        <p:spPr>
          <a:xfrm>
            <a:off x="6446520" y="3154680"/>
            <a:ext cx="502884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3A3536"/>
                </a:solidFill>
                <a:latin typeface="Calibri"/>
                <a:ea typeface="Calibri"/>
              </a:rPr>
              <a:t>The server has useful things to say before it finishes: diagnostic logs, a notice that its tool list changed, an updated resource. These are one-way messages the server must push to the client when they happen — not when asked.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Shape 13"/>
          <p:cNvSpPr/>
          <p:nvPr/>
        </p:nvSpPr>
        <p:spPr>
          <a:xfrm>
            <a:off x="457200" y="4800600"/>
            <a:ext cx="11246760" cy="1188360"/>
          </a:xfrm>
          <a:prstGeom prst="rect">
            <a:avLst/>
          </a:prstGeom>
          <a:solidFill>
            <a:srgbClr val="5A0E1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Shape 14"/>
          <p:cNvSpPr/>
          <p:nvPr/>
        </p:nvSpPr>
        <p:spPr>
          <a:xfrm>
            <a:off x="457200" y="4800600"/>
            <a:ext cx="109440" cy="118836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Text 15"/>
          <p:cNvSpPr/>
          <p:nvPr/>
        </p:nvSpPr>
        <p:spPr>
          <a:xfrm>
            <a:off x="777240" y="4956120"/>
            <a:ext cx="10515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299">
                <a:solidFill>
                  <a:srgbClr val="F5A800"/>
                </a:solidFill>
                <a:latin typeface="Calibri"/>
                <a:ea typeface="Calibri"/>
              </a:rPr>
              <a:t>THE COMMON THREAD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Text 16"/>
          <p:cNvSpPr/>
          <p:nvPr/>
        </p:nvSpPr>
        <p:spPr>
          <a:xfrm>
            <a:off x="777240" y="5230440"/>
            <a:ext cx="107895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F0E8DC"/>
                </a:solidFill>
                <a:latin typeface="Calibri"/>
                <a:ea typeface="Calibri"/>
              </a:rPr>
              <a:t>Both cases require the server to send a message to the client without the client having just asked for it. That is the capability the next slide is about — and the reason MCP's transport has to do something ordinary web requests cannot.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Shape 17"/>
          <p:cNvSpPr/>
          <p:nvPr/>
        </p:nvSpPr>
        <p:spPr>
          <a:xfrm>
            <a:off x="0" y="0"/>
            <a:ext cx="12161160" cy="7272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25" name="Image 2" descr="fhb_logo.png"/>
          <p:cNvPicPr/>
          <p:nvPr/>
        </p:nvPicPr>
        <p:blipFill>
          <a:blip r:embed="rId5"/>
          <a:stretch/>
        </p:blipFill>
        <p:spPr>
          <a:xfrm>
            <a:off x="10031040" y="146160"/>
            <a:ext cx="1828440" cy="338040"/>
          </a:xfrm>
          <a:prstGeom prst="rect">
            <a:avLst/>
          </a:prstGeom>
          <a:ln w="0">
            <a:noFill/>
          </a:ln>
        </p:spPr>
      </p:pic>
      <p:sp>
        <p:nvSpPr>
          <p:cNvPr id="226" name="Shape 18"/>
          <p:cNvSpPr/>
          <p:nvPr/>
        </p:nvSpPr>
        <p:spPr>
          <a:xfrm>
            <a:off x="457200" y="6583680"/>
            <a:ext cx="11274120" cy="1980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Shape 19"/>
          <p:cNvSpPr/>
          <p:nvPr/>
        </p:nvSpPr>
        <p:spPr>
          <a:xfrm>
            <a:off x="457200" y="6510600"/>
            <a:ext cx="164160" cy="16416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Text 20"/>
          <p:cNvSpPr/>
          <p:nvPr/>
        </p:nvSpPr>
        <p:spPr>
          <a:xfrm>
            <a:off x="713160" y="64008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MCP &amp; Agentic AI  ·  Deck 1 of 3  ·  Architecture &amp; Mechanics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Text 21"/>
          <p:cNvSpPr/>
          <p:nvPr/>
        </p:nvSpPr>
        <p:spPr>
          <a:xfrm>
            <a:off x="111556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7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Text 0"/>
          <p:cNvSpPr/>
          <p:nvPr/>
        </p:nvSpPr>
        <p:spPr>
          <a:xfrm>
            <a:off x="457200" y="457200"/>
            <a:ext cx="9417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299">
                <a:solidFill>
                  <a:srgbClr val="8B0E15"/>
                </a:solidFill>
                <a:latin typeface="Calibri"/>
                <a:ea typeface="Calibri"/>
              </a:rPr>
              <a:t>THE TRANSPORT PROBLEM — AND THE FIX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Text 1"/>
          <p:cNvSpPr/>
          <p:nvPr/>
        </p:nvSpPr>
        <p:spPr>
          <a:xfrm>
            <a:off x="457200" y="73152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231F20"/>
                </a:solidFill>
                <a:latin typeface="Open Sans"/>
                <a:ea typeface="Open Sans"/>
              </a:rPr>
              <a:t>Plain HTTP can't; Streamable HTTP can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Text 2"/>
          <p:cNvSpPr/>
          <p:nvPr/>
        </p:nvSpPr>
        <p:spPr>
          <a:xfrm>
            <a:off x="457200" y="1371600"/>
            <a:ext cx="112467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3A3536"/>
                </a:solidFill>
                <a:latin typeface="Calibri"/>
                <a:ea typeface="Calibri"/>
              </a:rPr>
              <a:t>Ordinary HTTP is strictly request–response: the client asks, the server answers once, the exchange closes. There is no channel for the server to speak up later. MCP's remote transport solves exactly this.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Shape 3"/>
          <p:cNvSpPr/>
          <p:nvPr/>
        </p:nvSpPr>
        <p:spPr>
          <a:xfrm>
            <a:off x="457200" y="2194560"/>
            <a:ext cx="5531760" cy="324576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Shape 4"/>
          <p:cNvSpPr/>
          <p:nvPr/>
        </p:nvSpPr>
        <p:spPr>
          <a:xfrm>
            <a:off x="457200" y="2194560"/>
            <a:ext cx="5531760" cy="109440"/>
          </a:xfrm>
          <a:prstGeom prst="rect">
            <a:avLst/>
          </a:prstGeom>
          <a:solidFill>
            <a:srgbClr val="8A838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Shape 5"/>
          <p:cNvSpPr/>
          <p:nvPr/>
        </p:nvSpPr>
        <p:spPr>
          <a:xfrm>
            <a:off x="713160" y="2395800"/>
            <a:ext cx="529920" cy="529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6" name="Image 0" descr="preencoded.png"/>
          <p:cNvPicPr/>
          <p:nvPr/>
        </p:nvPicPr>
        <p:blipFill>
          <a:blip r:embed="rId3"/>
          <a:stretch/>
        </p:blipFill>
        <p:spPr>
          <a:xfrm>
            <a:off x="829800" y="2512440"/>
            <a:ext cx="296640" cy="296640"/>
          </a:xfrm>
          <a:prstGeom prst="rect">
            <a:avLst/>
          </a:prstGeom>
          <a:ln w="0">
            <a:noFill/>
          </a:ln>
        </p:spPr>
      </p:pic>
      <p:sp>
        <p:nvSpPr>
          <p:cNvPr id="237" name="Text 6"/>
          <p:cNvSpPr/>
          <p:nvPr/>
        </p:nvSpPr>
        <p:spPr>
          <a:xfrm>
            <a:off x="1371600" y="2395800"/>
            <a:ext cx="438876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231F20"/>
                </a:solidFill>
                <a:latin typeface="Open Sans"/>
                <a:ea typeface="Open Sans"/>
              </a:rPr>
              <a:t>Plain HTTP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Shape 7"/>
          <p:cNvSpPr/>
          <p:nvPr/>
        </p:nvSpPr>
        <p:spPr>
          <a:xfrm>
            <a:off x="777240" y="3200400"/>
            <a:ext cx="1828440" cy="594000"/>
          </a:xfrm>
          <a:prstGeom prst="roundRect">
            <a:avLst>
              <a:gd name="adj" fmla="val 7692"/>
            </a:avLst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" name="Text 8"/>
          <p:cNvSpPr/>
          <p:nvPr/>
        </p:nvSpPr>
        <p:spPr>
          <a:xfrm>
            <a:off x="777240" y="3200400"/>
            <a:ext cx="182844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FFFFFF"/>
                </a:solidFill>
                <a:latin typeface="Calibri"/>
                <a:ea typeface="Calibri"/>
              </a:rPr>
              <a:t>Client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Shape 9"/>
          <p:cNvSpPr/>
          <p:nvPr/>
        </p:nvSpPr>
        <p:spPr>
          <a:xfrm>
            <a:off x="3840480" y="3200400"/>
            <a:ext cx="1828440" cy="594000"/>
          </a:xfrm>
          <a:prstGeom prst="roundRect">
            <a:avLst>
              <a:gd name="adj" fmla="val 7692"/>
            </a:avLst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Text 10"/>
          <p:cNvSpPr/>
          <p:nvPr/>
        </p:nvSpPr>
        <p:spPr>
          <a:xfrm>
            <a:off x="3840480" y="3200400"/>
            <a:ext cx="182844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FFFFFF"/>
                </a:solidFill>
                <a:latin typeface="Calibri"/>
                <a:ea typeface="Calibri"/>
              </a:rPr>
              <a:t>Server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Shape 11"/>
          <p:cNvSpPr/>
          <p:nvPr/>
        </p:nvSpPr>
        <p:spPr>
          <a:xfrm>
            <a:off x="2651760" y="3401280"/>
            <a:ext cx="1143000" cy="360"/>
          </a:xfrm>
          <a:prstGeom prst="line">
            <a:avLst/>
          </a:prstGeom>
          <a:ln w="25400">
            <a:solidFill>
              <a:srgbClr val="8B0E15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Text 12"/>
          <p:cNvSpPr/>
          <p:nvPr/>
        </p:nvSpPr>
        <p:spPr>
          <a:xfrm>
            <a:off x="2514600" y="3154680"/>
            <a:ext cx="14169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onsolas"/>
                <a:ea typeface="Consolas"/>
              </a:rPr>
              <a:t>request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Shape 13"/>
          <p:cNvSpPr/>
          <p:nvPr/>
        </p:nvSpPr>
        <p:spPr>
          <a:xfrm flipH="1">
            <a:off x="2697480" y="3611880"/>
            <a:ext cx="1143000" cy="360"/>
          </a:xfrm>
          <a:prstGeom prst="line">
            <a:avLst/>
          </a:prstGeom>
          <a:ln w="25400">
            <a:solidFill>
              <a:srgbClr val="8B0E15"/>
            </a:solidFill>
            <a:prstDash val="dash"/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ext 14"/>
          <p:cNvSpPr/>
          <p:nvPr/>
        </p:nvSpPr>
        <p:spPr>
          <a:xfrm>
            <a:off x="2377440" y="3648600"/>
            <a:ext cx="15541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onsolas"/>
                <a:ea typeface="Consolas"/>
              </a:rPr>
              <a:t>one response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Text 15"/>
          <p:cNvSpPr/>
          <p:nvPr/>
        </p:nvSpPr>
        <p:spPr>
          <a:xfrm>
            <a:off x="777240" y="4114800"/>
            <a:ext cx="4937400" cy="118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3A3536"/>
                </a:solidFill>
                <a:latin typeface="Calibri"/>
                <a:ea typeface="Calibri"/>
              </a:rPr>
              <a:t>✕  then the connection closes. If the server wants to send progress or a log a moment later, it has no way to reach the client.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Shape 16"/>
          <p:cNvSpPr/>
          <p:nvPr/>
        </p:nvSpPr>
        <p:spPr>
          <a:xfrm>
            <a:off x="6172200" y="2194560"/>
            <a:ext cx="5531760" cy="324576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Shape 17"/>
          <p:cNvSpPr/>
          <p:nvPr/>
        </p:nvSpPr>
        <p:spPr>
          <a:xfrm>
            <a:off x="6172200" y="2194560"/>
            <a:ext cx="5531760" cy="10944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Shape 18"/>
          <p:cNvSpPr/>
          <p:nvPr/>
        </p:nvSpPr>
        <p:spPr>
          <a:xfrm>
            <a:off x="6428160" y="2395800"/>
            <a:ext cx="529920" cy="529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0" name="Image 1" descr="preencoded.png"/>
          <p:cNvPicPr/>
          <p:nvPr/>
        </p:nvPicPr>
        <p:blipFill>
          <a:blip r:embed="rId4"/>
          <a:stretch/>
        </p:blipFill>
        <p:spPr>
          <a:xfrm>
            <a:off x="6544800" y="2512440"/>
            <a:ext cx="296640" cy="296640"/>
          </a:xfrm>
          <a:prstGeom prst="rect">
            <a:avLst/>
          </a:prstGeom>
          <a:ln w="0">
            <a:noFill/>
          </a:ln>
        </p:spPr>
      </p:pic>
      <p:sp>
        <p:nvSpPr>
          <p:cNvPr id="251" name="Text 19"/>
          <p:cNvSpPr/>
          <p:nvPr/>
        </p:nvSpPr>
        <p:spPr>
          <a:xfrm>
            <a:off x="7086600" y="2395800"/>
            <a:ext cx="438876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231F20"/>
                </a:solidFill>
                <a:latin typeface="Open Sans"/>
                <a:ea typeface="Open Sans"/>
              </a:rPr>
              <a:t>Streamable HTTP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Shape 20"/>
          <p:cNvSpPr/>
          <p:nvPr/>
        </p:nvSpPr>
        <p:spPr>
          <a:xfrm>
            <a:off x="6492240" y="3200400"/>
            <a:ext cx="1828440" cy="594000"/>
          </a:xfrm>
          <a:prstGeom prst="roundRect">
            <a:avLst>
              <a:gd name="adj" fmla="val 7692"/>
            </a:avLst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Text 21"/>
          <p:cNvSpPr/>
          <p:nvPr/>
        </p:nvSpPr>
        <p:spPr>
          <a:xfrm>
            <a:off x="6492240" y="3200400"/>
            <a:ext cx="182844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FFFFFF"/>
                </a:solidFill>
                <a:latin typeface="Calibri"/>
                <a:ea typeface="Calibri"/>
              </a:rPr>
              <a:t>Client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Shape 22"/>
          <p:cNvSpPr/>
          <p:nvPr/>
        </p:nvSpPr>
        <p:spPr>
          <a:xfrm>
            <a:off x="9555480" y="3200400"/>
            <a:ext cx="1828440" cy="594000"/>
          </a:xfrm>
          <a:prstGeom prst="roundRect">
            <a:avLst>
              <a:gd name="adj" fmla="val 7692"/>
            </a:avLst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" name="Text 23"/>
          <p:cNvSpPr/>
          <p:nvPr/>
        </p:nvSpPr>
        <p:spPr>
          <a:xfrm>
            <a:off x="9555480" y="3200400"/>
            <a:ext cx="182844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FFFFFF"/>
                </a:solidFill>
                <a:latin typeface="Calibri"/>
                <a:ea typeface="Calibri"/>
              </a:rPr>
              <a:t>Server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Shape 24"/>
          <p:cNvSpPr/>
          <p:nvPr/>
        </p:nvSpPr>
        <p:spPr>
          <a:xfrm>
            <a:off x="8366760" y="3346560"/>
            <a:ext cx="1143000" cy="360"/>
          </a:xfrm>
          <a:prstGeom prst="line">
            <a:avLst/>
          </a:prstGeom>
          <a:ln w="25400">
            <a:solidFill>
              <a:srgbClr val="8B0E15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Text 25"/>
          <p:cNvSpPr/>
          <p:nvPr/>
        </p:nvSpPr>
        <p:spPr>
          <a:xfrm>
            <a:off x="8229600" y="3108960"/>
            <a:ext cx="141696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onsolas"/>
                <a:ea typeface="Consolas"/>
              </a:rPr>
              <a:t>request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Shape 26"/>
          <p:cNvSpPr/>
          <p:nvPr/>
        </p:nvSpPr>
        <p:spPr>
          <a:xfrm flipH="1">
            <a:off x="8412480" y="3529440"/>
            <a:ext cx="1143000" cy="360"/>
          </a:xfrm>
          <a:prstGeom prst="line">
            <a:avLst/>
          </a:prstGeom>
          <a:ln w="25400">
            <a:solidFill>
              <a:srgbClr val="8B0E15"/>
            </a:solidFill>
            <a:prstDash val="dash"/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Shape 27"/>
          <p:cNvSpPr/>
          <p:nvPr/>
        </p:nvSpPr>
        <p:spPr>
          <a:xfrm flipH="1">
            <a:off x="8412480" y="3657600"/>
            <a:ext cx="1143000" cy="360"/>
          </a:xfrm>
          <a:prstGeom prst="line">
            <a:avLst/>
          </a:prstGeom>
          <a:ln w="25400">
            <a:solidFill>
              <a:srgbClr val="8B0E15"/>
            </a:solidFill>
            <a:prstDash val="dash"/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Text 28"/>
          <p:cNvSpPr/>
          <p:nvPr/>
        </p:nvSpPr>
        <p:spPr>
          <a:xfrm>
            <a:off x="7955280" y="3694320"/>
            <a:ext cx="1828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B0E15"/>
                </a:solidFill>
                <a:latin typeface="Consolas"/>
                <a:ea typeface="Consolas"/>
              </a:rPr>
              <a:t>stream of messages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Text 29"/>
          <p:cNvSpPr/>
          <p:nvPr/>
        </p:nvSpPr>
        <p:spPr>
          <a:xfrm>
            <a:off x="6492240" y="4114800"/>
            <a:ext cx="4937400" cy="118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3A3536"/>
                </a:solidFill>
                <a:latin typeface="Calibri"/>
                <a:ea typeface="Calibri"/>
              </a:rPr>
              <a:t>✓  the connection stays open. Using Server-Sent Events (SSE), the server pushes many messages over one channel — progress, logs, and its own requests.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Shape 30"/>
          <p:cNvSpPr/>
          <p:nvPr/>
        </p:nvSpPr>
        <p:spPr>
          <a:xfrm>
            <a:off x="457200" y="5623560"/>
            <a:ext cx="11246760" cy="456840"/>
          </a:xfrm>
          <a:prstGeom prst="rect">
            <a:avLst/>
          </a:prstGeom>
          <a:solidFill>
            <a:srgbClr val="EFE9E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Text 31"/>
          <p:cNvSpPr/>
          <p:nvPr/>
        </p:nvSpPr>
        <p:spPr>
          <a:xfrm>
            <a:off x="640080" y="562356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231F20"/>
                </a:solidFill>
                <a:latin typeface="Calibri"/>
                <a:ea typeface="Calibri"/>
              </a:rPr>
              <a:t>Result:  </a:t>
            </a:r>
            <a:r>
              <a:rPr lang="en-US" sz="1250" b="0" strike="noStrike" spc="-1">
                <a:solidFill>
                  <a:srgbClr val="3A3536"/>
                </a:solidFill>
                <a:latin typeface="Calibri"/>
                <a:ea typeface="Calibri"/>
              </a:rPr>
              <a:t>a session-based, two-way channel. This is what makes server-initiated messaging possible — and it sets up the inversion on the next slide.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Shape 32"/>
          <p:cNvSpPr/>
          <p:nvPr/>
        </p:nvSpPr>
        <p:spPr>
          <a:xfrm>
            <a:off x="0" y="0"/>
            <a:ext cx="12161160" cy="7272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65" name="Image 2" descr="fhb_logo.png"/>
          <p:cNvPicPr/>
          <p:nvPr/>
        </p:nvPicPr>
        <p:blipFill>
          <a:blip r:embed="rId5"/>
          <a:stretch/>
        </p:blipFill>
        <p:spPr>
          <a:xfrm>
            <a:off x="10031040" y="146160"/>
            <a:ext cx="1828440" cy="338040"/>
          </a:xfrm>
          <a:prstGeom prst="rect">
            <a:avLst/>
          </a:prstGeom>
          <a:ln w="0">
            <a:noFill/>
          </a:ln>
        </p:spPr>
      </p:pic>
      <p:sp>
        <p:nvSpPr>
          <p:cNvPr id="266" name="Shape 33"/>
          <p:cNvSpPr/>
          <p:nvPr/>
        </p:nvSpPr>
        <p:spPr>
          <a:xfrm>
            <a:off x="457200" y="6583680"/>
            <a:ext cx="11274120" cy="1980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Shape 34"/>
          <p:cNvSpPr/>
          <p:nvPr/>
        </p:nvSpPr>
        <p:spPr>
          <a:xfrm>
            <a:off x="457200" y="6510600"/>
            <a:ext cx="164160" cy="16416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Text 35"/>
          <p:cNvSpPr/>
          <p:nvPr/>
        </p:nvSpPr>
        <p:spPr>
          <a:xfrm>
            <a:off x="713160" y="64008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MCP &amp; Agentic AI  ·  Deck 1 of 3  ·  Architecture &amp; Mechanics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Text 36"/>
          <p:cNvSpPr/>
          <p:nvPr/>
        </p:nvSpPr>
        <p:spPr>
          <a:xfrm>
            <a:off x="111556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8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A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Shape 0"/>
          <p:cNvSpPr/>
          <p:nvPr/>
        </p:nvSpPr>
        <p:spPr>
          <a:xfrm>
            <a:off x="0" y="0"/>
            <a:ext cx="12161160" cy="7272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Shape 1"/>
          <p:cNvSpPr/>
          <p:nvPr/>
        </p:nvSpPr>
        <p:spPr>
          <a:xfrm>
            <a:off x="9829800" y="164520"/>
            <a:ext cx="2057040" cy="5025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2" name="Image 0" descr="fhb_logo.png"/>
          <p:cNvPicPr/>
          <p:nvPr/>
        </p:nvPicPr>
        <p:blipFill>
          <a:blip r:embed="rId3"/>
          <a:stretch/>
        </p:blipFill>
        <p:spPr>
          <a:xfrm>
            <a:off x="9921240" y="255960"/>
            <a:ext cx="1828440" cy="338040"/>
          </a:xfrm>
          <a:prstGeom prst="rect">
            <a:avLst/>
          </a:prstGeom>
          <a:ln w="0">
            <a:noFill/>
          </a:ln>
        </p:spPr>
      </p:pic>
      <p:sp>
        <p:nvSpPr>
          <p:cNvPr id="273" name="Shape 2"/>
          <p:cNvSpPr/>
          <p:nvPr/>
        </p:nvSpPr>
        <p:spPr>
          <a:xfrm>
            <a:off x="457200" y="6583680"/>
            <a:ext cx="11274120" cy="1980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Shape 3"/>
          <p:cNvSpPr/>
          <p:nvPr/>
        </p:nvSpPr>
        <p:spPr>
          <a:xfrm>
            <a:off x="457200" y="6510600"/>
            <a:ext cx="164160" cy="1641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Shape 4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B886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" name="Text 5"/>
          <p:cNvSpPr/>
          <p:nvPr/>
        </p:nvSpPr>
        <p:spPr>
          <a:xfrm>
            <a:off x="822960" y="50292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299">
                <a:solidFill>
                  <a:srgbClr val="F5A800"/>
                </a:solidFill>
                <a:latin typeface="Calibri"/>
                <a:ea typeface="Calibri"/>
              </a:rPr>
              <a:t>WATCH THIS — WE RETURN TO IT IN DECK 3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" name="Text 6"/>
          <p:cNvSpPr/>
          <p:nvPr/>
        </p:nvSpPr>
        <p:spPr>
          <a:xfrm>
            <a:off x="777240" y="86868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strike="noStrike" spc="-1">
                <a:solidFill>
                  <a:srgbClr val="FFFFFF"/>
                </a:solidFill>
                <a:latin typeface="Open Sans"/>
                <a:ea typeface="Open Sans"/>
              </a:rPr>
              <a:t>The interaction inversion</a:t>
            </a:r>
            <a:endParaRPr lang="en-US" sz="3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" name="Shape 7"/>
          <p:cNvSpPr/>
          <p:nvPr/>
        </p:nvSpPr>
        <p:spPr>
          <a:xfrm>
            <a:off x="822960" y="1920240"/>
            <a:ext cx="731160" cy="731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9" name="Image 1" descr="preencoded.png"/>
          <p:cNvPicPr/>
          <p:nvPr/>
        </p:nvPicPr>
        <p:blipFill>
          <a:blip r:embed="rId4"/>
          <a:stretch/>
        </p:blipFill>
        <p:spPr>
          <a:xfrm>
            <a:off x="983880" y="2081160"/>
            <a:ext cx="409320" cy="409320"/>
          </a:xfrm>
          <a:prstGeom prst="rect">
            <a:avLst/>
          </a:prstGeom>
          <a:ln w="0">
            <a:noFill/>
          </a:ln>
        </p:spPr>
      </p:pic>
      <p:sp>
        <p:nvSpPr>
          <p:cNvPr id="280" name="Text 8"/>
          <p:cNvSpPr/>
          <p:nvPr/>
        </p:nvSpPr>
        <p:spPr>
          <a:xfrm>
            <a:off x="1783080" y="1874520"/>
            <a:ext cx="96008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strike="noStrike" spc="-1">
                <a:solidFill>
                  <a:srgbClr val="F0E8DC"/>
                </a:solidFill>
                <a:latin typeface="Calibri"/>
                <a:ea typeface="Calibri"/>
              </a:rPr>
              <a:t>In the familiar web model, clients request and servers respond. MCP reverses this: servers can query, drive tool calls, and act on the client's side of the conversation.</a:t>
            </a:r>
            <a:endParaRPr lang="en-US" sz="17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" name="Shape 9"/>
          <p:cNvSpPr/>
          <p:nvPr/>
        </p:nvSpPr>
        <p:spPr>
          <a:xfrm>
            <a:off x="822960" y="3017520"/>
            <a:ext cx="5120280" cy="2285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5A6B7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Text 10"/>
          <p:cNvSpPr/>
          <p:nvPr/>
        </p:nvSpPr>
        <p:spPr>
          <a:xfrm>
            <a:off x="1051560" y="3200400"/>
            <a:ext cx="4571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199">
                <a:solidFill>
                  <a:srgbClr val="9FB0B7"/>
                </a:solidFill>
                <a:latin typeface="Calibri"/>
                <a:ea typeface="Calibri"/>
              </a:rPr>
              <a:t>FAMILIAR PATTERN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3" name="Text 11"/>
          <p:cNvSpPr/>
          <p:nvPr/>
        </p:nvSpPr>
        <p:spPr>
          <a:xfrm>
            <a:off x="1051560" y="3474720"/>
            <a:ext cx="46630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FFFFFF"/>
                </a:solidFill>
                <a:latin typeface="Open Sans"/>
                <a:ea typeface="Open Sans"/>
              </a:rPr>
              <a:t>Client asks → server answers</a:t>
            </a:r>
            <a:endParaRPr lang="en-US" sz="17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4" name="Text 12"/>
          <p:cNvSpPr/>
          <p:nvPr/>
        </p:nvSpPr>
        <p:spPr>
          <a:xfrm>
            <a:off x="1051560" y="3886200"/>
            <a:ext cx="466308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strike="noStrike" spc="-1">
                <a:solidFill>
                  <a:srgbClr val="E8DFD2"/>
                </a:solidFill>
                <a:latin typeface="Calibri"/>
                <a:ea typeface="Calibri"/>
              </a:rPr>
              <a:t>Trust flows one way. The server is a passive responder. Attack paths are well understood after decades of web security.</a:t>
            </a:r>
            <a:endParaRPr lang="en-US" sz="13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Shape 13"/>
          <p:cNvSpPr/>
          <p:nvPr/>
        </p:nvSpPr>
        <p:spPr>
          <a:xfrm>
            <a:off x="6217920" y="3017520"/>
            <a:ext cx="5120280" cy="2285640"/>
          </a:xfrm>
          <a:prstGeom prst="rect">
            <a:avLst/>
          </a:prstGeom>
          <a:solidFill>
            <a:srgbClr val="B8860B">
              <a:alpha val="20000"/>
            </a:srgbClr>
          </a:solidFill>
          <a:ln w="19050">
            <a:solidFill>
              <a:srgbClr val="F5A8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" name="Text 14"/>
          <p:cNvSpPr/>
          <p:nvPr/>
        </p:nvSpPr>
        <p:spPr>
          <a:xfrm>
            <a:off x="6446520" y="3200400"/>
            <a:ext cx="4571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199">
                <a:solidFill>
                  <a:srgbClr val="F5A800"/>
                </a:solidFill>
                <a:latin typeface="Calibri"/>
                <a:ea typeface="Calibri"/>
              </a:rPr>
              <a:t>MCP'S INVERSION</a:t>
            </a:r>
            <a:endParaRPr lang="en-US" sz="1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7" name="Text 15"/>
          <p:cNvSpPr/>
          <p:nvPr/>
        </p:nvSpPr>
        <p:spPr>
          <a:xfrm>
            <a:off x="6446520" y="3474720"/>
            <a:ext cx="46630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FFFFFF"/>
                </a:solidFill>
                <a:latin typeface="Open Sans"/>
                <a:ea typeface="Open Sans"/>
              </a:rPr>
              <a:t>Server can query &amp; act</a:t>
            </a:r>
            <a:endParaRPr lang="en-US" sz="17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" name="Text 16"/>
          <p:cNvSpPr/>
          <p:nvPr/>
        </p:nvSpPr>
        <p:spPr>
          <a:xfrm>
            <a:off x="6446520" y="3886200"/>
            <a:ext cx="4663080" cy="137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strike="noStrike" spc="-1">
                <a:solidFill>
                  <a:srgbClr val="FBE7CF"/>
                </a:solidFill>
                <a:latin typeface="Calibri"/>
                <a:ea typeface="Calibri"/>
              </a:rPr>
              <a:t>A server influences what the model does and reaches back toward the user's environment. These are new, poorly-traced attack paths — the seed of nearly every MCP security concern.</a:t>
            </a:r>
            <a:endParaRPr lang="en-US" sz="13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Text 17"/>
          <p:cNvSpPr/>
          <p:nvPr/>
        </p:nvSpPr>
        <p:spPr>
          <a:xfrm>
            <a:off x="822960" y="566928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strike="noStrike" spc="-1">
                <a:solidFill>
                  <a:srgbClr val="C9BBA5"/>
                </a:solidFill>
                <a:latin typeface="Calibri"/>
                <a:ea typeface="Calibri"/>
              </a:rPr>
              <a:t>Keep this in mind — it is exactly where the NSA security guidance in Deck 3 begins.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Text 0"/>
          <p:cNvSpPr/>
          <p:nvPr/>
        </p:nvSpPr>
        <p:spPr>
          <a:xfrm>
            <a:off x="457200" y="457200"/>
            <a:ext cx="9417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299">
                <a:solidFill>
                  <a:srgbClr val="8B0E15"/>
                </a:solidFill>
                <a:latin typeface="Calibri"/>
                <a:ea typeface="Calibri"/>
              </a:rPr>
              <a:t>THE REVERSE DIRECTION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Text 1"/>
          <p:cNvSpPr/>
          <p:nvPr/>
        </p:nvSpPr>
        <p:spPr>
          <a:xfrm>
            <a:off x="457200" y="73152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231F20"/>
                </a:solidFill>
                <a:latin typeface="Open Sans"/>
                <a:ea typeface="Open Sans"/>
              </a:rPr>
              <a:t>Client features: when the server reaches back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Text 2"/>
          <p:cNvSpPr/>
          <p:nvPr/>
        </p:nvSpPr>
        <p:spPr>
          <a:xfrm>
            <a:off x="457200" y="1371600"/>
            <a:ext cx="112467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3A3536"/>
                </a:solidFill>
                <a:latin typeface="Calibri"/>
                <a:ea typeface="Calibri"/>
              </a:rPr>
              <a:t>The inversion in practice. Beyond responding, a server can initiate three things — each routed through the client, each a deliberate trust decision.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Shape 3"/>
          <p:cNvSpPr/>
          <p:nvPr/>
        </p:nvSpPr>
        <p:spPr>
          <a:xfrm>
            <a:off x="457200" y="2057400"/>
            <a:ext cx="3520080" cy="374868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Shape 4"/>
          <p:cNvSpPr/>
          <p:nvPr/>
        </p:nvSpPr>
        <p:spPr>
          <a:xfrm>
            <a:off x="731520" y="2286000"/>
            <a:ext cx="603000" cy="603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5" name="Image 0" descr="preencoded.png"/>
          <p:cNvPicPr/>
          <p:nvPr/>
        </p:nvPicPr>
        <p:blipFill>
          <a:blip r:embed="rId3"/>
          <a:stretch/>
        </p:blipFill>
        <p:spPr>
          <a:xfrm>
            <a:off x="864360" y="2418840"/>
            <a:ext cx="337680" cy="337680"/>
          </a:xfrm>
          <a:prstGeom prst="rect">
            <a:avLst/>
          </a:prstGeom>
          <a:ln w="0">
            <a:noFill/>
          </a:ln>
        </p:spPr>
      </p:pic>
      <p:sp>
        <p:nvSpPr>
          <p:cNvPr id="296" name="Text 5"/>
          <p:cNvSpPr/>
          <p:nvPr/>
        </p:nvSpPr>
        <p:spPr>
          <a:xfrm>
            <a:off x="1463040" y="2286000"/>
            <a:ext cx="2377080" cy="60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231F20"/>
                </a:solidFill>
                <a:latin typeface="Open Sans"/>
                <a:ea typeface="Open Sans"/>
              </a:rPr>
              <a:t>Sampling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Text 6"/>
          <p:cNvSpPr/>
          <p:nvPr/>
        </p:nvSpPr>
        <p:spPr>
          <a:xfrm>
            <a:off x="731520" y="3063240"/>
            <a:ext cx="3017160" cy="137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strike="noStrike" spc="-1">
                <a:solidFill>
                  <a:srgbClr val="3A3536"/>
                </a:solidFill>
                <a:latin typeface="Calibri"/>
                <a:ea typeface="Calibri"/>
              </a:rPr>
              <a:t>The server asks the client's LLM to run a completion on its behalf — recursive, agentic behavior.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Shape 7"/>
          <p:cNvSpPr/>
          <p:nvPr/>
        </p:nvSpPr>
        <p:spPr>
          <a:xfrm>
            <a:off x="457200" y="4892040"/>
            <a:ext cx="3520080" cy="914040"/>
          </a:xfrm>
          <a:prstGeom prst="rect">
            <a:avLst/>
          </a:prstGeom>
          <a:solidFill>
            <a:srgbClr val="FBF1E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Shape 8"/>
          <p:cNvSpPr/>
          <p:nvPr/>
        </p:nvSpPr>
        <p:spPr>
          <a:xfrm>
            <a:off x="457200" y="4892040"/>
            <a:ext cx="91080" cy="914040"/>
          </a:xfrm>
          <a:prstGeom prst="rect">
            <a:avLst/>
          </a:prstGeom>
          <a:solidFill>
            <a:srgbClr val="B886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00" name="Image 1" descr="preencoded.png"/>
          <p:cNvPicPr/>
          <p:nvPr/>
        </p:nvPicPr>
        <p:blipFill>
          <a:blip r:embed="rId4"/>
          <a:stretch/>
        </p:blipFill>
        <p:spPr>
          <a:xfrm>
            <a:off x="685800" y="50749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301" name="Text 9"/>
          <p:cNvSpPr/>
          <p:nvPr/>
        </p:nvSpPr>
        <p:spPr>
          <a:xfrm>
            <a:off x="1051560" y="4956120"/>
            <a:ext cx="2788560" cy="804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strike="noStrike" spc="-1">
                <a:solidFill>
                  <a:srgbClr val="8A5A12"/>
                </a:solidFill>
                <a:latin typeface="Calibri"/>
                <a:ea typeface="Calibri"/>
              </a:rPr>
              <a:t>A server influencing model calls is powerful and a real trust consideration.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Shape 10"/>
          <p:cNvSpPr/>
          <p:nvPr/>
        </p:nvSpPr>
        <p:spPr>
          <a:xfrm>
            <a:off x="4251960" y="2057400"/>
            <a:ext cx="3520080" cy="374868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Shape 11"/>
          <p:cNvSpPr/>
          <p:nvPr/>
        </p:nvSpPr>
        <p:spPr>
          <a:xfrm>
            <a:off x="4526280" y="2286000"/>
            <a:ext cx="603000" cy="603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4" name="Image 2" descr="preencoded.png"/>
          <p:cNvPicPr/>
          <p:nvPr/>
        </p:nvPicPr>
        <p:blipFill>
          <a:blip r:embed="rId5"/>
          <a:stretch/>
        </p:blipFill>
        <p:spPr>
          <a:xfrm>
            <a:off x="4659120" y="2418840"/>
            <a:ext cx="337680" cy="337680"/>
          </a:xfrm>
          <a:prstGeom prst="rect">
            <a:avLst/>
          </a:prstGeom>
          <a:ln w="0">
            <a:noFill/>
          </a:ln>
        </p:spPr>
      </p:pic>
      <p:sp>
        <p:nvSpPr>
          <p:cNvPr id="305" name="Text 12"/>
          <p:cNvSpPr/>
          <p:nvPr/>
        </p:nvSpPr>
        <p:spPr>
          <a:xfrm>
            <a:off x="5257800" y="2286000"/>
            <a:ext cx="2377080" cy="60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231F20"/>
                </a:solidFill>
                <a:latin typeface="Open Sans"/>
                <a:ea typeface="Open Sans"/>
              </a:rPr>
              <a:t>Roots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Text 13"/>
          <p:cNvSpPr/>
          <p:nvPr/>
        </p:nvSpPr>
        <p:spPr>
          <a:xfrm>
            <a:off x="4526280" y="3063240"/>
            <a:ext cx="3017160" cy="137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strike="noStrike" spc="-1">
                <a:solidFill>
                  <a:srgbClr val="3A3536"/>
                </a:solidFill>
                <a:latin typeface="Calibri"/>
                <a:ea typeface="Calibri"/>
              </a:rPr>
              <a:t>The server asks which files or URI boundaries it's allowed to operate within.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Shape 14"/>
          <p:cNvSpPr/>
          <p:nvPr/>
        </p:nvSpPr>
        <p:spPr>
          <a:xfrm>
            <a:off x="4251960" y="4892040"/>
            <a:ext cx="3520080" cy="914040"/>
          </a:xfrm>
          <a:prstGeom prst="rect">
            <a:avLst/>
          </a:prstGeom>
          <a:solidFill>
            <a:srgbClr val="FBF1E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Shape 15"/>
          <p:cNvSpPr/>
          <p:nvPr/>
        </p:nvSpPr>
        <p:spPr>
          <a:xfrm>
            <a:off x="4251960" y="4892040"/>
            <a:ext cx="91080" cy="914040"/>
          </a:xfrm>
          <a:prstGeom prst="rect">
            <a:avLst/>
          </a:prstGeom>
          <a:solidFill>
            <a:srgbClr val="B886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09" name="Image 3" descr="preencoded.png"/>
          <p:cNvPicPr/>
          <p:nvPr/>
        </p:nvPicPr>
        <p:blipFill>
          <a:blip r:embed="rId4"/>
          <a:stretch/>
        </p:blipFill>
        <p:spPr>
          <a:xfrm>
            <a:off x="4480560" y="50749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310" name="Text 16"/>
          <p:cNvSpPr/>
          <p:nvPr/>
        </p:nvSpPr>
        <p:spPr>
          <a:xfrm>
            <a:off x="4846320" y="4956120"/>
            <a:ext cx="2788560" cy="804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strike="noStrike" spc="-1">
                <a:solidFill>
                  <a:srgbClr val="8A5A12"/>
                </a:solidFill>
                <a:latin typeface="Calibri"/>
                <a:ea typeface="Calibri"/>
              </a:rPr>
              <a:t>Probing the boundaries of the user's environment.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Shape 17"/>
          <p:cNvSpPr/>
          <p:nvPr/>
        </p:nvSpPr>
        <p:spPr>
          <a:xfrm>
            <a:off x="8046720" y="2057400"/>
            <a:ext cx="3520080" cy="374868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Shape 18"/>
          <p:cNvSpPr/>
          <p:nvPr/>
        </p:nvSpPr>
        <p:spPr>
          <a:xfrm>
            <a:off x="8321040" y="2286000"/>
            <a:ext cx="603000" cy="603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3" name="Image 4" descr="preencoded.png"/>
          <p:cNvPicPr/>
          <p:nvPr/>
        </p:nvPicPr>
        <p:blipFill>
          <a:blip r:embed="rId6"/>
          <a:stretch/>
        </p:blipFill>
        <p:spPr>
          <a:xfrm>
            <a:off x="8453880" y="2418840"/>
            <a:ext cx="337680" cy="337680"/>
          </a:xfrm>
          <a:prstGeom prst="rect">
            <a:avLst/>
          </a:prstGeom>
          <a:ln w="0">
            <a:noFill/>
          </a:ln>
        </p:spPr>
      </p:pic>
      <p:sp>
        <p:nvSpPr>
          <p:cNvPr id="314" name="Text 19"/>
          <p:cNvSpPr/>
          <p:nvPr/>
        </p:nvSpPr>
        <p:spPr>
          <a:xfrm>
            <a:off x="9052560" y="2286000"/>
            <a:ext cx="2377080" cy="60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231F20"/>
                </a:solidFill>
                <a:latin typeface="Open Sans"/>
                <a:ea typeface="Open Sans"/>
              </a:rPr>
              <a:t>Elicitation</a:t>
            </a:r>
            <a:endParaRPr lang="en-US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Text 20"/>
          <p:cNvSpPr/>
          <p:nvPr/>
        </p:nvSpPr>
        <p:spPr>
          <a:xfrm>
            <a:off x="8321040" y="3063240"/>
            <a:ext cx="3017160" cy="137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strike="noStrike" spc="-1">
                <a:solidFill>
                  <a:srgbClr val="3A3536"/>
                </a:solidFill>
                <a:latin typeface="Calibri"/>
                <a:ea typeface="Calibri"/>
              </a:rPr>
              <a:t>The server requests additional information directly from the user mid-task.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Shape 21"/>
          <p:cNvSpPr/>
          <p:nvPr/>
        </p:nvSpPr>
        <p:spPr>
          <a:xfrm>
            <a:off x="8046720" y="4892040"/>
            <a:ext cx="3520080" cy="914040"/>
          </a:xfrm>
          <a:prstGeom prst="rect">
            <a:avLst/>
          </a:prstGeom>
          <a:solidFill>
            <a:srgbClr val="FBF1E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Shape 22"/>
          <p:cNvSpPr/>
          <p:nvPr/>
        </p:nvSpPr>
        <p:spPr>
          <a:xfrm>
            <a:off x="8046720" y="4892040"/>
            <a:ext cx="91080" cy="914040"/>
          </a:xfrm>
          <a:prstGeom prst="rect">
            <a:avLst/>
          </a:prstGeom>
          <a:solidFill>
            <a:srgbClr val="B886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18" name="Image 5" descr="preencoded.png"/>
          <p:cNvPicPr/>
          <p:nvPr/>
        </p:nvPicPr>
        <p:blipFill>
          <a:blip r:embed="rId4"/>
          <a:stretch/>
        </p:blipFill>
        <p:spPr>
          <a:xfrm>
            <a:off x="8275320" y="50749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319" name="Text 23"/>
          <p:cNvSpPr/>
          <p:nvPr/>
        </p:nvSpPr>
        <p:spPr>
          <a:xfrm>
            <a:off x="8641080" y="4956120"/>
            <a:ext cx="2788560" cy="804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strike="noStrike" spc="-1">
                <a:solidFill>
                  <a:srgbClr val="8A5A12"/>
                </a:solidFill>
                <a:latin typeface="Calibri"/>
                <a:ea typeface="Calibri"/>
              </a:rPr>
              <a:t>A server-driven prompt to the human — handle with care.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Shape 24"/>
          <p:cNvSpPr/>
          <p:nvPr/>
        </p:nvSpPr>
        <p:spPr>
          <a:xfrm>
            <a:off x="0" y="0"/>
            <a:ext cx="12161160" cy="7272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21" name="Image 6" descr="fhb_logo.png"/>
          <p:cNvPicPr/>
          <p:nvPr/>
        </p:nvPicPr>
        <p:blipFill>
          <a:blip r:embed="rId7"/>
          <a:stretch/>
        </p:blipFill>
        <p:spPr>
          <a:xfrm>
            <a:off x="10031040" y="146160"/>
            <a:ext cx="1828440" cy="338040"/>
          </a:xfrm>
          <a:prstGeom prst="rect">
            <a:avLst/>
          </a:prstGeom>
          <a:ln w="0">
            <a:noFill/>
          </a:ln>
        </p:spPr>
      </p:pic>
      <p:sp>
        <p:nvSpPr>
          <p:cNvPr id="322" name="Shape 25"/>
          <p:cNvSpPr/>
          <p:nvPr/>
        </p:nvSpPr>
        <p:spPr>
          <a:xfrm>
            <a:off x="457200" y="6583680"/>
            <a:ext cx="11274120" cy="1980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Shape 26"/>
          <p:cNvSpPr/>
          <p:nvPr/>
        </p:nvSpPr>
        <p:spPr>
          <a:xfrm>
            <a:off x="457200" y="6510600"/>
            <a:ext cx="164160" cy="16416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4" name="Text 27"/>
          <p:cNvSpPr/>
          <p:nvPr/>
        </p:nvSpPr>
        <p:spPr>
          <a:xfrm>
            <a:off x="713160" y="64008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MCP &amp; Agentic AI  ·  Deck 1 of 3  ·  Architecture &amp; Mechanics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Text 28"/>
          <p:cNvSpPr/>
          <p:nvPr/>
        </p:nvSpPr>
        <p:spPr>
          <a:xfrm>
            <a:off x="111556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10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Text 0"/>
          <p:cNvSpPr/>
          <p:nvPr/>
        </p:nvSpPr>
        <p:spPr>
          <a:xfrm>
            <a:off x="457200" y="457200"/>
            <a:ext cx="9417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299">
                <a:solidFill>
                  <a:srgbClr val="8B0E15"/>
                </a:solidFill>
                <a:latin typeface="Calibri"/>
                <a:ea typeface="Calibri"/>
              </a:rPr>
              <a:t>THE LOCAL TRANSPORT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Text 1"/>
          <p:cNvSpPr/>
          <p:nvPr/>
        </p:nvSpPr>
        <p:spPr>
          <a:xfrm>
            <a:off x="457200" y="73152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231F20"/>
                </a:solidFill>
                <a:latin typeface="Open Sans"/>
                <a:ea typeface="Open Sans"/>
              </a:rPr>
              <a:t>stdio — local, in-process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Text 2"/>
          <p:cNvSpPr/>
          <p:nvPr/>
        </p:nvSpPr>
        <p:spPr>
          <a:xfrm>
            <a:off x="457200" y="1417320"/>
            <a:ext cx="11246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3A3536"/>
                </a:solidFill>
                <a:latin typeface="Calibri"/>
                <a:ea typeface="Calibri"/>
              </a:rPr>
              <a:t>The client launches the server as a local subprocess and talks to it over standard input/output. No network involved.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Shape 3"/>
          <p:cNvSpPr/>
          <p:nvPr/>
        </p:nvSpPr>
        <p:spPr>
          <a:xfrm>
            <a:off x="457200" y="2103120"/>
            <a:ext cx="6400440" cy="365724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Shape 4"/>
          <p:cNvSpPr/>
          <p:nvPr/>
        </p:nvSpPr>
        <p:spPr>
          <a:xfrm>
            <a:off x="731520" y="2331720"/>
            <a:ext cx="548280" cy="548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1" name="Image 0" descr="preencoded.png"/>
          <p:cNvPicPr/>
          <p:nvPr/>
        </p:nvPicPr>
        <p:blipFill>
          <a:blip r:embed="rId3"/>
          <a:stretch/>
        </p:blipFill>
        <p:spPr>
          <a:xfrm>
            <a:off x="852120" y="2452320"/>
            <a:ext cx="306720" cy="306720"/>
          </a:xfrm>
          <a:prstGeom prst="rect">
            <a:avLst/>
          </a:prstGeom>
          <a:ln w="0">
            <a:noFill/>
          </a:ln>
        </p:spPr>
      </p:pic>
      <p:sp>
        <p:nvSpPr>
          <p:cNvPr id="332" name="Text 5"/>
          <p:cNvSpPr/>
          <p:nvPr/>
        </p:nvSpPr>
        <p:spPr>
          <a:xfrm>
            <a:off x="1417320" y="2331720"/>
            <a:ext cx="45716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231F20"/>
                </a:solidFill>
                <a:latin typeface="Open Sans"/>
                <a:ea typeface="Open Sans"/>
              </a:rPr>
              <a:t>How it works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Shape 6"/>
          <p:cNvSpPr/>
          <p:nvPr/>
        </p:nvSpPr>
        <p:spPr>
          <a:xfrm>
            <a:off x="822960" y="3108960"/>
            <a:ext cx="2468520" cy="228564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9050">
            <a:solidFill>
              <a:srgbClr val="8B0E1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Text 7"/>
          <p:cNvSpPr/>
          <p:nvPr/>
        </p:nvSpPr>
        <p:spPr>
          <a:xfrm>
            <a:off x="822960" y="3200400"/>
            <a:ext cx="24685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-1">
                <a:solidFill>
                  <a:srgbClr val="8A8385"/>
                </a:solidFill>
                <a:latin typeface="Calibri"/>
                <a:ea typeface="Calibri"/>
              </a:rPr>
              <a:t>Host machine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Shape 8"/>
          <p:cNvSpPr/>
          <p:nvPr/>
        </p:nvSpPr>
        <p:spPr>
          <a:xfrm>
            <a:off x="1005840" y="3520440"/>
            <a:ext cx="2102760" cy="639720"/>
          </a:xfrm>
          <a:prstGeom prst="roundRect">
            <a:avLst>
              <a:gd name="adj" fmla="val 7143"/>
            </a:avLst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6" name="Text 9"/>
          <p:cNvSpPr/>
          <p:nvPr/>
        </p:nvSpPr>
        <p:spPr>
          <a:xfrm>
            <a:off x="1005840" y="3520440"/>
            <a:ext cx="21027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FFFFFF"/>
                </a:solidFill>
                <a:latin typeface="Calibri"/>
                <a:ea typeface="Calibri"/>
              </a:rPr>
              <a:t>Host + Client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Shape 10"/>
          <p:cNvSpPr/>
          <p:nvPr/>
        </p:nvSpPr>
        <p:spPr>
          <a:xfrm>
            <a:off x="1005840" y="4526280"/>
            <a:ext cx="2102760" cy="639720"/>
          </a:xfrm>
          <a:prstGeom prst="roundRect">
            <a:avLst>
              <a:gd name="adj" fmla="val 7143"/>
            </a:avLst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8" name="Text 11"/>
          <p:cNvSpPr/>
          <p:nvPr/>
        </p:nvSpPr>
        <p:spPr>
          <a:xfrm>
            <a:off x="1005840" y="4526280"/>
            <a:ext cx="21027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strike="noStrike" spc="-1">
                <a:solidFill>
                  <a:srgbClr val="FFFFFF"/>
                </a:solidFill>
                <a:latin typeface="Calibri"/>
                <a:ea typeface="Calibri"/>
              </a:rPr>
              <a:t>Server (subprocess)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Shape 12"/>
          <p:cNvSpPr/>
          <p:nvPr/>
        </p:nvSpPr>
        <p:spPr>
          <a:xfrm>
            <a:off x="2057400" y="4160520"/>
            <a:ext cx="360" cy="365760"/>
          </a:xfrm>
          <a:prstGeom prst="line">
            <a:avLst/>
          </a:prstGeom>
          <a:ln w="25400">
            <a:solidFill>
              <a:srgbClr val="8B0E15"/>
            </a:solidFill>
            <a:round/>
            <a:headEnd type="triangl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Text 13"/>
          <p:cNvSpPr/>
          <p:nvPr/>
        </p:nvSpPr>
        <p:spPr>
          <a:xfrm>
            <a:off x="2240280" y="4114800"/>
            <a:ext cx="10054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8A8385"/>
                </a:solidFill>
                <a:latin typeface="Consolas"/>
                <a:ea typeface="Consolas"/>
              </a:rPr>
              <a:t>stdin /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8A8385"/>
                </a:solidFill>
                <a:latin typeface="Consolas"/>
                <a:ea typeface="Consolas"/>
              </a:rPr>
              <a:t>stdout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Text 14"/>
          <p:cNvSpPr/>
          <p:nvPr/>
        </p:nvSpPr>
        <p:spPr>
          <a:xfrm>
            <a:off x="3657600" y="3520440"/>
            <a:ext cx="3017160" cy="164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3A3536"/>
                </a:solidFill>
                <a:latin typeface="Calibri"/>
                <a:ea typeface="Calibri"/>
              </a:rPr>
              <a:t>Both processes live on the same host. Messages are piped over stdin/stdout — fast, simple, no ports.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Shape 15"/>
          <p:cNvSpPr/>
          <p:nvPr/>
        </p:nvSpPr>
        <p:spPr>
          <a:xfrm>
            <a:off x="7132320" y="2103120"/>
            <a:ext cx="4571640" cy="3657240"/>
          </a:xfrm>
          <a:prstGeom prst="rect">
            <a:avLst/>
          </a:prstGeom>
          <a:solidFill>
            <a:srgbClr val="5A0E12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3" name="Text 16"/>
          <p:cNvSpPr/>
          <p:nvPr/>
        </p:nvSpPr>
        <p:spPr>
          <a:xfrm>
            <a:off x="7360920" y="228600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199">
                <a:solidFill>
                  <a:srgbClr val="F5A800"/>
                </a:solidFill>
                <a:latin typeface="Calibri"/>
                <a:ea typeface="Calibri"/>
              </a:rPr>
              <a:t>CHARACTERISTICS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Text 17"/>
          <p:cNvSpPr/>
          <p:nvPr/>
        </p:nvSpPr>
        <p:spPr>
          <a:xfrm>
            <a:off x="7360920" y="269748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97">
                <a:solidFill>
                  <a:srgbClr val="FFFFFF"/>
                </a:solidFill>
                <a:latin typeface="Calibri"/>
                <a:ea typeface="Calibri"/>
              </a:rPr>
              <a:t>BEST FOR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Text 18"/>
          <p:cNvSpPr/>
          <p:nvPr/>
        </p:nvSpPr>
        <p:spPr>
          <a:xfrm>
            <a:off x="7360920" y="2971800"/>
            <a:ext cx="41601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E8DFD2"/>
                </a:solidFill>
                <a:latin typeface="Calibri"/>
                <a:ea typeface="Calibri"/>
              </a:rPr>
              <a:t>Local, single-user tools and desktop apps.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Text 19"/>
          <p:cNvSpPr/>
          <p:nvPr/>
        </p:nvSpPr>
        <p:spPr>
          <a:xfrm>
            <a:off x="7360920" y="368496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97">
                <a:solidFill>
                  <a:srgbClr val="FFFFFF"/>
                </a:solidFill>
                <a:latin typeface="Calibri"/>
                <a:ea typeface="Calibri"/>
              </a:rPr>
              <a:t>ISOLATION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Text 20"/>
          <p:cNvSpPr/>
          <p:nvPr/>
        </p:nvSpPr>
        <p:spPr>
          <a:xfrm>
            <a:off x="7360920" y="3959280"/>
            <a:ext cx="41601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E8DFD2"/>
                </a:solidFill>
                <a:latin typeface="Calibri"/>
                <a:ea typeface="Calibri"/>
              </a:rPr>
              <a:t>Naturally contained to the host; no network exposure by default.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Text 21"/>
          <p:cNvSpPr/>
          <p:nvPr/>
        </p:nvSpPr>
        <p:spPr>
          <a:xfrm>
            <a:off x="7360920" y="467244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97">
                <a:solidFill>
                  <a:srgbClr val="FFFFFF"/>
                </a:solidFill>
                <a:latin typeface="Calibri"/>
                <a:ea typeface="Calibri"/>
              </a:rPr>
              <a:t>TRADE-OFF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Text 22"/>
          <p:cNvSpPr/>
          <p:nvPr/>
        </p:nvSpPr>
        <p:spPr>
          <a:xfrm>
            <a:off x="7360920" y="4946760"/>
            <a:ext cx="41601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E8DFD2"/>
                </a:solidFill>
                <a:latin typeface="Calibri"/>
                <a:ea typeface="Calibri"/>
              </a:rPr>
              <a:t>Doesn't scale across machines or users; one subprocess per client.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Shape 23"/>
          <p:cNvSpPr/>
          <p:nvPr/>
        </p:nvSpPr>
        <p:spPr>
          <a:xfrm>
            <a:off x="0" y="0"/>
            <a:ext cx="12161160" cy="7272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51" name="Image 1" descr="fhb_logo.png"/>
          <p:cNvPicPr/>
          <p:nvPr/>
        </p:nvPicPr>
        <p:blipFill>
          <a:blip r:embed="rId4"/>
          <a:stretch/>
        </p:blipFill>
        <p:spPr>
          <a:xfrm>
            <a:off x="10031040" y="146160"/>
            <a:ext cx="1828440" cy="338040"/>
          </a:xfrm>
          <a:prstGeom prst="rect">
            <a:avLst/>
          </a:prstGeom>
          <a:ln w="0">
            <a:noFill/>
          </a:ln>
        </p:spPr>
      </p:pic>
      <p:sp>
        <p:nvSpPr>
          <p:cNvPr id="352" name="Shape 24"/>
          <p:cNvSpPr/>
          <p:nvPr/>
        </p:nvSpPr>
        <p:spPr>
          <a:xfrm>
            <a:off x="457200" y="6583680"/>
            <a:ext cx="11274120" cy="1980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Shape 25"/>
          <p:cNvSpPr/>
          <p:nvPr/>
        </p:nvSpPr>
        <p:spPr>
          <a:xfrm>
            <a:off x="457200" y="6510600"/>
            <a:ext cx="164160" cy="16416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4" name="Text 26"/>
          <p:cNvSpPr/>
          <p:nvPr/>
        </p:nvSpPr>
        <p:spPr>
          <a:xfrm>
            <a:off x="713160" y="64008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MCP &amp; Agentic AI  ·  Deck 1 of 3  ·  Architecture &amp; Mechanics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Text 27"/>
          <p:cNvSpPr/>
          <p:nvPr/>
        </p:nvSpPr>
        <p:spPr>
          <a:xfrm>
            <a:off x="111556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11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Text 0"/>
          <p:cNvSpPr/>
          <p:nvPr/>
        </p:nvSpPr>
        <p:spPr>
          <a:xfrm>
            <a:off x="457200" y="457200"/>
            <a:ext cx="9417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299">
                <a:solidFill>
                  <a:srgbClr val="8B0E15"/>
                </a:solidFill>
                <a:latin typeface="Calibri"/>
                <a:ea typeface="Calibri"/>
              </a:rPr>
              <a:t>THE VOCABULARY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Text 1"/>
          <p:cNvSpPr/>
          <p:nvPr/>
        </p:nvSpPr>
        <p:spPr>
          <a:xfrm>
            <a:off x="457200" y="73152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231F20"/>
                </a:solidFill>
                <a:latin typeface="Open Sans"/>
                <a:ea typeface="Open Sans"/>
              </a:rPr>
              <a:t>MCP message types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Text 2"/>
          <p:cNvSpPr/>
          <p:nvPr/>
        </p:nvSpPr>
        <p:spPr>
          <a:xfrm>
            <a:off x="457200" y="1417320"/>
            <a:ext cx="11246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3A3536"/>
                </a:solidFill>
                <a:latin typeface="Calibri"/>
                <a:ea typeface="Calibri"/>
              </a:rPr>
              <a:t>Under the hood, MCP speaks JSON-RPC 2.0. Conceptually there are just four kinds of message. (Deck 2 covers the formal structure.)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Shape 3"/>
          <p:cNvSpPr/>
          <p:nvPr/>
        </p:nvSpPr>
        <p:spPr>
          <a:xfrm>
            <a:off x="457200" y="2103120"/>
            <a:ext cx="2697120" cy="356580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Shape 4"/>
          <p:cNvSpPr/>
          <p:nvPr/>
        </p:nvSpPr>
        <p:spPr>
          <a:xfrm>
            <a:off x="457200" y="2103120"/>
            <a:ext cx="2697120" cy="10944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1" name="Shape 5"/>
          <p:cNvSpPr/>
          <p:nvPr/>
        </p:nvSpPr>
        <p:spPr>
          <a:xfrm>
            <a:off x="685800" y="2331720"/>
            <a:ext cx="548280" cy="548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62" name="Image 0" descr="preencoded.png"/>
          <p:cNvPicPr/>
          <p:nvPr/>
        </p:nvPicPr>
        <p:blipFill>
          <a:blip r:embed="rId3"/>
          <a:stretch/>
        </p:blipFill>
        <p:spPr>
          <a:xfrm>
            <a:off x="806400" y="2452320"/>
            <a:ext cx="306720" cy="306720"/>
          </a:xfrm>
          <a:prstGeom prst="rect">
            <a:avLst/>
          </a:prstGeom>
          <a:ln w="0">
            <a:noFill/>
          </a:ln>
        </p:spPr>
      </p:pic>
      <p:sp>
        <p:nvSpPr>
          <p:cNvPr id="363" name="Text 6"/>
          <p:cNvSpPr/>
          <p:nvPr/>
        </p:nvSpPr>
        <p:spPr>
          <a:xfrm>
            <a:off x="685800" y="3017520"/>
            <a:ext cx="22399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231F20"/>
                </a:solidFill>
                <a:latin typeface="Open Sans"/>
                <a:ea typeface="Open Sans"/>
              </a:rPr>
              <a:t>Request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Text 7"/>
          <p:cNvSpPr/>
          <p:nvPr/>
        </p:nvSpPr>
        <p:spPr>
          <a:xfrm>
            <a:off x="685800" y="3456360"/>
            <a:ext cx="22399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i="1" strike="noStrike" spc="-1">
                <a:solidFill>
                  <a:srgbClr val="8B0E15"/>
                </a:solidFill>
                <a:latin typeface="Calibri"/>
                <a:ea typeface="Calibri"/>
              </a:rPr>
              <a:t>Expects a reply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Text 8"/>
          <p:cNvSpPr/>
          <p:nvPr/>
        </p:nvSpPr>
        <p:spPr>
          <a:xfrm>
            <a:off x="685800" y="3840480"/>
            <a:ext cx="2239920" cy="164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3A3536"/>
                </a:solidFill>
                <a:latin typeface="Calibri"/>
                <a:ea typeface="Calibri"/>
              </a:rPr>
              <a:t>Carries an id so the response can be matched back. e.g. "call this tool."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Shape 9"/>
          <p:cNvSpPr/>
          <p:nvPr/>
        </p:nvSpPr>
        <p:spPr>
          <a:xfrm>
            <a:off x="3291840" y="2103120"/>
            <a:ext cx="2697120" cy="356580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Shape 10"/>
          <p:cNvSpPr/>
          <p:nvPr/>
        </p:nvSpPr>
        <p:spPr>
          <a:xfrm>
            <a:off x="3291840" y="2103120"/>
            <a:ext cx="2697120" cy="10944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8" name="Shape 11"/>
          <p:cNvSpPr/>
          <p:nvPr/>
        </p:nvSpPr>
        <p:spPr>
          <a:xfrm>
            <a:off x="3520440" y="2331720"/>
            <a:ext cx="548280" cy="548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69" name="Image 1" descr="preencoded.png"/>
          <p:cNvPicPr/>
          <p:nvPr/>
        </p:nvPicPr>
        <p:blipFill>
          <a:blip r:embed="rId4"/>
          <a:stretch/>
        </p:blipFill>
        <p:spPr>
          <a:xfrm>
            <a:off x="3641040" y="2452320"/>
            <a:ext cx="306720" cy="306720"/>
          </a:xfrm>
          <a:prstGeom prst="rect">
            <a:avLst/>
          </a:prstGeom>
          <a:ln w="0">
            <a:noFill/>
          </a:ln>
        </p:spPr>
      </p:pic>
      <p:sp>
        <p:nvSpPr>
          <p:cNvPr id="370" name="Text 12"/>
          <p:cNvSpPr/>
          <p:nvPr/>
        </p:nvSpPr>
        <p:spPr>
          <a:xfrm>
            <a:off x="3520440" y="3017520"/>
            <a:ext cx="22399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231F20"/>
                </a:solidFill>
                <a:latin typeface="Open Sans"/>
                <a:ea typeface="Open Sans"/>
              </a:rPr>
              <a:t>Response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Text 13"/>
          <p:cNvSpPr/>
          <p:nvPr/>
        </p:nvSpPr>
        <p:spPr>
          <a:xfrm>
            <a:off x="3520440" y="3456360"/>
            <a:ext cx="22399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i="1" strike="noStrike" spc="-1">
                <a:solidFill>
                  <a:srgbClr val="8B0E15"/>
                </a:solidFill>
                <a:latin typeface="Calibri"/>
                <a:ea typeface="Calibri"/>
              </a:rPr>
              <a:t>The reply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Text 14"/>
          <p:cNvSpPr/>
          <p:nvPr/>
        </p:nvSpPr>
        <p:spPr>
          <a:xfrm>
            <a:off x="3520440" y="3840480"/>
            <a:ext cx="2239920" cy="164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3A3536"/>
                </a:solidFill>
                <a:latin typeface="Calibri"/>
                <a:ea typeface="Calibri"/>
              </a:rPr>
              <a:t>Returns a result — or an error — for a specific request id.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Shape 15"/>
          <p:cNvSpPr/>
          <p:nvPr/>
        </p:nvSpPr>
        <p:spPr>
          <a:xfrm>
            <a:off x="6126480" y="2103120"/>
            <a:ext cx="2697120" cy="356580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Shape 16"/>
          <p:cNvSpPr/>
          <p:nvPr/>
        </p:nvSpPr>
        <p:spPr>
          <a:xfrm>
            <a:off x="6126480" y="2103120"/>
            <a:ext cx="2697120" cy="10944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5" name="Shape 17"/>
          <p:cNvSpPr/>
          <p:nvPr/>
        </p:nvSpPr>
        <p:spPr>
          <a:xfrm>
            <a:off x="6355080" y="2331720"/>
            <a:ext cx="548280" cy="548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6" name="Image 2" descr="preencoded.png"/>
          <p:cNvPicPr/>
          <p:nvPr/>
        </p:nvPicPr>
        <p:blipFill>
          <a:blip r:embed="rId5"/>
          <a:stretch/>
        </p:blipFill>
        <p:spPr>
          <a:xfrm>
            <a:off x="6475680" y="2452320"/>
            <a:ext cx="306720" cy="306720"/>
          </a:xfrm>
          <a:prstGeom prst="rect">
            <a:avLst/>
          </a:prstGeom>
          <a:ln w="0">
            <a:noFill/>
          </a:ln>
        </p:spPr>
      </p:pic>
      <p:sp>
        <p:nvSpPr>
          <p:cNvPr id="377" name="Text 18"/>
          <p:cNvSpPr/>
          <p:nvPr/>
        </p:nvSpPr>
        <p:spPr>
          <a:xfrm>
            <a:off x="6355080" y="3017520"/>
            <a:ext cx="22399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231F20"/>
                </a:solidFill>
                <a:latin typeface="Open Sans"/>
                <a:ea typeface="Open Sans"/>
              </a:rPr>
              <a:t>Notification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Text 19"/>
          <p:cNvSpPr/>
          <p:nvPr/>
        </p:nvSpPr>
        <p:spPr>
          <a:xfrm>
            <a:off x="6355080" y="3456360"/>
            <a:ext cx="22399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i="1" strike="noStrike" spc="-1">
                <a:solidFill>
                  <a:srgbClr val="8B0E15"/>
                </a:solidFill>
                <a:latin typeface="Calibri"/>
                <a:ea typeface="Calibri"/>
              </a:rPr>
              <a:t>Fire-and-forget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Text 20"/>
          <p:cNvSpPr/>
          <p:nvPr/>
        </p:nvSpPr>
        <p:spPr>
          <a:xfrm>
            <a:off x="6355080" y="3840480"/>
            <a:ext cx="2239920" cy="164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3A3536"/>
                </a:solidFill>
                <a:latin typeface="Calibri"/>
                <a:ea typeface="Calibri"/>
              </a:rPr>
              <a:t>No id, no reply expected. e.g. "initialization complete."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Shape 21"/>
          <p:cNvSpPr/>
          <p:nvPr/>
        </p:nvSpPr>
        <p:spPr>
          <a:xfrm>
            <a:off x="8961120" y="2103120"/>
            <a:ext cx="2697120" cy="356580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Shape 22"/>
          <p:cNvSpPr/>
          <p:nvPr/>
        </p:nvSpPr>
        <p:spPr>
          <a:xfrm>
            <a:off x="8961120" y="2103120"/>
            <a:ext cx="2697120" cy="109440"/>
          </a:xfrm>
          <a:prstGeom prst="rect">
            <a:avLst/>
          </a:prstGeom>
          <a:solidFill>
            <a:srgbClr val="B886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2" name="Shape 23"/>
          <p:cNvSpPr/>
          <p:nvPr/>
        </p:nvSpPr>
        <p:spPr>
          <a:xfrm>
            <a:off x="9189720" y="2331720"/>
            <a:ext cx="548280" cy="548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83" name="Image 3" descr="preencoded.png"/>
          <p:cNvPicPr/>
          <p:nvPr/>
        </p:nvPicPr>
        <p:blipFill>
          <a:blip r:embed="rId6"/>
          <a:stretch/>
        </p:blipFill>
        <p:spPr>
          <a:xfrm>
            <a:off x="9310320" y="2452320"/>
            <a:ext cx="306720" cy="306720"/>
          </a:xfrm>
          <a:prstGeom prst="rect">
            <a:avLst/>
          </a:prstGeom>
          <a:ln w="0">
            <a:noFill/>
          </a:ln>
        </p:spPr>
      </p:pic>
      <p:sp>
        <p:nvSpPr>
          <p:cNvPr id="384" name="Text 24"/>
          <p:cNvSpPr/>
          <p:nvPr/>
        </p:nvSpPr>
        <p:spPr>
          <a:xfrm>
            <a:off x="9189720" y="3017520"/>
            <a:ext cx="22399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strike="noStrike" spc="-1">
                <a:solidFill>
                  <a:srgbClr val="231F20"/>
                </a:solidFill>
                <a:latin typeface="Open Sans"/>
                <a:ea typeface="Open Sans"/>
              </a:rPr>
              <a:t>Error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Text 25"/>
          <p:cNvSpPr/>
          <p:nvPr/>
        </p:nvSpPr>
        <p:spPr>
          <a:xfrm>
            <a:off x="9189720" y="3456360"/>
            <a:ext cx="22399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i="1" strike="noStrike" spc="-1">
                <a:solidFill>
                  <a:srgbClr val="B8860B"/>
                </a:solidFill>
                <a:latin typeface="Calibri"/>
                <a:ea typeface="Calibri"/>
              </a:rPr>
              <a:t>Something failed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Text 26"/>
          <p:cNvSpPr/>
          <p:nvPr/>
        </p:nvSpPr>
        <p:spPr>
          <a:xfrm>
            <a:off x="9189720" y="3840480"/>
            <a:ext cx="2239920" cy="164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3A3536"/>
                </a:solidFill>
                <a:latin typeface="Calibri"/>
                <a:ea typeface="Calibri"/>
              </a:rPr>
              <a:t>A structured error code and message, tied to a request.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Text 27"/>
          <p:cNvSpPr/>
          <p:nvPr/>
        </p:nvSpPr>
        <p:spPr>
          <a:xfrm>
            <a:off x="457200" y="5852160"/>
            <a:ext cx="112467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strike="noStrike" spc="-1">
                <a:solidFill>
                  <a:srgbClr val="8A8385"/>
                </a:solidFill>
                <a:latin typeface="Calibri"/>
                <a:ea typeface="Calibri"/>
              </a:rPr>
              <a:t>Requests and responses pair up by id; notifications travel one-way. That's the whole grammar.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Shape 28"/>
          <p:cNvSpPr/>
          <p:nvPr/>
        </p:nvSpPr>
        <p:spPr>
          <a:xfrm>
            <a:off x="0" y="0"/>
            <a:ext cx="12161160" cy="7272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89" name="Image 4" descr="fhb_logo.png"/>
          <p:cNvPicPr/>
          <p:nvPr/>
        </p:nvPicPr>
        <p:blipFill>
          <a:blip r:embed="rId7"/>
          <a:stretch/>
        </p:blipFill>
        <p:spPr>
          <a:xfrm>
            <a:off x="10031040" y="146160"/>
            <a:ext cx="1828440" cy="338040"/>
          </a:xfrm>
          <a:prstGeom prst="rect">
            <a:avLst/>
          </a:prstGeom>
          <a:ln w="0">
            <a:noFill/>
          </a:ln>
        </p:spPr>
      </p:pic>
      <p:sp>
        <p:nvSpPr>
          <p:cNvPr id="390" name="Shape 29"/>
          <p:cNvSpPr/>
          <p:nvPr/>
        </p:nvSpPr>
        <p:spPr>
          <a:xfrm>
            <a:off x="457200" y="6583680"/>
            <a:ext cx="11274120" cy="1980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Shape 30"/>
          <p:cNvSpPr/>
          <p:nvPr/>
        </p:nvSpPr>
        <p:spPr>
          <a:xfrm>
            <a:off x="457200" y="6510600"/>
            <a:ext cx="164160" cy="16416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2" name="Text 31"/>
          <p:cNvSpPr/>
          <p:nvPr/>
        </p:nvSpPr>
        <p:spPr>
          <a:xfrm>
            <a:off x="713160" y="64008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MCP &amp; Agentic AI  ·  Deck 1 of 3  ·  Architecture &amp; Mechanics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Text 32"/>
          <p:cNvSpPr/>
          <p:nvPr/>
        </p:nvSpPr>
        <p:spPr>
          <a:xfrm>
            <a:off x="111556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12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Text 0"/>
          <p:cNvSpPr/>
          <p:nvPr/>
        </p:nvSpPr>
        <p:spPr>
          <a:xfrm>
            <a:off x="457200" y="457200"/>
            <a:ext cx="9417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299">
                <a:solidFill>
                  <a:srgbClr val="8B0E15"/>
                </a:solidFill>
                <a:latin typeface="Calibri"/>
                <a:ea typeface="Calibri"/>
              </a:rPr>
              <a:t>PUTTING THE GRAMMAR TO WORK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Text 1"/>
          <p:cNvSpPr/>
          <p:nvPr/>
        </p:nvSpPr>
        <p:spPr>
          <a:xfrm>
            <a:off x="457200" y="73152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231F20"/>
                </a:solidFill>
                <a:latin typeface="Open Sans"/>
                <a:ea typeface="Open Sans"/>
              </a:rPr>
              <a:t>A typical exchange: connect, discover, work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Text 2"/>
          <p:cNvSpPr/>
          <p:nvPr/>
        </p:nvSpPr>
        <p:spPr>
          <a:xfrm>
            <a:off x="457200" y="1371600"/>
            <a:ext cx="11246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strike="noStrike" spc="-1">
                <a:solidFill>
                  <a:srgbClr val="3A3536"/>
                </a:solidFill>
                <a:latin typeface="Calibri"/>
                <a:ea typeface="Calibri"/>
              </a:rPr>
              <a:t>Every MCP session follows the same shape — a handshake to agree on capabilities, discovery of what's available, then the actual work.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97" name="Image 0" descr="assets/seq_handshake.png"/>
          <p:cNvPicPr/>
          <p:nvPr/>
        </p:nvPicPr>
        <p:blipFill>
          <a:blip r:embed="rId3"/>
          <a:stretch/>
        </p:blipFill>
        <p:spPr>
          <a:xfrm>
            <a:off x="457200" y="1920240"/>
            <a:ext cx="4708800" cy="4205880"/>
          </a:xfrm>
          <a:prstGeom prst="rect">
            <a:avLst/>
          </a:prstGeom>
          <a:ln w="0">
            <a:noFill/>
          </a:ln>
        </p:spPr>
      </p:pic>
      <p:sp>
        <p:nvSpPr>
          <p:cNvPr id="398" name="Shape 3"/>
          <p:cNvSpPr/>
          <p:nvPr/>
        </p:nvSpPr>
        <p:spPr>
          <a:xfrm>
            <a:off x="7589520" y="1965960"/>
            <a:ext cx="456840" cy="456840"/>
          </a:xfrm>
          <a:prstGeom prst="ellipse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9" name="Text 4"/>
          <p:cNvSpPr/>
          <p:nvPr/>
        </p:nvSpPr>
        <p:spPr>
          <a:xfrm>
            <a:off x="7589520" y="19659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FFFFFF"/>
                </a:solidFill>
                <a:latin typeface="Open Sans"/>
                <a:ea typeface="Open Sans"/>
              </a:rPr>
              <a:t>1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Text 5"/>
          <p:cNvSpPr/>
          <p:nvPr/>
        </p:nvSpPr>
        <p:spPr>
          <a:xfrm>
            <a:off x="8183880" y="1947600"/>
            <a:ext cx="35658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strike="noStrike" spc="-1">
                <a:solidFill>
                  <a:srgbClr val="231F20"/>
                </a:solidFill>
                <a:latin typeface="Open Sans"/>
                <a:ea typeface="Open Sans"/>
              </a:rPr>
              <a:t>Connect</a:t>
            </a:r>
            <a:endParaRPr lang="en-US" sz="1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Text 6"/>
          <p:cNvSpPr/>
          <p:nvPr/>
        </p:nvSpPr>
        <p:spPr>
          <a:xfrm>
            <a:off x="8183880" y="2350080"/>
            <a:ext cx="361152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3A3536"/>
                </a:solidFill>
                <a:latin typeface="Calibri"/>
                <a:ea typeface="Calibri"/>
              </a:rPr>
              <a:t>The client introduces itself and the two sides negotiate what each supports. Nothing happens until they agree.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Shape 7"/>
          <p:cNvSpPr/>
          <p:nvPr/>
        </p:nvSpPr>
        <p:spPr>
          <a:xfrm>
            <a:off x="7589520" y="3337560"/>
            <a:ext cx="456840" cy="456840"/>
          </a:xfrm>
          <a:prstGeom prst="ellipse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3" name="Text 8"/>
          <p:cNvSpPr/>
          <p:nvPr/>
        </p:nvSpPr>
        <p:spPr>
          <a:xfrm>
            <a:off x="7589520" y="33375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FFFFFF"/>
                </a:solidFill>
                <a:latin typeface="Open Sans"/>
                <a:ea typeface="Open Sans"/>
              </a:rPr>
              <a:t>2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Text 9"/>
          <p:cNvSpPr/>
          <p:nvPr/>
        </p:nvSpPr>
        <p:spPr>
          <a:xfrm>
            <a:off x="8183880" y="3319200"/>
            <a:ext cx="35658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strike="noStrike" spc="-1">
                <a:solidFill>
                  <a:srgbClr val="231F20"/>
                </a:solidFill>
                <a:latin typeface="Open Sans"/>
                <a:ea typeface="Open Sans"/>
              </a:rPr>
              <a:t>Discover</a:t>
            </a:r>
            <a:endParaRPr lang="en-US" sz="1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Text 10"/>
          <p:cNvSpPr/>
          <p:nvPr/>
        </p:nvSpPr>
        <p:spPr>
          <a:xfrm>
            <a:off x="8183880" y="3721680"/>
            <a:ext cx="361152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3A3536"/>
                </a:solidFill>
                <a:latin typeface="Calibri"/>
                <a:ea typeface="Calibri"/>
              </a:rPr>
              <a:t>The client asks what the server offers — listing tools (and resources, prompts).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Shape 11"/>
          <p:cNvSpPr/>
          <p:nvPr/>
        </p:nvSpPr>
        <p:spPr>
          <a:xfrm>
            <a:off x="7589520" y="4709160"/>
            <a:ext cx="456840" cy="456840"/>
          </a:xfrm>
          <a:prstGeom prst="ellipse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7" name="Text 12"/>
          <p:cNvSpPr/>
          <p:nvPr/>
        </p:nvSpPr>
        <p:spPr>
          <a:xfrm>
            <a:off x="7589520" y="47091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FFFFFF"/>
                </a:solidFill>
                <a:latin typeface="Open Sans"/>
                <a:ea typeface="Open Sans"/>
              </a:rPr>
              <a:t>3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Text 13"/>
          <p:cNvSpPr/>
          <p:nvPr/>
        </p:nvSpPr>
        <p:spPr>
          <a:xfrm>
            <a:off x="8183880" y="4690800"/>
            <a:ext cx="35658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strike="noStrike" spc="-1">
                <a:solidFill>
                  <a:srgbClr val="231F20"/>
                </a:solidFill>
                <a:latin typeface="Open Sans"/>
                <a:ea typeface="Open Sans"/>
              </a:rPr>
              <a:t>Work</a:t>
            </a:r>
            <a:endParaRPr lang="en-US" sz="1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Text 14"/>
          <p:cNvSpPr/>
          <p:nvPr/>
        </p:nvSpPr>
        <p:spPr>
          <a:xfrm>
            <a:off x="8183880" y="5093280"/>
            <a:ext cx="361152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3A3536"/>
                </a:solidFill>
                <a:latin typeface="Calibri"/>
                <a:ea typeface="Calibri"/>
              </a:rPr>
              <a:t>Only now does the real task run: call a tool, get a result. Repeat as needed.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Shape 15"/>
          <p:cNvSpPr/>
          <p:nvPr/>
        </p:nvSpPr>
        <p:spPr>
          <a:xfrm>
            <a:off x="0" y="0"/>
            <a:ext cx="12161160" cy="7272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11" name="Image 1" descr="fhb_logo.png"/>
          <p:cNvPicPr/>
          <p:nvPr/>
        </p:nvPicPr>
        <p:blipFill>
          <a:blip r:embed="rId4"/>
          <a:stretch/>
        </p:blipFill>
        <p:spPr>
          <a:xfrm>
            <a:off x="10031040" y="146160"/>
            <a:ext cx="1828440" cy="338040"/>
          </a:xfrm>
          <a:prstGeom prst="rect">
            <a:avLst/>
          </a:prstGeom>
          <a:ln w="0">
            <a:noFill/>
          </a:ln>
        </p:spPr>
      </p:pic>
      <p:sp>
        <p:nvSpPr>
          <p:cNvPr id="412" name="Shape 16"/>
          <p:cNvSpPr/>
          <p:nvPr/>
        </p:nvSpPr>
        <p:spPr>
          <a:xfrm>
            <a:off x="457200" y="6583680"/>
            <a:ext cx="11274120" cy="1980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Shape 17"/>
          <p:cNvSpPr/>
          <p:nvPr/>
        </p:nvSpPr>
        <p:spPr>
          <a:xfrm>
            <a:off x="457200" y="6510600"/>
            <a:ext cx="164160" cy="16416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4" name="Text 18"/>
          <p:cNvSpPr/>
          <p:nvPr/>
        </p:nvSpPr>
        <p:spPr>
          <a:xfrm>
            <a:off x="713160" y="64008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MCP &amp; Agentic AI  ·  Deck 1 of 3  ·  Architecture &amp; Mechanics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Text 19"/>
          <p:cNvSpPr/>
          <p:nvPr/>
        </p:nvSpPr>
        <p:spPr>
          <a:xfrm>
            <a:off x="111556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13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Text 0"/>
          <p:cNvSpPr/>
          <p:nvPr/>
        </p:nvSpPr>
        <p:spPr>
          <a:xfrm>
            <a:off x="457200" y="457200"/>
            <a:ext cx="9417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299">
                <a:solidFill>
                  <a:srgbClr val="8B0E15"/>
                </a:solidFill>
                <a:latin typeface="Calibri"/>
                <a:ea typeface="Calibri"/>
              </a:rPr>
              <a:t>A PRODUCTION DEPLOYMENT NOTE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Text 1"/>
          <p:cNvSpPr/>
          <p:nvPr/>
        </p:nvSpPr>
        <p:spPr>
          <a:xfrm>
            <a:off x="457200" y="73152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231F20"/>
                </a:solidFill>
                <a:latin typeface="Open Sans"/>
                <a:ea typeface="Open Sans"/>
              </a:rPr>
              <a:t>Stateless mode — trading the channel for scale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Text 2"/>
          <p:cNvSpPr/>
          <p:nvPr/>
        </p:nvSpPr>
        <p:spPr>
          <a:xfrm>
            <a:off x="457200" y="1371600"/>
            <a:ext cx="112467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3A3536"/>
                </a:solidFill>
                <a:latin typeface="Calibri"/>
                <a:ea typeface="Calibri"/>
              </a:rPr>
              <a:t>Slide 8 made the persistent connection the point. But the SDK lets you deliberately turn it off — and in a load-balanced deployment, that's often the right call.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Shape 3"/>
          <p:cNvSpPr/>
          <p:nvPr/>
        </p:nvSpPr>
        <p:spPr>
          <a:xfrm>
            <a:off x="457200" y="2194560"/>
            <a:ext cx="5531760" cy="370296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Shape 4"/>
          <p:cNvSpPr/>
          <p:nvPr/>
        </p:nvSpPr>
        <p:spPr>
          <a:xfrm>
            <a:off x="457200" y="2194560"/>
            <a:ext cx="5531760" cy="10944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1" name="Text 5"/>
          <p:cNvSpPr/>
          <p:nvPr/>
        </p:nvSpPr>
        <p:spPr>
          <a:xfrm>
            <a:off x="713160" y="2377440"/>
            <a:ext cx="5028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199">
                <a:solidFill>
                  <a:srgbClr val="8B0E15"/>
                </a:solidFill>
                <a:latin typeface="Calibri"/>
                <a:ea typeface="Calibri"/>
              </a:rPr>
              <a:t>THE TWO SETTINGS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Shape 6"/>
          <p:cNvSpPr/>
          <p:nvPr/>
        </p:nvSpPr>
        <p:spPr>
          <a:xfrm>
            <a:off x="713160" y="2724840"/>
            <a:ext cx="5028840" cy="1371240"/>
          </a:xfrm>
          <a:prstGeom prst="rect">
            <a:avLst/>
          </a:prstGeom>
          <a:solidFill>
            <a:srgbClr val="231F2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3" name="Text 7"/>
          <p:cNvSpPr/>
          <p:nvPr/>
        </p:nvSpPr>
        <p:spPr>
          <a:xfrm>
            <a:off x="868680" y="2853000"/>
            <a:ext cx="4754520" cy="114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F0E8DC"/>
                </a:solidFill>
                <a:latin typeface="Consolas"/>
                <a:ea typeface="Consolas"/>
              </a:rPr>
              <a:t>FastMCP(</a:t>
            </a:r>
            <a:r>
              <a:rPr lang="en-US" sz="1400" b="0" strike="noStrike" spc="-1">
                <a:solidFill>
                  <a:srgbClr val="F5A800"/>
                </a:solidFill>
                <a:latin typeface="Consolas"/>
                <a:ea typeface="Consolas"/>
              </a:rPr>
              <a:t>"server"</a:t>
            </a:r>
            <a:r>
              <a:rPr lang="en-US" sz="1400" b="0" strike="noStrike" spc="-1">
                <a:solidFill>
                  <a:srgbClr val="F0E8DC"/>
                </a:solidFill>
                <a:latin typeface="Consolas"/>
                <a:ea typeface="Consolas"/>
              </a:rPr>
              <a:t>,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F0E8DC"/>
                </a:solidFill>
                <a:latin typeface="Consolas"/>
                <a:ea typeface="Consolas"/>
              </a:rPr>
              <a:t>  stateless_http=</a:t>
            </a:r>
            <a:r>
              <a:rPr lang="en-US" sz="1400" b="0" strike="noStrike" spc="-1">
                <a:solidFill>
                  <a:srgbClr val="7FB3E0"/>
                </a:solidFill>
                <a:latin typeface="Consolas"/>
                <a:ea typeface="Consolas"/>
              </a:rPr>
              <a:t>True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F0E8DC"/>
                </a:solidFill>
                <a:latin typeface="Consolas"/>
                <a:ea typeface="Consolas"/>
              </a:rPr>
              <a:t>  json_response=</a:t>
            </a:r>
            <a:r>
              <a:rPr lang="en-US" sz="1400" b="0" strike="noStrike" spc="-1">
                <a:solidFill>
                  <a:srgbClr val="7FB3E0"/>
                </a:solidFill>
                <a:latin typeface="Consolas"/>
                <a:ea typeface="Consolas"/>
              </a:rPr>
              <a:t>True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F0E8DC"/>
                </a:solidFill>
                <a:latin typeface="Consolas"/>
                <a:ea typeface="Consolas"/>
              </a:rPr>
              <a:t>)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Text 8"/>
          <p:cNvSpPr/>
          <p:nvPr/>
        </p:nvSpPr>
        <p:spPr>
          <a:xfrm>
            <a:off x="713160" y="4251960"/>
            <a:ext cx="5028840" cy="1554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231F20"/>
                </a:solidFill>
                <a:latin typeface="Consolas"/>
                <a:ea typeface="Consolas"/>
              </a:rPr>
              <a:t>stateless_http=True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3A3536"/>
                </a:solidFill>
                <a:latin typeface="Calibri"/>
                <a:ea typeface="Calibri"/>
              </a:rPr>
              <a:t>A fresh transport per request — no session is kept between calls.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endParaRPr lang="en-US" sz="6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endParaRPr lang="en-US" sz="6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231F20"/>
                </a:solidFill>
                <a:latin typeface="Consolas"/>
                <a:ea typeface="Consolas"/>
              </a:rPr>
              <a:t>json_response=True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3A3536"/>
                </a:solidFill>
                <a:latin typeface="Calibri"/>
                <a:ea typeface="Calibri"/>
              </a:rPr>
              <a:t>Reply with a single JSON response instead of an SSE stream.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Shape 9"/>
          <p:cNvSpPr/>
          <p:nvPr/>
        </p:nvSpPr>
        <p:spPr>
          <a:xfrm>
            <a:off x="6172200" y="2194560"/>
            <a:ext cx="5531760" cy="3702960"/>
          </a:xfrm>
          <a:prstGeom prst="rect">
            <a:avLst/>
          </a:prstGeom>
          <a:solidFill>
            <a:srgbClr val="5A0E12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6" name="Shape 10"/>
          <p:cNvSpPr/>
          <p:nvPr/>
        </p:nvSpPr>
        <p:spPr>
          <a:xfrm>
            <a:off x="6172200" y="2194560"/>
            <a:ext cx="5531760" cy="10944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Text 11"/>
          <p:cNvSpPr/>
          <p:nvPr/>
        </p:nvSpPr>
        <p:spPr>
          <a:xfrm>
            <a:off x="6428160" y="2377440"/>
            <a:ext cx="5028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199">
                <a:solidFill>
                  <a:srgbClr val="F5A800"/>
                </a:solidFill>
                <a:latin typeface="Calibri"/>
                <a:ea typeface="Calibri"/>
              </a:rPr>
              <a:t>WHY: HORIZONTAL SCALE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Shape 12"/>
          <p:cNvSpPr/>
          <p:nvPr/>
        </p:nvSpPr>
        <p:spPr>
          <a:xfrm>
            <a:off x="6812280" y="2788920"/>
            <a:ext cx="1371240" cy="502560"/>
          </a:xfrm>
          <a:prstGeom prst="roundRect">
            <a:avLst>
              <a:gd name="adj" fmla="val 9091"/>
            </a:avLst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Text 13"/>
          <p:cNvSpPr/>
          <p:nvPr/>
        </p:nvSpPr>
        <p:spPr>
          <a:xfrm>
            <a:off x="6812280" y="2788920"/>
            <a:ext cx="13712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231F20"/>
                </a:solidFill>
                <a:latin typeface="Calibri"/>
                <a:ea typeface="Calibri"/>
              </a:rPr>
              <a:t>Load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en-US" sz="950" b="1" strike="noStrike" spc="-1">
                <a:solidFill>
                  <a:srgbClr val="231F20"/>
                </a:solidFill>
                <a:latin typeface="Calibri"/>
                <a:ea typeface="Calibri"/>
              </a:rPr>
              <a:t>balancer</a:t>
            </a:r>
            <a:endParaRPr lang="en-US" sz="9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Shape 14"/>
          <p:cNvSpPr/>
          <p:nvPr/>
        </p:nvSpPr>
        <p:spPr>
          <a:xfrm>
            <a:off x="9509760" y="2743200"/>
            <a:ext cx="1554120" cy="456840"/>
          </a:xfrm>
          <a:prstGeom prst="roundRect">
            <a:avLst>
              <a:gd name="adj" fmla="val 8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5A8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Text 15"/>
          <p:cNvSpPr/>
          <p:nvPr/>
        </p:nvSpPr>
        <p:spPr>
          <a:xfrm>
            <a:off x="9509760" y="2743200"/>
            <a:ext cx="15541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F0E8DC"/>
                </a:solidFill>
                <a:latin typeface="Calibri"/>
                <a:ea typeface="Calibri"/>
              </a:rPr>
              <a:t>replica 1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Shape 16"/>
          <p:cNvSpPr/>
          <p:nvPr/>
        </p:nvSpPr>
        <p:spPr>
          <a:xfrm flipV="1">
            <a:off x="8183880" y="2971800"/>
            <a:ext cx="1325880" cy="63720"/>
          </a:xfrm>
          <a:prstGeom prst="line">
            <a:avLst/>
          </a:prstGeom>
          <a:ln w="12700">
            <a:solidFill>
              <a:srgbClr val="C9BBA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8720" rIns="90000" bIns="1872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Shape 17"/>
          <p:cNvSpPr/>
          <p:nvPr/>
        </p:nvSpPr>
        <p:spPr>
          <a:xfrm>
            <a:off x="9509760" y="3310200"/>
            <a:ext cx="1554120" cy="456840"/>
          </a:xfrm>
          <a:prstGeom prst="roundRect">
            <a:avLst>
              <a:gd name="adj" fmla="val 8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5A8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Text 18"/>
          <p:cNvSpPr/>
          <p:nvPr/>
        </p:nvSpPr>
        <p:spPr>
          <a:xfrm>
            <a:off x="9509760" y="3310200"/>
            <a:ext cx="15541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F0E8DC"/>
                </a:solidFill>
                <a:latin typeface="Calibri"/>
                <a:ea typeface="Calibri"/>
              </a:rPr>
              <a:t>replica 2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Shape 19"/>
          <p:cNvSpPr/>
          <p:nvPr/>
        </p:nvSpPr>
        <p:spPr>
          <a:xfrm>
            <a:off x="8183880" y="3035520"/>
            <a:ext cx="1325880" cy="502920"/>
          </a:xfrm>
          <a:prstGeom prst="line">
            <a:avLst/>
          </a:prstGeom>
          <a:ln w="12700">
            <a:solidFill>
              <a:srgbClr val="C9BBA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Shape 20"/>
          <p:cNvSpPr/>
          <p:nvPr/>
        </p:nvSpPr>
        <p:spPr>
          <a:xfrm>
            <a:off x="9509760" y="3877200"/>
            <a:ext cx="1554120" cy="456840"/>
          </a:xfrm>
          <a:prstGeom prst="roundRect">
            <a:avLst>
              <a:gd name="adj" fmla="val 8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5A8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Text 21"/>
          <p:cNvSpPr/>
          <p:nvPr/>
        </p:nvSpPr>
        <p:spPr>
          <a:xfrm>
            <a:off x="9509760" y="3877200"/>
            <a:ext cx="15541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strike="noStrike" spc="-1">
                <a:solidFill>
                  <a:srgbClr val="F0E8DC"/>
                </a:solidFill>
                <a:latin typeface="Calibri"/>
                <a:ea typeface="Calibri"/>
              </a:rPr>
              <a:t>replica 3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Shape 22"/>
          <p:cNvSpPr/>
          <p:nvPr/>
        </p:nvSpPr>
        <p:spPr>
          <a:xfrm>
            <a:off x="8183880" y="3035520"/>
            <a:ext cx="1325880" cy="1069920"/>
          </a:xfrm>
          <a:prstGeom prst="line">
            <a:avLst/>
          </a:prstGeom>
          <a:ln w="12700">
            <a:solidFill>
              <a:srgbClr val="C9BBA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Text 23"/>
          <p:cNvSpPr/>
          <p:nvPr/>
        </p:nvSpPr>
        <p:spPr>
          <a:xfrm>
            <a:off x="6428160" y="4572000"/>
            <a:ext cx="50288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F0E8DC"/>
                </a:solidFill>
                <a:latin typeface="Calibri"/>
                <a:ea typeface="Calibri"/>
              </a:rPr>
              <a:t>Any replica can serve any request, because none of them needs to remember a prior one.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Text 24"/>
          <p:cNvSpPr/>
          <p:nvPr/>
        </p:nvSpPr>
        <p:spPr>
          <a:xfrm>
            <a:off x="6428160" y="5166360"/>
            <a:ext cx="51202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strike="noStrike" spc="-1">
                <a:solidFill>
                  <a:srgbClr val="F5A800"/>
                </a:solidFill>
                <a:latin typeface="Calibri"/>
                <a:ea typeface="Calibri"/>
              </a:rPr>
              <a:t>Solves:  </a:t>
            </a:r>
            <a:r>
              <a:rPr lang="en-US" sz="1150" b="0" strike="noStrike" spc="-1">
                <a:solidFill>
                  <a:srgbClr val="E8DFD2"/>
                </a:solidFill>
                <a:latin typeface="Calibri"/>
                <a:ea typeface="Calibri"/>
              </a:rPr>
              <a:t>the "session not found" error you hit when a load balancer routes a follow-up request to a replica that never held the session.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Shape 25"/>
          <p:cNvSpPr/>
          <p:nvPr/>
        </p:nvSpPr>
        <p:spPr>
          <a:xfrm>
            <a:off x="457200" y="6035040"/>
            <a:ext cx="11246760" cy="475200"/>
          </a:xfrm>
          <a:prstGeom prst="rect">
            <a:avLst/>
          </a:prstGeom>
          <a:solidFill>
            <a:srgbClr val="EFE9E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Text 26"/>
          <p:cNvSpPr/>
          <p:nvPr/>
        </p:nvSpPr>
        <p:spPr>
          <a:xfrm>
            <a:off x="640080" y="6035040"/>
            <a:ext cx="1097244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231F20"/>
                </a:solidFill>
                <a:latin typeface="Calibri"/>
                <a:ea typeface="Calibri"/>
              </a:rPr>
              <a:t>The trade-off:  </a:t>
            </a:r>
            <a:r>
              <a:rPr lang="en-US" sz="1200" b="0" strike="noStrike" spc="-1">
                <a:solidFill>
                  <a:srgbClr val="3A3536"/>
                </a:solidFill>
                <a:latin typeface="Calibri"/>
                <a:ea typeface="Calibri"/>
              </a:rPr>
              <a:t>you give up server-initiated messaging (slide 8) — progress, logs, sampling. Fine for simple request/response tools; wrong for long-running or interactive ones.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Shape 27"/>
          <p:cNvSpPr/>
          <p:nvPr/>
        </p:nvSpPr>
        <p:spPr>
          <a:xfrm>
            <a:off x="0" y="0"/>
            <a:ext cx="12161160" cy="7272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44" name="Image 0" descr="fhb_logo.png"/>
          <p:cNvPicPr/>
          <p:nvPr/>
        </p:nvPicPr>
        <p:blipFill>
          <a:blip r:embed="rId3"/>
          <a:stretch/>
        </p:blipFill>
        <p:spPr>
          <a:xfrm>
            <a:off x="10031040" y="146160"/>
            <a:ext cx="1828440" cy="338040"/>
          </a:xfrm>
          <a:prstGeom prst="rect">
            <a:avLst/>
          </a:prstGeom>
          <a:ln w="0">
            <a:noFill/>
          </a:ln>
        </p:spPr>
      </p:pic>
      <p:sp>
        <p:nvSpPr>
          <p:cNvPr id="445" name="Shape 28"/>
          <p:cNvSpPr/>
          <p:nvPr/>
        </p:nvSpPr>
        <p:spPr>
          <a:xfrm>
            <a:off x="457200" y="6583680"/>
            <a:ext cx="11274120" cy="1980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Shape 29"/>
          <p:cNvSpPr/>
          <p:nvPr/>
        </p:nvSpPr>
        <p:spPr>
          <a:xfrm>
            <a:off x="457200" y="6510600"/>
            <a:ext cx="164160" cy="16416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7" name="Text 30"/>
          <p:cNvSpPr/>
          <p:nvPr/>
        </p:nvSpPr>
        <p:spPr>
          <a:xfrm>
            <a:off x="713160" y="64008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MCP &amp; Agentic AI  ·  Deck 1 of 3  ·  Architecture &amp; Mechanics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Text 31"/>
          <p:cNvSpPr/>
          <p:nvPr/>
        </p:nvSpPr>
        <p:spPr>
          <a:xfrm>
            <a:off x="11155680" y="647388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14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A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Shape 0"/>
          <p:cNvSpPr/>
          <p:nvPr/>
        </p:nvSpPr>
        <p:spPr>
          <a:xfrm>
            <a:off x="0" y="0"/>
            <a:ext cx="12161160" cy="7272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Shape 1"/>
          <p:cNvSpPr/>
          <p:nvPr/>
        </p:nvSpPr>
        <p:spPr>
          <a:xfrm>
            <a:off x="9829800" y="164520"/>
            <a:ext cx="2057040" cy="5025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51" name="Image 0" descr="fhb_logo.png"/>
          <p:cNvPicPr/>
          <p:nvPr/>
        </p:nvPicPr>
        <p:blipFill>
          <a:blip r:embed="rId3"/>
          <a:stretch/>
        </p:blipFill>
        <p:spPr>
          <a:xfrm>
            <a:off x="9921240" y="255960"/>
            <a:ext cx="1828440" cy="338040"/>
          </a:xfrm>
          <a:prstGeom prst="rect">
            <a:avLst/>
          </a:prstGeom>
          <a:ln w="0">
            <a:noFill/>
          </a:ln>
        </p:spPr>
      </p:pic>
      <p:sp>
        <p:nvSpPr>
          <p:cNvPr id="452" name="Shape 2"/>
          <p:cNvSpPr/>
          <p:nvPr/>
        </p:nvSpPr>
        <p:spPr>
          <a:xfrm>
            <a:off x="457200" y="6583680"/>
            <a:ext cx="11274120" cy="1980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Shape 3"/>
          <p:cNvSpPr/>
          <p:nvPr/>
        </p:nvSpPr>
        <p:spPr>
          <a:xfrm>
            <a:off x="457200" y="6510600"/>
            <a:ext cx="164160" cy="1641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Shape 4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5" name="Text 5"/>
          <p:cNvSpPr/>
          <p:nvPr/>
        </p:nvSpPr>
        <p:spPr>
          <a:xfrm>
            <a:off x="822960" y="54864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398">
                <a:solidFill>
                  <a:srgbClr val="F5A800"/>
                </a:solidFill>
                <a:latin typeface="Calibri"/>
                <a:ea typeface="Calibri"/>
              </a:rPr>
              <a:t>RECAP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6" name="Text 6"/>
          <p:cNvSpPr/>
          <p:nvPr/>
        </p:nvSpPr>
        <p:spPr>
          <a:xfrm>
            <a:off x="777240" y="91440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strike="noStrike" spc="-1">
                <a:solidFill>
                  <a:srgbClr val="FFFFFF"/>
                </a:solidFill>
                <a:latin typeface="Open Sans"/>
                <a:ea typeface="Open Sans"/>
              </a:rPr>
              <a:t>The mental model, in one slide</a:t>
            </a:r>
            <a:endParaRPr lang="en-US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7" name="Shape 7"/>
          <p:cNvSpPr/>
          <p:nvPr/>
        </p:nvSpPr>
        <p:spPr>
          <a:xfrm>
            <a:off x="822960" y="1920240"/>
            <a:ext cx="5211720" cy="14626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5A6B7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Shape 8"/>
          <p:cNvSpPr/>
          <p:nvPr/>
        </p:nvSpPr>
        <p:spPr>
          <a:xfrm>
            <a:off x="1051560" y="2148840"/>
            <a:ext cx="548280" cy="548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59" name="Image 1" descr="preencoded.png"/>
          <p:cNvPicPr/>
          <p:nvPr/>
        </p:nvPicPr>
        <p:blipFill>
          <a:blip r:embed="rId4"/>
          <a:stretch/>
        </p:blipFill>
        <p:spPr>
          <a:xfrm>
            <a:off x="1172160" y="2269440"/>
            <a:ext cx="306720" cy="306720"/>
          </a:xfrm>
          <a:prstGeom prst="rect">
            <a:avLst/>
          </a:prstGeom>
          <a:ln w="0">
            <a:noFill/>
          </a:ln>
        </p:spPr>
      </p:pic>
      <p:sp>
        <p:nvSpPr>
          <p:cNvPr id="460" name="Text 9"/>
          <p:cNvSpPr/>
          <p:nvPr/>
        </p:nvSpPr>
        <p:spPr>
          <a:xfrm>
            <a:off x="1783080" y="2121480"/>
            <a:ext cx="40230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FFFFFF"/>
                </a:solidFill>
                <a:latin typeface="Open Sans"/>
                <a:ea typeface="Open Sans"/>
              </a:rPr>
              <a:t>Four actors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1" name="Text 10"/>
          <p:cNvSpPr/>
          <p:nvPr/>
        </p:nvSpPr>
        <p:spPr>
          <a:xfrm>
            <a:off x="1783080" y="2487240"/>
            <a:ext cx="41144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E8DFD2"/>
                </a:solidFill>
                <a:latin typeface="Calibri"/>
                <a:ea typeface="Calibri"/>
              </a:rPr>
              <a:t>User, Host+LLM, Client, Server — one host, many clients, each 1:1 with a server.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2" name="Shape 11"/>
          <p:cNvSpPr/>
          <p:nvPr/>
        </p:nvSpPr>
        <p:spPr>
          <a:xfrm>
            <a:off x="6309360" y="1920240"/>
            <a:ext cx="5211720" cy="14626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5A6B7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Shape 12"/>
          <p:cNvSpPr/>
          <p:nvPr/>
        </p:nvSpPr>
        <p:spPr>
          <a:xfrm>
            <a:off x="6537960" y="2148840"/>
            <a:ext cx="548280" cy="548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64" name="Image 2" descr="preencoded.png"/>
          <p:cNvPicPr/>
          <p:nvPr/>
        </p:nvPicPr>
        <p:blipFill>
          <a:blip r:embed="rId5"/>
          <a:stretch/>
        </p:blipFill>
        <p:spPr>
          <a:xfrm>
            <a:off x="6658560" y="2269440"/>
            <a:ext cx="306720" cy="306720"/>
          </a:xfrm>
          <a:prstGeom prst="rect">
            <a:avLst/>
          </a:prstGeom>
          <a:ln w="0">
            <a:noFill/>
          </a:ln>
        </p:spPr>
      </p:pic>
      <p:sp>
        <p:nvSpPr>
          <p:cNvPr id="465" name="Text 13"/>
          <p:cNvSpPr/>
          <p:nvPr/>
        </p:nvSpPr>
        <p:spPr>
          <a:xfrm>
            <a:off x="7269480" y="2121480"/>
            <a:ext cx="40230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FFFFFF"/>
                </a:solidFill>
                <a:latin typeface="Open Sans"/>
                <a:ea typeface="Open Sans"/>
              </a:rPr>
              <a:t>Three primitives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6" name="Text 14"/>
          <p:cNvSpPr/>
          <p:nvPr/>
        </p:nvSpPr>
        <p:spPr>
          <a:xfrm>
            <a:off x="7269480" y="2487240"/>
            <a:ext cx="41144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E8DFD2"/>
                </a:solidFill>
                <a:latin typeface="Calibri"/>
                <a:ea typeface="Calibri"/>
              </a:rPr>
              <a:t>Tools (model), Resources (app/user), Prompts (user).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7" name="Shape 15"/>
          <p:cNvSpPr/>
          <p:nvPr/>
        </p:nvSpPr>
        <p:spPr>
          <a:xfrm>
            <a:off x="822960" y="3611880"/>
            <a:ext cx="5211720" cy="14626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5A6B7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Shape 16"/>
          <p:cNvSpPr/>
          <p:nvPr/>
        </p:nvSpPr>
        <p:spPr>
          <a:xfrm>
            <a:off x="1051560" y="3840480"/>
            <a:ext cx="548280" cy="548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69" name="Image 3" descr="preencoded.png"/>
          <p:cNvPicPr/>
          <p:nvPr/>
        </p:nvPicPr>
        <p:blipFill>
          <a:blip r:embed="rId6"/>
          <a:stretch/>
        </p:blipFill>
        <p:spPr>
          <a:xfrm>
            <a:off x="1172160" y="3961080"/>
            <a:ext cx="306720" cy="306720"/>
          </a:xfrm>
          <a:prstGeom prst="rect">
            <a:avLst/>
          </a:prstGeom>
          <a:ln w="0">
            <a:noFill/>
          </a:ln>
        </p:spPr>
      </p:pic>
      <p:sp>
        <p:nvSpPr>
          <p:cNvPr id="470" name="Text 17"/>
          <p:cNvSpPr/>
          <p:nvPr/>
        </p:nvSpPr>
        <p:spPr>
          <a:xfrm>
            <a:off x="1783080" y="3813120"/>
            <a:ext cx="40230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FFFFFF"/>
                </a:solidFill>
                <a:latin typeface="Open Sans"/>
                <a:ea typeface="Open Sans"/>
              </a:rPr>
              <a:t>The inversion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1" name="Text 18"/>
          <p:cNvSpPr/>
          <p:nvPr/>
        </p:nvSpPr>
        <p:spPr>
          <a:xfrm>
            <a:off x="1783080" y="4178880"/>
            <a:ext cx="41144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E8DFD2"/>
                </a:solidFill>
                <a:latin typeface="Calibri"/>
                <a:ea typeface="Calibri"/>
              </a:rPr>
              <a:t>Servers can query and act — the root of the security story.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2" name="Shape 19"/>
          <p:cNvSpPr/>
          <p:nvPr/>
        </p:nvSpPr>
        <p:spPr>
          <a:xfrm>
            <a:off x="6309360" y="3611880"/>
            <a:ext cx="5211720" cy="14626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5A6B7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Shape 20"/>
          <p:cNvSpPr/>
          <p:nvPr/>
        </p:nvSpPr>
        <p:spPr>
          <a:xfrm>
            <a:off x="6537960" y="3840480"/>
            <a:ext cx="548280" cy="548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74" name="Image 4" descr="preencoded.png"/>
          <p:cNvPicPr/>
          <p:nvPr/>
        </p:nvPicPr>
        <p:blipFill>
          <a:blip r:embed="rId7"/>
          <a:stretch/>
        </p:blipFill>
        <p:spPr>
          <a:xfrm>
            <a:off x="6658560" y="3961080"/>
            <a:ext cx="306720" cy="306720"/>
          </a:xfrm>
          <a:prstGeom prst="rect">
            <a:avLst/>
          </a:prstGeom>
          <a:ln w="0">
            <a:noFill/>
          </a:ln>
        </p:spPr>
      </p:pic>
      <p:sp>
        <p:nvSpPr>
          <p:cNvPr id="475" name="Text 21"/>
          <p:cNvSpPr/>
          <p:nvPr/>
        </p:nvSpPr>
        <p:spPr>
          <a:xfrm>
            <a:off x="7269480" y="3813120"/>
            <a:ext cx="40230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FFFFFF"/>
                </a:solidFill>
                <a:latin typeface="Open Sans"/>
                <a:ea typeface="Open Sans"/>
              </a:rPr>
              <a:t>One exchange shape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6" name="Text 22"/>
          <p:cNvSpPr/>
          <p:nvPr/>
        </p:nvSpPr>
        <p:spPr>
          <a:xfrm>
            <a:off x="7269480" y="4178880"/>
            <a:ext cx="41144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E8DFD2"/>
                </a:solidFill>
                <a:latin typeface="Calibri"/>
                <a:ea typeface="Calibri"/>
              </a:rPr>
              <a:t>Connect → discover → work, spoken in JSON-RPC messages.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7" name="Shape 23"/>
          <p:cNvSpPr/>
          <p:nvPr/>
        </p:nvSpPr>
        <p:spPr>
          <a:xfrm>
            <a:off x="822960" y="5440680"/>
            <a:ext cx="10515240" cy="77688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8" name="Text 24"/>
          <p:cNvSpPr/>
          <p:nvPr/>
        </p:nvSpPr>
        <p:spPr>
          <a:xfrm>
            <a:off x="1097280" y="5440680"/>
            <a:ext cx="1005804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FFFFFF"/>
                </a:solidFill>
                <a:latin typeface="Calibri"/>
                <a:ea typeface="Calibri"/>
              </a:rPr>
              <a:t>NEXT — Deck 2: The MCP Specification.  </a:t>
            </a:r>
            <a:r>
              <a:rPr lang="en-US" sz="1500" b="0" strike="noStrike" spc="-1">
                <a:solidFill>
                  <a:srgbClr val="E6F2F1"/>
                </a:solidFill>
                <a:latin typeface="Calibri"/>
                <a:ea typeface="Calibri"/>
              </a:rPr>
              <a:t>From this mental model to what the spec actually requires.</a:t>
            </a:r>
            <a:endParaRPr lang="en-US" sz="15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8" name="Image 0" descr="fhb_rainbow.png"/>
          <p:cNvPicPr/>
          <p:nvPr/>
        </p:nvPicPr>
        <p:blipFill>
          <a:blip r:embed="rId2"/>
          <a:stretch/>
        </p:blipFill>
        <p:spPr>
          <a:xfrm>
            <a:off x="-1554480" y="1828800"/>
            <a:ext cx="5028840" cy="5028840"/>
          </a:xfrm>
          <a:prstGeom prst="rect">
            <a:avLst/>
          </a:prstGeom>
          <a:ln w="0">
            <a:noFill/>
          </a:ln>
        </p:spPr>
      </p:pic>
      <p:pic>
        <p:nvPicPr>
          <p:cNvPr id="9" name="Image 1" descr="fhb_logo.png"/>
          <p:cNvPicPr/>
          <p:nvPr/>
        </p:nvPicPr>
        <p:blipFill>
          <a:blip r:embed="rId4"/>
          <a:stretch/>
        </p:blipFill>
        <p:spPr>
          <a:xfrm>
            <a:off x="8686800" y="457200"/>
            <a:ext cx="2742840" cy="502560"/>
          </a:xfrm>
          <a:prstGeom prst="rect">
            <a:avLst/>
          </a:prstGeom>
          <a:ln w="0">
            <a:noFill/>
          </a:ln>
        </p:spPr>
      </p:pic>
      <p:sp>
        <p:nvSpPr>
          <p:cNvPr id="10" name="Text 0"/>
          <p:cNvSpPr/>
          <p:nvPr/>
        </p:nvSpPr>
        <p:spPr>
          <a:xfrm>
            <a:off x="4572000" y="2148840"/>
            <a:ext cx="69490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299">
                <a:solidFill>
                  <a:srgbClr val="8B0E15"/>
                </a:solidFill>
                <a:latin typeface="Calibri"/>
                <a:ea typeface="Calibri"/>
              </a:rPr>
              <a:t>AI TRAINING SERIES  ·  PART 2 OF 3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4526280" y="2560320"/>
            <a:ext cx="704052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strike="noStrike" spc="-1">
                <a:solidFill>
                  <a:srgbClr val="8B0E15"/>
                </a:solidFill>
                <a:latin typeface="Open Sans"/>
                <a:ea typeface="Open Sans"/>
              </a:rPr>
              <a:t>The MCP Specification</a:t>
            </a: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4572000" y="3520440"/>
            <a:ext cx="69490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0" strike="noStrike" spc="-1">
                <a:solidFill>
                  <a:srgbClr val="231F20"/>
                </a:solidFill>
                <a:latin typeface="Open Sans"/>
                <a:ea typeface="Open Sans"/>
              </a:rPr>
              <a:t>From mental model to normative spec</a:t>
            </a:r>
            <a:endParaRPr lang="en-US" sz="2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4572000" y="4114800"/>
            <a:ext cx="2742840" cy="2700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7640" rIns="90000" bIns="-176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4572000" y="4297680"/>
            <a:ext cx="68576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3A3536"/>
                </a:solidFill>
                <a:latin typeface="Calibri"/>
                <a:ea typeface="Calibri"/>
              </a:rPr>
              <a:t>What the protocol actually requires — primitives, lifecycle, capabilities, transports, and the security model the spec defines.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Shape 5"/>
          <p:cNvSpPr/>
          <p:nvPr/>
        </p:nvSpPr>
        <p:spPr>
          <a:xfrm>
            <a:off x="4572000" y="5166360"/>
            <a:ext cx="6857640" cy="73116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Shape 6"/>
          <p:cNvSpPr/>
          <p:nvPr/>
        </p:nvSpPr>
        <p:spPr>
          <a:xfrm>
            <a:off x="4754880" y="5330880"/>
            <a:ext cx="402120" cy="4021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" name="Image 2" descr="preencoded.png"/>
          <p:cNvPicPr/>
          <p:nvPr/>
        </p:nvPicPr>
        <p:blipFill>
          <a:blip r:embed="rId3"/>
          <a:stretch/>
        </p:blipFill>
        <p:spPr>
          <a:xfrm>
            <a:off x="4843440" y="5419440"/>
            <a:ext cx="225000" cy="225000"/>
          </a:xfrm>
          <a:prstGeom prst="rect">
            <a:avLst/>
          </a:prstGeom>
          <a:ln w="0">
            <a:noFill/>
          </a:ln>
        </p:spPr>
      </p:pic>
      <p:sp>
        <p:nvSpPr>
          <p:cNvPr id="18" name="Text 7"/>
          <p:cNvSpPr/>
          <p:nvPr/>
        </p:nvSpPr>
        <p:spPr>
          <a:xfrm>
            <a:off x="5303520" y="5166360"/>
            <a:ext cx="59432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8B0E15"/>
                </a:solidFill>
                <a:latin typeface="Calibri"/>
                <a:ea typeface="Calibri"/>
              </a:rPr>
              <a:t>Revision  </a:t>
            </a:r>
            <a:r>
              <a:rPr lang="en-US" sz="1300" b="0" strike="noStrike" spc="-1">
                <a:solidFill>
                  <a:srgbClr val="3A3536"/>
                </a:solidFill>
                <a:latin typeface="Calibri"/>
                <a:ea typeface="Calibri"/>
              </a:rPr>
              <a:t>2025-11-25 (latest)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 8"/>
          <p:cNvSpPr/>
          <p:nvPr/>
        </p:nvSpPr>
        <p:spPr>
          <a:xfrm>
            <a:off x="4572000" y="5989320"/>
            <a:ext cx="6857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strike="noStrike" spc="-1">
                <a:solidFill>
                  <a:srgbClr val="8A8385"/>
                </a:solidFill>
                <a:latin typeface="Calibri"/>
                <a:ea typeface="Calibri"/>
              </a:rPr>
              <a:t>Deck 1 gave us the mental model. This deck is the rulebook.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Text 0"/>
          <p:cNvSpPr/>
          <p:nvPr/>
        </p:nvSpPr>
        <p:spPr>
          <a:xfrm>
            <a:off x="457200" y="457200"/>
            <a:ext cx="9417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299">
                <a:solidFill>
                  <a:srgbClr val="8B0E15"/>
                </a:solidFill>
                <a:latin typeface="Calibri"/>
                <a:ea typeface="Calibri"/>
              </a:rPr>
              <a:t>READING A NORMATIVE SPEC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 1"/>
          <p:cNvSpPr/>
          <p:nvPr/>
        </p:nvSpPr>
        <p:spPr>
          <a:xfrm>
            <a:off x="457200" y="73152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231F20"/>
                </a:solidFill>
                <a:latin typeface="Open Sans"/>
                <a:ea typeface="Open Sans"/>
              </a:rPr>
              <a:t>What a specification gives you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 2"/>
          <p:cNvSpPr/>
          <p:nvPr/>
        </p:nvSpPr>
        <p:spPr>
          <a:xfrm>
            <a:off x="457200" y="1371600"/>
            <a:ext cx="112467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1500" spc="-1" dirty="0">
                <a:solidFill>
                  <a:srgbClr val="3A3536"/>
                </a:solidFill>
                <a:ea typeface="Calibri"/>
                <a:hlinkClick r:id="rId2"/>
              </a:rPr>
              <a:t>https://github.com/modelcontextprotocol</a:t>
            </a:r>
            <a:r>
              <a:rPr lang="en-US" sz="1500" spc="-1" dirty="0">
                <a:solidFill>
                  <a:srgbClr val="3A3536"/>
                </a:solidFill>
                <a:ea typeface="Calibri"/>
              </a:rPr>
              <a:t> </a:t>
            </a:r>
            <a:endParaRPr lang="en-US" sz="15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Shape 3"/>
          <p:cNvSpPr/>
          <p:nvPr/>
        </p:nvSpPr>
        <p:spPr>
          <a:xfrm>
            <a:off x="457200" y="2148840"/>
            <a:ext cx="11246760" cy="1096920"/>
          </a:xfrm>
          <a:prstGeom prst="rect">
            <a:avLst/>
          </a:prstGeom>
          <a:solidFill>
            <a:srgbClr val="E3EEED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Shape 4"/>
          <p:cNvSpPr/>
          <p:nvPr/>
        </p:nvSpPr>
        <p:spPr>
          <a:xfrm>
            <a:off x="731520" y="2423160"/>
            <a:ext cx="548280" cy="548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" name="Image 0" descr="preencoded.png"/>
          <p:cNvPicPr/>
          <p:nvPr/>
        </p:nvPicPr>
        <p:blipFill>
          <a:blip r:embed="rId6"/>
          <a:stretch/>
        </p:blipFill>
        <p:spPr>
          <a:xfrm>
            <a:off x="852120" y="2543760"/>
            <a:ext cx="306720" cy="306720"/>
          </a:xfrm>
          <a:prstGeom prst="rect">
            <a:avLst/>
          </a:prstGeom>
          <a:ln w="0">
            <a:noFill/>
          </a:ln>
        </p:spPr>
      </p:pic>
      <p:sp>
        <p:nvSpPr>
          <p:cNvPr id="26" name="Text 5"/>
          <p:cNvSpPr/>
          <p:nvPr/>
        </p:nvSpPr>
        <p:spPr>
          <a:xfrm>
            <a:off x="1508760" y="2313360"/>
            <a:ext cx="365724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231F20"/>
                </a:solidFill>
                <a:latin typeface="Open Sans"/>
                <a:ea typeface="Open Sans"/>
              </a:rPr>
              <a:t>MUST / REQUIRED / SHALL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Text 6"/>
          <p:cNvSpPr/>
          <p:nvPr/>
        </p:nvSpPr>
        <p:spPr>
          <a:xfrm>
            <a:off x="5303520" y="2313360"/>
            <a:ext cx="612612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strike="noStrike" spc="-1">
                <a:solidFill>
                  <a:srgbClr val="3A3536"/>
                </a:solidFill>
                <a:latin typeface="Calibri"/>
                <a:ea typeface="Calibri"/>
              </a:rPr>
              <a:t>An absolute requirement. A conformant implementation has no choice — omitting it means it isn't MCP.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Shape 7"/>
          <p:cNvSpPr/>
          <p:nvPr/>
        </p:nvSpPr>
        <p:spPr>
          <a:xfrm>
            <a:off x="457200" y="3429000"/>
            <a:ext cx="11246760" cy="109692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Shape 8"/>
          <p:cNvSpPr/>
          <p:nvPr/>
        </p:nvSpPr>
        <p:spPr>
          <a:xfrm>
            <a:off x="731520" y="3703320"/>
            <a:ext cx="548280" cy="548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" name="Image 1" descr="preencoded.png"/>
          <p:cNvPicPr/>
          <p:nvPr/>
        </p:nvPicPr>
        <p:blipFill>
          <a:blip r:embed="rId5"/>
          <a:stretch/>
        </p:blipFill>
        <p:spPr>
          <a:xfrm>
            <a:off x="852120" y="3823920"/>
            <a:ext cx="306720" cy="306720"/>
          </a:xfrm>
          <a:prstGeom prst="rect">
            <a:avLst/>
          </a:prstGeom>
          <a:ln w="0">
            <a:noFill/>
          </a:ln>
        </p:spPr>
      </p:pic>
      <p:sp>
        <p:nvSpPr>
          <p:cNvPr id="31" name="Text 9"/>
          <p:cNvSpPr/>
          <p:nvPr/>
        </p:nvSpPr>
        <p:spPr>
          <a:xfrm>
            <a:off x="1508760" y="3593520"/>
            <a:ext cx="365724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231F20"/>
                </a:solidFill>
                <a:latin typeface="Open Sans"/>
                <a:ea typeface="Open Sans"/>
              </a:rPr>
              <a:t>SHOULD / RECOMMENDED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Text 10"/>
          <p:cNvSpPr/>
          <p:nvPr/>
        </p:nvSpPr>
        <p:spPr>
          <a:xfrm>
            <a:off x="5303520" y="3593520"/>
            <a:ext cx="612612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strike="noStrike" spc="-1">
                <a:solidFill>
                  <a:srgbClr val="3A3536"/>
                </a:solidFill>
                <a:latin typeface="Calibri"/>
                <a:ea typeface="Calibri"/>
              </a:rPr>
              <a:t>Strongly advised. Deviation is allowed only with a clear, considered reason — and that reason is where risk often hides.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Shape 11"/>
          <p:cNvSpPr/>
          <p:nvPr/>
        </p:nvSpPr>
        <p:spPr>
          <a:xfrm>
            <a:off x="457200" y="4709160"/>
            <a:ext cx="11246760" cy="109692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Shape 12"/>
          <p:cNvSpPr/>
          <p:nvPr/>
        </p:nvSpPr>
        <p:spPr>
          <a:xfrm>
            <a:off x="731520" y="4983480"/>
            <a:ext cx="548280" cy="548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5" name="Image 2" descr="preencoded.png"/>
          <p:cNvPicPr/>
          <p:nvPr/>
        </p:nvPicPr>
        <p:blipFill>
          <a:blip r:embed="rId4"/>
          <a:stretch/>
        </p:blipFill>
        <p:spPr>
          <a:xfrm>
            <a:off x="852120" y="5104080"/>
            <a:ext cx="306720" cy="306720"/>
          </a:xfrm>
          <a:prstGeom prst="rect">
            <a:avLst/>
          </a:prstGeom>
          <a:ln w="0">
            <a:noFill/>
          </a:ln>
        </p:spPr>
      </p:pic>
      <p:sp>
        <p:nvSpPr>
          <p:cNvPr id="36" name="Text 13"/>
          <p:cNvSpPr/>
          <p:nvPr/>
        </p:nvSpPr>
        <p:spPr>
          <a:xfrm>
            <a:off x="1508760" y="4873680"/>
            <a:ext cx="365724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231F20"/>
                </a:solidFill>
                <a:latin typeface="Open Sans"/>
                <a:ea typeface="Open Sans"/>
              </a:rPr>
              <a:t>MAY / OPTIONAL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14"/>
          <p:cNvSpPr/>
          <p:nvPr/>
        </p:nvSpPr>
        <p:spPr>
          <a:xfrm>
            <a:off x="5303520" y="4873680"/>
            <a:ext cx="612612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strike="noStrike" spc="-1">
                <a:solidFill>
                  <a:srgbClr val="3A3536"/>
                </a:solidFill>
                <a:latin typeface="Calibri"/>
                <a:ea typeface="Calibri"/>
              </a:rPr>
              <a:t>Genuinely discretionary. Two conformant implementations may differ here — which is exactly why behavior varies in the wild.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Text 15"/>
          <p:cNvSpPr/>
          <p:nvPr/>
        </p:nvSpPr>
        <p:spPr>
          <a:xfrm>
            <a:off x="457200" y="6080760"/>
            <a:ext cx="112467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strike="noStrike" spc="-1">
                <a:solidFill>
                  <a:srgbClr val="8A8385"/>
                </a:solidFill>
                <a:latin typeface="Calibri"/>
                <a:ea typeface="Calibri"/>
              </a:rPr>
              <a:t>These keywords follow RFC 2119 / RFC 8174 — and they appear in all-caps in the spec for exactly this reason.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Shape 16"/>
          <p:cNvSpPr/>
          <p:nvPr/>
        </p:nvSpPr>
        <p:spPr>
          <a:xfrm>
            <a:off x="0" y="0"/>
            <a:ext cx="12161160" cy="7272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0" name="Image 3" descr="fhb_logo.png"/>
          <p:cNvPicPr/>
          <p:nvPr/>
        </p:nvPicPr>
        <p:blipFill>
          <a:blip r:embed="rId3"/>
          <a:stretch/>
        </p:blipFill>
        <p:spPr>
          <a:xfrm>
            <a:off x="10031040" y="146160"/>
            <a:ext cx="1828440" cy="338040"/>
          </a:xfrm>
          <a:prstGeom prst="rect">
            <a:avLst/>
          </a:prstGeom>
          <a:ln w="0">
            <a:noFill/>
          </a:ln>
        </p:spPr>
      </p:pic>
      <p:sp>
        <p:nvSpPr>
          <p:cNvPr id="41" name="Shape 17"/>
          <p:cNvSpPr/>
          <p:nvPr/>
        </p:nvSpPr>
        <p:spPr>
          <a:xfrm>
            <a:off x="457200" y="6583680"/>
            <a:ext cx="11274120" cy="1980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Shape 18"/>
          <p:cNvSpPr/>
          <p:nvPr/>
        </p:nvSpPr>
        <p:spPr>
          <a:xfrm>
            <a:off x="457200" y="6510600"/>
            <a:ext cx="164160" cy="16416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Text 19"/>
          <p:cNvSpPr/>
          <p:nvPr/>
        </p:nvSpPr>
        <p:spPr>
          <a:xfrm>
            <a:off x="713160" y="64008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MCP Specification  ·  Deck 2 of 3  ·  The 2025-11-25 Revision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20"/>
          <p:cNvSpPr/>
          <p:nvPr/>
        </p:nvSpPr>
        <p:spPr>
          <a:xfrm>
            <a:off x="1115568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2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5" name="Text 0"/>
          <p:cNvSpPr/>
          <p:nvPr/>
        </p:nvSpPr>
        <p:spPr>
          <a:xfrm>
            <a:off x="457200" y="457200"/>
            <a:ext cx="9417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299">
                <a:solidFill>
                  <a:srgbClr val="8B0E15"/>
                </a:solidFill>
                <a:latin typeface="Calibri"/>
                <a:ea typeface="Calibri"/>
              </a:rPr>
              <a:t>THE BASE PROTOCOL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1"/>
          <p:cNvSpPr/>
          <p:nvPr/>
        </p:nvSpPr>
        <p:spPr>
          <a:xfrm>
            <a:off x="457200" y="73152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231F20"/>
                </a:solidFill>
                <a:latin typeface="Open Sans"/>
                <a:ea typeface="Open Sans"/>
              </a:rPr>
              <a:t>Built on JSON-RPC 2.0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 2"/>
          <p:cNvSpPr/>
          <p:nvPr/>
        </p:nvSpPr>
        <p:spPr>
          <a:xfrm>
            <a:off x="457200" y="1371600"/>
            <a:ext cx="112467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3A3536"/>
                </a:solidFill>
                <a:latin typeface="Calibri"/>
                <a:ea typeface="Calibri"/>
              </a:rPr>
              <a:t>Every MCP message is one of four JSON-RPC types. The presence or absence of an id is what distinguishes them — and determines whether a reply is expected.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48" name="Table 0"/>
          <p:cNvGraphicFramePr/>
          <p:nvPr/>
        </p:nvGraphicFramePr>
        <p:xfrm>
          <a:off x="457200" y="2148840"/>
          <a:ext cx="11247120" cy="38862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strike="noStrike" spc="-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Message type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5A0E1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strike="noStrike" spc="-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Has id?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5A0E1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strike="noStrike" spc="-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Reply expected?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5A0E1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strike="noStrike" spc="-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What it is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5A0E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1" strike="noStrike" spc="-1">
                          <a:solidFill>
                            <a:srgbClr val="231F20"/>
                          </a:solidFill>
                          <a:latin typeface="Calibri"/>
                          <a:ea typeface="Calibri"/>
                        </a:rPr>
                        <a:t>Request</a:t>
                      </a:r>
                      <a:endParaRPr lang="en-US" sz="125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strike="noStrike" spc="-1">
                          <a:solidFill>
                            <a:srgbClr val="3A3536"/>
                          </a:solidFill>
                          <a:latin typeface="Calibri"/>
                          <a:ea typeface="Calibri"/>
                        </a:rPr>
                        <a:t>Yes</a:t>
                      </a:r>
                      <a:endParaRPr lang="en-US" sz="125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strike="noStrike" spc="-1">
                          <a:solidFill>
                            <a:srgbClr val="3A3536"/>
                          </a:solidFill>
                          <a:latin typeface="Calibri"/>
                          <a:ea typeface="Calibri"/>
                        </a:rPr>
                        <a:t>Yes</a:t>
                      </a:r>
                      <a:endParaRPr lang="en-US" sz="125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strike="noStrike" spc="-1">
                          <a:solidFill>
                            <a:srgbClr val="3A3536"/>
                          </a:solidFill>
                          <a:latin typeface="Calibri"/>
                          <a:ea typeface="Calibri"/>
                        </a:rPr>
                        <a:t>Asks the other side to do something and return a result. Carries a method name and params.</a:t>
                      </a:r>
                      <a:endParaRPr lang="en-US" sz="125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1" strike="noStrike" spc="-1">
                          <a:solidFill>
                            <a:srgbClr val="231F20"/>
                          </a:solidFill>
                          <a:latin typeface="Calibri"/>
                          <a:ea typeface="Calibri"/>
                        </a:rPr>
                        <a:t>Response</a:t>
                      </a:r>
                      <a:endParaRPr lang="en-US" sz="125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strike="noStrike" spc="-1">
                          <a:solidFill>
                            <a:srgbClr val="3A3536"/>
                          </a:solidFill>
                          <a:latin typeface="Calibri"/>
                          <a:ea typeface="Calibri"/>
                        </a:rPr>
                        <a:t>Matches request</a:t>
                      </a:r>
                      <a:endParaRPr lang="en-US" sz="125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strike="noStrike" spc="-1">
                          <a:solidFill>
                            <a:srgbClr val="3A3536"/>
                          </a:solidFill>
                          <a:latin typeface="Calibri"/>
                          <a:ea typeface="Calibri"/>
                        </a:rPr>
                        <a:t>—</a:t>
                      </a:r>
                      <a:endParaRPr lang="en-US" sz="125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strike="noStrike" spc="-1">
                          <a:solidFill>
                            <a:srgbClr val="3A3536"/>
                          </a:solidFill>
                          <a:latin typeface="Calibri"/>
                          <a:ea typeface="Calibri"/>
                        </a:rPr>
                        <a:t>The result for a specific request id. Exactly one per request.</a:t>
                      </a:r>
                      <a:endParaRPr lang="en-US" sz="125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7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1" strike="noStrike" spc="-1">
                          <a:solidFill>
                            <a:srgbClr val="231F20"/>
                          </a:solidFill>
                          <a:latin typeface="Calibri"/>
                          <a:ea typeface="Calibri"/>
                        </a:rPr>
                        <a:t>Error</a:t>
                      </a:r>
                      <a:endParaRPr lang="en-US" sz="125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strike="noStrike" spc="-1">
                          <a:solidFill>
                            <a:srgbClr val="3A3536"/>
                          </a:solidFill>
                          <a:latin typeface="Calibri"/>
                          <a:ea typeface="Calibri"/>
                        </a:rPr>
                        <a:t>Matches request</a:t>
                      </a:r>
                      <a:endParaRPr lang="en-US" sz="125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strike="noStrike" spc="-1">
                          <a:solidFill>
                            <a:srgbClr val="3A3536"/>
                          </a:solidFill>
                          <a:latin typeface="Calibri"/>
                          <a:ea typeface="Calibri"/>
                        </a:rPr>
                        <a:t>—</a:t>
                      </a:r>
                      <a:endParaRPr lang="en-US" sz="125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strike="noStrike" spc="-1">
                          <a:solidFill>
                            <a:srgbClr val="3A3536"/>
                          </a:solidFill>
                          <a:latin typeface="Calibri"/>
                          <a:ea typeface="Calibri"/>
                        </a:rPr>
                        <a:t>A structured failure (code + message) for a request, instead of a result.</a:t>
                      </a:r>
                      <a:endParaRPr lang="en-US" sz="125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1" strike="noStrike" spc="-1">
                          <a:solidFill>
                            <a:srgbClr val="231F20"/>
                          </a:solidFill>
                          <a:latin typeface="Calibri"/>
                          <a:ea typeface="Calibri"/>
                        </a:rPr>
                        <a:t>Notification</a:t>
                      </a:r>
                      <a:endParaRPr lang="en-US" sz="125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strike="noStrike" spc="-1">
                          <a:solidFill>
                            <a:srgbClr val="3A3536"/>
                          </a:solidFill>
                          <a:latin typeface="Calibri"/>
                          <a:ea typeface="Calibri"/>
                        </a:rPr>
                        <a:t>No</a:t>
                      </a:r>
                      <a:endParaRPr lang="en-US" sz="125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strike="noStrike" spc="-1">
                          <a:solidFill>
                            <a:srgbClr val="3A3536"/>
                          </a:solidFill>
                          <a:latin typeface="Calibri"/>
                          <a:ea typeface="Calibri"/>
                        </a:rPr>
                        <a:t>No</a:t>
                      </a:r>
                      <a:endParaRPr lang="en-US" sz="125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strike="noStrike" spc="-1">
                          <a:solidFill>
                            <a:srgbClr val="3A3536"/>
                          </a:solidFill>
                          <a:latin typeface="Calibri"/>
                          <a:ea typeface="Calibri"/>
                        </a:rPr>
                        <a:t>One-way signal. No id, no reply — e.g. "initialization complete."</a:t>
                      </a:r>
                      <a:endParaRPr lang="en-US" sz="125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7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9" name="Shape 3"/>
          <p:cNvSpPr/>
          <p:nvPr/>
        </p:nvSpPr>
        <p:spPr>
          <a:xfrm>
            <a:off x="457200" y="5806440"/>
            <a:ext cx="11246760" cy="548280"/>
          </a:xfrm>
          <a:prstGeom prst="rect">
            <a:avLst/>
          </a:prstGeom>
          <a:solidFill>
            <a:srgbClr val="EFE9E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4"/>
          <p:cNvSpPr/>
          <p:nvPr/>
        </p:nvSpPr>
        <p:spPr>
          <a:xfrm>
            <a:off x="640080" y="580644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231F20"/>
                </a:solidFill>
                <a:latin typeface="Calibri"/>
                <a:ea typeface="Calibri"/>
              </a:rPr>
              <a:t>Stateful by design.  </a:t>
            </a:r>
            <a:r>
              <a:rPr lang="en-US" sz="1300" b="0" strike="noStrike" spc="-1">
                <a:solidFill>
                  <a:srgbClr val="3A3536"/>
                </a:solidFill>
                <a:latin typeface="Calibri"/>
                <a:ea typeface="Calibri"/>
              </a:rPr>
              <a:t>Unlike stateless REST, an MCP connection is a session — context persists across messages until shutdown.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Shape 5"/>
          <p:cNvSpPr/>
          <p:nvPr/>
        </p:nvSpPr>
        <p:spPr>
          <a:xfrm>
            <a:off x="0" y="0"/>
            <a:ext cx="12161160" cy="7272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2" name="Image 0" descr="fhb_logo.png"/>
          <p:cNvPicPr/>
          <p:nvPr/>
        </p:nvPicPr>
        <p:blipFill>
          <a:blip r:embed="rId2"/>
          <a:stretch/>
        </p:blipFill>
        <p:spPr>
          <a:xfrm>
            <a:off x="10031040" y="146160"/>
            <a:ext cx="1828440" cy="338040"/>
          </a:xfrm>
          <a:prstGeom prst="rect">
            <a:avLst/>
          </a:prstGeom>
          <a:ln w="0">
            <a:noFill/>
          </a:ln>
        </p:spPr>
      </p:pic>
      <p:sp>
        <p:nvSpPr>
          <p:cNvPr id="53" name="Shape 6"/>
          <p:cNvSpPr/>
          <p:nvPr/>
        </p:nvSpPr>
        <p:spPr>
          <a:xfrm>
            <a:off x="457200" y="6583680"/>
            <a:ext cx="11274120" cy="1980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Shape 7"/>
          <p:cNvSpPr/>
          <p:nvPr/>
        </p:nvSpPr>
        <p:spPr>
          <a:xfrm>
            <a:off x="457200" y="6510600"/>
            <a:ext cx="164160" cy="16416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Text 8"/>
          <p:cNvSpPr/>
          <p:nvPr/>
        </p:nvSpPr>
        <p:spPr>
          <a:xfrm>
            <a:off x="713160" y="64008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MCP Specification  ·  Deck 2 of 3  ·  The 2025-11-25 Revision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9"/>
          <p:cNvSpPr/>
          <p:nvPr/>
        </p:nvSpPr>
        <p:spPr>
          <a:xfrm>
            <a:off x="1115568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3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7" name="Text 0"/>
          <p:cNvSpPr/>
          <p:nvPr/>
        </p:nvSpPr>
        <p:spPr>
          <a:xfrm>
            <a:off x="457200" y="457200"/>
            <a:ext cx="9417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299">
                <a:solidFill>
                  <a:srgbClr val="8B0E15"/>
                </a:solidFill>
                <a:latin typeface="Calibri"/>
                <a:ea typeface="Calibri"/>
              </a:rPr>
              <a:t>THE CONNECTION LIFECYCLE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 1"/>
          <p:cNvSpPr/>
          <p:nvPr/>
        </p:nvSpPr>
        <p:spPr>
          <a:xfrm>
            <a:off x="457200" y="73152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231F20"/>
                </a:solidFill>
                <a:latin typeface="Open Sans"/>
                <a:ea typeface="Open Sans"/>
              </a:rPr>
              <a:t>Initialize → operate → shut down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2"/>
          <p:cNvSpPr/>
          <p:nvPr/>
        </p:nvSpPr>
        <p:spPr>
          <a:xfrm>
            <a:off x="457200" y="1371600"/>
            <a:ext cx="112467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3A3536"/>
                </a:solidFill>
                <a:latin typeface="Calibri"/>
                <a:ea typeface="Calibri"/>
              </a:rPr>
              <a:t>Every session moves through three phases. Nothing useful happens until initialization completes — capability negotiation gates everything.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Shape 3"/>
          <p:cNvSpPr/>
          <p:nvPr/>
        </p:nvSpPr>
        <p:spPr>
          <a:xfrm>
            <a:off x="457200" y="2103120"/>
            <a:ext cx="3520080" cy="274284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4"/>
          <p:cNvSpPr/>
          <p:nvPr/>
        </p:nvSpPr>
        <p:spPr>
          <a:xfrm>
            <a:off x="457200" y="2103120"/>
            <a:ext cx="3520080" cy="10944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Shape 5"/>
          <p:cNvSpPr/>
          <p:nvPr/>
        </p:nvSpPr>
        <p:spPr>
          <a:xfrm>
            <a:off x="731520" y="2331720"/>
            <a:ext cx="566640" cy="566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3" name="Image 0" descr="preencoded.png"/>
          <p:cNvPicPr/>
          <p:nvPr/>
        </p:nvPicPr>
        <p:blipFill>
          <a:blip r:embed="rId2"/>
          <a:stretch/>
        </p:blipFill>
        <p:spPr>
          <a:xfrm>
            <a:off x="856080" y="2456280"/>
            <a:ext cx="317160" cy="317160"/>
          </a:xfrm>
          <a:prstGeom prst="rect">
            <a:avLst/>
          </a:prstGeom>
          <a:ln w="0">
            <a:noFill/>
          </a:ln>
        </p:spPr>
      </p:pic>
      <p:sp>
        <p:nvSpPr>
          <p:cNvPr id="64" name="Text 6"/>
          <p:cNvSpPr/>
          <p:nvPr/>
        </p:nvSpPr>
        <p:spPr>
          <a:xfrm>
            <a:off x="731520" y="303588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231F20"/>
                </a:solidFill>
                <a:latin typeface="Open Sans"/>
                <a:ea typeface="Open Sans"/>
              </a:rPr>
              <a:t>1 · Initialization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7"/>
          <p:cNvSpPr/>
          <p:nvPr/>
        </p:nvSpPr>
        <p:spPr>
          <a:xfrm>
            <a:off x="731520" y="3456360"/>
            <a:ext cx="306288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3A3536"/>
                </a:solidFill>
                <a:latin typeface="Calibri"/>
                <a:ea typeface="Calibri"/>
              </a:rPr>
              <a:t>Client sends initialize (its protocol version + capabilities). Server replies with its own. Client sends an initialized notification to signal readiness.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hape 8"/>
          <p:cNvSpPr/>
          <p:nvPr/>
        </p:nvSpPr>
        <p:spPr>
          <a:xfrm>
            <a:off x="4069080" y="3474720"/>
            <a:ext cx="164520" cy="360"/>
          </a:xfrm>
          <a:prstGeom prst="line">
            <a:avLst/>
          </a:prstGeom>
          <a:ln w="31750">
            <a:solidFill>
              <a:srgbClr val="8B0E15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9"/>
          <p:cNvSpPr/>
          <p:nvPr/>
        </p:nvSpPr>
        <p:spPr>
          <a:xfrm>
            <a:off x="4251960" y="2103120"/>
            <a:ext cx="3520080" cy="274284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Shape 10"/>
          <p:cNvSpPr/>
          <p:nvPr/>
        </p:nvSpPr>
        <p:spPr>
          <a:xfrm>
            <a:off x="4251960" y="2103120"/>
            <a:ext cx="3520080" cy="10944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Shape 11"/>
          <p:cNvSpPr/>
          <p:nvPr/>
        </p:nvSpPr>
        <p:spPr>
          <a:xfrm>
            <a:off x="4526280" y="2331720"/>
            <a:ext cx="566640" cy="566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0" name="Image 1" descr="preencoded.png"/>
          <p:cNvPicPr/>
          <p:nvPr/>
        </p:nvPicPr>
        <p:blipFill>
          <a:blip r:embed="rId5"/>
          <a:stretch/>
        </p:blipFill>
        <p:spPr>
          <a:xfrm>
            <a:off x="4650840" y="2456280"/>
            <a:ext cx="317160" cy="317160"/>
          </a:xfrm>
          <a:prstGeom prst="rect">
            <a:avLst/>
          </a:prstGeom>
          <a:ln w="0">
            <a:noFill/>
          </a:ln>
        </p:spPr>
      </p:pic>
      <p:sp>
        <p:nvSpPr>
          <p:cNvPr id="71" name="Text 12"/>
          <p:cNvSpPr/>
          <p:nvPr/>
        </p:nvSpPr>
        <p:spPr>
          <a:xfrm>
            <a:off x="4526280" y="303588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231F20"/>
                </a:solidFill>
                <a:latin typeface="Open Sans"/>
                <a:ea typeface="Open Sans"/>
              </a:rPr>
              <a:t>2 · Operation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13"/>
          <p:cNvSpPr/>
          <p:nvPr/>
        </p:nvSpPr>
        <p:spPr>
          <a:xfrm>
            <a:off x="4526280" y="3456360"/>
            <a:ext cx="306288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3A3536"/>
                </a:solidFill>
                <a:latin typeface="Calibri"/>
                <a:ea typeface="Calibri"/>
              </a:rPr>
              <a:t>Normal request/response and notification traffic — bounded by what was negotiated. Tools called, resources read, prompts fetched.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14"/>
          <p:cNvSpPr/>
          <p:nvPr/>
        </p:nvSpPr>
        <p:spPr>
          <a:xfrm>
            <a:off x="7863840" y="3474720"/>
            <a:ext cx="164520" cy="360"/>
          </a:xfrm>
          <a:prstGeom prst="line">
            <a:avLst/>
          </a:prstGeom>
          <a:ln w="31750">
            <a:solidFill>
              <a:srgbClr val="8B0E15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15"/>
          <p:cNvSpPr/>
          <p:nvPr/>
        </p:nvSpPr>
        <p:spPr>
          <a:xfrm>
            <a:off x="8046720" y="2103120"/>
            <a:ext cx="3520080" cy="274284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Shape 16"/>
          <p:cNvSpPr/>
          <p:nvPr/>
        </p:nvSpPr>
        <p:spPr>
          <a:xfrm>
            <a:off x="8046720" y="2103120"/>
            <a:ext cx="3520080" cy="10944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Shape 17"/>
          <p:cNvSpPr/>
          <p:nvPr/>
        </p:nvSpPr>
        <p:spPr>
          <a:xfrm>
            <a:off x="8321040" y="2331720"/>
            <a:ext cx="566640" cy="566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7" name="Image 2" descr="preencoded.png"/>
          <p:cNvPicPr/>
          <p:nvPr/>
        </p:nvPicPr>
        <p:blipFill>
          <a:blip r:embed="rId4"/>
          <a:stretch/>
        </p:blipFill>
        <p:spPr>
          <a:xfrm>
            <a:off x="8445600" y="2456280"/>
            <a:ext cx="317160" cy="317160"/>
          </a:xfrm>
          <a:prstGeom prst="rect">
            <a:avLst/>
          </a:prstGeom>
          <a:ln w="0">
            <a:noFill/>
          </a:ln>
        </p:spPr>
      </p:pic>
      <p:sp>
        <p:nvSpPr>
          <p:cNvPr id="78" name="Text 18"/>
          <p:cNvSpPr/>
          <p:nvPr/>
        </p:nvSpPr>
        <p:spPr>
          <a:xfrm>
            <a:off x="8321040" y="3035880"/>
            <a:ext cx="30171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231F20"/>
                </a:solidFill>
                <a:latin typeface="Open Sans"/>
                <a:ea typeface="Open Sans"/>
              </a:rPr>
              <a:t>3 · Shutdown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19"/>
          <p:cNvSpPr/>
          <p:nvPr/>
        </p:nvSpPr>
        <p:spPr>
          <a:xfrm>
            <a:off x="8321040" y="3456360"/>
            <a:ext cx="3062880" cy="127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3A3536"/>
                </a:solidFill>
                <a:latin typeface="Calibri"/>
                <a:ea typeface="Calibri"/>
              </a:rPr>
              <a:t>Either side can terminate cleanly. The transport closes; the session ends.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20"/>
          <p:cNvSpPr/>
          <p:nvPr/>
        </p:nvSpPr>
        <p:spPr>
          <a:xfrm>
            <a:off x="457200" y="5120640"/>
            <a:ext cx="11246760" cy="959760"/>
          </a:xfrm>
          <a:prstGeom prst="rect">
            <a:avLst/>
          </a:prstGeom>
          <a:solidFill>
            <a:srgbClr val="5A0E1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Shape 21"/>
          <p:cNvSpPr/>
          <p:nvPr/>
        </p:nvSpPr>
        <p:spPr>
          <a:xfrm>
            <a:off x="457200" y="5120640"/>
            <a:ext cx="109440" cy="95976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Text 22"/>
          <p:cNvSpPr/>
          <p:nvPr/>
        </p:nvSpPr>
        <p:spPr>
          <a:xfrm>
            <a:off x="777240" y="5257800"/>
            <a:ext cx="10515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299">
                <a:solidFill>
                  <a:srgbClr val="F5A800"/>
                </a:solidFill>
                <a:latin typeface="Calibri"/>
                <a:ea typeface="Calibri"/>
              </a:rPr>
              <a:t>WHY IT MATTERS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 23"/>
          <p:cNvSpPr/>
          <p:nvPr/>
        </p:nvSpPr>
        <p:spPr>
          <a:xfrm>
            <a:off x="777240" y="5532120"/>
            <a:ext cx="10789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strike="noStrike" spc="-1">
                <a:solidFill>
                  <a:srgbClr val="F0E8DC"/>
                </a:solidFill>
                <a:latin typeface="Calibri"/>
                <a:ea typeface="Calibri"/>
              </a:rPr>
              <a:t>The handshake isn't a formality — it's the moment both sides commit to a protocol version and a capability set. Everything that follows is constrained by that agreement.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Shape 24"/>
          <p:cNvSpPr/>
          <p:nvPr/>
        </p:nvSpPr>
        <p:spPr>
          <a:xfrm>
            <a:off x="0" y="0"/>
            <a:ext cx="12161160" cy="7272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5" name="Image 3" descr="fhb_logo.png"/>
          <p:cNvPicPr/>
          <p:nvPr/>
        </p:nvPicPr>
        <p:blipFill>
          <a:blip r:embed="rId3"/>
          <a:stretch/>
        </p:blipFill>
        <p:spPr>
          <a:xfrm>
            <a:off x="10031040" y="146160"/>
            <a:ext cx="1828440" cy="338040"/>
          </a:xfrm>
          <a:prstGeom prst="rect">
            <a:avLst/>
          </a:prstGeom>
          <a:ln w="0">
            <a:noFill/>
          </a:ln>
        </p:spPr>
      </p:pic>
      <p:sp>
        <p:nvSpPr>
          <p:cNvPr id="86" name="Shape 25"/>
          <p:cNvSpPr/>
          <p:nvPr/>
        </p:nvSpPr>
        <p:spPr>
          <a:xfrm>
            <a:off x="457200" y="6583680"/>
            <a:ext cx="11274120" cy="1980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Shape 26"/>
          <p:cNvSpPr/>
          <p:nvPr/>
        </p:nvSpPr>
        <p:spPr>
          <a:xfrm>
            <a:off x="457200" y="6510600"/>
            <a:ext cx="164160" cy="16416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Text 27"/>
          <p:cNvSpPr/>
          <p:nvPr/>
        </p:nvSpPr>
        <p:spPr>
          <a:xfrm>
            <a:off x="713160" y="64008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MCP Specification  ·  Deck 2 of 3  ·  The 2025-11-25 Revision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 28"/>
          <p:cNvSpPr/>
          <p:nvPr/>
        </p:nvSpPr>
        <p:spPr>
          <a:xfrm>
            <a:off x="1115568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4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0" name="Text 0"/>
          <p:cNvSpPr/>
          <p:nvPr/>
        </p:nvSpPr>
        <p:spPr>
          <a:xfrm>
            <a:off x="457200" y="457200"/>
            <a:ext cx="9417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299">
                <a:solidFill>
                  <a:srgbClr val="8B0E15"/>
                </a:solidFill>
                <a:latin typeface="Calibri"/>
                <a:ea typeface="Calibri"/>
              </a:rPr>
              <a:t>THE GATE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1"/>
          <p:cNvSpPr/>
          <p:nvPr/>
        </p:nvSpPr>
        <p:spPr>
          <a:xfrm>
            <a:off x="457200" y="73152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231F20"/>
                </a:solidFill>
                <a:latin typeface="Open Sans"/>
                <a:ea typeface="Open Sans"/>
              </a:rPr>
              <a:t>Capability negotiation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2"/>
          <p:cNvSpPr/>
          <p:nvPr/>
        </p:nvSpPr>
        <p:spPr>
          <a:xfrm>
            <a:off x="457200" y="1371600"/>
            <a:ext cx="112467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3A3536"/>
                </a:solidFill>
                <a:latin typeface="Calibri"/>
                <a:ea typeface="Calibri"/>
              </a:rPr>
              <a:t>During initialization, each side declares what it supports. You cannot use a feature that wasn't negotiated — which makes this the spec's first security boundary.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Shape 3"/>
          <p:cNvSpPr/>
          <p:nvPr/>
        </p:nvSpPr>
        <p:spPr>
          <a:xfrm>
            <a:off x="457200" y="2194560"/>
            <a:ext cx="5394600" cy="274284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Shape 4"/>
          <p:cNvSpPr/>
          <p:nvPr/>
        </p:nvSpPr>
        <p:spPr>
          <a:xfrm>
            <a:off x="457200" y="2194560"/>
            <a:ext cx="5394600" cy="45684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5" name="Image 0" descr="preencoded.png"/>
          <p:cNvPicPr/>
          <p:nvPr/>
        </p:nvPicPr>
        <p:blipFill>
          <a:blip r:embed="rId2"/>
          <a:stretch/>
        </p:blipFill>
        <p:spPr>
          <a:xfrm>
            <a:off x="685800" y="228600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96" name="Text 5"/>
          <p:cNvSpPr/>
          <p:nvPr/>
        </p:nvSpPr>
        <p:spPr>
          <a:xfrm>
            <a:off x="1051560" y="219456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libri"/>
                <a:ea typeface="Calibri"/>
              </a:rPr>
              <a:t>Server declares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6"/>
          <p:cNvSpPr/>
          <p:nvPr/>
        </p:nvSpPr>
        <p:spPr>
          <a:xfrm>
            <a:off x="731520" y="2834640"/>
            <a:ext cx="4845960" cy="191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3A3536"/>
                </a:solidFill>
                <a:latin typeface="Consolas"/>
                <a:ea typeface="Consolas"/>
              </a:rPr>
              <a:t>tools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8A8385"/>
                </a:solidFill>
                <a:latin typeface="Calibri"/>
                <a:ea typeface="Calibri"/>
              </a:rPr>
              <a:t>  — and whether the list can change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3A3536"/>
                </a:solidFill>
                <a:latin typeface="Consolas"/>
                <a:ea typeface="Consolas"/>
              </a:rPr>
              <a:t>resources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8A8385"/>
                </a:solidFill>
                <a:latin typeface="Calibri"/>
                <a:ea typeface="Calibri"/>
              </a:rPr>
              <a:t>  — with optional subscriptions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3A3536"/>
                </a:solidFill>
                <a:latin typeface="Consolas"/>
                <a:ea typeface="Consolas"/>
              </a:rPr>
              <a:t>prompts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8A8385"/>
                </a:solidFill>
                <a:latin typeface="Calibri"/>
                <a:ea typeface="Calibri"/>
              </a:rPr>
              <a:t>  — reusable templates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Shape 7"/>
          <p:cNvSpPr/>
          <p:nvPr/>
        </p:nvSpPr>
        <p:spPr>
          <a:xfrm>
            <a:off x="6309360" y="2194560"/>
            <a:ext cx="5394600" cy="274284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Shape 8"/>
          <p:cNvSpPr/>
          <p:nvPr/>
        </p:nvSpPr>
        <p:spPr>
          <a:xfrm>
            <a:off x="6309360" y="2194560"/>
            <a:ext cx="5394600" cy="45684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0" name="Image 1" descr="preencoded.png"/>
          <p:cNvPicPr/>
          <p:nvPr/>
        </p:nvPicPr>
        <p:blipFill>
          <a:blip r:embed="rId5"/>
          <a:stretch/>
        </p:blipFill>
        <p:spPr>
          <a:xfrm>
            <a:off x="6537960" y="228600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101" name="Text 9"/>
          <p:cNvSpPr/>
          <p:nvPr/>
        </p:nvSpPr>
        <p:spPr>
          <a:xfrm>
            <a:off x="6903720" y="219456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FFFFFF"/>
                </a:solidFill>
                <a:latin typeface="Calibri"/>
                <a:ea typeface="Calibri"/>
              </a:rPr>
              <a:t>Client declares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10"/>
          <p:cNvSpPr/>
          <p:nvPr/>
        </p:nvSpPr>
        <p:spPr>
          <a:xfrm>
            <a:off x="6583680" y="2834640"/>
            <a:ext cx="4845960" cy="191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3A3536"/>
                </a:solidFill>
                <a:latin typeface="Consolas"/>
                <a:ea typeface="Consolas"/>
              </a:rPr>
              <a:t>sampling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8A8385"/>
                </a:solidFill>
                <a:latin typeface="Calibri"/>
                <a:ea typeface="Calibri"/>
              </a:rPr>
              <a:t>  — server may request LLM completions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3A3536"/>
                </a:solidFill>
                <a:latin typeface="Consolas"/>
                <a:ea typeface="Consolas"/>
              </a:rPr>
              <a:t>roots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8A8385"/>
                </a:solidFill>
                <a:latin typeface="Calibri"/>
                <a:ea typeface="Calibri"/>
              </a:rPr>
              <a:t>  — server may ask about FS/URI boundaries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3A3536"/>
                </a:solidFill>
                <a:latin typeface="Consolas"/>
                <a:ea typeface="Consolas"/>
              </a:rPr>
              <a:t>elicitation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8A8385"/>
                </a:solidFill>
                <a:latin typeface="Calibri"/>
                <a:ea typeface="Calibri"/>
              </a:rPr>
              <a:t>  — server may request user input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Shape 11"/>
          <p:cNvSpPr/>
          <p:nvPr/>
        </p:nvSpPr>
        <p:spPr>
          <a:xfrm>
            <a:off x="457200" y="5166360"/>
            <a:ext cx="11246760" cy="914040"/>
          </a:xfrm>
          <a:prstGeom prst="rect">
            <a:avLst/>
          </a:prstGeom>
          <a:solidFill>
            <a:srgbClr val="FBF1E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Shape 12"/>
          <p:cNvSpPr/>
          <p:nvPr/>
        </p:nvSpPr>
        <p:spPr>
          <a:xfrm>
            <a:off x="457200" y="5166360"/>
            <a:ext cx="91080" cy="914040"/>
          </a:xfrm>
          <a:prstGeom prst="rect">
            <a:avLst/>
          </a:prstGeom>
          <a:solidFill>
            <a:srgbClr val="B886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5" name="Image 2" descr="preencoded.png"/>
          <p:cNvPicPr/>
          <p:nvPr/>
        </p:nvPicPr>
        <p:blipFill>
          <a:blip r:embed="rId4"/>
          <a:stretch/>
        </p:blipFill>
        <p:spPr>
          <a:xfrm>
            <a:off x="685800" y="5440680"/>
            <a:ext cx="365400" cy="365400"/>
          </a:xfrm>
          <a:prstGeom prst="rect">
            <a:avLst/>
          </a:prstGeom>
          <a:ln w="0">
            <a:noFill/>
          </a:ln>
        </p:spPr>
      </p:pic>
      <p:sp>
        <p:nvSpPr>
          <p:cNvPr id="106" name="Text 13"/>
          <p:cNvSpPr/>
          <p:nvPr/>
        </p:nvSpPr>
        <p:spPr>
          <a:xfrm>
            <a:off x="1188720" y="5166360"/>
            <a:ext cx="1033236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strike="noStrike" spc="-1">
                <a:solidFill>
                  <a:srgbClr val="8A5A12"/>
                </a:solidFill>
                <a:latin typeface="Calibri"/>
                <a:ea typeface="Calibri"/>
              </a:rPr>
              <a:t>Security read:  </a:t>
            </a:r>
            <a:r>
              <a:rPr lang="en-US" sz="1350" b="0" strike="noStrike" spc="-1">
                <a:solidFill>
                  <a:srgbClr val="8A5A12"/>
                </a:solidFill>
                <a:latin typeface="Calibri"/>
                <a:ea typeface="Calibri"/>
              </a:rPr>
              <a:t>negotiation is an allow-list. A capability never offered can't be invoked — so minimizing what each side declares is a concrete way to shrink the attack surface.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Shape 14"/>
          <p:cNvSpPr/>
          <p:nvPr/>
        </p:nvSpPr>
        <p:spPr>
          <a:xfrm>
            <a:off x="0" y="0"/>
            <a:ext cx="12161160" cy="7272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8" name="Image 3" descr="fhb_logo.png"/>
          <p:cNvPicPr/>
          <p:nvPr/>
        </p:nvPicPr>
        <p:blipFill>
          <a:blip r:embed="rId3"/>
          <a:stretch/>
        </p:blipFill>
        <p:spPr>
          <a:xfrm>
            <a:off x="10031040" y="146160"/>
            <a:ext cx="1828440" cy="338040"/>
          </a:xfrm>
          <a:prstGeom prst="rect">
            <a:avLst/>
          </a:prstGeom>
          <a:ln w="0">
            <a:noFill/>
          </a:ln>
        </p:spPr>
      </p:pic>
      <p:sp>
        <p:nvSpPr>
          <p:cNvPr id="109" name="Shape 15"/>
          <p:cNvSpPr/>
          <p:nvPr/>
        </p:nvSpPr>
        <p:spPr>
          <a:xfrm>
            <a:off x="457200" y="6583680"/>
            <a:ext cx="11274120" cy="1980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Shape 16"/>
          <p:cNvSpPr/>
          <p:nvPr/>
        </p:nvSpPr>
        <p:spPr>
          <a:xfrm>
            <a:off x="457200" y="6510600"/>
            <a:ext cx="164160" cy="16416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Text 17"/>
          <p:cNvSpPr/>
          <p:nvPr/>
        </p:nvSpPr>
        <p:spPr>
          <a:xfrm>
            <a:off x="713160" y="64008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MCP Specification  ·  Deck 2 of 3  ·  The 2025-11-25 Revision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18"/>
          <p:cNvSpPr/>
          <p:nvPr/>
        </p:nvSpPr>
        <p:spPr>
          <a:xfrm>
            <a:off x="1115568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5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3" name="Text 0"/>
          <p:cNvSpPr/>
          <p:nvPr/>
        </p:nvSpPr>
        <p:spPr>
          <a:xfrm>
            <a:off x="457200" y="457200"/>
            <a:ext cx="9417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299">
                <a:solidFill>
                  <a:srgbClr val="8B0E15"/>
                </a:solidFill>
                <a:latin typeface="Calibri"/>
                <a:ea typeface="Calibri"/>
              </a:rPr>
              <a:t>SERVER FEATURES · 1 OF 3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1"/>
          <p:cNvSpPr/>
          <p:nvPr/>
        </p:nvSpPr>
        <p:spPr>
          <a:xfrm>
            <a:off x="457200" y="73152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231F20"/>
                </a:solidFill>
                <a:latin typeface="Open Sans"/>
                <a:ea typeface="Open Sans"/>
              </a:rPr>
              <a:t>Tools — functions the model can call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 2"/>
          <p:cNvSpPr/>
          <p:nvPr/>
        </p:nvSpPr>
        <p:spPr>
          <a:xfrm>
            <a:off x="457200" y="1371600"/>
            <a:ext cx="112467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3A3536"/>
                </a:solidFill>
                <a:latin typeface="Calibri"/>
                <a:ea typeface="Calibri"/>
              </a:rPr>
              <a:t>Tools are the most-used primitive: actions with side effects the LLM may choose to invoke. The spec defines two methods.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16" name="Table 0"/>
          <p:cNvGraphicFramePr/>
          <p:nvPr/>
        </p:nvGraphicFramePr>
        <p:xfrm>
          <a:off x="457200" y="2103120"/>
          <a:ext cx="11247120" cy="192024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40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strike="noStrike" spc="-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Method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5A0E1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strike="noStrike" spc="-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Direction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5A0E1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strike="noStrike" spc="-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Purpose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5A0E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strike="noStrike" spc="-1">
                          <a:solidFill>
                            <a:srgbClr val="231F20"/>
                          </a:solidFill>
                          <a:latin typeface="Consolas"/>
                          <a:ea typeface="Consolas"/>
                        </a:rPr>
                        <a:t>tools/list</a:t>
                      </a:r>
                      <a:endParaRPr lang="en-US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strike="noStrike" spc="-1">
                          <a:solidFill>
                            <a:srgbClr val="3A3536"/>
                          </a:solidFill>
                          <a:latin typeface="Calibri"/>
                          <a:ea typeface="Calibri"/>
                        </a:rPr>
                        <a:t>Client → Server</a:t>
                      </a:r>
                      <a:endParaRPr lang="en-US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strike="noStrike" spc="-1">
                          <a:solidFill>
                            <a:srgbClr val="3A3536"/>
                          </a:solidFill>
                          <a:latin typeface="Calibri"/>
                          <a:ea typeface="Calibri"/>
                        </a:rPr>
                        <a:t>Discover available tools, each with a name, description, and input schema.</a:t>
                      </a:r>
                      <a:endParaRPr lang="en-US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strike="noStrike" spc="-1">
                          <a:solidFill>
                            <a:srgbClr val="231F20"/>
                          </a:solidFill>
                          <a:latin typeface="Consolas"/>
                          <a:ea typeface="Consolas"/>
                        </a:rPr>
                        <a:t>tools/call</a:t>
                      </a:r>
                      <a:endParaRPr lang="en-US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strike="noStrike" spc="-1">
                          <a:solidFill>
                            <a:srgbClr val="3A3536"/>
                          </a:solidFill>
                          <a:latin typeface="Calibri"/>
                          <a:ea typeface="Calibri"/>
                        </a:rPr>
                        <a:t>Client → Server</a:t>
                      </a:r>
                      <a:endParaRPr lang="en-US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strike="noStrike" spc="-1">
                          <a:solidFill>
                            <a:srgbClr val="3A3536"/>
                          </a:solidFill>
                          <a:latin typeface="Calibri"/>
                          <a:ea typeface="Calibri"/>
                        </a:rPr>
                        <a:t>Invoke a named tool with arguments; the server executes and returns a result.</a:t>
                      </a:r>
                      <a:endParaRPr lang="en-US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7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7" name="Shape 3"/>
          <p:cNvSpPr/>
          <p:nvPr/>
        </p:nvSpPr>
        <p:spPr>
          <a:xfrm>
            <a:off x="457200" y="3931920"/>
            <a:ext cx="11246760" cy="1371240"/>
          </a:xfrm>
          <a:prstGeom prst="rect">
            <a:avLst/>
          </a:prstGeom>
          <a:solidFill>
            <a:srgbClr val="FBF1E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Shape 4"/>
          <p:cNvSpPr/>
          <p:nvPr/>
        </p:nvSpPr>
        <p:spPr>
          <a:xfrm>
            <a:off x="457200" y="3931920"/>
            <a:ext cx="91080" cy="1371240"/>
          </a:xfrm>
          <a:prstGeom prst="rect">
            <a:avLst/>
          </a:prstGeom>
          <a:solidFill>
            <a:srgbClr val="B886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9" name="Image 0" descr="preencoded.png"/>
          <p:cNvPicPr/>
          <p:nvPr/>
        </p:nvPicPr>
        <p:blipFill>
          <a:blip r:embed="rId2"/>
          <a:stretch/>
        </p:blipFill>
        <p:spPr>
          <a:xfrm>
            <a:off x="713160" y="4160520"/>
            <a:ext cx="411120" cy="411120"/>
          </a:xfrm>
          <a:prstGeom prst="rect">
            <a:avLst/>
          </a:prstGeom>
          <a:ln w="0">
            <a:noFill/>
          </a:ln>
        </p:spPr>
      </p:pic>
      <p:sp>
        <p:nvSpPr>
          <p:cNvPr id="120" name="Text 5"/>
          <p:cNvSpPr/>
          <p:nvPr/>
        </p:nvSpPr>
        <p:spPr>
          <a:xfrm>
            <a:off x="1280160" y="4069080"/>
            <a:ext cx="100580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8A5A12"/>
                </a:solidFill>
                <a:latin typeface="Open Sans"/>
                <a:ea typeface="Open Sans"/>
              </a:rPr>
              <a:t>The spec's own warning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 6"/>
          <p:cNvSpPr/>
          <p:nvPr/>
        </p:nvSpPr>
        <p:spPr>
          <a:xfrm>
            <a:off x="1280160" y="4434840"/>
            <a:ext cx="101494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strike="noStrike" spc="-1">
                <a:solidFill>
                  <a:srgbClr val="8A5A12"/>
                </a:solidFill>
                <a:latin typeface="Calibri"/>
                <a:ea typeface="Calibri"/>
              </a:rPr>
              <a:t>Tool descriptions and annotations should be treated as untrusted unless they come from a server you trust. A tool represents arbitrary code execution — the host must obtain explicit user consent before invoking one. This is the spec telling you, in its own words, where the danger lives.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Shape 7"/>
          <p:cNvSpPr/>
          <p:nvPr/>
        </p:nvSpPr>
        <p:spPr>
          <a:xfrm>
            <a:off x="457200" y="5486400"/>
            <a:ext cx="11246760" cy="548280"/>
          </a:xfrm>
          <a:prstGeom prst="rect">
            <a:avLst/>
          </a:prstGeom>
          <a:solidFill>
            <a:srgbClr val="EFE9E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8"/>
          <p:cNvSpPr/>
          <p:nvPr/>
        </p:nvSpPr>
        <p:spPr>
          <a:xfrm>
            <a:off x="640080" y="548640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231F20"/>
                </a:solidFill>
                <a:latin typeface="Calibri"/>
                <a:ea typeface="Calibri"/>
              </a:rPr>
              <a:t>New in 2025-11-25:  </a:t>
            </a:r>
            <a:r>
              <a:rPr lang="en-US" sz="1250" b="0" strike="noStrike" spc="-1">
                <a:solidFill>
                  <a:srgbClr val="3A3536"/>
                </a:solidFill>
                <a:latin typeface="Calibri"/>
                <a:ea typeface="Calibri"/>
              </a:rPr>
              <a:t>sampling can now itself call tools (tools / toolChoice), and input-validation errors return as tool execution errors so the model can self-correct.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Shape 9"/>
          <p:cNvSpPr/>
          <p:nvPr/>
        </p:nvSpPr>
        <p:spPr>
          <a:xfrm>
            <a:off x="0" y="0"/>
            <a:ext cx="12161160" cy="7272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5" name="Image 1" descr="fhb_logo.png"/>
          <p:cNvPicPr/>
          <p:nvPr/>
        </p:nvPicPr>
        <p:blipFill>
          <a:blip r:embed="rId3"/>
          <a:stretch/>
        </p:blipFill>
        <p:spPr>
          <a:xfrm>
            <a:off x="10031040" y="146160"/>
            <a:ext cx="1828440" cy="338040"/>
          </a:xfrm>
          <a:prstGeom prst="rect">
            <a:avLst/>
          </a:prstGeom>
          <a:ln w="0">
            <a:noFill/>
          </a:ln>
        </p:spPr>
      </p:pic>
      <p:sp>
        <p:nvSpPr>
          <p:cNvPr id="126" name="Shape 10"/>
          <p:cNvSpPr/>
          <p:nvPr/>
        </p:nvSpPr>
        <p:spPr>
          <a:xfrm>
            <a:off x="457200" y="6583680"/>
            <a:ext cx="11274120" cy="1980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Shape 11"/>
          <p:cNvSpPr/>
          <p:nvPr/>
        </p:nvSpPr>
        <p:spPr>
          <a:xfrm>
            <a:off x="457200" y="6510600"/>
            <a:ext cx="164160" cy="16416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Text 12"/>
          <p:cNvSpPr/>
          <p:nvPr/>
        </p:nvSpPr>
        <p:spPr>
          <a:xfrm>
            <a:off x="713160" y="64008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MCP Specification  ·  Deck 2 of 3  ·  The 2025-11-25 Revision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13"/>
          <p:cNvSpPr/>
          <p:nvPr/>
        </p:nvSpPr>
        <p:spPr>
          <a:xfrm>
            <a:off x="1115568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6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0" name="Text 0"/>
          <p:cNvSpPr/>
          <p:nvPr/>
        </p:nvSpPr>
        <p:spPr>
          <a:xfrm>
            <a:off x="457200" y="457200"/>
            <a:ext cx="9417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299">
                <a:solidFill>
                  <a:srgbClr val="8B0E15"/>
                </a:solidFill>
                <a:latin typeface="Calibri"/>
                <a:ea typeface="Calibri"/>
              </a:rPr>
              <a:t>SERVER FEATURES · 2 OF 3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 1"/>
          <p:cNvSpPr/>
          <p:nvPr/>
        </p:nvSpPr>
        <p:spPr>
          <a:xfrm>
            <a:off x="457200" y="73152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231F20"/>
                </a:solidFill>
                <a:latin typeface="Open Sans"/>
                <a:ea typeface="Open Sans"/>
              </a:rPr>
              <a:t>Resources — context and data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 2"/>
          <p:cNvSpPr/>
          <p:nvPr/>
        </p:nvSpPr>
        <p:spPr>
          <a:xfrm>
            <a:off x="457200" y="1371600"/>
            <a:ext cx="112467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3A3536"/>
                </a:solidFill>
                <a:latin typeface="Calibri"/>
                <a:ea typeface="Calibri"/>
              </a:rPr>
              <a:t>Resources are read-only data the app or user brings in for the model: files, records, documents. Each is addressed by a URI.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33" name="Table 0"/>
          <p:cNvGraphicFramePr/>
          <p:nvPr/>
        </p:nvGraphicFramePr>
        <p:xfrm>
          <a:off x="457200" y="2103120"/>
          <a:ext cx="11247120" cy="28332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75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6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strike="noStrike" spc="-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Method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5A0E1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strike="noStrike" spc="-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Direction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5A0E1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strike="noStrike" spc="-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Purpose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5A0E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6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1" strike="noStrike" spc="-1">
                          <a:solidFill>
                            <a:srgbClr val="231F20"/>
                          </a:solidFill>
                          <a:latin typeface="Consolas"/>
                          <a:ea typeface="Consolas"/>
                        </a:rPr>
                        <a:t>resources/list</a:t>
                      </a:r>
                      <a:endParaRPr lang="en-US" sz="125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strike="noStrike" spc="-1">
                          <a:solidFill>
                            <a:srgbClr val="3A3536"/>
                          </a:solidFill>
                          <a:latin typeface="Calibri"/>
                          <a:ea typeface="Calibri"/>
                        </a:rPr>
                        <a:t>Client → Server</a:t>
                      </a:r>
                      <a:endParaRPr lang="en-US" sz="125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strike="noStrike" spc="-1">
                          <a:solidFill>
                            <a:srgbClr val="3A3536"/>
                          </a:solidFill>
                          <a:latin typeface="Calibri"/>
                          <a:ea typeface="Calibri"/>
                        </a:rPr>
                        <a:t>Enumerate available resources (and resource templates for dynamic URIs).</a:t>
                      </a:r>
                      <a:endParaRPr lang="en-US" sz="125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6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1" strike="noStrike" spc="-1">
                          <a:solidFill>
                            <a:srgbClr val="231F20"/>
                          </a:solidFill>
                          <a:latin typeface="Consolas"/>
                          <a:ea typeface="Consolas"/>
                        </a:rPr>
                        <a:t>resources/read</a:t>
                      </a:r>
                      <a:endParaRPr lang="en-US" sz="125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strike="noStrike" spc="-1">
                          <a:solidFill>
                            <a:srgbClr val="3A3536"/>
                          </a:solidFill>
                          <a:latin typeface="Calibri"/>
                          <a:ea typeface="Calibri"/>
                        </a:rPr>
                        <a:t>Client → Server</a:t>
                      </a:r>
                      <a:endParaRPr lang="en-US" sz="125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strike="noStrike" spc="-1">
                          <a:solidFill>
                            <a:srgbClr val="3A3536"/>
                          </a:solidFill>
                          <a:latin typeface="Calibri"/>
                          <a:ea typeface="Calibri"/>
                        </a:rPr>
                        <a:t>Fetch the contents of a resource by URI.</a:t>
                      </a:r>
                      <a:endParaRPr lang="en-US" sz="125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7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6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1" strike="noStrike" spc="-1">
                          <a:solidFill>
                            <a:srgbClr val="231F20"/>
                          </a:solidFill>
                          <a:latin typeface="Consolas"/>
                          <a:ea typeface="Consolas"/>
                        </a:rPr>
                        <a:t>resources/subscribe</a:t>
                      </a:r>
                      <a:endParaRPr lang="en-US" sz="125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strike="noStrike" spc="-1">
                          <a:solidFill>
                            <a:srgbClr val="3A3536"/>
                          </a:solidFill>
                          <a:latin typeface="Calibri"/>
                          <a:ea typeface="Calibri"/>
                        </a:rPr>
                        <a:t>Client → Server</a:t>
                      </a:r>
                      <a:endParaRPr lang="en-US" sz="125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strike="noStrike" spc="-1">
                          <a:solidFill>
                            <a:srgbClr val="3A3536"/>
                          </a:solidFill>
                          <a:latin typeface="Calibri"/>
                          <a:ea typeface="Calibri"/>
                        </a:rPr>
                        <a:t>Ask to be notified when a resource changes (optional capability).</a:t>
                      </a:r>
                      <a:endParaRPr lang="en-US" sz="125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6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1" strike="noStrike" spc="-1">
                          <a:solidFill>
                            <a:srgbClr val="231F20"/>
                          </a:solidFill>
                          <a:latin typeface="Consolas"/>
                          <a:ea typeface="Consolas"/>
                        </a:rPr>
                        <a:t>notifications/…</a:t>
                      </a:r>
                      <a:endParaRPr lang="en-US" sz="125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strike="noStrike" spc="-1">
                          <a:solidFill>
                            <a:srgbClr val="3A3536"/>
                          </a:solidFill>
                          <a:latin typeface="Calibri"/>
                          <a:ea typeface="Calibri"/>
                        </a:rPr>
                        <a:t>Server → Client</a:t>
                      </a:r>
                      <a:endParaRPr lang="en-US" sz="125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strike="noStrike" spc="-1">
                          <a:solidFill>
                            <a:srgbClr val="3A3536"/>
                          </a:solidFill>
                          <a:latin typeface="Calibri"/>
                          <a:ea typeface="Calibri"/>
                        </a:rPr>
                        <a:t>Server signals list changes or updates to a subscribed resource.</a:t>
                      </a:r>
                      <a:endParaRPr lang="en-US" sz="125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7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4" name="Shape 3"/>
          <p:cNvSpPr/>
          <p:nvPr/>
        </p:nvSpPr>
        <p:spPr>
          <a:xfrm>
            <a:off x="457200" y="5074920"/>
            <a:ext cx="11246760" cy="1005480"/>
          </a:xfrm>
          <a:prstGeom prst="rect">
            <a:avLst/>
          </a:prstGeom>
          <a:solidFill>
            <a:srgbClr val="F7F4E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5" name="Image 0" descr="preencoded.png"/>
          <p:cNvPicPr/>
          <p:nvPr/>
        </p:nvPicPr>
        <p:blipFill>
          <a:blip r:embed="rId2"/>
          <a:stretch/>
        </p:blipFill>
        <p:spPr>
          <a:xfrm>
            <a:off x="731520" y="5349240"/>
            <a:ext cx="411120" cy="411120"/>
          </a:xfrm>
          <a:prstGeom prst="rect">
            <a:avLst/>
          </a:prstGeom>
          <a:ln w="0">
            <a:noFill/>
          </a:ln>
        </p:spPr>
      </p:pic>
      <p:sp>
        <p:nvSpPr>
          <p:cNvPr id="136" name="Text 4"/>
          <p:cNvSpPr/>
          <p:nvPr/>
        </p:nvSpPr>
        <p:spPr>
          <a:xfrm>
            <a:off x="1280160" y="5074920"/>
            <a:ext cx="1014948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strike="noStrike" spc="-1">
                <a:solidFill>
                  <a:srgbClr val="231F20"/>
                </a:solidFill>
                <a:latin typeface="Calibri"/>
                <a:ea typeface="Calibri"/>
              </a:rPr>
              <a:t>In our example:  </a:t>
            </a:r>
            <a:r>
              <a:rPr lang="en-US" sz="1350" b="0" strike="noStrike" spc="-1">
                <a:solidFill>
                  <a:srgbClr val="3A3536"/>
                </a:solidFill>
                <a:latin typeface="Calibri"/>
                <a:ea typeface="Calibri"/>
              </a:rPr>
              <a:t>the customer's transaction records would be exposed as a resource (e.g. </a:t>
            </a:r>
            <a:r>
              <a:rPr lang="en-US" sz="1350" b="0" strike="noStrike" spc="-1">
                <a:solidFill>
                  <a:srgbClr val="8B0E15"/>
                </a:solidFill>
                <a:latin typeface="Consolas"/>
                <a:ea typeface="Consolas"/>
              </a:rPr>
              <a:t>customer://1234/txns</a:t>
            </a:r>
            <a:r>
              <a:rPr lang="en-US" sz="1350" b="0" strike="noStrike" spc="-1">
                <a:solidFill>
                  <a:srgbClr val="3A3536"/>
                </a:solidFill>
                <a:latin typeface="Calibri"/>
                <a:ea typeface="Calibri"/>
              </a:rPr>
              <a:t>) — read-only context the model reads, not an action it triggers. Control sits with the app, not the model.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Shape 5"/>
          <p:cNvSpPr/>
          <p:nvPr/>
        </p:nvSpPr>
        <p:spPr>
          <a:xfrm>
            <a:off x="0" y="0"/>
            <a:ext cx="12161160" cy="7272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8" name="Image 1" descr="fhb_logo.png"/>
          <p:cNvPicPr/>
          <p:nvPr/>
        </p:nvPicPr>
        <p:blipFill>
          <a:blip r:embed="rId3"/>
          <a:stretch/>
        </p:blipFill>
        <p:spPr>
          <a:xfrm>
            <a:off x="10031040" y="146160"/>
            <a:ext cx="1828440" cy="338040"/>
          </a:xfrm>
          <a:prstGeom prst="rect">
            <a:avLst/>
          </a:prstGeom>
          <a:ln w="0">
            <a:noFill/>
          </a:ln>
        </p:spPr>
      </p:pic>
      <p:sp>
        <p:nvSpPr>
          <p:cNvPr id="139" name="Shape 6"/>
          <p:cNvSpPr/>
          <p:nvPr/>
        </p:nvSpPr>
        <p:spPr>
          <a:xfrm>
            <a:off x="457200" y="6583680"/>
            <a:ext cx="11274120" cy="1980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Shape 7"/>
          <p:cNvSpPr/>
          <p:nvPr/>
        </p:nvSpPr>
        <p:spPr>
          <a:xfrm>
            <a:off x="457200" y="6510600"/>
            <a:ext cx="164160" cy="16416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Text 8"/>
          <p:cNvSpPr/>
          <p:nvPr/>
        </p:nvSpPr>
        <p:spPr>
          <a:xfrm>
            <a:off x="713160" y="64008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MCP Specification  ·  Deck 2 of 3  ·  The 2025-11-25 Revision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 9"/>
          <p:cNvSpPr/>
          <p:nvPr/>
        </p:nvSpPr>
        <p:spPr>
          <a:xfrm>
            <a:off x="1115568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7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3" name="Text 0"/>
          <p:cNvSpPr/>
          <p:nvPr/>
        </p:nvSpPr>
        <p:spPr>
          <a:xfrm>
            <a:off x="457200" y="457200"/>
            <a:ext cx="9417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299">
                <a:solidFill>
                  <a:srgbClr val="8B0E15"/>
                </a:solidFill>
                <a:latin typeface="Calibri"/>
                <a:ea typeface="Calibri"/>
              </a:rPr>
              <a:t>SERVER FEATURES · 3 OF 3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 1"/>
          <p:cNvSpPr/>
          <p:nvPr/>
        </p:nvSpPr>
        <p:spPr>
          <a:xfrm>
            <a:off x="457200" y="73152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231F20"/>
                </a:solidFill>
                <a:latin typeface="Open Sans"/>
                <a:ea typeface="Open Sans"/>
              </a:rPr>
              <a:t>Prompts — reusable templates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 2"/>
          <p:cNvSpPr/>
          <p:nvPr/>
        </p:nvSpPr>
        <p:spPr>
          <a:xfrm>
            <a:off x="457200" y="1371600"/>
            <a:ext cx="112467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3A3536"/>
                </a:solidFill>
                <a:latin typeface="Calibri"/>
                <a:ea typeface="Calibri"/>
              </a:rPr>
              <a:t>Prompts are user-controlled: parameterized templates and workflows a person invokes deliberately, not something the model triggers on its own.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46" name="Table 0"/>
          <p:cNvGraphicFramePr/>
          <p:nvPr/>
        </p:nvGraphicFramePr>
        <p:xfrm>
          <a:off x="457200" y="2103120"/>
          <a:ext cx="11247120" cy="192024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40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strike="noStrike" spc="-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Method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5A0E1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strike="noStrike" spc="-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Direction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5A0E1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strike="noStrike" spc="-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Purpose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5A0E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strike="noStrike" spc="-1">
                          <a:solidFill>
                            <a:srgbClr val="231F20"/>
                          </a:solidFill>
                          <a:latin typeface="Consolas"/>
                          <a:ea typeface="Consolas"/>
                        </a:rPr>
                        <a:t>prompts/list</a:t>
                      </a:r>
                      <a:endParaRPr lang="en-US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strike="noStrike" spc="-1">
                          <a:solidFill>
                            <a:srgbClr val="3A3536"/>
                          </a:solidFill>
                          <a:latin typeface="Calibri"/>
                          <a:ea typeface="Calibri"/>
                        </a:rPr>
                        <a:t>Client → Server</a:t>
                      </a:r>
                      <a:endParaRPr lang="en-US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strike="noStrike" spc="-1">
                          <a:solidFill>
                            <a:srgbClr val="3A3536"/>
                          </a:solidFill>
                          <a:latin typeface="Calibri"/>
                          <a:ea typeface="Calibri"/>
                        </a:rPr>
                        <a:t>Discover available prompt templates and the arguments each accepts.</a:t>
                      </a:r>
                      <a:endParaRPr lang="en-US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strike="noStrike" spc="-1">
                          <a:solidFill>
                            <a:srgbClr val="231F20"/>
                          </a:solidFill>
                          <a:latin typeface="Consolas"/>
                          <a:ea typeface="Consolas"/>
                        </a:rPr>
                        <a:t>prompts/get</a:t>
                      </a:r>
                      <a:endParaRPr lang="en-US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strike="noStrike" spc="-1">
                          <a:solidFill>
                            <a:srgbClr val="3A3536"/>
                          </a:solidFill>
                          <a:latin typeface="Calibri"/>
                          <a:ea typeface="Calibri"/>
                        </a:rPr>
                        <a:t>Client → Server</a:t>
                      </a:r>
                      <a:endParaRPr lang="en-US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strike="noStrike" spc="-1">
                          <a:solidFill>
                            <a:srgbClr val="3A3536"/>
                          </a:solidFill>
                          <a:latin typeface="Calibri"/>
                          <a:ea typeface="Calibri"/>
                        </a:rPr>
                        <a:t>Retrieve a prompt, with arguments filled in, ready to send to the model.</a:t>
                      </a:r>
                      <a:endParaRPr lang="en-US" sz="13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7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7" name="Text 3"/>
          <p:cNvSpPr/>
          <p:nvPr/>
        </p:nvSpPr>
        <p:spPr>
          <a:xfrm>
            <a:off x="457200" y="411480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199">
                <a:solidFill>
                  <a:srgbClr val="8B0E15"/>
                </a:solidFill>
                <a:latin typeface="Calibri"/>
                <a:ea typeface="Calibri"/>
              </a:rPr>
              <a:t>THE CONTROL AXIS — A QUICK RECAP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Shape 4"/>
          <p:cNvSpPr/>
          <p:nvPr/>
        </p:nvSpPr>
        <p:spPr>
          <a:xfrm>
            <a:off x="457200" y="4434840"/>
            <a:ext cx="3520080" cy="137124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5"/>
          <p:cNvSpPr/>
          <p:nvPr/>
        </p:nvSpPr>
        <p:spPr>
          <a:xfrm>
            <a:off x="731520" y="4709160"/>
            <a:ext cx="502560" cy="5025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0" name="Image 0" descr="preencoded.png"/>
          <p:cNvPicPr/>
          <p:nvPr/>
        </p:nvPicPr>
        <p:blipFill>
          <a:blip r:embed="rId2"/>
          <a:stretch/>
        </p:blipFill>
        <p:spPr>
          <a:xfrm>
            <a:off x="842040" y="4819680"/>
            <a:ext cx="281160" cy="281160"/>
          </a:xfrm>
          <a:prstGeom prst="rect">
            <a:avLst/>
          </a:prstGeom>
          <a:ln w="0">
            <a:noFill/>
          </a:ln>
        </p:spPr>
      </p:pic>
      <p:sp>
        <p:nvSpPr>
          <p:cNvPr id="151" name="Text 6"/>
          <p:cNvSpPr/>
          <p:nvPr/>
        </p:nvSpPr>
        <p:spPr>
          <a:xfrm>
            <a:off x="1417320" y="461772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231F20"/>
                </a:solidFill>
                <a:latin typeface="Open Sans"/>
                <a:ea typeface="Open Sans"/>
              </a:rPr>
              <a:t>Tools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7"/>
          <p:cNvSpPr/>
          <p:nvPr/>
        </p:nvSpPr>
        <p:spPr>
          <a:xfrm>
            <a:off x="1417320" y="5029200"/>
            <a:ext cx="246852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3A3536"/>
                </a:solidFill>
                <a:latin typeface="Calibri"/>
                <a:ea typeface="Calibri"/>
              </a:rPr>
              <a:t>Model-controlled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hape 8"/>
          <p:cNvSpPr/>
          <p:nvPr/>
        </p:nvSpPr>
        <p:spPr>
          <a:xfrm>
            <a:off x="4251960" y="4434840"/>
            <a:ext cx="3520080" cy="137124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Shape 9"/>
          <p:cNvSpPr/>
          <p:nvPr/>
        </p:nvSpPr>
        <p:spPr>
          <a:xfrm>
            <a:off x="4526280" y="4709160"/>
            <a:ext cx="502560" cy="5025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5" name="Image 1" descr="preencoded.png"/>
          <p:cNvPicPr/>
          <p:nvPr/>
        </p:nvPicPr>
        <p:blipFill>
          <a:blip r:embed="rId5"/>
          <a:stretch/>
        </p:blipFill>
        <p:spPr>
          <a:xfrm>
            <a:off x="4636800" y="4819680"/>
            <a:ext cx="281160" cy="281160"/>
          </a:xfrm>
          <a:prstGeom prst="rect">
            <a:avLst/>
          </a:prstGeom>
          <a:ln w="0">
            <a:noFill/>
          </a:ln>
        </p:spPr>
      </p:pic>
      <p:sp>
        <p:nvSpPr>
          <p:cNvPr id="156" name="Text 10"/>
          <p:cNvSpPr/>
          <p:nvPr/>
        </p:nvSpPr>
        <p:spPr>
          <a:xfrm>
            <a:off x="5212080" y="461772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231F20"/>
                </a:solidFill>
                <a:latin typeface="Open Sans"/>
                <a:ea typeface="Open Sans"/>
              </a:rPr>
              <a:t>Resources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11"/>
          <p:cNvSpPr/>
          <p:nvPr/>
        </p:nvSpPr>
        <p:spPr>
          <a:xfrm>
            <a:off x="5212080" y="5029200"/>
            <a:ext cx="246852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3A3536"/>
                </a:solidFill>
                <a:latin typeface="Calibri"/>
                <a:ea typeface="Calibri"/>
              </a:rPr>
              <a:t>App / user-controlled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Shape 12"/>
          <p:cNvSpPr/>
          <p:nvPr/>
        </p:nvSpPr>
        <p:spPr>
          <a:xfrm>
            <a:off x="8046720" y="4434840"/>
            <a:ext cx="3520080" cy="1371240"/>
          </a:xfrm>
          <a:prstGeom prst="rect">
            <a:avLst/>
          </a:prstGeom>
          <a:solidFill>
            <a:srgbClr val="E3EEED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Shape 13"/>
          <p:cNvSpPr/>
          <p:nvPr/>
        </p:nvSpPr>
        <p:spPr>
          <a:xfrm>
            <a:off x="8321040" y="4709160"/>
            <a:ext cx="502560" cy="5025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0" name="Image 2" descr="preencoded.png"/>
          <p:cNvPicPr/>
          <p:nvPr/>
        </p:nvPicPr>
        <p:blipFill>
          <a:blip r:embed="rId4"/>
          <a:stretch/>
        </p:blipFill>
        <p:spPr>
          <a:xfrm>
            <a:off x="8431560" y="4819680"/>
            <a:ext cx="281160" cy="281160"/>
          </a:xfrm>
          <a:prstGeom prst="rect">
            <a:avLst/>
          </a:prstGeom>
          <a:ln w="0">
            <a:noFill/>
          </a:ln>
        </p:spPr>
      </p:pic>
      <p:sp>
        <p:nvSpPr>
          <p:cNvPr id="161" name="Text 14"/>
          <p:cNvSpPr/>
          <p:nvPr/>
        </p:nvSpPr>
        <p:spPr>
          <a:xfrm>
            <a:off x="9006840" y="461772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231F20"/>
                </a:solidFill>
                <a:latin typeface="Open Sans"/>
                <a:ea typeface="Open Sans"/>
              </a:rPr>
              <a:t>Prompts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 15"/>
          <p:cNvSpPr/>
          <p:nvPr/>
        </p:nvSpPr>
        <p:spPr>
          <a:xfrm>
            <a:off x="9006840" y="5029200"/>
            <a:ext cx="246852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8B0E15"/>
                </a:solidFill>
                <a:latin typeface="Calibri"/>
                <a:ea typeface="Calibri"/>
              </a:rPr>
              <a:t>User-controlled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Shape 16"/>
          <p:cNvSpPr/>
          <p:nvPr/>
        </p:nvSpPr>
        <p:spPr>
          <a:xfrm>
            <a:off x="0" y="0"/>
            <a:ext cx="12161160" cy="7272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64" name="Image 3" descr="fhb_logo.png"/>
          <p:cNvPicPr/>
          <p:nvPr/>
        </p:nvPicPr>
        <p:blipFill>
          <a:blip r:embed="rId3"/>
          <a:stretch/>
        </p:blipFill>
        <p:spPr>
          <a:xfrm>
            <a:off x="10031040" y="146160"/>
            <a:ext cx="1828440" cy="338040"/>
          </a:xfrm>
          <a:prstGeom prst="rect">
            <a:avLst/>
          </a:prstGeom>
          <a:ln w="0">
            <a:noFill/>
          </a:ln>
        </p:spPr>
      </p:pic>
      <p:sp>
        <p:nvSpPr>
          <p:cNvPr id="165" name="Shape 17"/>
          <p:cNvSpPr/>
          <p:nvPr/>
        </p:nvSpPr>
        <p:spPr>
          <a:xfrm>
            <a:off x="457200" y="6583680"/>
            <a:ext cx="11274120" cy="1980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Shape 18"/>
          <p:cNvSpPr/>
          <p:nvPr/>
        </p:nvSpPr>
        <p:spPr>
          <a:xfrm>
            <a:off x="457200" y="6510600"/>
            <a:ext cx="164160" cy="16416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Text 19"/>
          <p:cNvSpPr/>
          <p:nvPr/>
        </p:nvSpPr>
        <p:spPr>
          <a:xfrm>
            <a:off x="713160" y="64008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MCP Specification  ·  Deck 2 of 3  ·  The 2025-11-25 Revision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20"/>
          <p:cNvSpPr/>
          <p:nvPr/>
        </p:nvSpPr>
        <p:spPr>
          <a:xfrm>
            <a:off x="1115568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8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9" name="Text 0"/>
          <p:cNvSpPr/>
          <p:nvPr/>
        </p:nvSpPr>
        <p:spPr>
          <a:xfrm>
            <a:off x="457200" y="457200"/>
            <a:ext cx="9417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299">
                <a:solidFill>
                  <a:srgbClr val="8B0E15"/>
                </a:solidFill>
                <a:latin typeface="Calibri"/>
                <a:ea typeface="Calibri"/>
              </a:rPr>
              <a:t>CLIENT FEATURES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 1"/>
          <p:cNvSpPr/>
          <p:nvPr/>
        </p:nvSpPr>
        <p:spPr>
          <a:xfrm>
            <a:off x="457200" y="73152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231F20"/>
                </a:solidFill>
                <a:latin typeface="Open Sans"/>
                <a:ea typeface="Open Sans"/>
              </a:rPr>
              <a:t>What the client offers the server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 2"/>
          <p:cNvSpPr/>
          <p:nvPr/>
        </p:nvSpPr>
        <p:spPr>
          <a:xfrm>
            <a:off x="457200" y="1371600"/>
            <a:ext cx="112467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3A3536"/>
                </a:solidFill>
                <a:latin typeface="Calibri"/>
                <a:ea typeface="Calibri"/>
              </a:rPr>
              <a:t>The reverse direction, formalized. These are capabilities the client exposes — each gated by user consent the spec explicitly requires.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72" name="Table 0"/>
          <p:cNvGraphicFramePr/>
          <p:nvPr/>
        </p:nvGraphicFramePr>
        <p:xfrm>
          <a:off x="457200" y="2103120"/>
          <a:ext cx="11247120" cy="347472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9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strike="noStrike" spc="-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Capability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5A0E1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strike="noStrike" spc="-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Method (direction)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5A0E1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strike="noStrike" spc="-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What it enables — and the required control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5A0E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strike="noStrike" spc="-1">
                          <a:solidFill>
                            <a:srgbClr val="231F20"/>
                          </a:solidFill>
                          <a:latin typeface="Calibri"/>
                          <a:ea typeface="Calibri"/>
                        </a:rPr>
                        <a:t>Sampling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strike="noStrike" spc="-1">
                          <a:solidFill>
                            <a:srgbClr val="3A3536"/>
                          </a:solidFill>
                          <a:latin typeface="Calibri"/>
                          <a:ea typeface="Calibri"/>
                        </a:rPr>
                        <a:t>sampling/createMessage  (S→C)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strike="noStrike" spc="-1">
                          <a:solidFill>
                            <a:srgbClr val="3A3536"/>
                          </a:solidFill>
                          <a:latin typeface="Calibri"/>
                          <a:ea typeface="Calibri"/>
                        </a:rPr>
                        <a:t>Server requests an LLM completion through the client. User must approve; server's view of the prompt is intentionally limited.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strike="noStrike" spc="-1">
                          <a:solidFill>
                            <a:srgbClr val="231F20"/>
                          </a:solidFill>
                          <a:latin typeface="Calibri"/>
                          <a:ea typeface="Calibri"/>
                        </a:rPr>
                        <a:t>Roots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strike="noStrike" spc="-1">
                          <a:solidFill>
                            <a:srgbClr val="3A3536"/>
                          </a:solidFill>
                          <a:latin typeface="Calibri"/>
                          <a:ea typeface="Calibri"/>
                        </a:rPr>
                        <a:t>roots/list  (S→C)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strike="noStrike" spc="-1">
                          <a:solidFill>
                            <a:srgbClr val="3A3536"/>
                          </a:solidFill>
                          <a:latin typeface="Calibri"/>
                          <a:ea typeface="Calibri"/>
                        </a:rPr>
                        <a:t>Server asks which filesystem/URI boundaries it may operate in. The client defines the fence.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7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strike="noStrike" spc="-1">
                          <a:solidFill>
                            <a:srgbClr val="231F20"/>
                          </a:solidFill>
                          <a:latin typeface="Calibri"/>
                          <a:ea typeface="Calibri"/>
                        </a:rPr>
                        <a:t>Elicitation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strike="noStrike" spc="-1">
                          <a:solidFill>
                            <a:srgbClr val="3A3536"/>
                          </a:solidFill>
                          <a:latin typeface="Calibri"/>
                          <a:ea typeface="Calibri"/>
                        </a:rPr>
                        <a:t>elicitation/create  (S→C)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strike="noStrike" spc="-1">
                          <a:solidFill>
                            <a:srgbClr val="3A3536"/>
                          </a:solidFill>
                          <a:latin typeface="Calibri"/>
                          <a:ea typeface="Calibri"/>
                        </a:rPr>
                        <a:t>Server requests additional input from the user mid-task. Routed and mediated by the client.</a:t>
                      </a:r>
                      <a:endParaRPr lang="en-US" sz="120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3" name="Text 3"/>
          <p:cNvSpPr/>
          <p:nvPr/>
        </p:nvSpPr>
        <p:spPr>
          <a:xfrm>
            <a:off x="457200" y="5806440"/>
            <a:ext cx="112467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strike="noStrike" spc="-1">
                <a:solidFill>
                  <a:srgbClr val="8A8385"/>
                </a:solidFill>
                <a:latin typeface="Calibri"/>
                <a:ea typeface="Calibri"/>
              </a:rPr>
              <a:t>S→C = server-initiated, surfaced through the client. The consent requirements aren't optional niceties — they're in the spec's security principles.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Shape 4"/>
          <p:cNvSpPr/>
          <p:nvPr/>
        </p:nvSpPr>
        <p:spPr>
          <a:xfrm>
            <a:off x="0" y="0"/>
            <a:ext cx="12161160" cy="7272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75" name="Image 0" descr="fhb_logo.png"/>
          <p:cNvPicPr/>
          <p:nvPr/>
        </p:nvPicPr>
        <p:blipFill>
          <a:blip r:embed="rId2"/>
          <a:stretch/>
        </p:blipFill>
        <p:spPr>
          <a:xfrm>
            <a:off x="10031040" y="146160"/>
            <a:ext cx="1828440" cy="338040"/>
          </a:xfrm>
          <a:prstGeom prst="rect">
            <a:avLst/>
          </a:prstGeom>
          <a:ln w="0">
            <a:noFill/>
          </a:ln>
        </p:spPr>
      </p:pic>
      <p:sp>
        <p:nvSpPr>
          <p:cNvPr id="176" name="Shape 5"/>
          <p:cNvSpPr/>
          <p:nvPr/>
        </p:nvSpPr>
        <p:spPr>
          <a:xfrm>
            <a:off x="457200" y="6583680"/>
            <a:ext cx="11274120" cy="1980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Shape 6"/>
          <p:cNvSpPr/>
          <p:nvPr/>
        </p:nvSpPr>
        <p:spPr>
          <a:xfrm>
            <a:off x="457200" y="6510600"/>
            <a:ext cx="164160" cy="16416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Text 7"/>
          <p:cNvSpPr/>
          <p:nvPr/>
        </p:nvSpPr>
        <p:spPr>
          <a:xfrm>
            <a:off x="713160" y="64008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MCP Specification  ·  Deck 2 of 3  ·  The 2025-11-25 Revision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 8"/>
          <p:cNvSpPr/>
          <p:nvPr/>
        </p:nvSpPr>
        <p:spPr>
          <a:xfrm>
            <a:off x="1115568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9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0" name="Text 0"/>
          <p:cNvSpPr/>
          <p:nvPr/>
        </p:nvSpPr>
        <p:spPr>
          <a:xfrm>
            <a:off x="457200" y="457200"/>
            <a:ext cx="9417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299">
                <a:solidFill>
                  <a:srgbClr val="8B0E15"/>
                </a:solidFill>
                <a:latin typeface="Calibri"/>
                <a:ea typeface="Calibri"/>
              </a:rPr>
              <a:t>THE SUPPORTING CAST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Text 1"/>
          <p:cNvSpPr/>
          <p:nvPr/>
        </p:nvSpPr>
        <p:spPr>
          <a:xfrm>
            <a:off x="457200" y="73152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231F20"/>
                </a:solidFill>
                <a:latin typeface="Open Sans"/>
                <a:ea typeface="Open Sans"/>
              </a:rPr>
              <a:t>Base utilities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 2"/>
          <p:cNvSpPr/>
          <p:nvPr/>
        </p:nvSpPr>
        <p:spPr>
          <a:xfrm>
            <a:off x="457200" y="1371600"/>
            <a:ext cx="11246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3A3536"/>
                </a:solidFill>
                <a:latin typeface="Calibri"/>
                <a:ea typeface="Calibri"/>
              </a:rPr>
              <a:t>Beyond features, the base protocol defines cross-cutting utilities every implementation can rely on.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Shape 3"/>
          <p:cNvSpPr/>
          <p:nvPr/>
        </p:nvSpPr>
        <p:spPr>
          <a:xfrm>
            <a:off x="457200" y="2103120"/>
            <a:ext cx="3520080" cy="164556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Shape 4"/>
          <p:cNvSpPr/>
          <p:nvPr/>
        </p:nvSpPr>
        <p:spPr>
          <a:xfrm>
            <a:off x="713160" y="2359080"/>
            <a:ext cx="502560" cy="5025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5" name="Image 0" descr="preencoded.png"/>
          <p:cNvPicPr/>
          <p:nvPr/>
        </p:nvPicPr>
        <p:blipFill>
          <a:blip r:embed="rId3"/>
          <a:stretch/>
        </p:blipFill>
        <p:spPr>
          <a:xfrm>
            <a:off x="824040" y="2469960"/>
            <a:ext cx="281160" cy="281160"/>
          </a:xfrm>
          <a:prstGeom prst="rect">
            <a:avLst/>
          </a:prstGeom>
          <a:ln w="0">
            <a:noFill/>
          </a:ln>
        </p:spPr>
      </p:pic>
      <p:sp>
        <p:nvSpPr>
          <p:cNvPr id="186" name="Text 5"/>
          <p:cNvSpPr/>
          <p:nvPr/>
        </p:nvSpPr>
        <p:spPr>
          <a:xfrm>
            <a:off x="1371600" y="2377440"/>
            <a:ext cx="24685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231F20"/>
                </a:solidFill>
                <a:latin typeface="Open Sans"/>
                <a:ea typeface="Open Sans"/>
              </a:rPr>
              <a:t>Progress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 6"/>
          <p:cNvSpPr/>
          <p:nvPr/>
        </p:nvSpPr>
        <p:spPr>
          <a:xfrm>
            <a:off x="731520" y="2971800"/>
            <a:ext cx="301716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3A3536"/>
                </a:solidFill>
                <a:latin typeface="Calibri"/>
                <a:ea typeface="Calibri"/>
              </a:rPr>
              <a:t>Long-running calls can report incremental progress back to the client.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Shape 7"/>
          <p:cNvSpPr/>
          <p:nvPr/>
        </p:nvSpPr>
        <p:spPr>
          <a:xfrm>
            <a:off x="4251960" y="2103120"/>
            <a:ext cx="3520080" cy="164556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Shape 8"/>
          <p:cNvSpPr/>
          <p:nvPr/>
        </p:nvSpPr>
        <p:spPr>
          <a:xfrm>
            <a:off x="4507920" y="2359080"/>
            <a:ext cx="502560" cy="5025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0" name="Image 1" descr="preencoded.png"/>
          <p:cNvPicPr/>
          <p:nvPr/>
        </p:nvPicPr>
        <p:blipFill>
          <a:blip r:embed="rId7"/>
          <a:stretch/>
        </p:blipFill>
        <p:spPr>
          <a:xfrm>
            <a:off x="4618800" y="2469960"/>
            <a:ext cx="281160" cy="281160"/>
          </a:xfrm>
          <a:prstGeom prst="rect">
            <a:avLst/>
          </a:prstGeom>
          <a:ln w="0">
            <a:noFill/>
          </a:ln>
        </p:spPr>
      </p:pic>
      <p:sp>
        <p:nvSpPr>
          <p:cNvPr id="191" name="Text 9"/>
          <p:cNvSpPr/>
          <p:nvPr/>
        </p:nvSpPr>
        <p:spPr>
          <a:xfrm>
            <a:off x="5166360" y="2377440"/>
            <a:ext cx="24685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231F20"/>
                </a:solidFill>
                <a:latin typeface="Open Sans"/>
                <a:ea typeface="Open Sans"/>
              </a:rPr>
              <a:t>Cancellation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 10"/>
          <p:cNvSpPr/>
          <p:nvPr/>
        </p:nvSpPr>
        <p:spPr>
          <a:xfrm>
            <a:off x="4526280" y="2971800"/>
            <a:ext cx="301716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3A3536"/>
                </a:solidFill>
                <a:latin typeface="Calibri"/>
                <a:ea typeface="Calibri"/>
              </a:rPr>
              <a:t>Either side can cancel an in-flight request it no longer needs.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Shape 11"/>
          <p:cNvSpPr/>
          <p:nvPr/>
        </p:nvSpPr>
        <p:spPr>
          <a:xfrm>
            <a:off x="8046720" y="2103120"/>
            <a:ext cx="3520080" cy="164556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Shape 12"/>
          <p:cNvSpPr/>
          <p:nvPr/>
        </p:nvSpPr>
        <p:spPr>
          <a:xfrm>
            <a:off x="8302680" y="2359080"/>
            <a:ext cx="502560" cy="5025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5" name="Image 2" descr="preencoded.png"/>
          <p:cNvPicPr/>
          <p:nvPr/>
        </p:nvPicPr>
        <p:blipFill>
          <a:blip r:embed="rId6"/>
          <a:stretch/>
        </p:blipFill>
        <p:spPr>
          <a:xfrm>
            <a:off x="8413560" y="2469960"/>
            <a:ext cx="281160" cy="281160"/>
          </a:xfrm>
          <a:prstGeom prst="rect">
            <a:avLst/>
          </a:prstGeom>
          <a:ln w="0">
            <a:noFill/>
          </a:ln>
        </p:spPr>
      </p:pic>
      <p:sp>
        <p:nvSpPr>
          <p:cNvPr id="196" name="Text 13"/>
          <p:cNvSpPr/>
          <p:nvPr/>
        </p:nvSpPr>
        <p:spPr>
          <a:xfrm>
            <a:off x="8961120" y="2377440"/>
            <a:ext cx="24685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231F20"/>
                </a:solidFill>
                <a:latin typeface="Open Sans"/>
                <a:ea typeface="Open Sans"/>
              </a:rPr>
              <a:t>Logging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 14"/>
          <p:cNvSpPr/>
          <p:nvPr/>
        </p:nvSpPr>
        <p:spPr>
          <a:xfrm>
            <a:off x="8321040" y="2971800"/>
            <a:ext cx="301716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3A3536"/>
                </a:solidFill>
                <a:latin typeface="Calibri"/>
                <a:ea typeface="Calibri"/>
              </a:rPr>
              <a:t>Servers emit structured log messages the client can surface or record.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Shape 15"/>
          <p:cNvSpPr/>
          <p:nvPr/>
        </p:nvSpPr>
        <p:spPr>
          <a:xfrm>
            <a:off x="457200" y="3977640"/>
            <a:ext cx="3520080" cy="164556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Shape 16"/>
          <p:cNvSpPr/>
          <p:nvPr/>
        </p:nvSpPr>
        <p:spPr>
          <a:xfrm>
            <a:off x="713160" y="4233600"/>
            <a:ext cx="502560" cy="5025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0" name="Image 3" descr="preencoded.png"/>
          <p:cNvPicPr/>
          <p:nvPr/>
        </p:nvPicPr>
        <p:blipFill>
          <a:blip r:embed="rId5"/>
          <a:stretch/>
        </p:blipFill>
        <p:spPr>
          <a:xfrm>
            <a:off x="824040" y="4344480"/>
            <a:ext cx="281160" cy="281160"/>
          </a:xfrm>
          <a:prstGeom prst="rect">
            <a:avLst/>
          </a:prstGeom>
          <a:ln w="0">
            <a:noFill/>
          </a:ln>
        </p:spPr>
      </p:pic>
      <p:sp>
        <p:nvSpPr>
          <p:cNvPr id="201" name="Text 17"/>
          <p:cNvSpPr/>
          <p:nvPr/>
        </p:nvSpPr>
        <p:spPr>
          <a:xfrm>
            <a:off x="1371600" y="4251960"/>
            <a:ext cx="24685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231F20"/>
                </a:solidFill>
                <a:latin typeface="Open Sans"/>
                <a:ea typeface="Open Sans"/>
              </a:rPr>
              <a:t>Error reporting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 18"/>
          <p:cNvSpPr/>
          <p:nvPr/>
        </p:nvSpPr>
        <p:spPr>
          <a:xfrm>
            <a:off x="731520" y="4846320"/>
            <a:ext cx="301716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3A3536"/>
                </a:solidFill>
                <a:latin typeface="Calibri"/>
                <a:ea typeface="Calibri"/>
              </a:rPr>
              <a:t>Standardized JSON-RPC error codes make failures consistent and parseable.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Shape 19"/>
          <p:cNvSpPr/>
          <p:nvPr/>
        </p:nvSpPr>
        <p:spPr>
          <a:xfrm>
            <a:off x="4251960" y="3977640"/>
            <a:ext cx="3520080" cy="164556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Shape 20"/>
          <p:cNvSpPr/>
          <p:nvPr/>
        </p:nvSpPr>
        <p:spPr>
          <a:xfrm>
            <a:off x="4507920" y="4233600"/>
            <a:ext cx="502560" cy="5025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5" name="Image 4" descr="preencoded.png"/>
          <p:cNvPicPr/>
          <p:nvPr/>
        </p:nvPicPr>
        <p:blipFill>
          <a:blip r:embed="rId4"/>
          <a:stretch/>
        </p:blipFill>
        <p:spPr>
          <a:xfrm>
            <a:off x="4618800" y="4344480"/>
            <a:ext cx="281160" cy="281160"/>
          </a:xfrm>
          <a:prstGeom prst="rect">
            <a:avLst/>
          </a:prstGeom>
          <a:ln w="0">
            <a:noFill/>
          </a:ln>
        </p:spPr>
      </p:pic>
      <p:sp>
        <p:nvSpPr>
          <p:cNvPr id="206" name="Text 21"/>
          <p:cNvSpPr/>
          <p:nvPr/>
        </p:nvSpPr>
        <p:spPr>
          <a:xfrm>
            <a:off x="5166360" y="4251960"/>
            <a:ext cx="24685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231F20"/>
                </a:solidFill>
                <a:latin typeface="Open Sans"/>
                <a:ea typeface="Open Sans"/>
              </a:rPr>
              <a:t>Configuration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Text 22"/>
          <p:cNvSpPr/>
          <p:nvPr/>
        </p:nvSpPr>
        <p:spPr>
          <a:xfrm>
            <a:off x="4526280" y="4846320"/>
            <a:ext cx="301716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3A3536"/>
                </a:solidFill>
                <a:latin typeface="Calibri"/>
                <a:ea typeface="Calibri"/>
              </a:rPr>
              <a:t>Negotiated settings and metadata exchanged during initialization.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Shape 23"/>
          <p:cNvSpPr/>
          <p:nvPr/>
        </p:nvSpPr>
        <p:spPr>
          <a:xfrm>
            <a:off x="8046720" y="3977640"/>
            <a:ext cx="3520080" cy="164556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Shape 24"/>
          <p:cNvSpPr/>
          <p:nvPr/>
        </p:nvSpPr>
        <p:spPr>
          <a:xfrm>
            <a:off x="8302680" y="4233600"/>
            <a:ext cx="502560" cy="5025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0" name="Image 5" descr="preencoded.png"/>
          <p:cNvPicPr/>
          <p:nvPr/>
        </p:nvPicPr>
        <p:blipFill>
          <a:blip r:embed="rId2"/>
          <a:stretch/>
        </p:blipFill>
        <p:spPr>
          <a:xfrm>
            <a:off x="8413560" y="4344480"/>
            <a:ext cx="281160" cy="281160"/>
          </a:xfrm>
          <a:prstGeom prst="rect">
            <a:avLst/>
          </a:prstGeom>
          <a:ln w="0">
            <a:noFill/>
          </a:ln>
        </p:spPr>
      </p:pic>
      <p:sp>
        <p:nvSpPr>
          <p:cNvPr id="211" name="Text 25"/>
          <p:cNvSpPr/>
          <p:nvPr/>
        </p:nvSpPr>
        <p:spPr>
          <a:xfrm>
            <a:off x="8961120" y="4251960"/>
            <a:ext cx="24685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231F20"/>
                </a:solidFill>
                <a:latin typeface="Open Sans"/>
                <a:ea typeface="Open Sans"/>
              </a:rPr>
              <a:t>Ping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 26"/>
          <p:cNvSpPr/>
          <p:nvPr/>
        </p:nvSpPr>
        <p:spPr>
          <a:xfrm>
            <a:off x="8321040" y="4846320"/>
            <a:ext cx="301716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3A3536"/>
                </a:solidFill>
                <a:latin typeface="Calibri"/>
                <a:ea typeface="Calibri"/>
              </a:rPr>
              <a:t>A simple liveness check to confirm the connection is still healthy.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Shape 27"/>
          <p:cNvSpPr/>
          <p:nvPr/>
        </p:nvSpPr>
        <p:spPr>
          <a:xfrm>
            <a:off x="0" y="0"/>
            <a:ext cx="12161160" cy="7272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14" name="Image 6" descr="fhb_logo.png"/>
          <p:cNvPicPr/>
          <p:nvPr/>
        </p:nvPicPr>
        <p:blipFill>
          <a:blip r:embed="rId8"/>
          <a:stretch/>
        </p:blipFill>
        <p:spPr>
          <a:xfrm>
            <a:off x="10031040" y="146160"/>
            <a:ext cx="1828440" cy="338040"/>
          </a:xfrm>
          <a:prstGeom prst="rect">
            <a:avLst/>
          </a:prstGeom>
          <a:ln w="0">
            <a:noFill/>
          </a:ln>
        </p:spPr>
      </p:pic>
      <p:sp>
        <p:nvSpPr>
          <p:cNvPr id="215" name="Shape 28"/>
          <p:cNvSpPr/>
          <p:nvPr/>
        </p:nvSpPr>
        <p:spPr>
          <a:xfrm>
            <a:off x="457200" y="6583680"/>
            <a:ext cx="11274120" cy="1980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Shape 29"/>
          <p:cNvSpPr/>
          <p:nvPr/>
        </p:nvSpPr>
        <p:spPr>
          <a:xfrm>
            <a:off x="457200" y="6510600"/>
            <a:ext cx="164160" cy="16416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Text 30"/>
          <p:cNvSpPr/>
          <p:nvPr/>
        </p:nvSpPr>
        <p:spPr>
          <a:xfrm>
            <a:off x="713160" y="64008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MCP Specification  ·  Deck 2 of 3  ·  The 2025-11-25 Revision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Text 31"/>
          <p:cNvSpPr/>
          <p:nvPr/>
        </p:nvSpPr>
        <p:spPr>
          <a:xfrm>
            <a:off x="1115568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10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9" name="Text 0"/>
          <p:cNvSpPr/>
          <p:nvPr/>
        </p:nvSpPr>
        <p:spPr>
          <a:xfrm>
            <a:off x="457200" y="457200"/>
            <a:ext cx="9417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299">
                <a:solidFill>
                  <a:srgbClr val="8B0E15"/>
                </a:solidFill>
                <a:latin typeface="Calibri"/>
                <a:ea typeface="Calibri"/>
              </a:rPr>
              <a:t>TRANSPORTS, FORMALLY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 1"/>
          <p:cNvSpPr/>
          <p:nvPr/>
        </p:nvSpPr>
        <p:spPr>
          <a:xfrm>
            <a:off x="457200" y="73152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231F20"/>
                </a:solidFill>
                <a:latin typeface="Open Sans"/>
                <a:ea typeface="Open Sans"/>
              </a:rPr>
              <a:t>Two transports the spec defines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Text 2"/>
          <p:cNvSpPr/>
          <p:nvPr/>
        </p:nvSpPr>
        <p:spPr>
          <a:xfrm>
            <a:off x="457200" y="1371600"/>
            <a:ext cx="112467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3A3536"/>
                </a:solidFill>
                <a:latin typeface="Calibri"/>
                <a:ea typeface="Calibri"/>
              </a:rPr>
              <a:t>The spec defines how messages move. Deck 1 covered the intuition; here is the normative shape and the session rules.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22" name="Table 0"/>
          <p:cNvGraphicFramePr/>
          <p:nvPr>
            <p:extLst>
              <p:ext uri="{D42A27DB-BD31-4B8C-83A1-F6EECF244321}">
                <p14:modId xmlns:p14="http://schemas.microsoft.com/office/powerpoint/2010/main" val="2471352661"/>
              </p:ext>
            </p:extLst>
          </p:nvPr>
        </p:nvGraphicFramePr>
        <p:xfrm>
          <a:off x="457200" y="2103120"/>
          <a:ext cx="11247120" cy="27432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strike="noStrike" spc="-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Transport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5A0E1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strike="noStrike" spc="-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Where it runs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5A0E12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strike="noStrike" spc="-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Spec notes</a:t>
                      </a:r>
                      <a:endParaRPr lang="en-US" sz="1200" b="0" strike="noStrike" spc="-1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5A0E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1" strike="noStrike" spc="-1">
                          <a:solidFill>
                            <a:srgbClr val="231F20"/>
                          </a:solidFill>
                          <a:latin typeface="Consolas"/>
                          <a:ea typeface="Consolas"/>
                        </a:rPr>
                        <a:t>stdio</a:t>
                      </a:r>
                      <a:endParaRPr lang="en-US" sz="125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strike="noStrike" spc="-1">
                          <a:solidFill>
                            <a:srgbClr val="3A3536"/>
                          </a:solidFill>
                          <a:latin typeface="Calibri"/>
                          <a:ea typeface="Calibri"/>
                        </a:rPr>
                        <a:t>Local subprocess, same machine</a:t>
                      </a:r>
                      <a:endParaRPr lang="en-US" sz="125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strike="noStrike" spc="-1">
                          <a:solidFill>
                            <a:srgbClr val="3A3536"/>
                          </a:solidFill>
                          <a:latin typeface="Calibri"/>
                          <a:ea typeface="Calibri"/>
                        </a:rPr>
                        <a:t>Client launches the server; messages over stdin/stdout. Servers may use stderr for logging of any kind.</a:t>
                      </a:r>
                      <a:endParaRPr lang="en-US" sz="125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1" strike="noStrike" spc="-1">
                          <a:solidFill>
                            <a:srgbClr val="231F20"/>
                          </a:solidFill>
                          <a:latin typeface="Consolas"/>
                          <a:ea typeface="Consolas"/>
                        </a:rPr>
                        <a:t>Streamable HTTP</a:t>
                      </a:r>
                      <a:endParaRPr lang="en-US" sz="125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strike="noStrike" spc="-1">
                          <a:solidFill>
                            <a:srgbClr val="3A3536"/>
                          </a:solidFill>
                          <a:latin typeface="Calibri"/>
                          <a:ea typeface="Calibri"/>
                        </a:rPr>
                        <a:t>Remote, multi-client over HTTPS</a:t>
                      </a:r>
                      <a:endParaRPr lang="en-US" sz="1250" b="0" strike="noStrike" spc="-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7F4E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strike="noStrike" spc="-1" dirty="0">
                          <a:solidFill>
                            <a:srgbClr val="3A3536"/>
                          </a:solidFill>
                          <a:latin typeface="Calibri"/>
                          <a:ea typeface="Calibri"/>
                        </a:rPr>
                        <a:t>Supports SSE streaming and sessions. </a:t>
                      </a:r>
                      <a:endParaRPr lang="en-US" sz="1250" b="0" strike="noStrike" spc="-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75960" marR="75960" anchor="ctr">
                    <a:lnL w="12240">
                      <a:solidFill>
                        <a:srgbClr val="DAD3C8"/>
                      </a:solidFill>
                      <a:prstDash val="solid"/>
                    </a:lnL>
                    <a:lnR w="12240">
                      <a:solidFill>
                        <a:srgbClr val="DAD3C8"/>
                      </a:solidFill>
                      <a:prstDash val="solid"/>
                    </a:lnR>
                    <a:lnT w="12240">
                      <a:solidFill>
                        <a:srgbClr val="DAD3C8"/>
                      </a:solidFill>
                      <a:prstDash val="solid"/>
                    </a:lnT>
                    <a:lnB w="12240">
                      <a:solidFill>
                        <a:srgbClr val="DAD3C8"/>
                      </a:solidFill>
                      <a:prstDash val="solid"/>
                    </a:lnB>
                    <a:solidFill>
                      <a:srgbClr val="F7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3" name="Shape 3"/>
          <p:cNvSpPr/>
          <p:nvPr/>
        </p:nvSpPr>
        <p:spPr>
          <a:xfrm>
            <a:off x="457200" y="4572000"/>
            <a:ext cx="11246760" cy="685440"/>
          </a:xfrm>
          <a:prstGeom prst="rect">
            <a:avLst/>
          </a:prstGeom>
          <a:solidFill>
            <a:srgbClr val="EFE9E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 4"/>
          <p:cNvSpPr/>
          <p:nvPr/>
        </p:nvSpPr>
        <p:spPr>
          <a:xfrm>
            <a:off x="640080" y="4572000"/>
            <a:ext cx="1097244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231F20"/>
                </a:solidFill>
                <a:latin typeface="Calibri"/>
                <a:ea typeface="Calibri"/>
              </a:rPr>
              <a:t>Deprecated:  </a:t>
            </a:r>
            <a:r>
              <a:rPr lang="en-US" sz="1300" b="0" strike="noStrike" spc="-1">
                <a:solidFill>
                  <a:srgbClr val="3A3536"/>
                </a:solidFill>
                <a:latin typeface="Calibri"/>
                <a:ea typeface="Calibri"/>
              </a:rPr>
              <a:t>the older HTTP+SSE transport. Streamable HTTP replaced it as the recommended remote transport in the 2025-03-26 revision.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Shape 8"/>
          <p:cNvSpPr/>
          <p:nvPr/>
        </p:nvSpPr>
        <p:spPr>
          <a:xfrm>
            <a:off x="0" y="0"/>
            <a:ext cx="12161160" cy="7272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29" name="Image 0" descr="fhb_logo.png"/>
          <p:cNvPicPr/>
          <p:nvPr/>
        </p:nvPicPr>
        <p:blipFill>
          <a:blip r:embed="rId2"/>
          <a:stretch/>
        </p:blipFill>
        <p:spPr>
          <a:xfrm>
            <a:off x="10031040" y="146160"/>
            <a:ext cx="1828440" cy="338040"/>
          </a:xfrm>
          <a:prstGeom prst="rect">
            <a:avLst/>
          </a:prstGeom>
          <a:ln w="0">
            <a:noFill/>
          </a:ln>
        </p:spPr>
      </p:pic>
      <p:sp>
        <p:nvSpPr>
          <p:cNvPr id="230" name="Shape 9"/>
          <p:cNvSpPr/>
          <p:nvPr/>
        </p:nvSpPr>
        <p:spPr>
          <a:xfrm>
            <a:off x="457200" y="6583680"/>
            <a:ext cx="11274120" cy="1980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Shape 10"/>
          <p:cNvSpPr/>
          <p:nvPr/>
        </p:nvSpPr>
        <p:spPr>
          <a:xfrm>
            <a:off x="457200" y="6510600"/>
            <a:ext cx="164160" cy="16416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Text 11"/>
          <p:cNvSpPr/>
          <p:nvPr/>
        </p:nvSpPr>
        <p:spPr>
          <a:xfrm>
            <a:off x="713160" y="64008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MCP Specification  ·  Deck 2 of 3  ·  The 2025-11-25 Revision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Text 12"/>
          <p:cNvSpPr/>
          <p:nvPr/>
        </p:nvSpPr>
        <p:spPr>
          <a:xfrm>
            <a:off x="1115568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11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A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6" name="Shape 0"/>
          <p:cNvSpPr/>
          <p:nvPr/>
        </p:nvSpPr>
        <p:spPr>
          <a:xfrm>
            <a:off x="0" y="0"/>
            <a:ext cx="12161160" cy="7272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Shape 1"/>
          <p:cNvSpPr/>
          <p:nvPr/>
        </p:nvSpPr>
        <p:spPr>
          <a:xfrm>
            <a:off x="9829800" y="164520"/>
            <a:ext cx="2057040" cy="5025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8" name="Image 0" descr="fhb_logo.png"/>
          <p:cNvPicPr/>
          <p:nvPr/>
        </p:nvPicPr>
        <p:blipFill>
          <a:blip r:embed="rId2"/>
          <a:stretch/>
        </p:blipFill>
        <p:spPr>
          <a:xfrm>
            <a:off x="9921240" y="255960"/>
            <a:ext cx="1828440" cy="338040"/>
          </a:xfrm>
          <a:prstGeom prst="rect">
            <a:avLst/>
          </a:prstGeom>
          <a:ln w="0">
            <a:noFill/>
          </a:ln>
        </p:spPr>
      </p:pic>
      <p:sp>
        <p:nvSpPr>
          <p:cNvPr id="259" name="Shape 2"/>
          <p:cNvSpPr/>
          <p:nvPr/>
        </p:nvSpPr>
        <p:spPr>
          <a:xfrm>
            <a:off x="457200" y="6583680"/>
            <a:ext cx="11274120" cy="1980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Shape 3"/>
          <p:cNvSpPr/>
          <p:nvPr/>
        </p:nvSpPr>
        <p:spPr>
          <a:xfrm>
            <a:off x="457200" y="6510600"/>
            <a:ext cx="164160" cy="1641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Shape 4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B886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" name="Text 5"/>
          <p:cNvSpPr/>
          <p:nvPr/>
        </p:nvSpPr>
        <p:spPr>
          <a:xfrm>
            <a:off x="822960" y="45720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299">
                <a:solidFill>
                  <a:srgbClr val="F5A800"/>
                </a:solidFill>
                <a:latin typeface="Calibri"/>
                <a:ea typeface="Calibri"/>
              </a:rPr>
              <a:t>THE HINGE INTO DECK 3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" name="Text 6"/>
          <p:cNvSpPr/>
          <p:nvPr/>
        </p:nvSpPr>
        <p:spPr>
          <a:xfrm>
            <a:off x="777240" y="822960"/>
            <a:ext cx="107895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strike="noStrike" spc="-1">
                <a:solidFill>
                  <a:srgbClr val="FFFFFF"/>
                </a:solidFill>
                <a:latin typeface="Open Sans"/>
                <a:ea typeface="Open Sans"/>
              </a:rPr>
              <a:t>The spec's own security model</a:t>
            </a:r>
            <a:endParaRPr lang="en-US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4" name="Text 7"/>
          <p:cNvSpPr/>
          <p:nvPr/>
        </p:nvSpPr>
        <p:spPr>
          <a:xfrm>
            <a:off x="822960" y="155448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F0E8DC"/>
                </a:solidFill>
                <a:latin typeface="Calibri"/>
                <a:ea typeface="Calibri"/>
              </a:rPr>
              <a:t>The specification states four security principles — then admits it cannot enforce them at the protocol level.</a:t>
            </a:r>
            <a:endParaRPr lang="en-US" sz="15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" name="Shape 8"/>
          <p:cNvSpPr/>
          <p:nvPr/>
        </p:nvSpPr>
        <p:spPr>
          <a:xfrm>
            <a:off x="822960" y="2148840"/>
            <a:ext cx="5211720" cy="10969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8A6A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Text 9"/>
          <p:cNvSpPr/>
          <p:nvPr/>
        </p:nvSpPr>
        <p:spPr>
          <a:xfrm>
            <a:off x="1005840" y="23133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F5A800"/>
                </a:solidFill>
                <a:latin typeface="Open Sans"/>
                <a:ea typeface="Open Sans"/>
              </a:rPr>
              <a:t>1</a:t>
            </a:r>
            <a:endParaRPr lang="en-US" sz="2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7" name="Text 10"/>
          <p:cNvSpPr/>
          <p:nvPr/>
        </p:nvSpPr>
        <p:spPr>
          <a:xfrm>
            <a:off x="1508760" y="2286000"/>
            <a:ext cx="43887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FFFFFF"/>
                </a:solidFill>
                <a:latin typeface="Open Sans"/>
                <a:ea typeface="Open Sans"/>
              </a:rPr>
              <a:t>User Consent &amp; Control</a:t>
            </a:r>
            <a:endParaRPr lang="en-US" sz="15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Text 11"/>
          <p:cNvSpPr/>
          <p:nvPr/>
        </p:nvSpPr>
        <p:spPr>
          <a:xfrm>
            <a:off x="1508760" y="2606040"/>
            <a:ext cx="43887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E8DFD2"/>
                </a:solidFill>
                <a:latin typeface="Calibri"/>
                <a:ea typeface="Calibri"/>
              </a:rPr>
              <a:t>Users must explicitly consent to data access and operations, and stay in control of what's shared.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9" name="Shape 12"/>
          <p:cNvSpPr/>
          <p:nvPr/>
        </p:nvSpPr>
        <p:spPr>
          <a:xfrm>
            <a:off x="6309360" y="2148840"/>
            <a:ext cx="5211720" cy="10969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8A6A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Text 13"/>
          <p:cNvSpPr/>
          <p:nvPr/>
        </p:nvSpPr>
        <p:spPr>
          <a:xfrm>
            <a:off x="6492240" y="23133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F5A800"/>
                </a:solidFill>
                <a:latin typeface="Open Sans"/>
                <a:ea typeface="Open Sans"/>
              </a:rPr>
              <a:t>2</a:t>
            </a:r>
            <a:endParaRPr lang="en-US" sz="2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" name="Text 14"/>
          <p:cNvSpPr/>
          <p:nvPr/>
        </p:nvSpPr>
        <p:spPr>
          <a:xfrm>
            <a:off x="6995160" y="2286000"/>
            <a:ext cx="43887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FFFFFF"/>
                </a:solidFill>
                <a:latin typeface="Open Sans"/>
                <a:ea typeface="Open Sans"/>
              </a:rPr>
              <a:t>Data Privacy</a:t>
            </a:r>
            <a:endParaRPr lang="en-US" sz="15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" name="Text 15"/>
          <p:cNvSpPr/>
          <p:nvPr/>
        </p:nvSpPr>
        <p:spPr>
          <a:xfrm>
            <a:off x="6995160" y="2606040"/>
            <a:ext cx="43887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E8DFD2"/>
                </a:solidFill>
                <a:latin typeface="Calibri"/>
                <a:ea typeface="Calibri"/>
              </a:rPr>
              <a:t>Hosts must get consent before exposing user data to servers, and must not transmit it elsewhere freely.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Shape 16"/>
          <p:cNvSpPr/>
          <p:nvPr/>
        </p:nvSpPr>
        <p:spPr>
          <a:xfrm>
            <a:off x="822960" y="3383280"/>
            <a:ext cx="5211720" cy="10969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8A6A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Text 17"/>
          <p:cNvSpPr/>
          <p:nvPr/>
        </p:nvSpPr>
        <p:spPr>
          <a:xfrm>
            <a:off x="1005840" y="35478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F5A800"/>
                </a:solidFill>
                <a:latin typeface="Open Sans"/>
                <a:ea typeface="Open Sans"/>
              </a:rPr>
              <a:t>3</a:t>
            </a:r>
            <a:endParaRPr lang="en-US" sz="2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5" name="Text 18"/>
          <p:cNvSpPr/>
          <p:nvPr/>
        </p:nvSpPr>
        <p:spPr>
          <a:xfrm>
            <a:off x="1508760" y="3520440"/>
            <a:ext cx="43887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FFFFFF"/>
                </a:solidFill>
                <a:latin typeface="Open Sans"/>
                <a:ea typeface="Open Sans"/>
              </a:rPr>
              <a:t>Tool Safety</a:t>
            </a:r>
            <a:endParaRPr lang="en-US" sz="15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" name="Text 19"/>
          <p:cNvSpPr/>
          <p:nvPr/>
        </p:nvSpPr>
        <p:spPr>
          <a:xfrm>
            <a:off x="1508760" y="3840480"/>
            <a:ext cx="43887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E8DFD2"/>
                </a:solidFill>
                <a:latin typeface="Calibri"/>
                <a:ea typeface="Calibri"/>
              </a:rPr>
              <a:t>Tools are arbitrary code execution. Consent required before invoking; descriptions are untrusted.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" name="Shape 20"/>
          <p:cNvSpPr/>
          <p:nvPr/>
        </p:nvSpPr>
        <p:spPr>
          <a:xfrm>
            <a:off x="6309360" y="3383280"/>
            <a:ext cx="5211720" cy="10969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8A6A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Text 21"/>
          <p:cNvSpPr/>
          <p:nvPr/>
        </p:nvSpPr>
        <p:spPr>
          <a:xfrm>
            <a:off x="6492240" y="35478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strike="noStrike" spc="-1">
                <a:solidFill>
                  <a:srgbClr val="F5A800"/>
                </a:solidFill>
                <a:latin typeface="Open Sans"/>
                <a:ea typeface="Open Sans"/>
              </a:rPr>
              <a:t>4</a:t>
            </a:r>
            <a:endParaRPr lang="en-US" sz="2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Text 22"/>
          <p:cNvSpPr/>
          <p:nvPr/>
        </p:nvSpPr>
        <p:spPr>
          <a:xfrm>
            <a:off x="6995160" y="3520440"/>
            <a:ext cx="43887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FFFFFF"/>
                </a:solidFill>
                <a:latin typeface="Open Sans"/>
                <a:ea typeface="Open Sans"/>
              </a:rPr>
              <a:t>LLM Sampling Controls</a:t>
            </a:r>
            <a:endParaRPr lang="en-US" sz="15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" name="Text 23"/>
          <p:cNvSpPr/>
          <p:nvPr/>
        </p:nvSpPr>
        <p:spPr>
          <a:xfrm>
            <a:off x="6995160" y="3840480"/>
            <a:ext cx="43887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E8DFD2"/>
                </a:solidFill>
                <a:latin typeface="Calibri"/>
                <a:ea typeface="Calibri"/>
              </a:rPr>
              <a:t>Users must approve sampling requests and control what the server can see.</a:t>
            </a:r>
            <a:endParaRPr lang="en-US" sz="11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" name="Shape 24"/>
          <p:cNvSpPr/>
          <p:nvPr/>
        </p:nvSpPr>
        <p:spPr>
          <a:xfrm>
            <a:off x="822960" y="5029200"/>
            <a:ext cx="10515240" cy="1096920"/>
          </a:xfrm>
          <a:prstGeom prst="rect">
            <a:avLst/>
          </a:prstGeom>
          <a:solidFill>
            <a:srgbClr val="B886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" name="Shape 25"/>
          <p:cNvSpPr/>
          <p:nvPr/>
        </p:nvSpPr>
        <p:spPr>
          <a:xfrm>
            <a:off x="1051560" y="5303520"/>
            <a:ext cx="548280" cy="54828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3" name="Image 1" descr="preencoded.png"/>
          <p:cNvPicPr/>
          <p:nvPr/>
        </p:nvPicPr>
        <p:blipFill>
          <a:blip r:embed="rId3"/>
          <a:stretch/>
        </p:blipFill>
        <p:spPr>
          <a:xfrm>
            <a:off x="1197720" y="544968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284" name="Text 26"/>
          <p:cNvSpPr/>
          <p:nvPr/>
        </p:nvSpPr>
        <p:spPr>
          <a:xfrm>
            <a:off x="1691640" y="5029200"/>
            <a:ext cx="941796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i="1" strike="noStrike" spc="-1">
                <a:solidFill>
                  <a:srgbClr val="FFFFFF"/>
                </a:solidFill>
                <a:latin typeface="Calibri"/>
                <a:ea typeface="Calibri"/>
              </a:rPr>
              <a:t>“MCP itself cannot enforce these security principles at the protocol level.”  </a:t>
            </a:r>
            <a:r>
              <a:rPr lang="en-US" sz="1400" b="0" strike="noStrike" spc="-1">
                <a:solidFill>
                  <a:srgbClr val="FBE7CF"/>
                </a:solidFill>
                <a:latin typeface="Calibri"/>
                <a:ea typeface="Calibri"/>
              </a:rPr>
              <a:t>— the spec, in its own words. That gap between principle and enforcement is the entire subject of Deck 3.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A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7" name="Shape 0"/>
          <p:cNvSpPr/>
          <p:nvPr/>
        </p:nvSpPr>
        <p:spPr>
          <a:xfrm>
            <a:off x="0" y="0"/>
            <a:ext cx="12161160" cy="7272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Shape 1"/>
          <p:cNvSpPr/>
          <p:nvPr/>
        </p:nvSpPr>
        <p:spPr>
          <a:xfrm>
            <a:off x="9829800" y="164520"/>
            <a:ext cx="2057040" cy="5025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9" name="Image 0" descr="fhb_logo.png"/>
          <p:cNvPicPr/>
          <p:nvPr/>
        </p:nvPicPr>
        <p:blipFill>
          <a:blip r:embed="rId2"/>
          <a:stretch/>
        </p:blipFill>
        <p:spPr>
          <a:xfrm>
            <a:off x="9921240" y="255960"/>
            <a:ext cx="1828440" cy="338040"/>
          </a:xfrm>
          <a:prstGeom prst="rect">
            <a:avLst/>
          </a:prstGeom>
          <a:ln w="0">
            <a:noFill/>
          </a:ln>
        </p:spPr>
      </p:pic>
      <p:sp>
        <p:nvSpPr>
          <p:cNvPr id="330" name="Shape 2"/>
          <p:cNvSpPr/>
          <p:nvPr/>
        </p:nvSpPr>
        <p:spPr>
          <a:xfrm>
            <a:off x="457200" y="6583680"/>
            <a:ext cx="11274120" cy="1980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Shape 3"/>
          <p:cNvSpPr/>
          <p:nvPr/>
        </p:nvSpPr>
        <p:spPr>
          <a:xfrm>
            <a:off x="457200" y="6510600"/>
            <a:ext cx="164160" cy="1641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Shape 4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3" name="Text 5"/>
          <p:cNvSpPr/>
          <p:nvPr/>
        </p:nvSpPr>
        <p:spPr>
          <a:xfrm>
            <a:off x="822960" y="54864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398">
                <a:solidFill>
                  <a:srgbClr val="F5A800"/>
                </a:solidFill>
                <a:latin typeface="Calibri"/>
                <a:ea typeface="Calibri"/>
              </a:rPr>
              <a:t>RECAP</a:t>
            </a:r>
            <a:endParaRPr lang="en-US" sz="1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4" name="Text 6"/>
          <p:cNvSpPr/>
          <p:nvPr/>
        </p:nvSpPr>
        <p:spPr>
          <a:xfrm>
            <a:off x="777240" y="91440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strike="noStrike" spc="-1">
                <a:solidFill>
                  <a:srgbClr val="FFFFFF"/>
                </a:solidFill>
                <a:latin typeface="Open Sans"/>
                <a:ea typeface="Open Sans"/>
              </a:rPr>
              <a:t>The spec, in one slide</a:t>
            </a:r>
            <a:endParaRPr lang="en-US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5" name="Shape 7"/>
          <p:cNvSpPr/>
          <p:nvPr/>
        </p:nvSpPr>
        <p:spPr>
          <a:xfrm>
            <a:off x="822960" y="1920240"/>
            <a:ext cx="5211720" cy="14626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8A6A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Shape 8"/>
          <p:cNvSpPr/>
          <p:nvPr/>
        </p:nvSpPr>
        <p:spPr>
          <a:xfrm>
            <a:off x="1051560" y="2148840"/>
            <a:ext cx="548280" cy="548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7" name="Image 1" descr="preencoded.png"/>
          <p:cNvPicPr/>
          <p:nvPr/>
        </p:nvPicPr>
        <p:blipFill>
          <a:blip r:embed="rId6"/>
          <a:stretch/>
        </p:blipFill>
        <p:spPr>
          <a:xfrm>
            <a:off x="1172160" y="2269440"/>
            <a:ext cx="306720" cy="306720"/>
          </a:xfrm>
          <a:prstGeom prst="rect">
            <a:avLst/>
          </a:prstGeom>
          <a:ln w="0">
            <a:noFill/>
          </a:ln>
        </p:spPr>
      </p:pic>
      <p:sp>
        <p:nvSpPr>
          <p:cNvPr id="338" name="Text 9"/>
          <p:cNvSpPr/>
          <p:nvPr/>
        </p:nvSpPr>
        <p:spPr>
          <a:xfrm>
            <a:off x="1783080" y="2121480"/>
            <a:ext cx="40230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FFFFFF"/>
                </a:solidFill>
                <a:latin typeface="Open Sans"/>
                <a:ea typeface="Open Sans"/>
              </a:rPr>
              <a:t>JSON-RPC base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9" name="Text 10"/>
          <p:cNvSpPr/>
          <p:nvPr/>
        </p:nvSpPr>
        <p:spPr>
          <a:xfrm>
            <a:off x="1783080" y="2487240"/>
            <a:ext cx="41144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E8DFD2"/>
                </a:solidFill>
                <a:latin typeface="Calibri"/>
                <a:ea typeface="Calibri"/>
              </a:rPr>
              <a:t>Four message types over a stateful session; requirement language is MUST / SHOULD / MAY.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0" name="Shape 11"/>
          <p:cNvSpPr/>
          <p:nvPr/>
        </p:nvSpPr>
        <p:spPr>
          <a:xfrm>
            <a:off x="6309360" y="1920240"/>
            <a:ext cx="5211720" cy="14626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8A6A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Shape 12"/>
          <p:cNvSpPr/>
          <p:nvPr/>
        </p:nvSpPr>
        <p:spPr>
          <a:xfrm>
            <a:off x="6537960" y="2148840"/>
            <a:ext cx="548280" cy="548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42" name="Image 2" descr="preencoded.png"/>
          <p:cNvPicPr/>
          <p:nvPr/>
        </p:nvPicPr>
        <p:blipFill>
          <a:blip r:embed="rId5"/>
          <a:stretch/>
        </p:blipFill>
        <p:spPr>
          <a:xfrm>
            <a:off x="6658560" y="2269440"/>
            <a:ext cx="306720" cy="306720"/>
          </a:xfrm>
          <a:prstGeom prst="rect">
            <a:avLst/>
          </a:prstGeom>
          <a:ln w="0">
            <a:noFill/>
          </a:ln>
        </p:spPr>
      </p:pic>
      <p:sp>
        <p:nvSpPr>
          <p:cNvPr id="343" name="Text 13"/>
          <p:cNvSpPr/>
          <p:nvPr/>
        </p:nvSpPr>
        <p:spPr>
          <a:xfrm>
            <a:off x="7269480" y="2121480"/>
            <a:ext cx="40230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FFFFFF"/>
                </a:solidFill>
                <a:latin typeface="Open Sans"/>
                <a:ea typeface="Open Sans"/>
              </a:rPr>
              <a:t>Lifecycle &amp; capabilities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4" name="Text 14"/>
          <p:cNvSpPr/>
          <p:nvPr/>
        </p:nvSpPr>
        <p:spPr>
          <a:xfrm>
            <a:off x="7269480" y="2487240"/>
            <a:ext cx="41144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E8DFD2"/>
                </a:solidFill>
                <a:latin typeface="Calibri"/>
                <a:ea typeface="Calibri"/>
              </a:rPr>
              <a:t>Initialize → operate → shut down; you can only use what was negotiated.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5" name="Shape 15"/>
          <p:cNvSpPr/>
          <p:nvPr/>
        </p:nvSpPr>
        <p:spPr>
          <a:xfrm>
            <a:off x="822960" y="3611880"/>
            <a:ext cx="5211720" cy="14626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8A6A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Shape 16"/>
          <p:cNvSpPr/>
          <p:nvPr/>
        </p:nvSpPr>
        <p:spPr>
          <a:xfrm>
            <a:off x="1051560" y="3840480"/>
            <a:ext cx="548280" cy="548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47" name="Image 3" descr="preencoded.png"/>
          <p:cNvPicPr/>
          <p:nvPr/>
        </p:nvPicPr>
        <p:blipFill>
          <a:blip r:embed="rId4"/>
          <a:stretch/>
        </p:blipFill>
        <p:spPr>
          <a:xfrm>
            <a:off x="1172160" y="3961080"/>
            <a:ext cx="306720" cy="306720"/>
          </a:xfrm>
          <a:prstGeom prst="rect">
            <a:avLst/>
          </a:prstGeom>
          <a:ln w="0">
            <a:noFill/>
          </a:ln>
        </p:spPr>
      </p:pic>
      <p:sp>
        <p:nvSpPr>
          <p:cNvPr id="348" name="Text 17"/>
          <p:cNvSpPr/>
          <p:nvPr/>
        </p:nvSpPr>
        <p:spPr>
          <a:xfrm>
            <a:off x="1783080" y="3813120"/>
            <a:ext cx="40230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FFFFFF"/>
                </a:solidFill>
                <a:latin typeface="Open Sans"/>
                <a:ea typeface="Open Sans"/>
              </a:rPr>
              <a:t>Five primitives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9" name="Text 18"/>
          <p:cNvSpPr/>
          <p:nvPr/>
        </p:nvSpPr>
        <p:spPr>
          <a:xfrm>
            <a:off x="1783080" y="4178880"/>
            <a:ext cx="41144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E8DFD2"/>
                </a:solidFill>
                <a:latin typeface="Calibri"/>
                <a:ea typeface="Calibri"/>
              </a:rPr>
              <a:t>Server: tools, resources, prompts. Client: sampling, roots, elicitation.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0" name="Shape 19"/>
          <p:cNvSpPr/>
          <p:nvPr/>
        </p:nvSpPr>
        <p:spPr>
          <a:xfrm>
            <a:off x="6309360" y="3611880"/>
            <a:ext cx="5211720" cy="14626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8A6A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Shape 20"/>
          <p:cNvSpPr/>
          <p:nvPr/>
        </p:nvSpPr>
        <p:spPr>
          <a:xfrm>
            <a:off x="6537960" y="3840480"/>
            <a:ext cx="548280" cy="548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52" name="Image 4" descr="preencoded.png"/>
          <p:cNvPicPr/>
          <p:nvPr/>
        </p:nvPicPr>
        <p:blipFill>
          <a:blip r:embed="rId3"/>
          <a:stretch/>
        </p:blipFill>
        <p:spPr>
          <a:xfrm>
            <a:off x="6658560" y="3961080"/>
            <a:ext cx="306720" cy="306720"/>
          </a:xfrm>
          <a:prstGeom prst="rect">
            <a:avLst/>
          </a:prstGeom>
          <a:ln w="0">
            <a:noFill/>
          </a:ln>
        </p:spPr>
      </p:pic>
      <p:sp>
        <p:nvSpPr>
          <p:cNvPr id="353" name="Text 21"/>
          <p:cNvSpPr/>
          <p:nvPr/>
        </p:nvSpPr>
        <p:spPr>
          <a:xfrm>
            <a:off x="7269480" y="3813120"/>
            <a:ext cx="40230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FFFFFF"/>
                </a:solidFill>
                <a:latin typeface="Open Sans"/>
                <a:ea typeface="Open Sans"/>
              </a:rPr>
              <a:t>Honest about limits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4" name="Text 22"/>
          <p:cNvSpPr/>
          <p:nvPr/>
        </p:nvSpPr>
        <p:spPr>
          <a:xfrm>
            <a:off x="7269480" y="4178880"/>
            <a:ext cx="411444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E8DFD2"/>
                </a:solidFill>
                <a:latin typeface="Calibri"/>
                <a:ea typeface="Calibri"/>
              </a:rPr>
              <a:t>Four security principles the protocol openly cannot enforce on its own.</a:t>
            </a:r>
            <a:endParaRPr lang="en-US" sz="12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5" name="Shape 23"/>
          <p:cNvSpPr/>
          <p:nvPr/>
        </p:nvSpPr>
        <p:spPr>
          <a:xfrm>
            <a:off x="822960" y="5440680"/>
            <a:ext cx="10515240" cy="77688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6" name="Text 24"/>
          <p:cNvSpPr/>
          <p:nvPr/>
        </p:nvSpPr>
        <p:spPr>
          <a:xfrm>
            <a:off x="1097280" y="5440680"/>
            <a:ext cx="1005804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FFFFFF"/>
                </a:solidFill>
                <a:latin typeface="Calibri"/>
                <a:ea typeface="Calibri"/>
              </a:rPr>
              <a:t>NEXT — Deck 3: MCP Security.  </a:t>
            </a:r>
            <a:r>
              <a:rPr lang="en-US" sz="1500" b="0" strike="noStrike" spc="-1">
                <a:solidFill>
                  <a:srgbClr val="E6F2F1"/>
                </a:solidFill>
                <a:latin typeface="Calibri"/>
                <a:ea typeface="Calibri"/>
              </a:rPr>
              <a:t>The spec told us what it can't enforce. The NSA guidance is how you cover that gap.</a:t>
            </a:r>
            <a:endParaRPr lang="en-US" sz="15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8" name="Image 0" descr="fhb_rainbow.png"/>
          <p:cNvPicPr/>
          <p:nvPr/>
        </p:nvPicPr>
        <p:blipFill>
          <a:blip r:embed="rId2"/>
          <a:stretch/>
        </p:blipFill>
        <p:spPr>
          <a:xfrm>
            <a:off x="-1554480" y="1828800"/>
            <a:ext cx="5028840" cy="5028840"/>
          </a:xfrm>
          <a:prstGeom prst="rect">
            <a:avLst/>
          </a:prstGeom>
          <a:ln w="0">
            <a:noFill/>
          </a:ln>
        </p:spPr>
      </p:pic>
      <p:pic>
        <p:nvPicPr>
          <p:cNvPr id="9" name="Image 1" descr="fhb_logo.png"/>
          <p:cNvPicPr/>
          <p:nvPr/>
        </p:nvPicPr>
        <p:blipFill>
          <a:blip r:embed="rId4"/>
          <a:stretch/>
        </p:blipFill>
        <p:spPr>
          <a:xfrm>
            <a:off x="8686800" y="457200"/>
            <a:ext cx="2742840" cy="502560"/>
          </a:xfrm>
          <a:prstGeom prst="rect">
            <a:avLst/>
          </a:prstGeom>
          <a:ln w="0">
            <a:noFill/>
          </a:ln>
        </p:spPr>
      </p:pic>
      <p:sp>
        <p:nvSpPr>
          <p:cNvPr id="10" name="Text 0"/>
          <p:cNvSpPr/>
          <p:nvPr/>
        </p:nvSpPr>
        <p:spPr>
          <a:xfrm>
            <a:off x="4572000" y="2011680"/>
            <a:ext cx="69490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299">
                <a:solidFill>
                  <a:srgbClr val="8B0E15"/>
                </a:solidFill>
                <a:latin typeface="Calibri"/>
                <a:ea typeface="Calibri"/>
              </a:rPr>
              <a:t>AI TRAINING SERIES  ·  PART 3 OF 3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4526280" y="2423160"/>
            <a:ext cx="704052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600" b="1" strike="noStrike" spc="-1">
                <a:solidFill>
                  <a:srgbClr val="8B0E15"/>
                </a:solidFill>
                <a:latin typeface="Open Sans"/>
                <a:ea typeface="Open Sans"/>
              </a:rPr>
              <a:t>MCP Security</a:t>
            </a:r>
            <a:endParaRPr lang="en-US" sz="4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4572000" y="3383280"/>
            <a:ext cx="69490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0" strike="noStrike" spc="-1">
                <a:solidFill>
                  <a:srgbClr val="231F20"/>
                </a:solidFill>
                <a:latin typeface="Open Sans"/>
                <a:ea typeface="Open Sans"/>
              </a:rPr>
              <a:t>What the spec can't enforce</a:t>
            </a:r>
            <a:endParaRPr lang="en-US" sz="2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4572000" y="3977640"/>
            <a:ext cx="2742840" cy="2700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7640" rIns="90000" bIns="-176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4572000" y="4160520"/>
            <a:ext cx="68576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3A3536"/>
                </a:solidFill>
                <a:latin typeface="Calibri"/>
                <a:ea typeface="Calibri"/>
              </a:rPr>
              <a:t>The design gaps, demonstrated exploits, and concrete controls for adopting MCP in a high-stakes environment.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Shape 5"/>
          <p:cNvSpPr/>
          <p:nvPr/>
        </p:nvSpPr>
        <p:spPr>
          <a:xfrm>
            <a:off x="4572000" y="5029200"/>
            <a:ext cx="6857640" cy="914040"/>
          </a:xfrm>
          <a:prstGeom prst="rect">
            <a:avLst/>
          </a:prstGeom>
          <a:solidFill>
            <a:srgbClr val="FBF1E3"/>
          </a:solidFill>
          <a:ln w="12700">
            <a:solidFill>
              <a:srgbClr val="F5A8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Shape 6"/>
          <p:cNvSpPr/>
          <p:nvPr/>
        </p:nvSpPr>
        <p:spPr>
          <a:xfrm>
            <a:off x="4754880" y="5230440"/>
            <a:ext cx="456840" cy="4568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" name="Image 2" descr="preencoded.png"/>
          <p:cNvPicPr/>
          <p:nvPr/>
        </p:nvPicPr>
        <p:blipFill>
          <a:blip r:embed="rId3"/>
          <a:stretch/>
        </p:blipFill>
        <p:spPr>
          <a:xfrm>
            <a:off x="4855320" y="533088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18" name="Text 7"/>
          <p:cNvSpPr/>
          <p:nvPr/>
        </p:nvSpPr>
        <p:spPr>
          <a:xfrm>
            <a:off x="5349240" y="5029200"/>
            <a:ext cx="594324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strike="noStrike" spc="-1">
                <a:solidFill>
                  <a:srgbClr val="8A5A12"/>
                </a:solidFill>
                <a:latin typeface="Calibri"/>
                <a:ea typeface="Calibri"/>
              </a:rPr>
              <a:t>Source   </a:t>
            </a:r>
            <a:r>
              <a:rPr lang="en-US" sz="1150" b="0" strike="noStrike" spc="-1">
                <a:solidFill>
                  <a:srgbClr val="8A5A12"/>
                </a:solidFill>
                <a:latin typeface="Calibri"/>
                <a:ea typeface="Calibri"/>
              </a:rPr>
              <a:t>NSA Cybersecurity Information Sheet — “Model Context Protocol (MCP): Security Design Considerations,” May 2026.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 8"/>
          <p:cNvSpPr/>
          <p:nvPr/>
        </p:nvSpPr>
        <p:spPr>
          <a:xfrm>
            <a:off x="4572000" y="6035040"/>
            <a:ext cx="6857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strike="noStrike" spc="-1">
                <a:solidFill>
                  <a:srgbClr val="8A8385"/>
                </a:solidFill>
                <a:latin typeface="Calibri"/>
                <a:ea typeface="Calibri"/>
              </a:rPr>
              <a:t>Deck 2 ended on the spec's own admission. This deck is the answer to it.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Text 0"/>
          <p:cNvSpPr/>
          <p:nvPr/>
        </p:nvSpPr>
        <p:spPr>
          <a:xfrm>
            <a:off x="457200" y="457200"/>
            <a:ext cx="9417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299">
                <a:solidFill>
                  <a:srgbClr val="8B0E15"/>
                </a:solidFill>
                <a:latin typeface="Calibri"/>
                <a:ea typeface="Calibri"/>
              </a:rPr>
              <a:t>WHY THIS IS DIFFERENT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 1"/>
          <p:cNvSpPr/>
          <p:nvPr/>
        </p:nvSpPr>
        <p:spPr>
          <a:xfrm>
            <a:off x="457200" y="73152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231F20"/>
                </a:solidFill>
                <a:latin typeface="Open Sans"/>
                <a:ea typeface="Open Sans"/>
              </a:rPr>
              <a:t>Old controls still apply — but they're not enough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 2"/>
          <p:cNvSpPr/>
          <p:nvPr/>
        </p:nvSpPr>
        <p:spPr>
          <a:xfrm>
            <a:off x="457200" y="1371600"/>
            <a:ext cx="112467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3A3536"/>
                </a:solidFill>
                <a:latin typeface="Calibri"/>
                <a:ea typeface="Calibri"/>
              </a:rPr>
              <a:t>Authentication, authorization, and input validation remain necessary. But agentic systems introduce novel, systemic risks that traditional cyber defense doesn't address.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Shape 3"/>
          <p:cNvSpPr/>
          <p:nvPr/>
        </p:nvSpPr>
        <p:spPr>
          <a:xfrm>
            <a:off x="457200" y="2148840"/>
            <a:ext cx="3520080" cy="228564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Shape 4"/>
          <p:cNvSpPr/>
          <p:nvPr/>
        </p:nvSpPr>
        <p:spPr>
          <a:xfrm>
            <a:off x="457200" y="2148840"/>
            <a:ext cx="3520080" cy="109440"/>
          </a:xfrm>
          <a:prstGeom prst="rect">
            <a:avLst/>
          </a:prstGeom>
          <a:solidFill>
            <a:srgbClr val="B886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Shape 5"/>
          <p:cNvSpPr/>
          <p:nvPr/>
        </p:nvSpPr>
        <p:spPr>
          <a:xfrm>
            <a:off x="731520" y="2377440"/>
            <a:ext cx="566640" cy="566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" name="Image 0" descr="preencoded.png"/>
          <p:cNvPicPr/>
          <p:nvPr/>
        </p:nvPicPr>
        <p:blipFill>
          <a:blip r:embed="rId2"/>
          <a:stretch/>
        </p:blipFill>
        <p:spPr>
          <a:xfrm>
            <a:off x="856080" y="2502000"/>
            <a:ext cx="317160" cy="317160"/>
          </a:xfrm>
          <a:prstGeom prst="rect">
            <a:avLst/>
          </a:prstGeom>
          <a:ln w="0">
            <a:noFill/>
          </a:ln>
        </p:spPr>
      </p:pic>
      <p:sp>
        <p:nvSpPr>
          <p:cNvPr id="27" name="Text 6"/>
          <p:cNvSpPr/>
          <p:nvPr/>
        </p:nvSpPr>
        <p:spPr>
          <a:xfrm>
            <a:off x="731520" y="3090600"/>
            <a:ext cx="30171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strike="noStrike" spc="-1">
                <a:solidFill>
                  <a:srgbClr val="231F20"/>
                </a:solidFill>
                <a:latin typeface="Open Sans"/>
                <a:ea typeface="Open Sans"/>
              </a:rPr>
              <a:t>Dynamic tool invocation</a:t>
            </a:r>
            <a:endParaRPr lang="en-US" sz="16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Text 7"/>
          <p:cNvSpPr/>
          <p:nvPr/>
        </p:nvSpPr>
        <p:spPr>
          <a:xfrm>
            <a:off x="731520" y="3611880"/>
            <a:ext cx="30628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3A3536"/>
                </a:solidFill>
                <a:latin typeface="Calibri"/>
                <a:ea typeface="Calibri"/>
              </a:rPr>
              <a:t>Agents can autonomously call new tools at runtime — the set of actions isn't fixed or known in advance.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Shape 8"/>
          <p:cNvSpPr/>
          <p:nvPr/>
        </p:nvSpPr>
        <p:spPr>
          <a:xfrm>
            <a:off x="4251960" y="2148840"/>
            <a:ext cx="3520080" cy="228564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Shape 9"/>
          <p:cNvSpPr/>
          <p:nvPr/>
        </p:nvSpPr>
        <p:spPr>
          <a:xfrm>
            <a:off x="4251960" y="2148840"/>
            <a:ext cx="3520080" cy="109440"/>
          </a:xfrm>
          <a:prstGeom prst="rect">
            <a:avLst/>
          </a:prstGeom>
          <a:solidFill>
            <a:srgbClr val="B886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Shape 10"/>
          <p:cNvSpPr/>
          <p:nvPr/>
        </p:nvSpPr>
        <p:spPr>
          <a:xfrm>
            <a:off x="4526280" y="2377440"/>
            <a:ext cx="566640" cy="566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" name="Image 1" descr="preencoded.png"/>
          <p:cNvPicPr/>
          <p:nvPr/>
        </p:nvPicPr>
        <p:blipFill>
          <a:blip r:embed="rId5"/>
          <a:stretch/>
        </p:blipFill>
        <p:spPr>
          <a:xfrm>
            <a:off x="4650840" y="2502000"/>
            <a:ext cx="317160" cy="317160"/>
          </a:xfrm>
          <a:prstGeom prst="rect">
            <a:avLst/>
          </a:prstGeom>
          <a:ln w="0">
            <a:noFill/>
          </a:ln>
        </p:spPr>
      </p:pic>
      <p:sp>
        <p:nvSpPr>
          <p:cNvPr id="33" name="Text 11"/>
          <p:cNvSpPr/>
          <p:nvPr/>
        </p:nvSpPr>
        <p:spPr>
          <a:xfrm>
            <a:off x="4526280" y="3090600"/>
            <a:ext cx="30171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strike="noStrike" spc="-1">
                <a:solidFill>
                  <a:srgbClr val="231F20"/>
                </a:solidFill>
                <a:latin typeface="Open Sans"/>
                <a:ea typeface="Open Sans"/>
              </a:rPr>
              <a:t>Implicit trust</a:t>
            </a:r>
            <a:endParaRPr lang="en-US" sz="16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 12"/>
          <p:cNvSpPr/>
          <p:nvPr/>
        </p:nvSpPr>
        <p:spPr>
          <a:xfrm>
            <a:off x="4526280" y="3611880"/>
            <a:ext cx="30628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3A3536"/>
                </a:solidFill>
                <a:latin typeface="Calibri"/>
                <a:ea typeface="Calibri"/>
              </a:rPr>
              <a:t>One agent's output is assumed valid by the next, with no explicit verification between them.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Shape 13"/>
          <p:cNvSpPr/>
          <p:nvPr/>
        </p:nvSpPr>
        <p:spPr>
          <a:xfrm>
            <a:off x="8046720" y="2148840"/>
            <a:ext cx="3520080" cy="228564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Shape 14"/>
          <p:cNvSpPr/>
          <p:nvPr/>
        </p:nvSpPr>
        <p:spPr>
          <a:xfrm>
            <a:off x="8046720" y="2148840"/>
            <a:ext cx="3520080" cy="109440"/>
          </a:xfrm>
          <a:prstGeom prst="rect">
            <a:avLst/>
          </a:prstGeom>
          <a:solidFill>
            <a:srgbClr val="B886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Shape 15"/>
          <p:cNvSpPr/>
          <p:nvPr/>
        </p:nvSpPr>
        <p:spPr>
          <a:xfrm>
            <a:off x="8321040" y="2377440"/>
            <a:ext cx="566640" cy="566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8" name="Image 2" descr="preencoded.png"/>
          <p:cNvPicPr/>
          <p:nvPr/>
        </p:nvPicPr>
        <p:blipFill>
          <a:blip r:embed="rId4"/>
          <a:stretch/>
        </p:blipFill>
        <p:spPr>
          <a:xfrm>
            <a:off x="8445600" y="2502000"/>
            <a:ext cx="317160" cy="317160"/>
          </a:xfrm>
          <a:prstGeom prst="rect">
            <a:avLst/>
          </a:prstGeom>
          <a:ln w="0">
            <a:noFill/>
          </a:ln>
        </p:spPr>
      </p:pic>
      <p:sp>
        <p:nvSpPr>
          <p:cNvPr id="39" name="Text 16"/>
          <p:cNvSpPr/>
          <p:nvPr/>
        </p:nvSpPr>
        <p:spPr>
          <a:xfrm>
            <a:off x="8321040" y="3090600"/>
            <a:ext cx="30171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strike="noStrike" spc="-1">
                <a:solidFill>
                  <a:srgbClr val="231F20"/>
                </a:solidFill>
                <a:latin typeface="Open Sans"/>
                <a:ea typeface="Open Sans"/>
              </a:rPr>
              <a:t>Context sharing</a:t>
            </a:r>
            <a:endParaRPr lang="en-US" sz="16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17"/>
          <p:cNvSpPr/>
          <p:nvPr/>
        </p:nvSpPr>
        <p:spPr>
          <a:xfrm>
            <a:off x="8321040" y="3611880"/>
            <a:ext cx="30628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3A3536"/>
                </a:solidFill>
                <a:latin typeface="Calibri"/>
                <a:ea typeface="Calibri"/>
              </a:rPr>
              <a:t>Long-lived or overlapping context windows can leak, blend, or misalign across tasks.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Shape 18"/>
          <p:cNvSpPr/>
          <p:nvPr/>
        </p:nvSpPr>
        <p:spPr>
          <a:xfrm>
            <a:off x="457200" y="4709160"/>
            <a:ext cx="11246760" cy="1279800"/>
          </a:xfrm>
          <a:prstGeom prst="rect">
            <a:avLst/>
          </a:prstGeom>
          <a:solidFill>
            <a:srgbClr val="5A0E1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Shape 19"/>
          <p:cNvSpPr/>
          <p:nvPr/>
        </p:nvSpPr>
        <p:spPr>
          <a:xfrm>
            <a:off x="457200" y="4709160"/>
            <a:ext cx="109440" cy="1279800"/>
          </a:xfrm>
          <a:prstGeom prst="rect">
            <a:avLst/>
          </a:prstGeom>
          <a:solidFill>
            <a:srgbClr val="B886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Text 20"/>
          <p:cNvSpPr/>
          <p:nvPr/>
        </p:nvSpPr>
        <p:spPr>
          <a:xfrm>
            <a:off x="777240" y="4864680"/>
            <a:ext cx="10515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299">
                <a:solidFill>
                  <a:srgbClr val="F5A800"/>
                </a:solidFill>
                <a:latin typeface="Calibri"/>
                <a:ea typeface="Calibri"/>
              </a:rPr>
              <a:t>THE LIFECYCLE IS THE ATTACK SURFACE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21"/>
          <p:cNvSpPr/>
          <p:nvPr/>
        </p:nvSpPr>
        <p:spPr>
          <a:xfrm>
            <a:off x="777240" y="5139000"/>
            <a:ext cx="1078956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strike="noStrike" spc="-1">
                <a:solidFill>
                  <a:srgbClr val="F0E8DC"/>
                </a:solidFill>
                <a:latin typeface="Calibri"/>
                <a:ea typeface="Calibri"/>
              </a:rPr>
              <a:t>These aren't endpoint bugs you patch in isolation. They span the whole lifecycle — protocol design, agent behavior, runtime scheduling, external integration, and monitoring. A subtle inconsistency at any stage can propagate and compound into an exploitable condition.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Shape 22"/>
          <p:cNvSpPr/>
          <p:nvPr/>
        </p:nvSpPr>
        <p:spPr>
          <a:xfrm>
            <a:off x="0" y="0"/>
            <a:ext cx="12161160" cy="7272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6" name="Image 3" descr="fhb_logo.png"/>
          <p:cNvPicPr/>
          <p:nvPr/>
        </p:nvPicPr>
        <p:blipFill>
          <a:blip r:embed="rId3"/>
          <a:stretch/>
        </p:blipFill>
        <p:spPr>
          <a:xfrm>
            <a:off x="10031040" y="146160"/>
            <a:ext cx="1828440" cy="338040"/>
          </a:xfrm>
          <a:prstGeom prst="rect">
            <a:avLst/>
          </a:prstGeom>
          <a:ln w="0">
            <a:noFill/>
          </a:ln>
        </p:spPr>
      </p:pic>
      <p:sp>
        <p:nvSpPr>
          <p:cNvPr id="47" name="Shape 23"/>
          <p:cNvSpPr/>
          <p:nvPr/>
        </p:nvSpPr>
        <p:spPr>
          <a:xfrm>
            <a:off x="457200" y="6583680"/>
            <a:ext cx="11274120" cy="1980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Shape 24"/>
          <p:cNvSpPr/>
          <p:nvPr/>
        </p:nvSpPr>
        <p:spPr>
          <a:xfrm>
            <a:off x="457200" y="6510600"/>
            <a:ext cx="164160" cy="16416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Text 25"/>
          <p:cNvSpPr/>
          <p:nvPr/>
        </p:nvSpPr>
        <p:spPr>
          <a:xfrm>
            <a:off x="713160" y="64008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MCP Security  ·  Deck 3 of 3  ·  NSA Guidance (May 2026)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26"/>
          <p:cNvSpPr/>
          <p:nvPr/>
        </p:nvSpPr>
        <p:spPr>
          <a:xfrm>
            <a:off x="1115568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2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" name="Text 0"/>
          <p:cNvSpPr/>
          <p:nvPr/>
        </p:nvSpPr>
        <p:spPr>
          <a:xfrm>
            <a:off x="457200" y="457200"/>
            <a:ext cx="9417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299">
                <a:solidFill>
                  <a:srgbClr val="B8860B"/>
                </a:solidFill>
                <a:latin typeface="Calibri"/>
                <a:ea typeface="Calibri"/>
              </a:rPr>
              <a:t>A NOVEL AGENTIC RISK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1"/>
          <p:cNvSpPr/>
          <p:nvPr/>
        </p:nvSpPr>
        <p:spPr>
          <a:xfrm>
            <a:off x="457200" y="73152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231F20"/>
                </a:solidFill>
                <a:latin typeface="Open Sans"/>
                <a:ea typeface="Open Sans"/>
              </a:rPr>
              <a:t>Context sharing — memory bleeding across tasks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2"/>
          <p:cNvSpPr/>
          <p:nvPr/>
        </p:nvSpPr>
        <p:spPr>
          <a:xfrm>
            <a:off x="457200" y="1481400"/>
            <a:ext cx="112467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spc="-1" dirty="0">
                <a:solidFill>
                  <a:srgbClr val="3A3536"/>
                </a:solidFill>
                <a:latin typeface="Calibri"/>
                <a:ea typeface="Calibri"/>
              </a:rPr>
              <a:t>The previous s</a:t>
            </a:r>
            <a:r>
              <a:rPr lang="en-US" sz="1450" b="0" strike="noStrike" spc="-1" dirty="0">
                <a:solidFill>
                  <a:srgbClr val="3A3536"/>
                </a:solidFill>
                <a:latin typeface="Calibri"/>
                <a:ea typeface="Calibri"/>
              </a:rPr>
              <a:t>lide named context sharing as one of the novel risks. It deserves its own treatment: when long-lived or overlapping context windows are reused across tasks and servers, the boundaries that normally isolate one piece of work from another quietly disappear.</a:t>
            </a:r>
            <a:endParaRPr lang="en-US" sz="14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Shape 3"/>
          <p:cNvSpPr/>
          <p:nvPr/>
        </p:nvSpPr>
        <p:spPr>
          <a:xfrm>
            <a:off x="457200" y="2240280"/>
            <a:ext cx="3520080" cy="260568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Shape 4"/>
          <p:cNvSpPr/>
          <p:nvPr/>
        </p:nvSpPr>
        <p:spPr>
          <a:xfrm>
            <a:off x="457200" y="2240280"/>
            <a:ext cx="3520080" cy="109440"/>
          </a:xfrm>
          <a:prstGeom prst="rect">
            <a:avLst/>
          </a:prstGeom>
          <a:solidFill>
            <a:srgbClr val="B886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Shape 5"/>
          <p:cNvSpPr/>
          <p:nvPr/>
        </p:nvSpPr>
        <p:spPr>
          <a:xfrm>
            <a:off x="713160" y="2468880"/>
            <a:ext cx="529920" cy="529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7" name="Image 0" descr="preencoded.png"/>
          <p:cNvPicPr/>
          <p:nvPr/>
        </p:nvPicPr>
        <p:blipFill>
          <a:blip r:embed="rId2"/>
          <a:stretch/>
        </p:blipFill>
        <p:spPr>
          <a:xfrm>
            <a:off x="829800" y="2585520"/>
            <a:ext cx="296640" cy="296640"/>
          </a:xfrm>
          <a:prstGeom prst="rect">
            <a:avLst/>
          </a:prstGeom>
          <a:ln w="0">
            <a:noFill/>
          </a:ln>
        </p:spPr>
      </p:pic>
      <p:sp>
        <p:nvSpPr>
          <p:cNvPr id="58" name="Text 6"/>
          <p:cNvSpPr/>
          <p:nvPr/>
        </p:nvSpPr>
        <p:spPr>
          <a:xfrm>
            <a:off x="1371600" y="2487240"/>
            <a:ext cx="24685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231F20"/>
                </a:solidFill>
                <a:latin typeface="Open Sans"/>
                <a:ea typeface="Open Sans"/>
              </a:rPr>
              <a:t>Leak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7"/>
          <p:cNvSpPr/>
          <p:nvPr/>
        </p:nvSpPr>
        <p:spPr>
          <a:xfrm>
            <a:off x="731520" y="3154680"/>
            <a:ext cx="3017160" cy="159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3A3536"/>
                </a:solidFill>
                <a:latin typeface="Calibri"/>
                <a:ea typeface="Calibri"/>
              </a:rPr>
              <a:t>Data from one task surfaces in another. Context gathered for a privileged operation lingers and becomes visible to a later, unrelated request — or to a different server sharing the window.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Shape 8"/>
          <p:cNvSpPr/>
          <p:nvPr/>
        </p:nvSpPr>
        <p:spPr>
          <a:xfrm>
            <a:off x="4251960" y="2240280"/>
            <a:ext cx="3520080" cy="260568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9"/>
          <p:cNvSpPr/>
          <p:nvPr/>
        </p:nvSpPr>
        <p:spPr>
          <a:xfrm>
            <a:off x="4251960" y="2240280"/>
            <a:ext cx="3520080" cy="109440"/>
          </a:xfrm>
          <a:prstGeom prst="rect">
            <a:avLst/>
          </a:prstGeom>
          <a:solidFill>
            <a:srgbClr val="B886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Shape 10"/>
          <p:cNvSpPr/>
          <p:nvPr/>
        </p:nvSpPr>
        <p:spPr>
          <a:xfrm>
            <a:off x="4507920" y="2468880"/>
            <a:ext cx="529920" cy="529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3" name="Image 1" descr="preencoded.png"/>
          <p:cNvPicPr/>
          <p:nvPr/>
        </p:nvPicPr>
        <p:blipFill>
          <a:blip r:embed="rId5"/>
          <a:stretch/>
        </p:blipFill>
        <p:spPr>
          <a:xfrm>
            <a:off x="4624560" y="2585520"/>
            <a:ext cx="296640" cy="296640"/>
          </a:xfrm>
          <a:prstGeom prst="rect">
            <a:avLst/>
          </a:prstGeom>
          <a:ln w="0">
            <a:noFill/>
          </a:ln>
        </p:spPr>
      </p:pic>
      <p:sp>
        <p:nvSpPr>
          <p:cNvPr id="64" name="Text 11"/>
          <p:cNvSpPr/>
          <p:nvPr/>
        </p:nvSpPr>
        <p:spPr>
          <a:xfrm>
            <a:off x="5166360" y="2487240"/>
            <a:ext cx="24685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231F20"/>
                </a:solidFill>
                <a:latin typeface="Open Sans"/>
                <a:ea typeface="Open Sans"/>
              </a:rPr>
              <a:t>Blend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12"/>
          <p:cNvSpPr/>
          <p:nvPr/>
        </p:nvSpPr>
        <p:spPr>
          <a:xfrm>
            <a:off x="4526280" y="3154680"/>
            <a:ext cx="3017160" cy="159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3A3536"/>
                </a:solidFill>
                <a:latin typeface="Calibri"/>
                <a:ea typeface="Calibri"/>
              </a:rPr>
              <a:t>Two tasks' context merge. The model can no longer tell which instructions and data belong to which job, so one task's intent contaminates another's execution.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hape 13"/>
          <p:cNvSpPr/>
          <p:nvPr/>
        </p:nvSpPr>
        <p:spPr>
          <a:xfrm>
            <a:off x="8046720" y="2240280"/>
            <a:ext cx="3520080" cy="260568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14"/>
          <p:cNvSpPr/>
          <p:nvPr/>
        </p:nvSpPr>
        <p:spPr>
          <a:xfrm>
            <a:off x="8046720" y="2240280"/>
            <a:ext cx="3520080" cy="109440"/>
          </a:xfrm>
          <a:prstGeom prst="rect">
            <a:avLst/>
          </a:prstGeom>
          <a:solidFill>
            <a:srgbClr val="B886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Shape 15"/>
          <p:cNvSpPr/>
          <p:nvPr/>
        </p:nvSpPr>
        <p:spPr>
          <a:xfrm>
            <a:off x="8302680" y="2468880"/>
            <a:ext cx="529920" cy="529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9" name="Image 2" descr="preencoded.png"/>
          <p:cNvPicPr/>
          <p:nvPr/>
        </p:nvPicPr>
        <p:blipFill>
          <a:blip r:embed="rId4"/>
          <a:stretch/>
        </p:blipFill>
        <p:spPr>
          <a:xfrm>
            <a:off x="8419320" y="2585520"/>
            <a:ext cx="296640" cy="296640"/>
          </a:xfrm>
          <a:prstGeom prst="rect">
            <a:avLst/>
          </a:prstGeom>
          <a:ln w="0">
            <a:noFill/>
          </a:ln>
        </p:spPr>
      </p:pic>
      <p:sp>
        <p:nvSpPr>
          <p:cNvPr id="70" name="Text 16"/>
          <p:cNvSpPr/>
          <p:nvPr/>
        </p:nvSpPr>
        <p:spPr>
          <a:xfrm>
            <a:off x="8961120" y="2487240"/>
            <a:ext cx="24685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231F20"/>
                </a:solidFill>
                <a:latin typeface="Open Sans"/>
                <a:ea typeface="Open Sans"/>
              </a:rPr>
              <a:t>Misalign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17"/>
          <p:cNvSpPr/>
          <p:nvPr/>
        </p:nvSpPr>
        <p:spPr>
          <a:xfrm>
            <a:off x="8321040" y="3154680"/>
            <a:ext cx="3017160" cy="159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3A3536"/>
                </a:solidFill>
                <a:latin typeface="Calibri"/>
                <a:ea typeface="Calibri"/>
              </a:rPr>
              <a:t>Stale or mismatched context drives the wrong action. The model acts on assumptions that were true for an earlier task but no longer hold for the current one.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18"/>
          <p:cNvSpPr/>
          <p:nvPr/>
        </p:nvSpPr>
        <p:spPr>
          <a:xfrm>
            <a:off x="457200" y="5074920"/>
            <a:ext cx="11246760" cy="1005480"/>
          </a:xfrm>
          <a:prstGeom prst="rect">
            <a:avLst/>
          </a:prstGeom>
          <a:solidFill>
            <a:srgbClr val="5A0E1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Shape 19"/>
          <p:cNvSpPr/>
          <p:nvPr/>
        </p:nvSpPr>
        <p:spPr>
          <a:xfrm>
            <a:off x="457200" y="5074920"/>
            <a:ext cx="109440" cy="100548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20"/>
          <p:cNvSpPr/>
          <p:nvPr/>
        </p:nvSpPr>
        <p:spPr>
          <a:xfrm>
            <a:off x="777240" y="5212080"/>
            <a:ext cx="10515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299">
                <a:solidFill>
                  <a:srgbClr val="F5A800"/>
                </a:solidFill>
                <a:latin typeface="Calibri"/>
                <a:ea typeface="Calibri"/>
              </a:rPr>
              <a:t>WHY IT COMPOUNDS IN MCP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21"/>
          <p:cNvSpPr/>
          <p:nvPr/>
        </p:nvSpPr>
        <p:spPr>
          <a:xfrm>
            <a:off x="777240" y="5486400"/>
            <a:ext cx="107895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FFFFFF"/>
                </a:solidFill>
                <a:latin typeface="Calibri"/>
                <a:ea typeface="Calibri"/>
              </a:rPr>
              <a:t>In multi-agent workflows, one agent's output becomes the next agent's input. </a:t>
            </a:r>
            <a:r>
              <a:rPr lang="en-US" sz="1300" b="0" strike="noStrike" spc="-1">
                <a:solidFill>
                  <a:srgbClr val="F0E8DC"/>
                </a:solidFill>
                <a:latin typeface="Calibri"/>
                <a:ea typeface="Calibri"/>
              </a:rPr>
              <a:t>Shared or poisoned context doesn't stay put — it propagates down the chain, letting hidden instructions in an earlier result steer how later agents interpret and act. A single contaminated window can subvert an entire pipeline.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22"/>
          <p:cNvSpPr/>
          <p:nvPr/>
        </p:nvSpPr>
        <p:spPr>
          <a:xfrm>
            <a:off x="0" y="0"/>
            <a:ext cx="12161160" cy="7272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7" name="Image 3" descr="fhb_logo.png"/>
          <p:cNvPicPr/>
          <p:nvPr/>
        </p:nvPicPr>
        <p:blipFill>
          <a:blip r:embed="rId3"/>
          <a:stretch/>
        </p:blipFill>
        <p:spPr>
          <a:xfrm>
            <a:off x="10031040" y="146160"/>
            <a:ext cx="1828440" cy="338040"/>
          </a:xfrm>
          <a:prstGeom prst="rect">
            <a:avLst/>
          </a:prstGeom>
          <a:ln w="0">
            <a:noFill/>
          </a:ln>
        </p:spPr>
      </p:pic>
      <p:sp>
        <p:nvSpPr>
          <p:cNvPr id="78" name="Shape 23"/>
          <p:cNvSpPr/>
          <p:nvPr/>
        </p:nvSpPr>
        <p:spPr>
          <a:xfrm>
            <a:off x="457200" y="6583680"/>
            <a:ext cx="11274120" cy="1980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Shape 24"/>
          <p:cNvSpPr/>
          <p:nvPr/>
        </p:nvSpPr>
        <p:spPr>
          <a:xfrm>
            <a:off x="457200" y="6510600"/>
            <a:ext cx="164160" cy="16416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 25"/>
          <p:cNvSpPr/>
          <p:nvPr/>
        </p:nvSpPr>
        <p:spPr>
          <a:xfrm>
            <a:off x="713160" y="64008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MCP Security  ·  Deck 3 of 3  ·  NSA Guidance (May 2026)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26"/>
          <p:cNvSpPr/>
          <p:nvPr/>
        </p:nvSpPr>
        <p:spPr>
          <a:xfrm>
            <a:off x="1115568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3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2" name="Text 0"/>
          <p:cNvSpPr/>
          <p:nvPr/>
        </p:nvSpPr>
        <p:spPr>
          <a:xfrm>
            <a:off x="457200" y="457200"/>
            <a:ext cx="9417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299">
                <a:solidFill>
                  <a:srgbClr val="8B0E15"/>
                </a:solidFill>
                <a:latin typeface="Calibri"/>
                <a:ea typeface="Calibri"/>
              </a:rPr>
              <a:t>CALLBACK TO DECK 1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 1"/>
          <p:cNvSpPr/>
          <p:nvPr/>
        </p:nvSpPr>
        <p:spPr>
          <a:xfrm>
            <a:off x="457200" y="73152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231F20"/>
                </a:solidFill>
                <a:latin typeface="Open Sans"/>
                <a:ea typeface="Open Sans"/>
              </a:rPr>
              <a:t>The inversion is where it all starts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 2"/>
          <p:cNvSpPr/>
          <p:nvPr/>
        </p:nvSpPr>
        <p:spPr>
          <a:xfrm>
            <a:off x="457200" y="1371600"/>
            <a:ext cx="112467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 dirty="0">
                <a:solidFill>
                  <a:srgbClr val="3A3536"/>
                </a:solidFill>
                <a:latin typeface="Calibri"/>
                <a:ea typeface="Calibri"/>
              </a:rPr>
              <a:t>Remember the interaction inversion from Deck 1? </a:t>
            </a:r>
            <a:endParaRPr lang="en-US" sz="15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Shape 3"/>
          <p:cNvSpPr/>
          <p:nvPr/>
        </p:nvSpPr>
        <p:spPr>
          <a:xfrm>
            <a:off x="640080" y="2286000"/>
            <a:ext cx="776880" cy="776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6" name="Image 0" descr="preencoded.png"/>
          <p:cNvPicPr/>
          <p:nvPr/>
        </p:nvPicPr>
        <p:blipFill>
          <a:blip r:embed="rId2"/>
          <a:stretch/>
        </p:blipFill>
        <p:spPr>
          <a:xfrm>
            <a:off x="811080" y="2457000"/>
            <a:ext cx="434880" cy="434880"/>
          </a:xfrm>
          <a:prstGeom prst="rect">
            <a:avLst/>
          </a:prstGeom>
          <a:ln w="0">
            <a:noFill/>
          </a:ln>
        </p:spPr>
      </p:pic>
      <p:sp>
        <p:nvSpPr>
          <p:cNvPr id="87" name="Text 4"/>
          <p:cNvSpPr/>
          <p:nvPr/>
        </p:nvSpPr>
        <p:spPr>
          <a:xfrm>
            <a:off x="1645920" y="2240280"/>
            <a:ext cx="978372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3A3536"/>
                </a:solidFill>
                <a:latin typeface="Calibri"/>
                <a:ea typeface="Calibri"/>
              </a:rPr>
              <a:t>In a normal client-server world, the client requests and the server responds — trust flows one way. MCP often expects the server to query, and sometimes act, on the client's side. That reversal creates new, poorly-traced attack paths that decades of web-security intuition don't cover.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Shape 5"/>
          <p:cNvSpPr/>
          <p:nvPr/>
        </p:nvSpPr>
        <p:spPr>
          <a:xfrm>
            <a:off x="457200" y="3611880"/>
            <a:ext cx="3520080" cy="1828440"/>
          </a:xfrm>
          <a:prstGeom prst="rect">
            <a:avLst/>
          </a:prstGeom>
          <a:solidFill>
            <a:srgbClr val="FBF1E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6"/>
          <p:cNvSpPr/>
          <p:nvPr/>
        </p:nvSpPr>
        <p:spPr>
          <a:xfrm>
            <a:off x="457200" y="3611880"/>
            <a:ext cx="91080" cy="1828440"/>
          </a:xfrm>
          <a:prstGeom prst="rect">
            <a:avLst/>
          </a:prstGeom>
          <a:solidFill>
            <a:srgbClr val="B886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 7"/>
          <p:cNvSpPr/>
          <p:nvPr/>
        </p:nvSpPr>
        <p:spPr>
          <a:xfrm>
            <a:off x="731520" y="3840480"/>
            <a:ext cx="31086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8A5A12"/>
                </a:solidFill>
                <a:latin typeface="Open Sans"/>
                <a:ea typeface="Open Sans"/>
              </a:rPr>
              <a:t>Server-influenced model behavior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8"/>
          <p:cNvSpPr/>
          <p:nvPr/>
        </p:nvSpPr>
        <p:spPr>
          <a:xfrm>
            <a:off x="731520" y="4526280"/>
            <a:ext cx="310860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8A5A12"/>
                </a:solidFill>
                <a:latin typeface="Calibri"/>
                <a:ea typeface="Calibri"/>
              </a:rPr>
              <a:t>A connected server can shape what the LLM does next.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Shape 9"/>
          <p:cNvSpPr/>
          <p:nvPr/>
        </p:nvSpPr>
        <p:spPr>
          <a:xfrm>
            <a:off x="4251960" y="3611880"/>
            <a:ext cx="3520080" cy="1828440"/>
          </a:xfrm>
          <a:prstGeom prst="rect">
            <a:avLst/>
          </a:prstGeom>
          <a:solidFill>
            <a:srgbClr val="FBF1E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Shape 10"/>
          <p:cNvSpPr/>
          <p:nvPr/>
        </p:nvSpPr>
        <p:spPr>
          <a:xfrm>
            <a:off x="4251960" y="3611880"/>
            <a:ext cx="91080" cy="1828440"/>
          </a:xfrm>
          <a:prstGeom prst="rect">
            <a:avLst/>
          </a:prstGeom>
          <a:solidFill>
            <a:srgbClr val="B886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Text 11"/>
          <p:cNvSpPr/>
          <p:nvPr/>
        </p:nvSpPr>
        <p:spPr>
          <a:xfrm>
            <a:off x="4526280" y="3840480"/>
            <a:ext cx="31086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8A5A12"/>
                </a:solidFill>
                <a:latin typeface="Open Sans"/>
                <a:ea typeface="Open Sans"/>
              </a:rPr>
              <a:t>Reach toward the user's environment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12"/>
          <p:cNvSpPr/>
          <p:nvPr/>
        </p:nvSpPr>
        <p:spPr>
          <a:xfrm>
            <a:off x="4526280" y="4526280"/>
            <a:ext cx="310860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8A5A12"/>
                </a:solidFill>
                <a:latin typeface="Calibri"/>
                <a:ea typeface="Calibri"/>
              </a:rPr>
              <a:t>Sampling (sampling/createMessage) is the primary feature enabling this — the server asks the client's own LLM to run a completion. Roots and elicitation also point back at the client.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hape 13"/>
          <p:cNvSpPr/>
          <p:nvPr/>
        </p:nvSpPr>
        <p:spPr>
          <a:xfrm>
            <a:off x="8046720" y="3611880"/>
            <a:ext cx="3520080" cy="1828440"/>
          </a:xfrm>
          <a:prstGeom prst="rect">
            <a:avLst/>
          </a:prstGeom>
          <a:solidFill>
            <a:srgbClr val="FBF1E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Shape 14"/>
          <p:cNvSpPr/>
          <p:nvPr/>
        </p:nvSpPr>
        <p:spPr>
          <a:xfrm>
            <a:off x="8046720" y="3611880"/>
            <a:ext cx="91080" cy="1828440"/>
          </a:xfrm>
          <a:prstGeom prst="rect">
            <a:avLst/>
          </a:prstGeom>
          <a:solidFill>
            <a:srgbClr val="B886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Text 15"/>
          <p:cNvSpPr/>
          <p:nvPr/>
        </p:nvSpPr>
        <p:spPr>
          <a:xfrm>
            <a:off x="8321040" y="3840480"/>
            <a:ext cx="31086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8A5A12"/>
                </a:solidFill>
                <a:latin typeface="Open Sans"/>
                <a:ea typeface="Open Sans"/>
              </a:rPr>
              <a:t>Underspecified by design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16"/>
          <p:cNvSpPr/>
          <p:nvPr/>
        </p:nvSpPr>
        <p:spPr>
          <a:xfrm>
            <a:off x="8321040" y="4526280"/>
            <a:ext cx="310860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8A5A12"/>
                </a:solidFill>
                <a:latin typeface="Calibri"/>
                <a:ea typeface="Calibri"/>
              </a:rPr>
              <a:t>The protocol leaves security to implementers — so gaps are the default, not the exception.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Shape 18"/>
          <p:cNvSpPr/>
          <p:nvPr/>
        </p:nvSpPr>
        <p:spPr>
          <a:xfrm>
            <a:off x="0" y="0"/>
            <a:ext cx="12161160" cy="7272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2" name="Image 1" descr="fhb_logo.png"/>
          <p:cNvPicPr/>
          <p:nvPr/>
        </p:nvPicPr>
        <p:blipFill>
          <a:blip r:embed="rId3"/>
          <a:stretch/>
        </p:blipFill>
        <p:spPr>
          <a:xfrm>
            <a:off x="10031040" y="146160"/>
            <a:ext cx="1828440" cy="338040"/>
          </a:xfrm>
          <a:prstGeom prst="rect">
            <a:avLst/>
          </a:prstGeom>
          <a:ln w="0">
            <a:noFill/>
          </a:ln>
        </p:spPr>
      </p:pic>
      <p:sp>
        <p:nvSpPr>
          <p:cNvPr id="103" name="Shape 19"/>
          <p:cNvSpPr/>
          <p:nvPr/>
        </p:nvSpPr>
        <p:spPr>
          <a:xfrm>
            <a:off x="457200" y="6583680"/>
            <a:ext cx="11274120" cy="1980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Shape 20"/>
          <p:cNvSpPr/>
          <p:nvPr/>
        </p:nvSpPr>
        <p:spPr>
          <a:xfrm>
            <a:off x="457200" y="6510600"/>
            <a:ext cx="164160" cy="16416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Text 21"/>
          <p:cNvSpPr/>
          <p:nvPr/>
        </p:nvSpPr>
        <p:spPr>
          <a:xfrm>
            <a:off x="713160" y="64008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MCP Security  ·  Deck 3 of 3  ·  NSA Guidance (May 2026)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22"/>
          <p:cNvSpPr/>
          <p:nvPr/>
        </p:nvSpPr>
        <p:spPr>
          <a:xfrm>
            <a:off x="1115568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4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7" name="Text 0"/>
          <p:cNvSpPr/>
          <p:nvPr/>
        </p:nvSpPr>
        <p:spPr>
          <a:xfrm>
            <a:off x="457200" y="457200"/>
            <a:ext cx="9417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299">
                <a:solidFill>
                  <a:srgbClr val="B8860B"/>
                </a:solidFill>
                <a:latin typeface="Calibri"/>
                <a:ea typeface="Calibri"/>
              </a:rPr>
              <a:t>DESIGN &amp; IMPLEMENTATION CONCERNS · A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1"/>
          <p:cNvSpPr/>
          <p:nvPr/>
        </p:nvSpPr>
        <p:spPr>
          <a:xfrm>
            <a:off x="457200" y="73152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231F20"/>
                </a:solidFill>
                <a:latin typeface="Open Sans"/>
                <a:ea typeface="Open Sans"/>
              </a:rPr>
              <a:t>Access control &amp; trust boundaries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2"/>
          <p:cNvSpPr/>
          <p:nvPr/>
        </p:nvSpPr>
        <p:spPr>
          <a:xfrm>
            <a:off x="457200" y="1371600"/>
            <a:ext cx="112467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3A3536"/>
                </a:solidFill>
                <a:latin typeface="Calibri"/>
                <a:ea typeface="Calibri"/>
              </a:rPr>
              <a:t>The protocol doesn't bind a session to an identity — it's left to the implementer. The result is ambiguous, often untraceable access to data and context.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Shape 3"/>
          <p:cNvSpPr/>
          <p:nvPr/>
        </p:nvSpPr>
        <p:spPr>
          <a:xfrm>
            <a:off x="457200" y="2148840"/>
            <a:ext cx="3520080" cy="310860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Shape 4"/>
          <p:cNvSpPr/>
          <p:nvPr/>
        </p:nvSpPr>
        <p:spPr>
          <a:xfrm>
            <a:off x="457200" y="2148840"/>
            <a:ext cx="3520080" cy="109440"/>
          </a:xfrm>
          <a:prstGeom prst="rect">
            <a:avLst/>
          </a:prstGeom>
          <a:solidFill>
            <a:srgbClr val="B886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Shape 5"/>
          <p:cNvSpPr/>
          <p:nvPr/>
        </p:nvSpPr>
        <p:spPr>
          <a:xfrm>
            <a:off x="713160" y="2423160"/>
            <a:ext cx="548280" cy="548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3" name="Image 0" descr="preencoded.png"/>
          <p:cNvPicPr/>
          <p:nvPr/>
        </p:nvPicPr>
        <p:blipFill>
          <a:blip r:embed="rId2"/>
          <a:stretch/>
        </p:blipFill>
        <p:spPr>
          <a:xfrm>
            <a:off x="833760" y="2543760"/>
            <a:ext cx="306720" cy="306720"/>
          </a:xfrm>
          <a:prstGeom prst="rect">
            <a:avLst/>
          </a:prstGeom>
          <a:ln w="0">
            <a:noFill/>
          </a:ln>
        </p:spPr>
      </p:pic>
      <p:sp>
        <p:nvSpPr>
          <p:cNvPr id="114" name="Text 6"/>
          <p:cNvSpPr/>
          <p:nvPr/>
        </p:nvSpPr>
        <p:spPr>
          <a:xfrm>
            <a:off x="1417320" y="2404800"/>
            <a:ext cx="23313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231F20"/>
                </a:solidFill>
                <a:latin typeface="Open Sans"/>
                <a:ea typeface="Open Sans"/>
              </a:rPr>
              <a:t>No required identity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 7"/>
          <p:cNvSpPr/>
          <p:nvPr/>
        </p:nvSpPr>
        <p:spPr>
          <a:xfrm>
            <a:off x="731520" y="3063240"/>
            <a:ext cx="2971440" cy="173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3A3536"/>
                </a:solidFill>
                <a:latin typeface="Calibri"/>
                <a:ea typeface="Calibri"/>
              </a:rPr>
              <a:t>Sessions need not be tied to any identity. Many implementations omit authentication entirely.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Shape 8"/>
          <p:cNvSpPr/>
          <p:nvPr/>
        </p:nvSpPr>
        <p:spPr>
          <a:xfrm>
            <a:off x="4251960" y="2148840"/>
            <a:ext cx="3520080" cy="310860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Shape 9"/>
          <p:cNvSpPr/>
          <p:nvPr/>
        </p:nvSpPr>
        <p:spPr>
          <a:xfrm>
            <a:off x="4251960" y="2148840"/>
            <a:ext cx="3520080" cy="109440"/>
          </a:xfrm>
          <a:prstGeom prst="rect">
            <a:avLst/>
          </a:prstGeom>
          <a:solidFill>
            <a:srgbClr val="B886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Shape 10"/>
          <p:cNvSpPr/>
          <p:nvPr/>
        </p:nvSpPr>
        <p:spPr>
          <a:xfrm>
            <a:off x="4507920" y="2423160"/>
            <a:ext cx="548280" cy="548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9" name="Image 1" descr="preencoded.png"/>
          <p:cNvPicPr/>
          <p:nvPr/>
        </p:nvPicPr>
        <p:blipFill>
          <a:blip r:embed="rId5"/>
          <a:stretch/>
        </p:blipFill>
        <p:spPr>
          <a:xfrm>
            <a:off x="4628520" y="2543760"/>
            <a:ext cx="306720" cy="306720"/>
          </a:xfrm>
          <a:prstGeom prst="rect">
            <a:avLst/>
          </a:prstGeom>
          <a:ln w="0">
            <a:noFill/>
          </a:ln>
        </p:spPr>
      </p:pic>
      <p:sp>
        <p:nvSpPr>
          <p:cNvPr id="120" name="Text 11"/>
          <p:cNvSpPr/>
          <p:nvPr/>
        </p:nvSpPr>
        <p:spPr>
          <a:xfrm>
            <a:off x="5212080" y="2404800"/>
            <a:ext cx="23313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231F20"/>
                </a:solidFill>
                <a:latin typeface="Open Sans"/>
                <a:ea typeface="Open Sans"/>
              </a:rPr>
              <a:t>No RBAC at instantiation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 12"/>
          <p:cNvSpPr/>
          <p:nvPr/>
        </p:nvSpPr>
        <p:spPr>
          <a:xfrm>
            <a:off x="4526280" y="3063240"/>
            <a:ext cx="2971440" cy="173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3A3536"/>
                </a:solidFill>
                <a:latin typeface="Calibri"/>
                <a:ea typeface="Calibri"/>
              </a:rPr>
              <a:t>MCP doesn't support the exchange of role-based permissions when a connection starts — so CRUD-level enforcement is hard to implement.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Shape 13"/>
          <p:cNvSpPr/>
          <p:nvPr/>
        </p:nvSpPr>
        <p:spPr>
          <a:xfrm>
            <a:off x="8046720" y="2148840"/>
            <a:ext cx="3520080" cy="310860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Shape 14"/>
          <p:cNvSpPr/>
          <p:nvPr/>
        </p:nvSpPr>
        <p:spPr>
          <a:xfrm>
            <a:off x="8046720" y="2148840"/>
            <a:ext cx="3520080" cy="109440"/>
          </a:xfrm>
          <a:prstGeom prst="rect">
            <a:avLst/>
          </a:prstGeom>
          <a:solidFill>
            <a:srgbClr val="B886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Shape 15"/>
          <p:cNvSpPr/>
          <p:nvPr/>
        </p:nvSpPr>
        <p:spPr>
          <a:xfrm>
            <a:off x="8302680" y="2423160"/>
            <a:ext cx="548280" cy="548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5" name="Image 2" descr="preencoded.png"/>
          <p:cNvPicPr/>
          <p:nvPr/>
        </p:nvPicPr>
        <p:blipFill>
          <a:blip r:embed="rId4"/>
          <a:stretch/>
        </p:blipFill>
        <p:spPr>
          <a:xfrm>
            <a:off x="8423280" y="2543760"/>
            <a:ext cx="306720" cy="306720"/>
          </a:xfrm>
          <a:prstGeom prst="rect">
            <a:avLst/>
          </a:prstGeom>
          <a:ln w="0">
            <a:noFill/>
          </a:ln>
        </p:spPr>
      </p:pic>
      <p:sp>
        <p:nvSpPr>
          <p:cNvPr id="126" name="Text 16"/>
          <p:cNvSpPr/>
          <p:nvPr/>
        </p:nvSpPr>
        <p:spPr>
          <a:xfrm>
            <a:off x="9006840" y="2404800"/>
            <a:ext cx="23313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231F20"/>
                </a:solidFill>
                <a:latin typeface="Open Sans"/>
                <a:ea typeface="Open Sans"/>
              </a:rPr>
              <a:t>Context shared freely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 17"/>
          <p:cNvSpPr/>
          <p:nvPr/>
        </p:nvSpPr>
        <p:spPr>
          <a:xfrm>
            <a:off x="8321040" y="3063240"/>
            <a:ext cx="2971440" cy="173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3A3536"/>
                </a:solidFill>
                <a:latin typeface="Calibri"/>
                <a:ea typeface="Calibri"/>
              </a:rPr>
              <a:t>Multiple servers can be exposed to information the client shares broadly, inviting leakage and unverified task propagation.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hape 18"/>
          <p:cNvSpPr/>
          <p:nvPr/>
        </p:nvSpPr>
        <p:spPr>
          <a:xfrm>
            <a:off x="457200" y="5486400"/>
            <a:ext cx="11246760" cy="548280"/>
          </a:xfrm>
          <a:prstGeom prst="rect">
            <a:avLst/>
          </a:prstGeom>
          <a:solidFill>
            <a:srgbClr val="EFE9E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19"/>
          <p:cNvSpPr/>
          <p:nvPr/>
        </p:nvSpPr>
        <p:spPr>
          <a:xfrm>
            <a:off x="640080" y="548640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231F20"/>
                </a:solidFill>
                <a:latin typeface="Calibri"/>
                <a:ea typeface="Calibri"/>
              </a:rPr>
              <a:t>Unverified task propagation:  </a:t>
            </a:r>
            <a:r>
              <a:rPr lang="en-US" sz="1250" b="0" strike="noStrike" spc="-1">
                <a:solidFill>
                  <a:srgbClr val="3A3536"/>
                </a:solidFill>
                <a:latin typeface="Calibri"/>
                <a:ea typeface="Calibri"/>
              </a:rPr>
              <a:t>a task passed between servers without checking its origin, scope, or intent can trigger unrelated downstream tools or overreach.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Shape 20"/>
          <p:cNvSpPr/>
          <p:nvPr/>
        </p:nvSpPr>
        <p:spPr>
          <a:xfrm>
            <a:off x="0" y="0"/>
            <a:ext cx="12161160" cy="7272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1" name="Image 3" descr="fhb_logo.png"/>
          <p:cNvPicPr/>
          <p:nvPr/>
        </p:nvPicPr>
        <p:blipFill>
          <a:blip r:embed="rId3"/>
          <a:stretch/>
        </p:blipFill>
        <p:spPr>
          <a:xfrm>
            <a:off x="10031040" y="146160"/>
            <a:ext cx="1828440" cy="338040"/>
          </a:xfrm>
          <a:prstGeom prst="rect">
            <a:avLst/>
          </a:prstGeom>
          <a:ln w="0">
            <a:noFill/>
          </a:ln>
        </p:spPr>
      </p:pic>
      <p:sp>
        <p:nvSpPr>
          <p:cNvPr id="132" name="Shape 21"/>
          <p:cNvSpPr/>
          <p:nvPr/>
        </p:nvSpPr>
        <p:spPr>
          <a:xfrm>
            <a:off x="457200" y="6583680"/>
            <a:ext cx="11274120" cy="1980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Shape 22"/>
          <p:cNvSpPr/>
          <p:nvPr/>
        </p:nvSpPr>
        <p:spPr>
          <a:xfrm>
            <a:off x="457200" y="6510600"/>
            <a:ext cx="164160" cy="16416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Text 23"/>
          <p:cNvSpPr/>
          <p:nvPr/>
        </p:nvSpPr>
        <p:spPr>
          <a:xfrm>
            <a:off x="713160" y="64008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MCP Security  ·  Deck 3 of 3  ·  NSA Guidance (May 2026)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 24"/>
          <p:cNvSpPr/>
          <p:nvPr/>
        </p:nvSpPr>
        <p:spPr>
          <a:xfrm>
            <a:off x="1115568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5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6" name="Text 0"/>
          <p:cNvSpPr/>
          <p:nvPr/>
        </p:nvSpPr>
        <p:spPr>
          <a:xfrm>
            <a:off x="457200" y="457200"/>
            <a:ext cx="9417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299">
                <a:solidFill>
                  <a:srgbClr val="B8860B"/>
                </a:solidFill>
                <a:latin typeface="Calibri"/>
                <a:ea typeface="Calibri"/>
              </a:rPr>
              <a:t>DESIGN &amp; IMPLEMENTATION CONCERNS · A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 1"/>
          <p:cNvSpPr/>
          <p:nvPr/>
        </p:nvSpPr>
        <p:spPr>
          <a:xfrm>
            <a:off x="457200" y="73152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231F20"/>
                </a:solidFill>
                <a:latin typeface="Open Sans"/>
                <a:ea typeface="Open Sans"/>
              </a:rPr>
              <a:t>Insecure serialization &amp; injection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 2"/>
          <p:cNvSpPr/>
          <p:nvPr/>
        </p:nvSpPr>
        <p:spPr>
          <a:xfrm>
            <a:off x="457200" y="1371600"/>
            <a:ext cx="112467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3A3536"/>
                </a:solidFill>
                <a:latin typeface="Calibri"/>
                <a:ea typeface="Calibri"/>
              </a:rPr>
              <a:t>MCP passes structured objects — context, configuration, payloads — through serialization that often lacks strict schema enforcement. That's an injection path.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Shape 3"/>
          <p:cNvSpPr/>
          <p:nvPr/>
        </p:nvSpPr>
        <p:spPr>
          <a:xfrm>
            <a:off x="457200" y="2148840"/>
            <a:ext cx="5486040" cy="310860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Shape 4"/>
          <p:cNvSpPr/>
          <p:nvPr/>
        </p:nvSpPr>
        <p:spPr>
          <a:xfrm>
            <a:off x="457200" y="2148840"/>
            <a:ext cx="5486040" cy="109440"/>
          </a:xfrm>
          <a:prstGeom prst="rect">
            <a:avLst/>
          </a:prstGeom>
          <a:solidFill>
            <a:srgbClr val="B886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Shape 5"/>
          <p:cNvSpPr/>
          <p:nvPr/>
        </p:nvSpPr>
        <p:spPr>
          <a:xfrm>
            <a:off x="731520" y="2377440"/>
            <a:ext cx="548280" cy="548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2" name="Image 0" descr="preencoded.png"/>
          <p:cNvPicPr/>
          <p:nvPr/>
        </p:nvPicPr>
        <p:blipFill>
          <a:blip r:embed="rId2"/>
          <a:stretch/>
        </p:blipFill>
        <p:spPr>
          <a:xfrm>
            <a:off x="852120" y="2498040"/>
            <a:ext cx="306720" cy="306720"/>
          </a:xfrm>
          <a:prstGeom prst="rect">
            <a:avLst/>
          </a:prstGeom>
          <a:ln w="0">
            <a:noFill/>
          </a:ln>
        </p:spPr>
      </p:pic>
      <p:sp>
        <p:nvSpPr>
          <p:cNvPr id="143" name="Text 6"/>
          <p:cNvSpPr/>
          <p:nvPr/>
        </p:nvSpPr>
        <p:spPr>
          <a:xfrm>
            <a:off x="1417320" y="2377440"/>
            <a:ext cx="41144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231F20"/>
                </a:solidFill>
                <a:latin typeface="Open Sans"/>
                <a:ea typeface="Open Sans"/>
              </a:rPr>
              <a:t>The mechanism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 7"/>
          <p:cNvSpPr/>
          <p:nvPr/>
        </p:nvSpPr>
        <p:spPr>
          <a:xfrm>
            <a:off x="731520" y="3063240"/>
            <a:ext cx="4983120" cy="21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3A3536"/>
                </a:solidFill>
                <a:latin typeface="Calibri"/>
                <a:ea typeface="Calibri"/>
              </a:rPr>
              <a:t>Serialized content can carry comments or prompts that embed executable code or model calls.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3A3536"/>
                </a:solidFill>
                <a:latin typeface="Calibri"/>
                <a:ea typeface="Calibri"/>
              </a:rPr>
              <a:t>Permissive deserialization without isolation between code and data opens the door — the classic insecure-deserialization risk (OWASP A08), now with a language-model twist.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Shape 8"/>
          <p:cNvSpPr/>
          <p:nvPr/>
        </p:nvSpPr>
        <p:spPr>
          <a:xfrm>
            <a:off x="6217920" y="2148840"/>
            <a:ext cx="5486040" cy="3108600"/>
          </a:xfrm>
          <a:prstGeom prst="rect">
            <a:avLst/>
          </a:prstGeom>
          <a:solidFill>
            <a:srgbClr val="5A0E12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Shape 9"/>
          <p:cNvSpPr/>
          <p:nvPr/>
        </p:nvSpPr>
        <p:spPr>
          <a:xfrm>
            <a:off x="6217920" y="2148840"/>
            <a:ext cx="5486040" cy="109440"/>
          </a:xfrm>
          <a:prstGeom prst="rect">
            <a:avLst/>
          </a:prstGeom>
          <a:solidFill>
            <a:srgbClr val="B886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Text 10"/>
          <p:cNvSpPr/>
          <p:nvPr/>
        </p:nvSpPr>
        <p:spPr>
          <a:xfrm>
            <a:off x="6492240" y="2377440"/>
            <a:ext cx="4937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199">
                <a:solidFill>
                  <a:srgbClr val="F5A800"/>
                </a:solidFill>
                <a:latin typeface="Calibri"/>
                <a:ea typeface="Calibri"/>
              </a:rPr>
              <a:t>WHY IT'S WORSE IN MCP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 11"/>
          <p:cNvSpPr/>
          <p:nvPr/>
        </p:nvSpPr>
        <p:spPr>
          <a:xfrm>
            <a:off x="6492240" y="2743200"/>
            <a:ext cx="4983120" cy="237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FFFFFF"/>
                </a:solidFill>
                <a:latin typeface="Calibri"/>
                <a:ea typeface="Calibri"/>
              </a:rPr>
              <a:t>Content is parsed by a model, not just a machine.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E8DFD2"/>
                </a:solidFill>
                <a:latin typeface="Calibri"/>
                <a:ea typeface="Calibri"/>
              </a:rPr>
              <a:t>An embedded instruction that a traditional parser would ignore can be read by an LLM as a command. The boundary between “data” and “instruction” — already fragile in serialization bugs — nearly disappears when natural language is in the payload.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Shape 13"/>
          <p:cNvSpPr/>
          <p:nvPr/>
        </p:nvSpPr>
        <p:spPr>
          <a:xfrm>
            <a:off x="0" y="0"/>
            <a:ext cx="12161160" cy="7272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1" name="Image 1" descr="fhb_logo.png"/>
          <p:cNvPicPr/>
          <p:nvPr/>
        </p:nvPicPr>
        <p:blipFill>
          <a:blip r:embed="rId3"/>
          <a:stretch/>
        </p:blipFill>
        <p:spPr>
          <a:xfrm>
            <a:off x="10031040" y="146160"/>
            <a:ext cx="1828440" cy="338040"/>
          </a:xfrm>
          <a:prstGeom prst="rect">
            <a:avLst/>
          </a:prstGeom>
          <a:ln w="0">
            <a:noFill/>
          </a:ln>
        </p:spPr>
      </p:pic>
      <p:sp>
        <p:nvSpPr>
          <p:cNvPr id="152" name="Shape 14"/>
          <p:cNvSpPr/>
          <p:nvPr/>
        </p:nvSpPr>
        <p:spPr>
          <a:xfrm>
            <a:off x="457200" y="6583680"/>
            <a:ext cx="11274120" cy="1980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hape 15"/>
          <p:cNvSpPr/>
          <p:nvPr/>
        </p:nvSpPr>
        <p:spPr>
          <a:xfrm>
            <a:off x="457200" y="6510600"/>
            <a:ext cx="164160" cy="16416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Text 16"/>
          <p:cNvSpPr/>
          <p:nvPr/>
        </p:nvSpPr>
        <p:spPr>
          <a:xfrm>
            <a:off x="713160" y="64008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MCP Security  ·  Deck 3 of 3  ·  NSA Guidance (May 2026)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 17"/>
          <p:cNvSpPr/>
          <p:nvPr/>
        </p:nvSpPr>
        <p:spPr>
          <a:xfrm>
            <a:off x="1115568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6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6" name="Text 0"/>
          <p:cNvSpPr/>
          <p:nvPr/>
        </p:nvSpPr>
        <p:spPr>
          <a:xfrm>
            <a:off x="457200" y="457200"/>
            <a:ext cx="9417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299">
                <a:solidFill>
                  <a:srgbClr val="B8860B"/>
                </a:solidFill>
                <a:latin typeface="Calibri"/>
                <a:ea typeface="Calibri"/>
              </a:rPr>
              <a:t>DESIGN &amp; IMPLEMENTATION CONCERNS · A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1"/>
          <p:cNvSpPr/>
          <p:nvPr/>
        </p:nvSpPr>
        <p:spPr>
          <a:xfrm>
            <a:off x="457200" y="73152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231F20"/>
                </a:solidFill>
                <a:latin typeface="Open Sans"/>
                <a:ea typeface="Open Sans"/>
              </a:rPr>
              <a:t>Token &amp; session security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 2"/>
          <p:cNvSpPr/>
          <p:nvPr/>
        </p:nvSpPr>
        <p:spPr>
          <a:xfrm>
            <a:off x="457200" y="1371600"/>
            <a:ext cx="112467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3A3536"/>
                </a:solidFill>
                <a:latin typeface="Calibri"/>
                <a:ea typeface="Calibri"/>
              </a:rPr>
              <a:t>Authorization in MCP is optional, and where it exists, the spec doesn't mandate token lifecycle management. That leaves room for replay and hijacking.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Shape 3"/>
          <p:cNvSpPr/>
          <p:nvPr/>
        </p:nvSpPr>
        <p:spPr>
          <a:xfrm>
            <a:off x="457200" y="2148840"/>
            <a:ext cx="3520080" cy="274284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Shape 4"/>
          <p:cNvSpPr/>
          <p:nvPr/>
        </p:nvSpPr>
        <p:spPr>
          <a:xfrm>
            <a:off x="457200" y="2148840"/>
            <a:ext cx="3520080" cy="109440"/>
          </a:xfrm>
          <a:prstGeom prst="rect">
            <a:avLst/>
          </a:prstGeom>
          <a:solidFill>
            <a:srgbClr val="B886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Shape 5"/>
          <p:cNvSpPr/>
          <p:nvPr/>
        </p:nvSpPr>
        <p:spPr>
          <a:xfrm>
            <a:off x="713160" y="2423160"/>
            <a:ext cx="548280" cy="548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2" name="Image 0" descr="preencoded.png"/>
          <p:cNvPicPr/>
          <p:nvPr/>
        </p:nvPicPr>
        <p:blipFill>
          <a:blip r:embed="rId2"/>
          <a:stretch/>
        </p:blipFill>
        <p:spPr>
          <a:xfrm>
            <a:off x="833760" y="2543760"/>
            <a:ext cx="306720" cy="306720"/>
          </a:xfrm>
          <a:prstGeom prst="rect">
            <a:avLst/>
          </a:prstGeom>
          <a:ln w="0">
            <a:noFill/>
          </a:ln>
        </p:spPr>
      </p:pic>
      <p:sp>
        <p:nvSpPr>
          <p:cNvPr id="163" name="Text 6"/>
          <p:cNvSpPr/>
          <p:nvPr/>
        </p:nvSpPr>
        <p:spPr>
          <a:xfrm>
            <a:off x="1417320" y="2404800"/>
            <a:ext cx="23313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231F20"/>
                </a:solidFill>
                <a:latin typeface="Open Sans"/>
                <a:ea typeface="Open Sans"/>
              </a:rPr>
              <a:t>Auth is optional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 7"/>
          <p:cNvSpPr/>
          <p:nvPr/>
        </p:nvSpPr>
        <p:spPr>
          <a:xfrm>
            <a:off x="731520" y="3063240"/>
            <a:ext cx="2971440" cy="137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3A3536"/>
                </a:solidFill>
                <a:latin typeface="Calibri"/>
                <a:ea typeface="Calibri"/>
              </a:rPr>
              <a:t>Not every implementation uses it. Bearer tokens are common but not required.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Shape 8"/>
          <p:cNvSpPr/>
          <p:nvPr/>
        </p:nvSpPr>
        <p:spPr>
          <a:xfrm>
            <a:off x="4251960" y="2148840"/>
            <a:ext cx="3520080" cy="274284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Shape 9"/>
          <p:cNvSpPr/>
          <p:nvPr/>
        </p:nvSpPr>
        <p:spPr>
          <a:xfrm>
            <a:off x="4251960" y="2148840"/>
            <a:ext cx="3520080" cy="109440"/>
          </a:xfrm>
          <a:prstGeom prst="rect">
            <a:avLst/>
          </a:prstGeom>
          <a:solidFill>
            <a:srgbClr val="B886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Shape 10"/>
          <p:cNvSpPr/>
          <p:nvPr/>
        </p:nvSpPr>
        <p:spPr>
          <a:xfrm>
            <a:off x="4507920" y="2423160"/>
            <a:ext cx="548280" cy="548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8" name="Image 1" descr="preencoded.png"/>
          <p:cNvPicPr/>
          <p:nvPr/>
        </p:nvPicPr>
        <p:blipFill>
          <a:blip r:embed="rId6"/>
          <a:stretch/>
        </p:blipFill>
        <p:spPr>
          <a:xfrm>
            <a:off x="4628520" y="2543760"/>
            <a:ext cx="306720" cy="306720"/>
          </a:xfrm>
          <a:prstGeom prst="rect">
            <a:avLst/>
          </a:prstGeom>
          <a:ln w="0">
            <a:noFill/>
          </a:ln>
        </p:spPr>
      </p:pic>
      <p:sp>
        <p:nvSpPr>
          <p:cNvPr id="169" name="Text 11"/>
          <p:cNvSpPr/>
          <p:nvPr/>
        </p:nvSpPr>
        <p:spPr>
          <a:xfrm>
            <a:off x="5212080" y="2404800"/>
            <a:ext cx="23313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231F20"/>
                </a:solidFill>
                <a:latin typeface="Open Sans"/>
                <a:ea typeface="Open Sans"/>
              </a:rPr>
              <a:t>No mandated lifecycle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 12"/>
          <p:cNvSpPr/>
          <p:nvPr/>
        </p:nvSpPr>
        <p:spPr>
          <a:xfrm>
            <a:off x="4526280" y="3063240"/>
            <a:ext cx="2971440" cy="137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3A3536"/>
                </a:solidFill>
                <a:latin typeface="Calibri"/>
                <a:ea typeface="Calibri"/>
              </a:rPr>
              <a:t>Refresh, revocation, and reuse control aren't required by the core spec — only recommended in places.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Shape 13"/>
          <p:cNvSpPr/>
          <p:nvPr/>
        </p:nvSpPr>
        <p:spPr>
          <a:xfrm>
            <a:off x="8046720" y="2148840"/>
            <a:ext cx="3520080" cy="274284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Shape 14"/>
          <p:cNvSpPr/>
          <p:nvPr/>
        </p:nvSpPr>
        <p:spPr>
          <a:xfrm>
            <a:off x="8046720" y="2148840"/>
            <a:ext cx="3520080" cy="109440"/>
          </a:xfrm>
          <a:prstGeom prst="rect">
            <a:avLst/>
          </a:prstGeom>
          <a:solidFill>
            <a:srgbClr val="B886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Shape 15"/>
          <p:cNvSpPr/>
          <p:nvPr/>
        </p:nvSpPr>
        <p:spPr>
          <a:xfrm>
            <a:off x="8302680" y="2423160"/>
            <a:ext cx="548280" cy="548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4" name="Image 2" descr="preencoded.png"/>
          <p:cNvPicPr/>
          <p:nvPr/>
        </p:nvPicPr>
        <p:blipFill>
          <a:blip r:embed="rId5"/>
          <a:stretch/>
        </p:blipFill>
        <p:spPr>
          <a:xfrm>
            <a:off x="8423280" y="2543760"/>
            <a:ext cx="306720" cy="306720"/>
          </a:xfrm>
          <a:prstGeom prst="rect">
            <a:avLst/>
          </a:prstGeom>
          <a:ln w="0">
            <a:noFill/>
          </a:ln>
        </p:spPr>
      </p:pic>
      <p:sp>
        <p:nvSpPr>
          <p:cNvPr id="175" name="Text 16"/>
          <p:cNvSpPr/>
          <p:nvPr/>
        </p:nvSpPr>
        <p:spPr>
          <a:xfrm>
            <a:off x="9006840" y="2404800"/>
            <a:ext cx="23313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231F20"/>
                </a:solidFill>
                <a:latin typeface="Open Sans"/>
                <a:ea typeface="Open Sans"/>
              </a:rPr>
              <a:t>Replay &amp; hijack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 17"/>
          <p:cNvSpPr/>
          <p:nvPr/>
        </p:nvSpPr>
        <p:spPr>
          <a:xfrm>
            <a:off x="8321040" y="3063240"/>
            <a:ext cx="2971440" cy="137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3A3536"/>
                </a:solidFill>
                <a:latin typeface="Calibri"/>
                <a:ea typeface="Calibri"/>
              </a:rPr>
              <a:t>Without lifecycle control, valid sessions can be reused or hijacked — a malicious actor impersonates a legitimate client.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Shape 18"/>
          <p:cNvSpPr/>
          <p:nvPr/>
        </p:nvSpPr>
        <p:spPr>
          <a:xfrm>
            <a:off x="457200" y="5120640"/>
            <a:ext cx="11246760" cy="914040"/>
          </a:xfrm>
          <a:prstGeom prst="rect">
            <a:avLst/>
          </a:prstGeom>
          <a:solidFill>
            <a:srgbClr val="FBF1E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Shape 19"/>
          <p:cNvSpPr/>
          <p:nvPr/>
        </p:nvSpPr>
        <p:spPr>
          <a:xfrm>
            <a:off x="457200" y="5120640"/>
            <a:ext cx="91080" cy="914040"/>
          </a:xfrm>
          <a:prstGeom prst="rect">
            <a:avLst/>
          </a:prstGeom>
          <a:solidFill>
            <a:srgbClr val="B886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79" name="Image 3" descr="preencoded.png"/>
          <p:cNvPicPr/>
          <p:nvPr/>
        </p:nvPicPr>
        <p:blipFill>
          <a:blip r:embed="rId4"/>
          <a:stretch/>
        </p:blipFill>
        <p:spPr>
          <a:xfrm>
            <a:off x="713160" y="5394960"/>
            <a:ext cx="383760" cy="383760"/>
          </a:xfrm>
          <a:prstGeom prst="rect">
            <a:avLst/>
          </a:prstGeom>
          <a:ln w="0">
            <a:noFill/>
          </a:ln>
        </p:spPr>
      </p:pic>
      <p:sp>
        <p:nvSpPr>
          <p:cNvPr id="180" name="Text 20"/>
          <p:cNvSpPr/>
          <p:nvPr/>
        </p:nvSpPr>
        <p:spPr>
          <a:xfrm>
            <a:off x="1234440" y="5120640"/>
            <a:ext cx="1024092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8A5A12"/>
                </a:solidFill>
                <a:latin typeface="Calibri"/>
                <a:ea typeface="Calibri"/>
              </a:rPr>
              <a:t>Idempotency isn't enforced either.  </a:t>
            </a:r>
            <a:r>
              <a:rPr lang="en-US" sz="1300" b="0" strike="noStrike" spc="-1">
                <a:solidFill>
                  <a:srgbClr val="8A5A12"/>
                </a:solidFill>
                <a:latin typeface="Calibri"/>
                <a:ea typeface="Calibri"/>
              </a:rPr>
              <a:t>MCP leaves it to the underlying JSON-RPC and message-queue layers — so the same operation may execute more than once if no one implements the guard.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Shape 21"/>
          <p:cNvSpPr/>
          <p:nvPr/>
        </p:nvSpPr>
        <p:spPr>
          <a:xfrm>
            <a:off x="0" y="0"/>
            <a:ext cx="12161160" cy="7272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82" name="Image 4" descr="fhb_logo.png"/>
          <p:cNvPicPr/>
          <p:nvPr/>
        </p:nvPicPr>
        <p:blipFill>
          <a:blip r:embed="rId3"/>
          <a:stretch/>
        </p:blipFill>
        <p:spPr>
          <a:xfrm>
            <a:off x="10031040" y="146160"/>
            <a:ext cx="1828440" cy="338040"/>
          </a:xfrm>
          <a:prstGeom prst="rect">
            <a:avLst/>
          </a:prstGeom>
          <a:ln w="0">
            <a:noFill/>
          </a:ln>
        </p:spPr>
      </p:pic>
      <p:sp>
        <p:nvSpPr>
          <p:cNvPr id="183" name="Shape 22"/>
          <p:cNvSpPr/>
          <p:nvPr/>
        </p:nvSpPr>
        <p:spPr>
          <a:xfrm>
            <a:off x="457200" y="6583680"/>
            <a:ext cx="11274120" cy="1980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Shape 23"/>
          <p:cNvSpPr/>
          <p:nvPr/>
        </p:nvSpPr>
        <p:spPr>
          <a:xfrm>
            <a:off x="457200" y="6510600"/>
            <a:ext cx="164160" cy="16416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Text 24"/>
          <p:cNvSpPr/>
          <p:nvPr/>
        </p:nvSpPr>
        <p:spPr>
          <a:xfrm>
            <a:off x="713160" y="64008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MCP Security  ·  Deck 3 of 3  ·  NSA Guidance (May 2026)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 25"/>
          <p:cNvSpPr/>
          <p:nvPr/>
        </p:nvSpPr>
        <p:spPr>
          <a:xfrm>
            <a:off x="1115568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7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7" name="Text 0"/>
          <p:cNvSpPr/>
          <p:nvPr/>
        </p:nvSpPr>
        <p:spPr>
          <a:xfrm>
            <a:off x="457200" y="457200"/>
            <a:ext cx="9417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299">
                <a:solidFill>
                  <a:srgbClr val="8B0E15"/>
                </a:solidFill>
                <a:latin typeface="Calibri"/>
                <a:ea typeface="Calibri"/>
              </a:rPr>
              <a:t>THE PRIMARY AUTH MECHANISM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 1"/>
          <p:cNvSpPr/>
          <p:nvPr/>
        </p:nvSpPr>
        <p:spPr>
          <a:xfrm>
            <a:off x="457200" y="73152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231F20"/>
                </a:solidFill>
                <a:latin typeface="Open Sans"/>
                <a:ea typeface="Open Sans"/>
              </a:rPr>
              <a:t>OAuth 2.1 — how MCP does authorization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 2"/>
          <p:cNvSpPr/>
          <p:nvPr/>
        </p:nvSpPr>
        <p:spPr>
          <a:xfrm>
            <a:off x="457200" y="1371600"/>
            <a:ext cx="112467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strike="noStrike" spc="-1">
                <a:solidFill>
                  <a:srgbClr val="3A3536"/>
                </a:solidFill>
                <a:latin typeface="Calibri"/>
                <a:ea typeface="Calibri"/>
              </a:rPr>
              <a:t>When auth IS implemented, OAuth 2.1 is the standard. The MCP server is a resource server: it validates tokens issued by a separate authorization server — it never runs the login itself.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 3"/>
          <p:cNvSpPr/>
          <p:nvPr/>
        </p:nvSpPr>
        <p:spPr>
          <a:xfrm>
            <a:off x="457200" y="2011680"/>
            <a:ext cx="10058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199">
                <a:solidFill>
                  <a:srgbClr val="8B0E15"/>
                </a:solidFill>
                <a:latin typeface="Calibri"/>
                <a:ea typeface="Calibri"/>
              </a:rPr>
              <a:t>THE FLOW, SIMPLIFIED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Shape 4"/>
          <p:cNvSpPr/>
          <p:nvPr/>
        </p:nvSpPr>
        <p:spPr>
          <a:xfrm>
            <a:off x="457200" y="2331720"/>
            <a:ext cx="2605680" cy="178272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Shape 5"/>
          <p:cNvSpPr/>
          <p:nvPr/>
        </p:nvSpPr>
        <p:spPr>
          <a:xfrm>
            <a:off x="640080" y="2487240"/>
            <a:ext cx="456840" cy="456840"/>
          </a:xfrm>
          <a:prstGeom prst="ellipse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Text 6"/>
          <p:cNvSpPr/>
          <p:nvPr/>
        </p:nvSpPr>
        <p:spPr>
          <a:xfrm>
            <a:off x="640080" y="24872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FFFFFF"/>
                </a:solidFill>
                <a:latin typeface="Open Sans"/>
                <a:ea typeface="Open Sans"/>
              </a:rPr>
              <a:t>1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Text 7"/>
          <p:cNvSpPr/>
          <p:nvPr/>
        </p:nvSpPr>
        <p:spPr>
          <a:xfrm>
            <a:off x="1188720" y="2505600"/>
            <a:ext cx="1737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strike="noStrike" spc="-1">
                <a:solidFill>
                  <a:srgbClr val="231F20"/>
                </a:solidFill>
                <a:latin typeface="Open Sans"/>
                <a:ea typeface="Open Sans"/>
              </a:rPr>
              <a:t>Client requests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 8"/>
          <p:cNvSpPr/>
          <p:nvPr/>
        </p:nvSpPr>
        <p:spPr>
          <a:xfrm>
            <a:off x="658440" y="3063240"/>
            <a:ext cx="2221560" cy="95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3A3536"/>
                </a:solidFill>
                <a:latin typeface="Calibri"/>
                <a:ea typeface="Calibri"/>
              </a:rPr>
              <a:t>No valid token yet → the server replies 401 with WWW-Authenticate.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Shape 9"/>
          <p:cNvSpPr/>
          <p:nvPr/>
        </p:nvSpPr>
        <p:spPr>
          <a:xfrm>
            <a:off x="3081240" y="3200400"/>
            <a:ext cx="201240" cy="360"/>
          </a:xfrm>
          <a:prstGeom prst="line">
            <a:avLst/>
          </a:prstGeom>
          <a:ln w="25400">
            <a:solidFill>
              <a:srgbClr val="8B0E15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Shape 10"/>
          <p:cNvSpPr/>
          <p:nvPr/>
        </p:nvSpPr>
        <p:spPr>
          <a:xfrm>
            <a:off x="3291840" y="2331720"/>
            <a:ext cx="2605680" cy="178272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Shape 11"/>
          <p:cNvSpPr/>
          <p:nvPr/>
        </p:nvSpPr>
        <p:spPr>
          <a:xfrm>
            <a:off x="3474720" y="2487240"/>
            <a:ext cx="456840" cy="456840"/>
          </a:xfrm>
          <a:prstGeom prst="ellipse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Text 12"/>
          <p:cNvSpPr/>
          <p:nvPr/>
        </p:nvSpPr>
        <p:spPr>
          <a:xfrm>
            <a:off x="3474720" y="24872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FFFFFF"/>
                </a:solidFill>
                <a:latin typeface="Open Sans"/>
                <a:ea typeface="Open Sans"/>
              </a:rPr>
              <a:t>2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Text 13"/>
          <p:cNvSpPr/>
          <p:nvPr/>
        </p:nvSpPr>
        <p:spPr>
          <a:xfrm>
            <a:off x="4023360" y="2505600"/>
            <a:ext cx="1737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strike="noStrike" spc="-1">
                <a:solidFill>
                  <a:srgbClr val="231F20"/>
                </a:solidFill>
                <a:latin typeface="Open Sans"/>
                <a:ea typeface="Open Sans"/>
              </a:rPr>
              <a:t>Discover &amp; authorize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 14"/>
          <p:cNvSpPr/>
          <p:nvPr/>
        </p:nvSpPr>
        <p:spPr>
          <a:xfrm>
            <a:off x="3493080" y="3063240"/>
            <a:ext cx="2221560" cy="95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 dirty="0">
                <a:solidFill>
                  <a:srgbClr val="3A3536"/>
                </a:solidFill>
                <a:latin typeface="Calibri"/>
                <a:ea typeface="Calibri"/>
              </a:rPr>
              <a:t>Client reads resource metadata, finds the auth server, and authorizes.</a:t>
            </a:r>
            <a:endParaRPr lang="en-US" sz="10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Shape 15"/>
          <p:cNvSpPr/>
          <p:nvPr/>
        </p:nvSpPr>
        <p:spPr>
          <a:xfrm>
            <a:off x="5915880" y="3200400"/>
            <a:ext cx="201240" cy="360"/>
          </a:xfrm>
          <a:prstGeom prst="line">
            <a:avLst/>
          </a:prstGeom>
          <a:ln w="25400">
            <a:solidFill>
              <a:srgbClr val="8B0E15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Shape 16"/>
          <p:cNvSpPr/>
          <p:nvPr/>
        </p:nvSpPr>
        <p:spPr>
          <a:xfrm>
            <a:off x="6126480" y="2331720"/>
            <a:ext cx="2605680" cy="178272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Shape 17"/>
          <p:cNvSpPr/>
          <p:nvPr/>
        </p:nvSpPr>
        <p:spPr>
          <a:xfrm>
            <a:off x="6309360" y="2487240"/>
            <a:ext cx="456840" cy="456840"/>
          </a:xfrm>
          <a:prstGeom prst="ellipse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Text 18"/>
          <p:cNvSpPr/>
          <p:nvPr/>
        </p:nvSpPr>
        <p:spPr>
          <a:xfrm>
            <a:off x="6309360" y="24872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FFFFFF"/>
                </a:solidFill>
                <a:latin typeface="Open Sans"/>
                <a:ea typeface="Open Sans"/>
              </a:rPr>
              <a:t>3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Text 19"/>
          <p:cNvSpPr/>
          <p:nvPr/>
        </p:nvSpPr>
        <p:spPr>
          <a:xfrm>
            <a:off x="6858000" y="2505600"/>
            <a:ext cx="1737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strike="noStrike" spc="-1">
                <a:solidFill>
                  <a:srgbClr val="231F20"/>
                </a:solidFill>
                <a:latin typeface="Open Sans"/>
                <a:ea typeface="Open Sans"/>
              </a:rPr>
              <a:t>Token issued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Text 20"/>
          <p:cNvSpPr/>
          <p:nvPr/>
        </p:nvSpPr>
        <p:spPr>
          <a:xfrm>
            <a:off x="6327720" y="3063240"/>
            <a:ext cx="2221560" cy="95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 dirty="0">
                <a:solidFill>
                  <a:srgbClr val="3A3536"/>
                </a:solidFill>
                <a:latin typeface="Calibri"/>
                <a:ea typeface="Calibri"/>
              </a:rPr>
              <a:t>Auth server returns an access token audience-scoped to this MCP server.</a:t>
            </a:r>
            <a:endParaRPr lang="en-US" sz="10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Shape 21"/>
          <p:cNvSpPr/>
          <p:nvPr/>
        </p:nvSpPr>
        <p:spPr>
          <a:xfrm>
            <a:off x="8750520" y="3200400"/>
            <a:ext cx="201240" cy="360"/>
          </a:xfrm>
          <a:prstGeom prst="line">
            <a:avLst/>
          </a:prstGeom>
          <a:ln w="25400">
            <a:solidFill>
              <a:srgbClr val="8B0E15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Shape 22"/>
          <p:cNvSpPr/>
          <p:nvPr/>
        </p:nvSpPr>
        <p:spPr>
          <a:xfrm>
            <a:off x="8961120" y="2331720"/>
            <a:ext cx="2605680" cy="178272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Shape 23"/>
          <p:cNvSpPr/>
          <p:nvPr/>
        </p:nvSpPr>
        <p:spPr>
          <a:xfrm>
            <a:off x="9144000" y="2487240"/>
            <a:ext cx="456840" cy="456840"/>
          </a:xfrm>
          <a:prstGeom prst="ellipse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Text 24"/>
          <p:cNvSpPr/>
          <p:nvPr/>
        </p:nvSpPr>
        <p:spPr>
          <a:xfrm>
            <a:off x="9144000" y="24872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FFFFFF"/>
                </a:solidFill>
                <a:latin typeface="Open Sans"/>
                <a:ea typeface="Open Sans"/>
              </a:rPr>
              <a:t>4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 25"/>
          <p:cNvSpPr/>
          <p:nvPr/>
        </p:nvSpPr>
        <p:spPr>
          <a:xfrm>
            <a:off x="9692640" y="2505600"/>
            <a:ext cx="1737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strike="noStrike" spc="-1">
                <a:solidFill>
                  <a:srgbClr val="231F20"/>
                </a:solidFill>
                <a:latin typeface="Open Sans"/>
                <a:ea typeface="Open Sans"/>
              </a:rPr>
              <a:t>Validated calls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 26"/>
          <p:cNvSpPr/>
          <p:nvPr/>
        </p:nvSpPr>
        <p:spPr>
          <a:xfrm>
            <a:off x="9162360" y="3063240"/>
            <a:ext cx="2221560" cy="95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3A3536"/>
                </a:solidFill>
                <a:latin typeface="Calibri"/>
                <a:ea typeface="Calibri"/>
              </a:rPr>
              <a:t>Client sends Bearer token each request; server checks signature, expiry, and audience.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 27"/>
          <p:cNvSpPr/>
          <p:nvPr/>
        </p:nvSpPr>
        <p:spPr>
          <a:xfrm>
            <a:off x="457200" y="4343400"/>
            <a:ext cx="10058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199">
                <a:solidFill>
                  <a:srgbClr val="8A5A12"/>
                </a:solidFill>
                <a:latin typeface="Calibri"/>
                <a:ea typeface="Calibri"/>
              </a:rPr>
              <a:t>WHERE IT GOES WRONG IN MCP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Shape 28"/>
          <p:cNvSpPr/>
          <p:nvPr/>
        </p:nvSpPr>
        <p:spPr>
          <a:xfrm>
            <a:off x="457200" y="4663440"/>
            <a:ext cx="5531760" cy="1142640"/>
          </a:xfrm>
          <a:prstGeom prst="rect">
            <a:avLst/>
          </a:prstGeom>
          <a:solidFill>
            <a:srgbClr val="FBF1E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Shape 29"/>
          <p:cNvSpPr/>
          <p:nvPr/>
        </p:nvSpPr>
        <p:spPr>
          <a:xfrm>
            <a:off x="457200" y="4663440"/>
            <a:ext cx="91080" cy="1142640"/>
          </a:xfrm>
          <a:prstGeom prst="rect">
            <a:avLst/>
          </a:prstGeom>
          <a:solidFill>
            <a:srgbClr val="B886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Shape 30"/>
          <p:cNvSpPr/>
          <p:nvPr/>
        </p:nvSpPr>
        <p:spPr>
          <a:xfrm>
            <a:off x="685800" y="4864680"/>
            <a:ext cx="456840" cy="4568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8" name="Image 0" descr="preencoded.png"/>
          <p:cNvPicPr/>
          <p:nvPr/>
        </p:nvPicPr>
        <p:blipFill>
          <a:blip r:embed="rId2"/>
          <a:stretch/>
        </p:blipFill>
        <p:spPr>
          <a:xfrm>
            <a:off x="786240" y="496512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219" name="Text 31"/>
          <p:cNvSpPr/>
          <p:nvPr/>
        </p:nvSpPr>
        <p:spPr>
          <a:xfrm>
            <a:off x="1280160" y="477324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strike="noStrike" spc="-1">
                <a:solidFill>
                  <a:srgbClr val="8A5A12"/>
                </a:solidFill>
                <a:latin typeface="Open Sans"/>
                <a:ea typeface="Open Sans"/>
              </a:rPr>
              <a:t>Missing audience validation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 32"/>
          <p:cNvSpPr/>
          <p:nvPr/>
        </p:nvSpPr>
        <p:spPr>
          <a:xfrm>
            <a:off x="1280160" y="5230440"/>
            <a:ext cx="45716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8A5A12"/>
                </a:solidFill>
                <a:latin typeface="Calibri"/>
                <a:ea typeface="Calibri"/>
              </a:rPr>
              <a:t>If the server doesn't check the token's audience claim, it accepts tokens minted for other services — a valid signature on the wrong token.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Shape 33"/>
          <p:cNvSpPr/>
          <p:nvPr/>
        </p:nvSpPr>
        <p:spPr>
          <a:xfrm>
            <a:off x="6172200" y="4663440"/>
            <a:ext cx="5531760" cy="1142640"/>
          </a:xfrm>
          <a:prstGeom prst="rect">
            <a:avLst/>
          </a:prstGeom>
          <a:solidFill>
            <a:srgbClr val="FBF1E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Shape 34"/>
          <p:cNvSpPr/>
          <p:nvPr/>
        </p:nvSpPr>
        <p:spPr>
          <a:xfrm>
            <a:off x="6172200" y="4663440"/>
            <a:ext cx="91080" cy="1142640"/>
          </a:xfrm>
          <a:prstGeom prst="rect">
            <a:avLst/>
          </a:prstGeom>
          <a:solidFill>
            <a:srgbClr val="B886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Shape 35"/>
          <p:cNvSpPr/>
          <p:nvPr/>
        </p:nvSpPr>
        <p:spPr>
          <a:xfrm>
            <a:off x="6400800" y="4864680"/>
            <a:ext cx="456840" cy="4568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4" name="Image 1" descr="preencoded.png"/>
          <p:cNvPicPr/>
          <p:nvPr/>
        </p:nvPicPr>
        <p:blipFill>
          <a:blip r:embed="rId4"/>
          <a:stretch/>
        </p:blipFill>
        <p:spPr>
          <a:xfrm>
            <a:off x="6501240" y="496512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225" name="Text 36"/>
          <p:cNvSpPr/>
          <p:nvPr/>
        </p:nvSpPr>
        <p:spPr>
          <a:xfrm>
            <a:off x="6995160" y="477324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strike="noStrike" spc="-1">
                <a:solidFill>
                  <a:srgbClr val="8A5A12"/>
                </a:solidFill>
                <a:latin typeface="Open Sans"/>
                <a:ea typeface="Open Sans"/>
              </a:rPr>
              <a:t>Token passthrough → confused deputy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Text 37"/>
          <p:cNvSpPr/>
          <p:nvPr/>
        </p:nvSpPr>
        <p:spPr>
          <a:xfrm>
            <a:off x="6995160" y="5230440"/>
            <a:ext cx="45716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8A5A12"/>
                </a:solidFill>
                <a:latin typeface="Calibri"/>
                <a:ea typeface="Calibri"/>
              </a:rPr>
              <a:t>Forwarding the client's token to an upstream API makes the server a confused deputy. It must instead get its own separate token for each downstream call.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 38"/>
          <p:cNvSpPr/>
          <p:nvPr/>
        </p:nvSpPr>
        <p:spPr>
          <a:xfrm>
            <a:off x="457200" y="5943600"/>
            <a:ext cx="112467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i="1" strike="noStrike" spc="-1">
                <a:solidFill>
                  <a:srgbClr val="8A8385"/>
                </a:solidFill>
                <a:latin typeface="Calibri"/>
                <a:ea typeface="Calibri"/>
              </a:rPr>
              <a:t>Real instance: the mcp-remote OAuth proxy (400k+ environments) accepted a malicious authorization_endpoint that injected shell commands — RCE on the developer's machine.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Shape 39"/>
          <p:cNvSpPr/>
          <p:nvPr/>
        </p:nvSpPr>
        <p:spPr>
          <a:xfrm>
            <a:off x="0" y="0"/>
            <a:ext cx="12161160" cy="7272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29" name="Image 2" descr="fhb_logo.png"/>
          <p:cNvPicPr/>
          <p:nvPr/>
        </p:nvPicPr>
        <p:blipFill>
          <a:blip r:embed="rId3"/>
          <a:stretch/>
        </p:blipFill>
        <p:spPr>
          <a:xfrm>
            <a:off x="10031040" y="146160"/>
            <a:ext cx="1828440" cy="338040"/>
          </a:xfrm>
          <a:prstGeom prst="rect">
            <a:avLst/>
          </a:prstGeom>
          <a:ln w="0">
            <a:noFill/>
          </a:ln>
        </p:spPr>
      </p:pic>
      <p:sp>
        <p:nvSpPr>
          <p:cNvPr id="230" name="Shape 40"/>
          <p:cNvSpPr/>
          <p:nvPr/>
        </p:nvSpPr>
        <p:spPr>
          <a:xfrm>
            <a:off x="457200" y="6583680"/>
            <a:ext cx="11274120" cy="1980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Shape 41"/>
          <p:cNvSpPr/>
          <p:nvPr/>
        </p:nvSpPr>
        <p:spPr>
          <a:xfrm>
            <a:off x="457200" y="6510600"/>
            <a:ext cx="164160" cy="16416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Text 42"/>
          <p:cNvSpPr/>
          <p:nvPr/>
        </p:nvSpPr>
        <p:spPr>
          <a:xfrm>
            <a:off x="713160" y="64008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MCP Security  ·  Deck 3 of 3  ·  NSA Guidance (May 2026)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Text 43"/>
          <p:cNvSpPr/>
          <p:nvPr/>
        </p:nvSpPr>
        <p:spPr>
          <a:xfrm>
            <a:off x="1115568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8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4" name="Text 0"/>
          <p:cNvSpPr/>
          <p:nvPr/>
        </p:nvSpPr>
        <p:spPr>
          <a:xfrm>
            <a:off x="457200" y="457200"/>
            <a:ext cx="9417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299">
                <a:solidFill>
                  <a:srgbClr val="8B0E15"/>
                </a:solidFill>
                <a:latin typeface="Calibri"/>
                <a:ea typeface="Calibri"/>
              </a:rPr>
              <a:t>THE OTHER HALF OF SLIDE 7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 1"/>
          <p:cNvSpPr/>
          <p:nvPr/>
        </p:nvSpPr>
        <p:spPr>
          <a:xfrm>
            <a:off x="457200" y="73152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231F20"/>
                </a:solidFill>
                <a:latin typeface="Open Sans"/>
                <a:ea typeface="Open Sans"/>
              </a:rPr>
              <a:t>Idempotency — why “exactly once” matters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 2"/>
          <p:cNvSpPr/>
          <p:nvPr/>
        </p:nvSpPr>
        <p:spPr>
          <a:xfrm>
            <a:off x="457200" y="1371600"/>
            <a:ext cx="112467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strike="noStrike" spc="-1">
                <a:solidFill>
                  <a:srgbClr val="3A3536"/>
                </a:solidFill>
                <a:latin typeface="Calibri"/>
                <a:ea typeface="Calibri"/>
              </a:rPr>
              <a:t>Slide 7 noted MCP leaves idempotency to the lower layers. Here's why that gap matters: in an agentic system, the same operation can fire more than once — and whether that's harmless or harmful depends entirely on the tool.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Shape 3"/>
          <p:cNvSpPr/>
          <p:nvPr/>
        </p:nvSpPr>
        <p:spPr>
          <a:xfrm>
            <a:off x="457200" y="2240280"/>
            <a:ext cx="5531760" cy="182844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Shape 4"/>
          <p:cNvSpPr/>
          <p:nvPr/>
        </p:nvSpPr>
        <p:spPr>
          <a:xfrm>
            <a:off x="457200" y="2240280"/>
            <a:ext cx="5531760" cy="10944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" name="Shape 5"/>
          <p:cNvSpPr/>
          <p:nvPr/>
        </p:nvSpPr>
        <p:spPr>
          <a:xfrm>
            <a:off x="713160" y="2441520"/>
            <a:ext cx="502560" cy="5025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0" name="Image 0" descr="preencoded.png"/>
          <p:cNvPicPr/>
          <p:nvPr/>
        </p:nvPicPr>
        <p:blipFill>
          <a:blip r:embed="rId2"/>
          <a:stretch/>
        </p:blipFill>
        <p:spPr>
          <a:xfrm>
            <a:off x="824040" y="2552040"/>
            <a:ext cx="281160" cy="281160"/>
          </a:xfrm>
          <a:prstGeom prst="rect">
            <a:avLst/>
          </a:prstGeom>
          <a:ln w="0">
            <a:noFill/>
          </a:ln>
        </p:spPr>
      </p:pic>
      <p:sp>
        <p:nvSpPr>
          <p:cNvPr id="241" name="Text 6"/>
          <p:cNvSpPr/>
          <p:nvPr/>
        </p:nvSpPr>
        <p:spPr>
          <a:xfrm>
            <a:off x="1325880" y="2450520"/>
            <a:ext cx="4388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231F20"/>
                </a:solidFill>
                <a:latin typeface="Open Sans"/>
                <a:ea typeface="Open Sans"/>
              </a:rPr>
              <a:t>What it means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Text 7"/>
          <p:cNvSpPr/>
          <p:nvPr/>
        </p:nvSpPr>
        <p:spPr>
          <a:xfrm>
            <a:off x="713160" y="3017520"/>
            <a:ext cx="5028840" cy="95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3A3536"/>
                </a:solidFill>
                <a:latin typeface="Calibri"/>
                <a:ea typeface="Calibri"/>
              </a:rPr>
              <a:t>An operation is </a:t>
            </a:r>
            <a:r>
              <a:rPr lang="en-US" sz="1250" b="1" i="1" strike="noStrike" spc="-1">
                <a:solidFill>
                  <a:srgbClr val="3A3536"/>
                </a:solidFill>
                <a:latin typeface="Calibri"/>
                <a:ea typeface="Calibri"/>
              </a:rPr>
              <a:t>idempotent</a:t>
            </a:r>
            <a:r>
              <a:rPr lang="en-US" sz="1250" b="0" strike="noStrike" spc="-1">
                <a:solidFill>
                  <a:srgbClr val="3A3536"/>
                </a:solidFill>
                <a:latin typeface="Calibri"/>
                <a:ea typeface="Calibri"/>
              </a:rPr>
              <a:t> if running it twice has the same effect as running it once. 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5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5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3A3536"/>
                </a:solidFill>
                <a:latin typeface="Calibri"/>
                <a:ea typeface="Calibri"/>
              </a:rPr>
              <a:t>“Read the balance” is naturally idempotent. “Transfer $500” is not — do it twice and the customer is out $1,000.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Shape 8"/>
          <p:cNvSpPr/>
          <p:nvPr/>
        </p:nvSpPr>
        <p:spPr>
          <a:xfrm>
            <a:off x="6172200" y="2240280"/>
            <a:ext cx="5531760" cy="182844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Shape 9"/>
          <p:cNvSpPr/>
          <p:nvPr/>
        </p:nvSpPr>
        <p:spPr>
          <a:xfrm>
            <a:off x="6172200" y="2240280"/>
            <a:ext cx="5531760" cy="10944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" name="Shape 10"/>
          <p:cNvSpPr/>
          <p:nvPr/>
        </p:nvSpPr>
        <p:spPr>
          <a:xfrm>
            <a:off x="6428160" y="2441520"/>
            <a:ext cx="502560" cy="5025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6" name="Image 1" descr="preencoded.png"/>
          <p:cNvPicPr/>
          <p:nvPr/>
        </p:nvPicPr>
        <p:blipFill>
          <a:blip r:embed="rId2"/>
          <a:stretch/>
        </p:blipFill>
        <p:spPr>
          <a:xfrm>
            <a:off x="6539040" y="2552040"/>
            <a:ext cx="281160" cy="281160"/>
          </a:xfrm>
          <a:prstGeom prst="rect">
            <a:avLst/>
          </a:prstGeom>
          <a:ln w="0">
            <a:noFill/>
          </a:ln>
        </p:spPr>
      </p:pic>
      <p:sp>
        <p:nvSpPr>
          <p:cNvPr id="247" name="Text 11"/>
          <p:cNvSpPr/>
          <p:nvPr/>
        </p:nvSpPr>
        <p:spPr>
          <a:xfrm>
            <a:off x="7040880" y="245052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231F20"/>
                </a:solidFill>
                <a:latin typeface="Open Sans"/>
                <a:ea typeface="Open Sans"/>
              </a:rPr>
              <a:t>Why duplicates happen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Text 12"/>
          <p:cNvSpPr/>
          <p:nvPr/>
        </p:nvSpPr>
        <p:spPr>
          <a:xfrm>
            <a:off x="6428160" y="3017520"/>
            <a:ext cx="5074560" cy="95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3A3536"/>
                </a:solidFill>
                <a:latin typeface="Calibri"/>
                <a:ea typeface="Calibri"/>
              </a:rPr>
              <a:t>A network retry, an agent that re-issues a call it thinks failed, a replayed message, or a queue that delivers twice. In agentic chains these are routine — not edge cases. Without a guard, each duplicate re-executes the action.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Text 13"/>
          <p:cNvSpPr/>
          <p:nvPr/>
        </p:nvSpPr>
        <p:spPr>
          <a:xfrm>
            <a:off x="457200" y="4251960"/>
            <a:ext cx="10058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199">
                <a:solidFill>
                  <a:srgbClr val="8A5A12"/>
                </a:solidFill>
                <a:latin typeface="Calibri"/>
                <a:ea typeface="Calibri"/>
              </a:rPr>
              <a:t>THE SECURITY ISSUES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Shape 14"/>
          <p:cNvSpPr/>
          <p:nvPr/>
        </p:nvSpPr>
        <p:spPr>
          <a:xfrm>
            <a:off x="457200" y="4572000"/>
            <a:ext cx="3520080" cy="1234080"/>
          </a:xfrm>
          <a:prstGeom prst="rect">
            <a:avLst/>
          </a:prstGeom>
          <a:solidFill>
            <a:srgbClr val="FBF1E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Shape 15"/>
          <p:cNvSpPr/>
          <p:nvPr/>
        </p:nvSpPr>
        <p:spPr>
          <a:xfrm>
            <a:off x="457200" y="4572000"/>
            <a:ext cx="91080" cy="1234080"/>
          </a:xfrm>
          <a:prstGeom prst="rect">
            <a:avLst/>
          </a:prstGeom>
          <a:solidFill>
            <a:srgbClr val="B886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" name="Shape 16"/>
          <p:cNvSpPr/>
          <p:nvPr/>
        </p:nvSpPr>
        <p:spPr>
          <a:xfrm>
            <a:off x="685800" y="4754880"/>
            <a:ext cx="456840" cy="4568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3" name="Image 2" descr="preencoded.png"/>
          <p:cNvPicPr/>
          <p:nvPr/>
        </p:nvPicPr>
        <p:blipFill>
          <a:blip r:embed="rId5"/>
          <a:stretch/>
        </p:blipFill>
        <p:spPr>
          <a:xfrm>
            <a:off x="786240" y="485532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254" name="Text 17"/>
          <p:cNvSpPr/>
          <p:nvPr/>
        </p:nvSpPr>
        <p:spPr>
          <a:xfrm>
            <a:off x="1234440" y="4681800"/>
            <a:ext cx="265140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8A5A12"/>
                </a:solidFill>
                <a:latin typeface="Open Sans"/>
                <a:ea typeface="Open Sans"/>
              </a:rPr>
              <a:t>Duplicate state changes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Text 18"/>
          <p:cNvSpPr/>
          <p:nvPr/>
        </p:nvSpPr>
        <p:spPr>
          <a:xfrm>
            <a:off x="713160" y="5257800"/>
            <a:ext cx="31086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8A5A12"/>
                </a:solidFill>
                <a:latin typeface="Calibri"/>
                <a:ea typeface="Calibri"/>
              </a:rPr>
              <a:t>Repeated transfers, double-posted records, doubled orders — direct financial and data-integrity harm.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Shape 19"/>
          <p:cNvSpPr/>
          <p:nvPr/>
        </p:nvSpPr>
        <p:spPr>
          <a:xfrm>
            <a:off x="4251960" y="4572000"/>
            <a:ext cx="3520080" cy="1234080"/>
          </a:xfrm>
          <a:prstGeom prst="rect">
            <a:avLst/>
          </a:prstGeom>
          <a:solidFill>
            <a:srgbClr val="FBF1E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Shape 20"/>
          <p:cNvSpPr/>
          <p:nvPr/>
        </p:nvSpPr>
        <p:spPr>
          <a:xfrm>
            <a:off x="4251960" y="4572000"/>
            <a:ext cx="91080" cy="1234080"/>
          </a:xfrm>
          <a:prstGeom prst="rect">
            <a:avLst/>
          </a:prstGeom>
          <a:solidFill>
            <a:srgbClr val="B886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Shape 21"/>
          <p:cNvSpPr/>
          <p:nvPr/>
        </p:nvSpPr>
        <p:spPr>
          <a:xfrm>
            <a:off x="4480560" y="4754880"/>
            <a:ext cx="456840" cy="4568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9" name="Image 3" descr="preencoded.png"/>
          <p:cNvPicPr/>
          <p:nvPr/>
        </p:nvPicPr>
        <p:blipFill>
          <a:blip r:embed="rId2"/>
          <a:stretch/>
        </p:blipFill>
        <p:spPr>
          <a:xfrm>
            <a:off x="4581000" y="485532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260" name="Text 22"/>
          <p:cNvSpPr/>
          <p:nvPr/>
        </p:nvSpPr>
        <p:spPr>
          <a:xfrm>
            <a:off x="5029200" y="4681800"/>
            <a:ext cx="265140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8A5A12"/>
                </a:solidFill>
                <a:latin typeface="Open Sans"/>
                <a:ea typeface="Open Sans"/>
              </a:rPr>
              <a:t>Replay attacks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Text 23"/>
          <p:cNvSpPr/>
          <p:nvPr/>
        </p:nvSpPr>
        <p:spPr>
          <a:xfrm>
            <a:off x="4507920" y="5257800"/>
            <a:ext cx="31086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8A5A12"/>
                </a:solidFill>
                <a:latin typeface="Calibri"/>
                <a:ea typeface="Calibri"/>
              </a:rPr>
              <a:t>With no idempotency key or nonce, an attacker can resend a captured request and have it executed again.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Shape 24"/>
          <p:cNvSpPr/>
          <p:nvPr/>
        </p:nvSpPr>
        <p:spPr>
          <a:xfrm>
            <a:off x="8046720" y="4572000"/>
            <a:ext cx="3520080" cy="1234080"/>
          </a:xfrm>
          <a:prstGeom prst="rect">
            <a:avLst/>
          </a:prstGeom>
          <a:solidFill>
            <a:srgbClr val="FBF1E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Shape 25"/>
          <p:cNvSpPr/>
          <p:nvPr/>
        </p:nvSpPr>
        <p:spPr>
          <a:xfrm>
            <a:off x="8046720" y="4572000"/>
            <a:ext cx="91080" cy="1234080"/>
          </a:xfrm>
          <a:prstGeom prst="rect">
            <a:avLst/>
          </a:prstGeom>
          <a:solidFill>
            <a:srgbClr val="B886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4" name="Shape 26"/>
          <p:cNvSpPr/>
          <p:nvPr/>
        </p:nvSpPr>
        <p:spPr>
          <a:xfrm>
            <a:off x="8275320" y="4754880"/>
            <a:ext cx="456840" cy="4568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5" name="Image 4" descr="preencoded.png"/>
          <p:cNvPicPr/>
          <p:nvPr/>
        </p:nvPicPr>
        <p:blipFill>
          <a:blip r:embed="rId4"/>
          <a:stretch/>
        </p:blipFill>
        <p:spPr>
          <a:xfrm>
            <a:off x="8375760" y="485532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266" name="Text 27"/>
          <p:cNvSpPr/>
          <p:nvPr/>
        </p:nvSpPr>
        <p:spPr>
          <a:xfrm>
            <a:off x="8823960" y="4681800"/>
            <a:ext cx="265140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8A5A12"/>
                </a:solidFill>
                <a:latin typeface="Open Sans"/>
                <a:ea typeface="Open Sans"/>
              </a:rPr>
              <a:t>Inconsistent state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Text 28"/>
          <p:cNvSpPr/>
          <p:nvPr/>
        </p:nvSpPr>
        <p:spPr>
          <a:xfrm>
            <a:off x="8302680" y="5257800"/>
            <a:ext cx="31086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8A5A12"/>
                </a:solidFill>
                <a:latin typeface="Calibri"/>
                <a:ea typeface="Calibri"/>
              </a:rPr>
              <a:t>Partial re-execution leaves records out of sync, which is hard to detect and harder to unwind after the fact.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Text 29"/>
          <p:cNvSpPr/>
          <p:nvPr/>
        </p:nvSpPr>
        <p:spPr>
          <a:xfrm>
            <a:off x="457200" y="5943600"/>
            <a:ext cx="112467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i="1" strike="noStrike" spc="-1">
                <a:solidFill>
                  <a:srgbClr val="8A8385"/>
                </a:solidFill>
                <a:latin typeface="Calibri"/>
                <a:ea typeface="Calibri"/>
              </a:rPr>
              <a:t>The fix lives below MCP: idempotency keys, nonces with expiry, and dedup at the tool or API layer. The protocol won't do it for you — so it's a design requirement, not an assumption.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Shape 30"/>
          <p:cNvSpPr/>
          <p:nvPr/>
        </p:nvSpPr>
        <p:spPr>
          <a:xfrm>
            <a:off x="0" y="0"/>
            <a:ext cx="12161160" cy="7272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70" name="Image 5" descr="fhb_logo.png"/>
          <p:cNvPicPr/>
          <p:nvPr/>
        </p:nvPicPr>
        <p:blipFill>
          <a:blip r:embed="rId3"/>
          <a:stretch/>
        </p:blipFill>
        <p:spPr>
          <a:xfrm>
            <a:off x="10031040" y="146160"/>
            <a:ext cx="1828440" cy="338040"/>
          </a:xfrm>
          <a:prstGeom prst="rect">
            <a:avLst/>
          </a:prstGeom>
          <a:ln w="0">
            <a:noFill/>
          </a:ln>
        </p:spPr>
      </p:pic>
      <p:sp>
        <p:nvSpPr>
          <p:cNvPr id="271" name="Shape 31"/>
          <p:cNvSpPr/>
          <p:nvPr/>
        </p:nvSpPr>
        <p:spPr>
          <a:xfrm>
            <a:off x="457200" y="6583680"/>
            <a:ext cx="11274120" cy="1980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Shape 32"/>
          <p:cNvSpPr/>
          <p:nvPr/>
        </p:nvSpPr>
        <p:spPr>
          <a:xfrm>
            <a:off x="457200" y="6510600"/>
            <a:ext cx="164160" cy="16416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Text 33"/>
          <p:cNvSpPr/>
          <p:nvPr/>
        </p:nvSpPr>
        <p:spPr>
          <a:xfrm>
            <a:off x="713160" y="64008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MCP Security  ·  Deck 3 of 3  ·  NSA Guidance (May 2026)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Text 34"/>
          <p:cNvSpPr/>
          <p:nvPr/>
        </p:nvSpPr>
        <p:spPr>
          <a:xfrm>
            <a:off x="1115568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9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75" name="Text 0"/>
          <p:cNvSpPr/>
          <p:nvPr/>
        </p:nvSpPr>
        <p:spPr>
          <a:xfrm>
            <a:off x="457200" y="457200"/>
            <a:ext cx="9417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299">
                <a:solidFill>
                  <a:srgbClr val="B8860B"/>
                </a:solidFill>
                <a:latin typeface="Calibri"/>
                <a:ea typeface="Calibri"/>
              </a:rPr>
              <a:t>DESIGN &amp; IMPLEMENTATION CONCERNS · A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Text 1"/>
          <p:cNvSpPr/>
          <p:nvPr/>
        </p:nvSpPr>
        <p:spPr>
          <a:xfrm>
            <a:off x="457200" y="73152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231F20"/>
                </a:solidFill>
                <a:latin typeface="Open Sans"/>
                <a:ea typeface="Open Sans"/>
              </a:rPr>
              <a:t>Approval workflow gaps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Text 2"/>
          <p:cNvSpPr/>
          <p:nvPr/>
        </p:nvSpPr>
        <p:spPr>
          <a:xfrm>
            <a:off x="457200" y="1371600"/>
            <a:ext cx="112467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3A3536"/>
                </a:solidFill>
                <a:latin typeface="Calibri"/>
                <a:ea typeface="Calibri"/>
              </a:rPr>
              <a:t>Even when a server is approved once, its behavior can change later — silently. Users are rarely re-prompted, so a benign tool can quietly become something else.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Shape 3"/>
          <p:cNvSpPr/>
          <p:nvPr/>
        </p:nvSpPr>
        <p:spPr>
          <a:xfrm>
            <a:off x="457200" y="2194560"/>
            <a:ext cx="2605680" cy="237708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Shape 4"/>
          <p:cNvSpPr/>
          <p:nvPr/>
        </p:nvSpPr>
        <p:spPr>
          <a:xfrm>
            <a:off x="685800" y="2423160"/>
            <a:ext cx="502560" cy="502560"/>
          </a:xfrm>
          <a:prstGeom prst="ellipse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" name="Text 5"/>
          <p:cNvSpPr/>
          <p:nvPr/>
        </p:nvSpPr>
        <p:spPr>
          <a:xfrm>
            <a:off x="685800" y="242316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FFFFFF"/>
                </a:solidFill>
                <a:latin typeface="Open Sans"/>
                <a:ea typeface="Open Sans"/>
              </a:rPr>
              <a:t>1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Text 6"/>
          <p:cNvSpPr/>
          <p:nvPr/>
        </p:nvSpPr>
        <p:spPr>
          <a:xfrm>
            <a:off x="685800" y="3063240"/>
            <a:ext cx="21484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strike="noStrike" spc="-1">
                <a:solidFill>
                  <a:srgbClr val="231F20"/>
                </a:solidFill>
                <a:latin typeface="Open Sans"/>
                <a:ea typeface="Open Sans"/>
              </a:rPr>
              <a:t>Approved once</a:t>
            </a:r>
            <a:endParaRPr lang="en-US" sz="15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Text 7"/>
          <p:cNvSpPr/>
          <p:nvPr/>
        </p:nvSpPr>
        <p:spPr>
          <a:xfrm>
            <a:off x="685800" y="3611880"/>
            <a:ext cx="214848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3A3536"/>
                </a:solidFill>
                <a:latin typeface="Calibri"/>
                <a:ea typeface="Calibri"/>
              </a:rPr>
              <a:t>User grants a server access and clicks “allow” on its actions.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Shape 8"/>
          <p:cNvSpPr/>
          <p:nvPr/>
        </p:nvSpPr>
        <p:spPr>
          <a:xfrm>
            <a:off x="3081240" y="3383280"/>
            <a:ext cx="201240" cy="360"/>
          </a:xfrm>
          <a:prstGeom prst="line">
            <a:avLst/>
          </a:prstGeom>
          <a:ln w="25400">
            <a:solidFill>
              <a:srgbClr val="8B0E15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Shape 9"/>
          <p:cNvSpPr/>
          <p:nvPr/>
        </p:nvSpPr>
        <p:spPr>
          <a:xfrm>
            <a:off x="3291840" y="2194560"/>
            <a:ext cx="2605680" cy="237708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Shape 10"/>
          <p:cNvSpPr/>
          <p:nvPr/>
        </p:nvSpPr>
        <p:spPr>
          <a:xfrm>
            <a:off x="3520440" y="2423160"/>
            <a:ext cx="502560" cy="502560"/>
          </a:xfrm>
          <a:prstGeom prst="ellipse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" name="Text 11"/>
          <p:cNvSpPr/>
          <p:nvPr/>
        </p:nvSpPr>
        <p:spPr>
          <a:xfrm>
            <a:off x="3520440" y="242316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FFFFFF"/>
                </a:solidFill>
                <a:latin typeface="Open Sans"/>
                <a:ea typeface="Open Sans"/>
              </a:rPr>
              <a:t>2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Text 12"/>
          <p:cNvSpPr/>
          <p:nvPr/>
        </p:nvSpPr>
        <p:spPr>
          <a:xfrm>
            <a:off x="3520440" y="3063240"/>
            <a:ext cx="21484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strike="noStrike" spc="-1">
                <a:solidFill>
                  <a:srgbClr val="231F20"/>
                </a:solidFill>
                <a:latin typeface="Open Sans"/>
                <a:ea typeface="Open Sans"/>
              </a:rPr>
              <a:t>Behavior changes</a:t>
            </a:r>
            <a:endParaRPr lang="en-US" sz="15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Text 13"/>
          <p:cNvSpPr/>
          <p:nvPr/>
        </p:nvSpPr>
        <p:spPr>
          <a:xfrm>
            <a:off x="3520440" y="3611880"/>
            <a:ext cx="214848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3A3536"/>
                </a:solidFill>
                <a:latin typeface="Calibri"/>
                <a:ea typeface="Calibri"/>
              </a:rPr>
              <a:t>The server adds a capability or new data access — no re-approval is required.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Shape 14"/>
          <p:cNvSpPr/>
          <p:nvPr/>
        </p:nvSpPr>
        <p:spPr>
          <a:xfrm>
            <a:off x="5915880" y="3383280"/>
            <a:ext cx="201240" cy="360"/>
          </a:xfrm>
          <a:prstGeom prst="line">
            <a:avLst/>
          </a:prstGeom>
          <a:ln w="25400">
            <a:solidFill>
              <a:srgbClr val="8B0E15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Shape 15"/>
          <p:cNvSpPr/>
          <p:nvPr/>
        </p:nvSpPr>
        <p:spPr>
          <a:xfrm>
            <a:off x="6126480" y="2194560"/>
            <a:ext cx="2605680" cy="237708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Shape 16"/>
          <p:cNvSpPr/>
          <p:nvPr/>
        </p:nvSpPr>
        <p:spPr>
          <a:xfrm>
            <a:off x="6355080" y="2423160"/>
            <a:ext cx="502560" cy="502560"/>
          </a:xfrm>
          <a:prstGeom prst="ellipse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2" name="Text 17"/>
          <p:cNvSpPr/>
          <p:nvPr/>
        </p:nvSpPr>
        <p:spPr>
          <a:xfrm>
            <a:off x="6355080" y="242316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FFFFFF"/>
                </a:solidFill>
                <a:latin typeface="Open Sans"/>
                <a:ea typeface="Open Sans"/>
              </a:rPr>
              <a:t>3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Text 18"/>
          <p:cNvSpPr/>
          <p:nvPr/>
        </p:nvSpPr>
        <p:spPr>
          <a:xfrm>
            <a:off x="6355080" y="3063240"/>
            <a:ext cx="21484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strike="noStrike" spc="-1">
                <a:solidFill>
                  <a:srgbClr val="231F20"/>
                </a:solidFill>
                <a:latin typeface="Open Sans"/>
                <a:ea typeface="Open Sans"/>
              </a:rPr>
              <a:t>No informed consent</a:t>
            </a:r>
            <a:endParaRPr lang="en-US" sz="15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Text 19"/>
          <p:cNvSpPr/>
          <p:nvPr/>
        </p:nvSpPr>
        <p:spPr>
          <a:xfrm>
            <a:off x="6355080" y="3611880"/>
            <a:ext cx="214848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3A3536"/>
                </a:solidFill>
                <a:latin typeface="Calibri"/>
                <a:ea typeface="Calibri"/>
              </a:rPr>
              <a:t>The user is never prompted to accept the change, benign or not.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Shape 20"/>
          <p:cNvSpPr/>
          <p:nvPr/>
        </p:nvSpPr>
        <p:spPr>
          <a:xfrm>
            <a:off x="8750520" y="3383280"/>
            <a:ext cx="201240" cy="360"/>
          </a:xfrm>
          <a:prstGeom prst="line">
            <a:avLst/>
          </a:prstGeom>
          <a:ln w="25400">
            <a:solidFill>
              <a:srgbClr val="8B0E15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Shape 21"/>
          <p:cNvSpPr/>
          <p:nvPr/>
        </p:nvSpPr>
        <p:spPr>
          <a:xfrm>
            <a:off x="8961120" y="2194560"/>
            <a:ext cx="2605680" cy="2377080"/>
          </a:xfrm>
          <a:prstGeom prst="rect">
            <a:avLst/>
          </a:prstGeom>
          <a:solidFill>
            <a:srgbClr val="FBF1E3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Shape 22"/>
          <p:cNvSpPr/>
          <p:nvPr/>
        </p:nvSpPr>
        <p:spPr>
          <a:xfrm>
            <a:off x="9189720" y="2423160"/>
            <a:ext cx="502560" cy="502560"/>
          </a:xfrm>
          <a:prstGeom prst="ellipse">
            <a:avLst/>
          </a:prstGeom>
          <a:solidFill>
            <a:srgbClr val="B886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8" name="Text 23"/>
          <p:cNvSpPr/>
          <p:nvPr/>
        </p:nvSpPr>
        <p:spPr>
          <a:xfrm>
            <a:off x="9189720" y="242316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FFFFFF"/>
                </a:solidFill>
                <a:latin typeface="Open Sans"/>
                <a:ea typeface="Open Sans"/>
              </a:rPr>
              <a:t>4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Text 24"/>
          <p:cNvSpPr/>
          <p:nvPr/>
        </p:nvSpPr>
        <p:spPr>
          <a:xfrm>
            <a:off x="9189720" y="3063240"/>
            <a:ext cx="21484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strike="noStrike" spc="-1">
                <a:solidFill>
                  <a:srgbClr val="8A5A12"/>
                </a:solidFill>
                <a:latin typeface="Open Sans"/>
                <a:ea typeface="Open Sans"/>
              </a:rPr>
              <a:t>Quietly elevated</a:t>
            </a:r>
            <a:endParaRPr lang="en-US" sz="15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Text 25"/>
          <p:cNvSpPr/>
          <p:nvPr/>
        </p:nvSpPr>
        <p:spPr>
          <a:xfrm>
            <a:off x="9189720" y="3611880"/>
            <a:ext cx="214848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8A5A12"/>
                </a:solidFill>
                <a:latin typeface="Calibri"/>
                <a:ea typeface="Calibri"/>
              </a:rPr>
              <a:t>A previously benign service can now reach sensitive resources on demand.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Text 26"/>
          <p:cNvSpPr/>
          <p:nvPr/>
        </p:nvSpPr>
        <p:spPr>
          <a:xfrm>
            <a:off x="457200" y="4846320"/>
            <a:ext cx="11246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strike="noStrike" spc="-1">
                <a:solidFill>
                  <a:srgbClr val="8A8385"/>
                </a:solidFill>
                <a:latin typeface="Calibri"/>
                <a:ea typeface="Calibri"/>
              </a:rPr>
              <a:t>The change can be a legitimate background improvement — or a deliberate switch flipped after trust was earned. The workflow can't tell the difference.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Shape 27"/>
          <p:cNvSpPr/>
          <p:nvPr/>
        </p:nvSpPr>
        <p:spPr>
          <a:xfrm>
            <a:off x="0" y="0"/>
            <a:ext cx="12161160" cy="7272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03" name="Image 0" descr="fhb_logo.png"/>
          <p:cNvPicPr/>
          <p:nvPr/>
        </p:nvPicPr>
        <p:blipFill>
          <a:blip r:embed="rId2"/>
          <a:stretch/>
        </p:blipFill>
        <p:spPr>
          <a:xfrm>
            <a:off x="10031040" y="146160"/>
            <a:ext cx="1828440" cy="338040"/>
          </a:xfrm>
          <a:prstGeom prst="rect">
            <a:avLst/>
          </a:prstGeom>
          <a:ln w="0">
            <a:noFill/>
          </a:ln>
        </p:spPr>
      </p:pic>
      <p:sp>
        <p:nvSpPr>
          <p:cNvPr id="304" name="Shape 28"/>
          <p:cNvSpPr/>
          <p:nvPr/>
        </p:nvSpPr>
        <p:spPr>
          <a:xfrm>
            <a:off x="457200" y="6583680"/>
            <a:ext cx="11274120" cy="1980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Shape 29"/>
          <p:cNvSpPr/>
          <p:nvPr/>
        </p:nvSpPr>
        <p:spPr>
          <a:xfrm>
            <a:off x="457200" y="6510600"/>
            <a:ext cx="164160" cy="16416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6" name="Text 30"/>
          <p:cNvSpPr/>
          <p:nvPr/>
        </p:nvSpPr>
        <p:spPr>
          <a:xfrm>
            <a:off x="713160" y="64008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MCP Security  ·  Deck 3 of 3  ·  NSA Guidance (May 2026)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Text 31"/>
          <p:cNvSpPr/>
          <p:nvPr/>
        </p:nvSpPr>
        <p:spPr>
          <a:xfrm>
            <a:off x="1115568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10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8" name="Text 0"/>
          <p:cNvSpPr/>
          <p:nvPr/>
        </p:nvSpPr>
        <p:spPr>
          <a:xfrm>
            <a:off x="457200" y="457200"/>
            <a:ext cx="9417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299">
                <a:solidFill>
                  <a:srgbClr val="B8860B"/>
                </a:solidFill>
                <a:latin typeface="Calibri"/>
                <a:ea typeface="Calibri"/>
              </a:rPr>
              <a:t>DESIGN &amp; IMPLEMENTATION CONCERNS · A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Text 1"/>
          <p:cNvSpPr/>
          <p:nvPr/>
        </p:nvSpPr>
        <p:spPr>
          <a:xfrm>
            <a:off x="457200" y="73152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231F20"/>
                </a:solidFill>
                <a:latin typeface="Open Sans"/>
                <a:ea typeface="Open Sans"/>
              </a:rPr>
              <a:t>Operational gaps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Text 2"/>
          <p:cNvSpPr/>
          <p:nvPr/>
        </p:nvSpPr>
        <p:spPr>
          <a:xfrm>
            <a:off x="457200" y="1371600"/>
            <a:ext cx="11246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3A3536"/>
                </a:solidFill>
                <a:latin typeface="Calibri"/>
                <a:ea typeface="Calibri"/>
              </a:rPr>
              <a:t>Four more weaknesses that show up once MCP is actually running in production.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Shape 3"/>
          <p:cNvSpPr/>
          <p:nvPr/>
        </p:nvSpPr>
        <p:spPr>
          <a:xfrm>
            <a:off x="457200" y="2057400"/>
            <a:ext cx="5531760" cy="173700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Shape 4"/>
          <p:cNvSpPr/>
          <p:nvPr/>
        </p:nvSpPr>
        <p:spPr>
          <a:xfrm>
            <a:off x="457200" y="2057400"/>
            <a:ext cx="91080" cy="1737000"/>
          </a:xfrm>
          <a:prstGeom prst="rect">
            <a:avLst/>
          </a:prstGeom>
          <a:solidFill>
            <a:srgbClr val="B886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3" name="Shape 5"/>
          <p:cNvSpPr/>
          <p:nvPr/>
        </p:nvSpPr>
        <p:spPr>
          <a:xfrm>
            <a:off x="731520" y="2331720"/>
            <a:ext cx="502560" cy="5025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4" name="Image 0" descr="preencoded.png"/>
          <p:cNvPicPr/>
          <p:nvPr/>
        </p:nvPicPr>
        <p:blipFill>
          <a:blip r:embed="rId2"/>
          <a:stretch/>
        </p:blipFill>
        <p:spPr>
          <a:xfrm>
            <a:off x="842040" y="2442240"/>
            <a:ext cx="281160" cy="281160"/>
          </a:xfrm>
          <a:prstGeom prst="rect">
            <a:avLst/>
          </a:prstGeom>
          <a:ln w="0">
            <a:noFill/>
          </a:ln>
        </p:spPr>
      </p:pic>
      <p:sp>
        <p:nvSpPr>
          <p:cNvPr id="315" name="Text 6"/>
          <p:cNvSpPr/>
          <p:nvPr/>
        </p:nvSpPr>
        <p:spPr>
          <a:xfrm>
            <a:off x="1417320" y="2331720"/>
            <a:ext cx="4388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strike="noStrike" spc="-1">
                <a:solidFill>
                  <a:srgbClr val="231F20"/>
                </a:solidFill>
                <a:latin typeface="Open Sans"/>
                <a:ea typeface="Open Sans"/>
              </a:rPr>
              <a:t>Weak isolation</a:t>
            </a:r>
            <a:endParaRPr lang="en-US" sz="16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Text 7"/>
          <p:cNvSpPr/>
          <p:nvPr/>
        </p:nvSpPr>
        <p:spPr>
          <a:xfrm>
            <a:off x="731520" y="2926080"/>
            <a:ext cx="502884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3A3536"/>
                </a:solidFill>
                <a:latin typeface="Calibri"/>
                <a:ea typeface="Calibri"/>
              </a:rPr>
              <a:t>A trivial server (say, weather lookup) deployed without limits can be repurposed to reach sensitive data. Servers often lack task or data isolation.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Shape 8"/>
          <p:cNvSpPr/>
          <p:nvPr/>
        </p:nvSpPr>
        <p:spPr>
          <a:xfrm>
            <a:off x="6172200" y="2057400"/>
            <a:ext cx="5531760" cy="173700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Shape 9"/>
          <p:cNvSpPr/>
          <p:nvPr/>
        </p:nvSpPr>
        <p:spPr>
          <a:xfrm>
            <a:off x="6172200" y="2057400"/>
            <a:ext cx="91080" cy="1737000"/>
          </a:xfrm>
          <a:prstGeom prst="rect">
            <a:avLst/>
          </a:prstGeom>
          <a:solidFill>
            <a:srgbClr val="B886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9" name="Shape 10"/>
          <p:cNvSpPr/>
          <p:nvPr/>
        </p:nvSpPr>
        <p:spPr>
          <a:xfrm>
            <a:off x="6446520" y="2331720"/>
            <a:ext cx="502560" cy="5025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0" name="Image 1" descr="preencoded.png"/>
          <p:cNvPicPr/>
          <p:nvPr/>
        </p:nvPicPr>
        <p:blipFill>
          <a:blip r:embed="rId6"/>
          <a:stretch/>
        </p:blipFill>
        <p:spPr>
          <a:xfrm>
            <a:off x="6557040" y="2442240"/>
            <a:ext cx="281160" cy="281160"/>
          </a:xfrm>
          <a:prstGeom prst="rect">
            <a:avLst/>
          </a:prstGeom>
          <a:ln w="0">
            <a:noFill/>
          </a:ln>
        </p:spPr>
      </p:pic>
      <p:sp>
        <p:nvSpPr>
          <p:cNvPr id="321" name="Text 11"/>
          <p:cNvSpPr/>
          <p:nvPr/>
        </p:nvSpPr>
        <p:spPr>
          <a:xfrm>
            <a:off x="7132320" y="2331720"/>
            <a:ext cx="4388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strike="noStrike" spc="-1">
                <a:solidFill>
                  <a:srgbClr val="231F20"/>
                </a:solidFill>
                <a:latin typeface="Open Sans"/>
                <a:ea typeface="Open Sans"/>
              </a:rPr>
              <a:t>Inconsistent behavior</a:t>
            </a:r>
            <a:endParaRPr lang="en-US" sz="16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Text 12"/>
          <p:cNvSpPr/>
          <p:nvPr/>
        </p:nvSpPr>
        <p:spPr>
          <a:xfrm>
            <a:off x="6446520" y="2926080"/>
            <a:ext cx="502884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3A3536"/>
                </a:solidFill>
                <a:latin typeface="Calibri"/>
                <a:ea typeface="Calibri"/>
              </a:rPr>
              <a:t>Implementations interpret context and messages differently. Non-deterministic outcomes create blind spots an attacker can precondition.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Shape 13"/>
          <p:cNvSpPr/>
          <p:nvPr/>
        </p:nvSpPr>
        <p:spPr>
          <a:xfrm>
            <a:off x="457200" y="4023360"/>
            <a:ext cx="5531760" cy="173700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Shape 14"/>
          <p:cNvSpPr/>
          <p:nvPr/>
        </p:nvSpPr>
        <p:spPr>
          <a:xfrm>
            <a:off x="457200" y="4023360"/>
            <a:ext cx="91080" cy="1737000"/>
          </a:xfrm>
          <a:prstGeom prst="rect">
            <a:avLst/>
          </a:prstGeom>
          <a:solidFill>
            <a:srgbClr val="B886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5" name="Shape 15"/>
          <p:cNvSpPr/>
          <p:nvPr/>
        </p:nvSpPr>
        <p:spPr>
          <a:xfrm>
            <a:off x="731520" y="4297680"/>
            <a:ext cx="502560" cy="5025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6" name="Image 2" descr="preencoded.png"/>
          <p:cNvPicPr/>
          <p:nvPr/>
        </p:nvPicPr>
        <p:blipFill>
          <a:blip r:embed="rId5"/>
          <a:stretch/>
        </p:blipFill>
        <p:spPr>
          <a:xfrm>
            <a:off x="842040" y="4408200"/>
            <a:ext cx="281160" cy="281160"/>
          </a:xfrm>
          <a:prstGeom prst="rect">
            <a:avLst/>
          </a:prstGeom>
          <a:ln w="0">
            <a:noFill/>
          </a:ln>
        </p:spPr>
      </p:pic>
      <p:sp>
        <p:nvSpPr>
          <p:cNvPr id="327" name="Text 16"/>
          <p:cNvSpPr/>
          <p:nvPr/>
        </p:nvSpPr>
        <p:spPr>
          <a:xfrm>
            <a:off x="1417320" y="4297680"/>
            <a:ext cx="4388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strike="noStrike" spc="-1">
                <a:solidFill>
                  <a:srgbClr val="231F20"/>
                </a:solidFill>
                <a:latin typeface="Open Sans"/>
                <a:ea typeface="Open Sans"/>
              </a:rPr>
              <a:t>Poor audit logs</a:t>
            </a:r>
            <a:endParaRPr lang="en-US" sz="16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Text 17"/>
          <p:cNvSpPr/>
          <p:nvPr/>
        </p:nvSpPr>
        <p:spPr>
          <a:xfrm>
            <a:off x="731520" y="4892040"/>
            <a:ext cx="502884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3A3536"/>
                </a:solidFill>
                <a:latin typeface="Calibri"/>
                <a:ea typeface="Calibri"/>
              </a:rPr>
              <a:t>Many implementations log little or nothing. Without a traceable action sequence, incident response and accountability collapse.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Shape 18"/>
          <p:cNvSpPr/>
          <p:nvPr/>
        </p:nvSpPr>
        <p:spPr>
          <a:xfrm>
            <a:off x="6172200" y="4023360"/>
            <a:ext cx="5531760" cy="173700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Shape 19"/>
          <p:cNvSpPr/>
          <p:nvPr/>
        </p:nvSpPr>
        <p:spPr>
          <a:xfrm>
            <a:off x="6172200" y="4023360"/>
            <a:ext cx="91080" cy="1737000"/>
          </a:xfrm>
          <a:prstGeom prst="rect">
            <a:avLst/>
          </a:prstGeom>
          <a:solidFill>
            <a:srgbClr val="B886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1" name="Shape 20"/>
          <p:cNvSpPr/>
          <p:nvPr/>
        </p:nvSpPr>
        <p:spPr>
          <a:xfrm>
            <a:off x="6446520" y="4297680"/>
            <a:ext cx="502560" cy="5025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2" name="Image 3" descr="preencoded.png"/>
          <p:cNvPicPr/>
          <p:nvPr/>
        </p:nvPicPr>
        <p:blipFill>
          <a:blip r:embed="rId4"/>
          <a:stretch/>
        </p:blipFill>
        <p:spPr>
          <a:xfrm>
            <a:off x="6557040" y="4408200"/>
            <a:ext cx="281160" cy="281160"/>
          </a:xfrm>
          <a:prstGeom prst="rect">
            <a:avLst/>
          </a:prstGeom>
          <a:ln w="0">
            <a:noFill/>
          </a:ln>
        </p:spPr>
      </p:pic>
      <p:sp>
        <p:nvSpPr>
          <p:cNvPr id="333" name="Text 21"/>
          <p:cNvSpPr/>
          <p:nvPr/>
        </p:nvSpPr>
        <p:spPr>
          <a:xfrm>
            <a:off x="7132320" y="4297680"/>
            <a:ext cx="4388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strike="noStrike" spc="-1">
                <a:solidFill>
                  <a:srgbClr val="231F20"/>
                </a:solidFill>
                <a:latin typeface="Open Sans"/>
                <a:ea typeface="Open Sans"/>
              </a:rPr>
              <a:t>DoS &amp; fatigue</a:t>
            </a:r>
            <a:endParaRPr lang="en-US" sz="16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Text 22"/>
          <p:cNvSpPr/>
          <p:nvPr/>
        </p:nvSpPr>
        <p:spPr>
          <a:xfrm>
            <a:off x="6446520" y="4892040"/>
            <a:ext cx="502884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3A3536"/>
                </a:solidFill>
                <a:latin typeface="Calibri"/>
                <a:ea typeface="Calibri"/>
              </a:rPr>
              <a:t>Prompt storms, malformed inputs, or “lethargy” — overly complex but legitimate tasks — can exhaust resources and stall the workflow.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Shape 23"/>
          <p:cNvSpPr/>
          <p:nvPr/>
        </p:nvSpPr>
        <p:spPr>
          <a:xfrm>
            <a:off x="0" y="0"/>
            <a:ext cx="12161160" cy="7272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36" name="Image 4" descr="fhb_logo.png"/>
          <p:cNvPicPr/>
          <p:nvPr/>
        </p:nvPicPr>
        <p:blipFill>
          <a:blip r:embed="rId3"/>
          <a:stretch/>
        </p:blipFill>
        <p:spPr>
          <a:xfrm>
            <a:off x="10031040" y="146160"/>
            <a:ext cx="1828440" cy="338040"/>
          </a:xfrm>
          <a:prstGeom prst="rect">
            <a:avLst/>
          </a:prstGeom>
          <a:ln w="0">
            <a:noFill/>
          </a:ln>
        </p:spPr>
      </p:pic>
      <p:sp>
        <p:nvSpPr>
          <p:cNvPr id="337" name="Shape 24"/>
          <p:cNvSpPr/>
          <p:nvPr/>
        </p:nvSpPr>
        <p:spPr>
          <a:xfrm>
            <a:off x="457200" y="6583680"/>
            <a:ext cx="11274120" cy="1980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Shape 25"/>
          <p:cNvSpPr/>
          <p:nvPr/>
        </p:nvSpPr>
        <p:spPr>
          <a:xfrm>
            <a:off x="457200" y="6510600"/>
            <a:ext cx="164160" cy="16416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9" name="Text 26"/>
          <p:cNvSpPr/>
          <p:nvPr/>
        </p:nvSpPr>
        <p:spPr>
          <a:xfrm>
            <a:off x="713160" y="64008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MCP Security  ·  Deck 3 of 3  ·  NSA Guidance (May 2026)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Text 27"/>
          <p:cNvSpPr/>
          <p:nvPr/>
        </p:nvSpPr>
        <p:spPr>
          <a:xfrm>
            <a:off x="1115568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11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41" name="Text 0"/>
          <p:cNvSpPr/>
          <p:nvPr/>
        </p:nvSpPr>
        <p:spPr>
          <a:xfrm>
            <a:off x="457200" y="457200"/>
            <a:ext cx="9417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299">
                <a:solidFill>
                  <a:srgbClr val="B8860B"/>
                </a:solidFill>
                <a:latin typeface="Calibri"/>
                <a:ea typeface="Calibri"/>
              </a:rPr>
              <a:t>THIS IS NOT HYPOTHETICAL · B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Text 1"/>
          <p:cNvSpPr/>
          <p:nvPr/>
        </p:nvSpPr>
        <p:spPr>
          <a:xfrm>
            <a:off x="457200" y="73152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231F20"/>
                </a:solidFill>
                <a:latin typeface="Open Sans"/>
                <a:ea typeface="Open Sans"/>
              </a:rPr>
              <a:t>Demonstrated exploits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Text 2"/>
          <p:cNvSpPr/>
          <p:nvPr/>
        </p:nvSpPr>
        <p:spPr>
          <a:xfrm>
            <a:off x="457200" y="1325880"/>
            <a:ext cx="11246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strike="noStrike" spc="-1">
                <a:solidFill>
                  <a:srgbClr val="3A3536"/>
                </a:solidFill>
                <a:latin typeface="Calibri"/>
                <a:ea typeface="Calibri"/>
              </a:rPr>
              <a:t>Researchers have already shown these in the wild. The throughline: legitimate functionality manipulated, implicit trust abused.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Shape 3"/>
          <p:cNvSpPr/>
          <p:nvPr/>
        </p:nvSpPr>
        <p:spPr>
          <a:xfrm>
            <a:off x="457200" y="1965960"/>
            <a:ext cx="3520080" cy="164556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Shape 4"/>
          <p:cNvSpPr/>
          <p:nvPr/>
        </p:nvSpPr>
        <p:spPr>
          <a:xfrm>
            <a:off x="685800" y="2194560"/>
            <a:ext cx="456840" cy="4568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46" name="Image 0" descr="preencoded.png"/>
          <p:cNvPicPr/>
          <p:nvPr/>
        </p:nvPicPr>
        <p:blipFill>
          <a:blip r:embed="rId3"/>
          <a:stretch/>
        </p:blipFill>
        <p:spPr>
          <a:xfrm>
            <a:off x="786240" y="229500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347" name="Text 5"/>
          <p:cNvSpPr/>
          <p:nvPr/>
        </p:nvSpPr>
        <p:spPr>
          <a:xfrm>
            <a:off x="1280160" y="2167200"/>
            <a:ext cx="25599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strike="noStrike" spc="-1">
                <a:solidFill>
                  <a:srgbClr val="231F20"/>
                </a:solidFill>
                <a:latin typeface="Open Sans"/>
                <a:ea typeface="Open Sans"/>
              </a:rPr>
              <a:t>Tool parameter injection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Text 6"/>
          <p:cNvSpPr/>
          <p:nvPr/>
        </p:nvSpPr>
        <p:spPr>
          <a:xfrm>
            <a:off x="713160" y="2743200"/>
            <a:ext cx="30628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3A3536"/>
                </a:solidFill>
                <a:latin typeface="Calibri"/>
                <a:ea typeface="Calibri"/>
              </a:rPr>
              <a:t>Unsanitized parameters in malformed messages reached execution — arbitrary commands via a legitimate interface.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Shape 7"/>
          <p:cNvSpPr/>
          <p:nvPr/>
        </p:nvSpPr>
        <p:spPr>
          <a:xfrm>
            <a:off x="4251960" y="1965960"/>
            <a:ext cx="3520080" cy="164556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Shape 8"/>
          <p:cNvSpPr/>
          <p:nvPr/>
        </p:nvSpPr>
        <p:spPr>
          <a:xfrm>
            <a:off x="4480560" y="2194560"/>
            <a:ext cx="456840" cy="4568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51" name="Image 1" descr="preencoded.png"/>
          <p:cNvPicPr/>
          <p:nvPr/>
        </p:nvPicPr>
        <p:blipFill>
          <a:blip r:embed="rId7"/>
          <a:stretch/>
        </p:blipFill>
        <p:spPr>
          <a:xfrm>
            <a:off x="4581000" y="229500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352" name="Text 9"/>
          <p:cNvSpPr/>
          <p:nvPr/>
        </p:nvSpPr>
        <p:spPr>
          <a:xfrm>
            <a:off x="5074920" y="2167200"/>
            <a:ext cx="25599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strike="noStrike" spc="-1">
                <a:solidFill>
                  <a:srgbClr val="231F20"/>
                </a:solidFill>
                <a:latin typeface="Open Sans"/>
                <a:ea typeface="Open Sans"/>
              </a:rPr>
              <a:t>Tool-name collision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Text 10"/>
          <p:cNvSpPr/>
          <p:nvPr/>
        </p:nvSpPr>
        <p:spPr>
          <a:xfrm>
            <a:off x="4507920" y="2743200"/>
            <a:ext cx="30628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3A3536"/>
                </a:solidFill>
                <a:latin typeface="Calibri"/>
                <a:ea typeface="Calibri"/>
              </a:rPr>
              <a:t>Similarly-named tools from different sources resolve unpredictably; an attacker's code loads in place of the real tool.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Shape 11"/>
          <p:cNvSpPr/>
          <p:nvPr/>
        </p:nvSpPr>
        <p:spPr>
          <a:xfrm>
            <a:off x="8046720" y="1965960"/>
            <a:ext cx="3520080" cy="164556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Shape 12"/>
          <p:cNvSpPr/>
          <p:nvPr/>
        </p:nvSpPr>
        <p:spPr>
          <a:xfrm>
            <a:off x="8275320" y="2194560"/>
            <a:ext cx="456840" cy="4568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56" name="Image 2" descr="preencoded.png"/>
          <p:cNvPicPr/>
          <p:nvPr/>
        </p:nvPicPr>
        <p:blipFill>
          <a:blip r:embed="rId6"/>
          <a:stretch/>
        </p:blipFill>
        <p:spPr>
          <a:xfrm>
            <a:off x="8375760" y="229500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357" name="Text 13"/>
          <p:cNvSpPr/>
          <p:nvPr/>
        </p:nvSpPr>
        <p:spPr>
          <a:xfrm>
            <a:off x="8869680" y="2167200"/>
            <a:ext cx="25599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strike="noStrike" spc="-1">
                <a:solidFill>
                  <a:srgbClr val="231F20"/>
                </a:solidFill>
                <a:latin typeface="Open Sans"/>
                <a:ea typeface="Open Sans"/>
              </a:rPr>
              <a:t>GitHub MCP over-reach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Text 14"/>
          <p:cNvSpPr/>
          <p:nvPr/>
        </p:nvSpPr>
        <p:spPr>
          <a:xfrm>
            <a:off x="8302680" y="2743200"/>
            <a:ext cx="30628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3A3536"/>
                </a:solidFill>
                <a:latin typeface="Calibri"/>
                <a:ea typeface="Calibri"/>
              </a:rPr>
              <a:t>Blanket repo access let compromised tools read private repos and publish their contents to public ones.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Shape 15"/>
          <p:cNvSpPr/>
          <p:nvPr/>
        </p:nvSpPr>
        <p:spPr>
          <a:xfrm>
            <a:off x="457200" y="3794760"/>
            <a:ext cx="3520080" cy="164556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Shape 16"/>
          <p:cNvSpPr/>
          <p:nvPr/>
        </p:nvSpPr>
        <p:spPr>
          <a:xfrm>
            <a:off x="685800" y="4023360"/>
            <a:ext cx="456840" cy="4568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61" name="Image 3" descr="preencoded.png"/>
          <p:cNvPicPr/>
          <p:nvPr/>
        </p:nvPicPr>
        <p:blipFill>
          <a:blip r:embed="rId5"/>
          <a:stretch/>
        </p:blipFill>
        <p:spPr>
          <a:xfrm>
            <a:off x="786240" y="412380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362" name="Text 17"/>
          <p:cNvSpPr/>
          <p:nvPr/>
        </p:nvSpPr>
        <p:spPr>
          <a:xfrm>
            <a:off x="1280160" y="3996000"/>
            <a:ext cx="25599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strike="noStrike" spc="-1">
                <a:solidFill>
                  <a:srgbClr val="231F20"/>
                </a:solidFill>
                <a:latin typeface="Open Sans"/>
                <a:ea typeface="Open Sans"/>
              </a:rPr>
              <a:t>WhatsApp exfiltration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Text 18"/>
          <p:cNvSpPr/>
          <p:nvPr/>
        </p:nvSpPr>
        <p:spPr>
          <a:xfrm>
            <a:off x="713160" y="4572000"/>
            <a:ext cx="30628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3A3536"/>
                </a:solidFill>
                <a:latin typeface="Calibri"/>
                <a:ea typeface="Calibri"/>
              </a:rPr>
              <a:t>A co-connected malicious server coerced the client into leaking message history — benign at install, malicious later.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Shape 19"/>
          <p:cNvSpPr/>
          <p:nvPr/>
        </p:nvSpPr>
        <p:spPr>
          <a:xfrm>
            <a:off x="4251960" y="3794760"/>
            <a:ext cx="3520080" cy="164556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Shape 20"/>
          <p:cNvSpPr/>
          <p:nvPr/>
        </p:nvSpPr>
        <p:spPr>
          <a:xfrm>
            <a:off x="4480560" y="4023360"/>
            <a:ext cx="456840" cy="4568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66" name="Image 4" descr="preencoded.png"/>
          <p:cNvPicPr/>
          <p:nvPr/>
        </p:nvPicPr>
        <p:blipFill>
          <a:blip r:embed="rId7"/>
          <a:stretch/>
        </p:blipFill>
        <p:spPr>
          <a:xfrm>
            <a:off x="4581000" y="412380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367" name="Text 21"/>
          <p:cNvSpPr/>
          <p:nvPr/>
        </p:nvSpPr>
        <p:spPr>
          <a:xfrm>
            <a:off x="5074920" y="3996000"/>
            <a:ext cx="25599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strike="noStrike" spc="-1">
                <a:solidFill>
                  <a:srgbClr val="231F20"/>
                </a:solidFill>
                <a:latin typeface="Open Sans"/>
                <a:ea typeface="Open Sans"/>
              </a:rPr>
              <a:t>Output poisoning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Text 22"/>
          <p:cNvSpPr/>
          <p:nvPr/>
        </p:nvSpPr>
        <p:spPr>
          <a:xfrm>
            <a:off x="4507920" y="4572000"/>
            <a:ext cx="30628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3A3536"/>
                </a:solidFill>
                <a:latin typeface="Calibri"/>
                <a:ea typeface="Calibri"/>
              </a:rPr>
              <a:t>One agent's output, blindly trusted downstream, carries hidden instructions that hijack the next agent.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Shape 23"/>
          <p:cNvSpPr/>
          <p:nvPr/>
        </p:nvSpPr>
        <p:spPr>
          <a:xfrm>
            <a:off x="8046720" y="3794760"/>
            <a:ext cx="3520080" cy="164556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Shape 24"/>
          <p:cNvSpPr/>
          <p:nvPr/>
        </p:nvSpPr>
        <p:spPr>
          <a:xfrm>
            <a:off x="8275320" y="4023360"/>
            <a:ext cx="456840" cy="4568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1" name="Image 5" descr="preencoded.png"/>
          <p:cNvPicPr/>
          <p:nvPr/>
        </p:nvPicPr>
        <p:blipFill>
          <a:blip r:embed="rId4"/>
          <a:stretch/>
        </p:blipFill>
        <p:spPr>
          <a:xfrm>
            <a:off x="8375760" y="412380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372" name="Text 25"/>
          <p:cNvSpPr/>
          <p:nvPr/>
        </p:nvSpPr>
        <p:spPr>
          <a:xfrm>
            <a:off x="8869680" y="3996000"/>
            <a:ext cx="25599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strike="noStrike" spc="-1">
                <a:solidFill>
                  <a:srgbClr val="231F20"/>
                </a:solidFill>
                <a:latin typeface="Open Sans"/>
                <a:ea typeface="Open Sans"/>
              </a:rPr>
              <a:t>MCP-Inspector RCE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Text 26"/>
          <p:cNvSpPr/>
          <p:nvPr/>
        </p:nvSpPr>
        <p:spPr>
          <a:xfrm>
            <a:off x="8302680" y="4572000"/>
            <a:ext cx="30628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3A3536"/>
                </a:solidFill>
                <a:latin typeface="Calibri"/>
                <a:ea typeface="Calibri"/>
              </a:rPr>
              <a:t>CVE-2025-49596: crafted messages triggered remote code execution in the testing tool.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Shape 27"/>
          <p:cNvSpPr/>
          <p:nvPr/>
        </p:nvSpPr>
        <p:spPr>
          <a:xfrm>
            <a:off x="457200" y="5669280"/>
            <a:ext cx="11246760" cy="502560"/>
          </a:xfrm>
          <a:prstGeom prst="rect">
            <a:avLst/>
          </a:prstGeom>
          <a:solidFill>
            <a:srgbClr val="E3EEE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Text 28"/>
          <p:cNvSpPr/>
          <p:nvPr/>
        </p:nvSpPr>
        <p:spPr>
          <a:xfrm>
            <a:off x="640080" y="566928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8B0E15"/>
                </a:solidFill>
                <a:latin typeface="Calibri"/>
                <a:ea typeface="Calibri"/>
              </a:rPr>
              <a:t>Note:  </a:t>
            </a:r>
            <a:r>
              <a:rPr lang="en-US" sz="1200" b="0" strike="noStrike" spc="-1">
                <a:solidFill>
                  <a:srgbClr val="3A3536"/>
                </a:solidFill>
                <a:latin typeface="Calibri"/>
                <a:ea typeface="Calibri"/>
              </a:rPr>
              <a:t>CVE-2025-49596 was in MCP-Inspector — Anthropic's dev/testing tool, fixed in 0.14.1 — not a production runtime component.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Shape 29"/>
          <p:cNvSpPr/>
          <p:nvPr/>
        </p:nvSpPr>
        <p:spPr>
          <a:xfrm>
            <a:off x="0" y="0"/>
            <a:ext cx="12161160" cy="7272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77" name="Image 6" descr="fhb_logo.png"/>
          <p:cNvPicPr/>
          <p:nvPr/>
        </p:nvPicPr>
        <p:blipFill>
          <a:blip r:embed="rId2"/>
          <a:stretch/>
        </p:blipFill>
        <p:spPr>
          <a:xfrm>
            <a:off x="10031040" y="146160"/>
            <a:ext cx="1828440" cy="338040"/>
          </a:xfrm>
          <a:prstGeom prst="rect">
            <a:avLst/>
          </a:prstGeom>
          <a:ln w="0">
            <a:noFill/>
          </a:ln>
        </p:spPr>
      </p:pic>
      <p:sp>
        <p:nvSpPr>
          <p:cNvPr id="378" name="Shape 30"/>
          <p:cNvSpPr/>
          <p:nvPr/>
        </p:nvSpPr>
        <p:spPr>
          <a:xfrm>
            <a:off x="457200" y="6583680"/>
            <a:ext cx="11274120" cy="1980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Shape 31"/>
          <p:cNvSpPr/>
          <p:nvPr/>
        </p:nvSpPr>
        <p:spPr>
          <a:xfrm>
            <a:off x="457200" y="6510600"/>
            <a:ext cx="164160" cy="16416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0" name="Text 32"/>
          <p:cNvSpPr/>
          <p:nvPr/>
        </p:nvSpPr>
        <p:spPr>
          <a:xfrm>
            <a:off x="713160" y="64008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MCP Security  ·  Deck 3 of 3  ·  NSA Guidance (May 2026)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Text 33"/>
          <p:cNvSpPr/>
          <p:nvPr/>
        </p:nvSpPr>
        <p:spPr>
          <a:xfrm>
            <a:off x="1115568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12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2" name="Text 0"/>
          <p:cNvSpPr/>
          <p:nvPr/>
        </p:nvSpPr>
        <p:spPr>
          <a:xfrm>
            <a:off x="457200" y="457200"/>
            <a:ext cx="9417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299">
                <a:solidFill>
                  <a:srgbClr val="8B0E15"/>
                </a:solidFill>
                <a:latin typeface="Calibri"/>
                <a:ea typeface="Calibri"/>
              </a:rPr>
              <a:t>RECOMMENDATIONS · C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Text 1"/>
          <p:cNvSpPr/>
          <p:nvPr/>
        </p:nvSpPr>
        <p:spPr>
          <a:xfrm>
            <a:off x="457200" y="73152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231F20"/>
                </a:solidFill>
                <a:latin typeface="Open Sans"/>
                <a:ea typeface="Open Sans"/>
              </a:rPr>
              <a:t>Architect for containment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Text 2"/>
          <p:cNvSpPr/>
          <p:nvPr/>
        </p:nvSpPr>
        <p:spPr>
          <a:xfrm>
            <a:off x="457200" y="1371600"/>
            <a:ext cx="11246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3A3536"/>
                </a:solidFill>
                <a:latin typeface="Calibri"/>
                <a:ea typeface="Calibri"/>
              </a:rPr>
              <a:t>The first line of defense is structural — decide what can reach what before a single message flows.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Shape 3"/>
          <p:cNvSpPr/>
          <p:nvPr/>
        </p:nvSpPr>
        <p:spPr>
          <a:xfrm>
            <a:off x="457200" y="2103120"/>
            <a:ext cx="3520080" cy="356580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Shape 4"/>
          <p:cNvSpPr/>
          <p:nvPr/>
        </p:nvSpPr>
        <p:spPr>
          <a:xfrm>
            <a:off x="457200" y="2103120"/>
            <a:ext cx="3520080" cy="10944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7" name="Shape 5"/>
          <p:cNvSpPr/>
          <p:nvPr/>
        </p:nvSpPr>
        <p:spPr>
          <a:xfrm>
            <a:off x="731520" y="2331720"/>
            <a:ext cx="566640" cy="566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88" name="Image 0" descr="preencoded.png"/>
          <p:cNvPicPr/>
          <p:nvPr/>
        </p:nvPicPr>
        <p:blipFill>
          <a:blip r:embed="rId2"/>
          <a:stretch/>
        </p:blipFill>
        <p:spPr>
          <a:xfrm>
            <a:off x="856080" y="2456280"/>
            <a:ext cx="317160" cy="317160"/>
          </a:xfrm>
          <a:prstGeom prst="rect">
            <a:avLst/>
          </a:prstGeom>
          <a:ln w="0">
            <a:noFill/>
          </a:ln>
        </p:spPr>
      </p:pic>
      <p:sp>
        <p:nvSpPr>
          <p:cNvPr id="389" name="Text 6"/>
          <p:cNvSpPr/>
          <p:nvPr/>
        </p:nvSpPr>
        <p:spPr>
          <a:xfrm>
            <a:off x="731520" y="3063240"/>
            <a:ext cx="301716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strike="noStrike" spc="-1">
                <a:solidFill>
                  <a:srgbClr val="231F20"/>
                </a:solidFill>
                <a:latin typeface="Open Sans"/>
                <a:ea typeface="Open Sans"/>
              </a:rPr>
              <a:t>Choose supported projects</a:t>
            </a:r>
            <a:endParaRPr lang="en-US" sz="16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Text 7"/>
          <p:cNvSpPr/>
          <p:nvPr/>
        </p:nvSpPr>
        <p:spPr>
          <a:xfrm>
            <a:off x="731520" y="3794760"/>
            <a:ext cx="3062880" cy="173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3A3536"/>
                </a:solidFill>
                <a:latin typeface="Calibri"/>
                <a:ea typeface="Calibri"/>
              </a:rPr>
              <a:t>Prefer actively-maintained servers; apply your most stringent code-audit profile to new integrations. Many popular servers are now archived.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Shape 8"/>
          <p:cNvSpPr/>
          <p:nvPr/>
        </p:nvSpPr>
        <p:spPr>
          <a:xfrm>
            <a:off x="4251960" y="2103120"/>
            <a:ext cx="3520080" cy="356580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Shape 9"/>
          <p:cNvSpPr/>
          <p:nvPr/>
        </p:nvSpPr>
        <p:spPr>
          <a:xfrm>
            <a:off x="4251960" y="2103120"/>
            <a:ext cx="3520080" cy="10944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3" name="Shape 10"/>
          <p:cNvSpPr/>
          <p:nvPr/>
        </p:nvSpPr>
        <p:spPr>
          <a:xfrm>
            <a:off x="4526280" y="2331720"/>
            <a:ext cx="566640" cy="566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94" name="Image 1" descr="preencoded.png"/>
          <p:cNvPicPr/>
          <p:nvPr/>
        </p:nvPicPr>
        <p:blipFill>
          <a:blip r:embed="rId5"/>
          <a:stretch/>
        </p:blipFill>
        <p:spPr>
          <a:xfrm>
            <a:off x="4650840" y="2456280"/>
            <a:ext cx="317160" cy="317160"/>
          </a:xfrm>
          <a:prstGeom prst="rect">
            <a:avLst/>
          </a:prstGeom>
          <a:ln w="0">
            <a:noFill/>
          </a:ln>
        </p:spPr>
      </p:pic>
      <p:sp>
        <p:nvSpPr>
          <p:cNvPr id="395" name="Text 11"/>
          <p:cNvSpPr/>
          <p:nvPr/>
        </p:nvSpPr>
        <p:spPr>
          <a:xfrm>
            <a:off x="4526280" y="3063240"/>
            <a:ext cx="301716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strike="noStrike" spc="-1">
                <a:solidFill>
                  <a:srgbClr val="231F20"/>
                </a:solidFill>
                <a:latin typeface="Open Sans"/>
                <a:ea typeface="Open Sans"/>
              </a:rPr>
              <a:t>Design for trust boundaries</a:t>
            </a:r>
            <a:endParaRPr lang="en-US" sz="16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Text 12"/>
          <p:cNvSpPr/>
          <p:nvPr/>
        </p:nvSpPr>
        <p:spPr>
          <a:xfrm>
            <a:off x="4526280" y="3794760"/>
            <a:ext cx="3062880" cy="173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3A3536"/>
                </a:solidFill>
                <a:latin typeface="Calibri"/>
                <a:ea typeface="Calibri"/>
              </a:rPr>
              <a:t>Treat agents, plugins, models, and users as separate trust zones. Align tools with data-classification: public tools for public data, segregated access for regulated data.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Shape 13"/>
          <p:cNvSpPr/>
          <p:nvPr/>
        </p:nvSpPr>
        <p:spPr>
          <a:xfrm>
            <a:off x="8046720" y="2103120"/>
            <a:ext cx="3520080" cy="356580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Shape 14"/>
          <p:cNvSpPr/>
          <p:nvPr/>
        </p:nvSpPr>
        <p:spPr>
          <a:xfrm>
            <a:off x="8046720" y="2103120"/>
            <a:ext cx="3520080" cy="10944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9" name="Shape 15"/>
          <p:cNvSpPr/>
          <p:nvPr/>
        </p:nvSpPr>
        <p:spPr>
          <a:xfrm>
            <a:off x="8321040" y="2331720"/>
            <a:ext cx="566640" cy="566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00" name="Image 2" descr="preencoded.png"/>
          <p:cNvPicPr/>
          <p:nvPr/>
        </p:nvPicPr>
        <p:blipFill>
          <a:blip r:embed="rId4"/>
          <a:stretch/>
        </p:blipFill>
        <p:spPr>
          <a:xfrm>
            <a:off x="8445600" y="2456280"/>
            <a:ext cx="317160" cy="317160"/>
          </a:xfrm>
          <a:prstGeom prst="rect">
            <a:avLst/>
          </a:prstGeom>
          <a:ln w="0">
            <a:noFill/>
          </a:ln>
        </p:spPr>
      </p:pic>
      <p:sp>
        <p:nvSpPr>
          <p:cNvPr id="401" name="Text 16"/>
          <p:cNvSpPr/>
          <p:nvPr/>
        </p:nvSpPr>
        <p:spPr>
          <a:xfrm>
            <a:off x="8321040" y="3063240"/>
            <a:ext cx="301716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strike="noStrike" spc="-1">
                <a:solidFill>
                  <a:srgbClr val="231F20"/>
                </a:solidFill>
                <a:latin typeface="Open Sans"/>
                <a:ea typeface="Open Sans"/>
              </a:rPr>
              <a:t>Contain egress</a:t>
            </a:r>
            <a:endParaRPr lang="en-US" sz="16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Text 17"/>
          <p:cNvSpPr/>
          <p:nvPr/>
        </p:nvSpPr>
        <p:spPr>
          <a:xfrm>
            <a:off x="8321040" y="3794760"/>
            <a:ext cx="3062880" cy="173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3A3536"/>
                </a:solidFill>
                <a:latin typeface="Calibri"/>
                <a:ea typeface="Calibri"/>
              </a:rPr>
              <a:t>Prefer local servers for sensitive data. Put a filtering proxy or DLP in front of outbound connections to named resources only.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Shape 18"/>
          <p:cNvSpPr/>
          <p:nvPr/>
        </p:nvSpPr>
        <p:spPr>
          <a:xfrm>
            <a:off x="0" y="0"/>
            <a:ext cx="12161160" cy="7272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04" name="Image 3" descr="fhb_logo.png"/>
          <p:cNvPicPr/>
          <p:nvPr/>
        </p:nvPicPr>
        <p:blipFill>
          <a:blip r:embed="rId3"/>
          <a:stretch/>
        </p:blipFill>
        <p:spPr>
          <a:xfrm>
            <a:off x="10031040" y="146160"/>
            <a:ext cx="1828440" cy="338040"/>
          </a:xfrm>
          <a:prstGeom prst="rect">
            <a:avLst/>
          </a:prstGeom>
          <a:ln w="0">
            <a:noFill/>
          </a:ln>
        </p:spPr>
      </p:pic>
      <p:sp>
        <p:nvSpPr>
          <p:cNvPr id="405" name="Shape 19"/>
          <p:cNvSpPr/>
          <p:nvPr/>
        </p:nvSpPr>
        <p:spPr>
          <a:xfrm>
            <a:off x="457200" y="6583680"/>
            <a:ext cx="11274120" cy="1980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Shape 20"/>
          <p:cNvSpPr/>
          <p:nvPr/>
        </p:nvSpPr>
        <p:spPr>
          <a:xfrm>
            <a:off x="457200" y="6510600"/>
            <a:ext cx="164160" cy="16416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7" name="Text 21"/>
          <p:cNvSpPr/>
          <p:nvPr/>
        </p:nvSpPr>
        <p:spPr>
          <a:xfrm>
            <a:off x="713160" y="64008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MCP Security  ·  Deck 3 of 3  ·  NSA Guidance (May 2026)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Text 22"/>
          <p:cNvSpPr/>
          <p:nvPr/>
        </p:nvSpPr>
        <p:spPr>
          <a:xfrm>
            <a:off x="1115568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13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" name="Text 0"/>
          <p:cNvSpPr/>
          <p:nvPr/>
        </p:nvSpPr>
        <p:spPr>
          <a:xfrm>
            <a:off x="457200" y="457200"/>
            <a:ext cx="9417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299">
                <a:solidFill>
                  <a:srgbClr val="8B0E15"/>
                </a:solidFill>
                <a:latin typeface="Calibri"/>
                <a:ea typeface="Calibri"/>
              </a:rPr>
              <a:t>RECOMMENDATIONS · C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Text 1"/>
          <p:cNvSpPr/>
          <p:nvPr/>
        </p:nvSpPr>
        <p:spPr>
          <a:xfrm>
            <a:off x="457200" y="73152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231F20"/>
                </a:solidFill>
                <a:latin typeface="Open Sans"/>
                <a:ea typeface="Open Sans"/>
              </a:rPr>
              <a:t>Harden execution &amp; messages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Text 2"/>
          <p:cNvSpPr/>
          <p:nvPr/>
        </p:nvSpPr>
        <p:spPr>
          <a:xfrm>
            <a:off x="457200" y="1371600"/>
            <a:ext cx="11246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3A3536"/>
                </a:solidFill>
                <a:latin typeface="Calibri"/>
                <a:ea typeface="Calibri"/>
              </a:rPr>
              <a:t>Once data is flowing, constrain what each component can do and prove that messages are what they claim to be.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Shape 3"/>
          <p:cNvSpPr/>
          <p:nvPr/>
        </p:nvSpPr>
        <p:spPr>
          <a:xfrm>
            <a:off x="457200" y="2057400"/>
            <a:ext cx="5531760" cy="178272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Shape 4"/>
          <p:cNvSpPr/>
          <p:nvPr/>
        </p:nvSpPr>
        <p:spPr>
          <a:xfrm>
            <a:off x="457200" y="2057400"/>
            <a:ext cx="91080" cy="178272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4" name="Shape 5"/>
          <p:cNvSpPr/>
          <p:nvPr/>
        </p:nvSpPr>
        <p:spPr>
          <a:xfrm>
            <a:off x="731520" y="2331720"/>
            <a:ext cx="502560" cy="5025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15" name="Image 0" descr="preencoded.png"/>
          <p:cNvPicPr/>
          <p:nvPr/>
        </p:nvPicPr>
        <p:blipFill>
          <a:blip r:embed="rId2"/>
          <a:stretch/>
        </p:blipFill>
        <p:spPr>
          <a:xfrm>
            <a:off x="842040" y="2442240"/>
            <a:ext cx="281160" cy="281160"/>
          </a:xfrm>
          <a:prstGeom prst="rect">
            <a:avLst/>
          </a:prstGeom>
          <a:ln w="0">
            <a:noFill/>
          </a:ln>
        </p:spPr>
      </p:pic>
      <p:sp>
        <p:nvSpPr>
          <p:cNvPr id="416" name="Text 6"/>
          <p:cNvSpPr/>
          <p:nvPr/>
        </p:nvSpPr>
        <p:spPr>
          <a:xfrm>
            <a:off x="1417320" y="2331720"/>
            <a:ext cx="4388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231F20"/>
                </a:solidFill>
                <a:latin typeface="Open Sans"/>
                <a:ea typeface="Open Sans"/>
              </a:rPr>
              <a:t>Validate parameters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Text 7"/>
          <p:cNvSpPr/>
          <p:nvPr/>
        </p:nvSpPr>
        <p:spPr>
          <a:xfrm>
            <a:off x="731520" y="2926080"/>
            <a:ext cx="507456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3A3536"/>
                </a:solidFill>
                <a:latin typeface="Calibri"/>
                <a:ea typeface="Calibri"/>
              </a:rPr>
              <a:t>Check inputs against schemas, ranges, and the intended execution context — not just the value. Block parameter forwarding when the source is ambiguous.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Shape 8"/>
          <p:cNvSpPr/>
          <p:nvPr/>
        </p:nvSpPr>
        <p:spPr>
          <a:xfrm>
            <a:off x="6172200" y="2057400"/>
            <a:ext cx="5531760" cy="178272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Shape 9"/>
          <p:cNvSpPr/>
          <p:nvPr/>
        </p:nvSpPr>
        <p:spPr>
          <a:xfrm>
            <a:off x="6172200" y="2057400"/>
            <a:ext cx="91080" cy="178272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0" name="Shape 10"/>
          <p:cNvSpPr/>
          <p:nvPr/>
        </p:nvSpPr>
        <p:spPr>
          <a:xfrm>
            <a:off x="6446520" y="2331720"/>
            <a:ext cx="502560" cy="5025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21" name="Image 1" descr="preencoded.png"/>
          <p:cNvPicPr/>
          <p:nvPr/>
        </p:nvPicPr>
        <p:blipFill>
          <a:blip r:embed="rId6"/>
          <a:stretch/>
        </p:blipFill>
        <p:spPr>
          <a:xfrm>
            <a:off x="6557040" y="2442240"/>
            <a:ext cx="281160" cy="281160"/>
          </a:xfrm>
          <a:prstGeom prst="rect">
            <a:avLst/>
          </a:prstGeom>
          <a:ln w="0">
            <a:noFill/>
          </a:ln>
        </p:spPr>
      </p:pic>
      <p:sp>
        <p:nvSpPr>
          <p:cNvPr id="422" name="Text 11"/>
          <p:cNvSpPr/>
          <p:nvPr/>
        </p:nvSpPr>
        <p:spPr>
          <a:xfrm>
            <a:off x="7132320" y="2331720"/>
            <a:ext cx="4388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231F20"/>
                </a:solidFill>
                <a:latin typeface="Open Sans"/>
                <a:ea typeface="Open Sans"/>
              </a:rPr>
              <a:t>Sandbox tool execution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Text 12"/>
          <p:cNvSpPr/>
          <p:nvPr/>
        </p:nvSpPr>
        <p:spPr>
          <a:xfrm>
            <a:off x="6446520" y="2926080"/>
            <a:ext cx="507456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3A3536"/>
                </a:solidFill>
                <a:latin typeface="Calibri"/>
                <a:ea typeface="Calibri"/>
              </a:rPr>
              <a:t>Treat every tool call as high-risk and isolate it; enforce least privilege; deny unneeded paths at runtime.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Shape 13"/>
          <p:cNvSpPr/>
          <p:nvPr/>
        </p:nvSpPr>
        <p:spPr>
          <a:xfrm>
            <a:off x="457200" y="4023360"/>
            <a:ext cx="5531760" cy="178272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Shape 14"/>
          <p:cNvSpPr/>
          <p:nvPr/>
        </p:nvSpPr>
        <p:spPr>
          <a:xfrm>
            <a:off x="457200" y="4023360"/>
            <a:ext cx="91080" cy="178272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6" name="Shape 15"/>
          <p:cNvSpPr/>
          <p:nvPr/>
        </p:nvSpPr>
        <p:spPr>
          <a:xfrm>
            <a:off x="731520" y="4297680"/>
            <a:ext cx="502560" cy="5025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27" name="Image 2" descr="preencoded.png"/>
          <p:cNvPicPr/>
          <p:nvPr/>
        </p:nvPicPr>
        <p:blipFill>
          <a:blip r:embed="rId5"/>
          <a:stretch/>
        </p:blipFill>
        <p:spPr>
          <a:xfrm>
            <a:off x="842040" y="4408200"/>
            <a:ext cx="281160" cy="281160"/>
          </a:xfrm>
          <a:prstGeom prst="rect">
            <a:avLst/>
          </a:prstGeom>
          <a:ln w="0">
            <a:noFill/>
          </a:ln>
        </p:spPr>
      </p:pic>
      <p:sp>
        <p:nvSpPr>
          <p:cNvPr id="428" name="Text 16"/>
          <p:cNvSpPr/>
          <p:nvPr/>
        </p:nvSpPr>
        <p:spPr>
          <a:xfrm>
            <a:off x="1417320" y="4297680"/>
            <a:ext cx="4388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231F20"/>
                </a:solidFill>
                <a:latin typeface="Open Sans"/>
                <a:ea typeface="Open Sans"/>
              </a:rPr>
              <a:t>Sign &amp; verify messages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Text 17"/>
          <p:cNvSpPr/>
          <p:nvPr/>
        </p:nvSpPr>
        <p:spPr>
          <a:xfrm>
            <a:off x="731520" y="4892040"/>
            <a:ext cx="507456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 dirty="0">
                <a:solidFill>
                  <a:srgbClr val="3A3536"/>
                </a:solidFill>
                <a:latin typeface="Calibri"/>
                <a:ea typeface="Calibri"/>
              </a:rPr>
              <a:t>Add cryptographic signatures in the message payload, with expiry and replay-protection metadata. Bind requests to time and context (OWASP ASVS V7).</a:t>
            </a:r>
            <a:endParaRPr lang="en-US" sz="1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Shape 18"/>
          <p:cNvSpPr/>
          <p:nvPr/>
        </p:nvSpPr>
        <p:spPr>
          <a:xfrm>
            <a:off x="6172200" y="4023360"/>
            <a:ext cx="5531760" cy="178272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Shape 19"/>
          <p:cNvSpPr/>
          <p:nvPr/>
        </p:nvSpPr>
        <p:spPr>
          <a:xfrm>
            <a:off x="6172200" y="4023360"/>
            <a:ext cx="91080" cy="178272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2" name="Shape 20"/>
          <p:cNvSpPr/>
          <p:nvPr/>
        </p:nvSpPr>
        <p:spPr>
          <a:xfrm>
            <a:off x="6446520" y="4297680"/>
            <a:ext cx="502560" cy="5025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33" name="Image 3" descr="preencoded.png"/>
          <p:cNvPicPr/>
          <p:nvPr/>
        </p:nvPicPr>
        <p:blipFill>
          <a:blip r:embed="rId4"/>
          <a:stretch/>
        </p:blipFill>
        <p:spPr>
          <a:xfrm>
            <a:off x="6557040" y="4408200"/>
            <a:ext cx="281160" cy="281160"/>
          </a:xfrm>
          <a:prstGeom prst="rect">
            <a:avLst/>
          </a:prstGeom>
          <a:ln w="0">
            <a:noFill/>
          </a:ln>
        </p:spPr>
      </p:pic>
      <p:sp>
        <p:nvSpPr>
          <p:cNvPr id="434" name="Text 21"/>
          <p:cNvSpPr/>
          <p:nvPr/>
        </p:nvSpPr>
        <p:spPr>
          <a:xfrm>
            <a:off x="7132320" y="4297680"/>
            <a:ext cx="4388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231F20"/>
                </a:solidFill>
                <a:latin typeface="Open Sans"/>
                <a:ea typeface="Open Sans"/>
              </a:rPr>
              <a:t>Filter output pipelines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Text 22"/>
          <p:cNvSpPr/>
          <p:nvPr/>
        </p:nvSpPr>
        <p:spPr>
          <a:xfrm>
            <a:off x="6446520" y="4892040"/>
            <a:ext cx="507456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3A3536"/>
                </a:solidFill>
                <a:latin typeface="Calibri"/>
                <a:ea typeface="Calibri"/>
              </a:rPr>
              <a:t>Treat each tool's output as untrusted input to the next stage. Scan for indirect prompt injection and toolchain-pivot attempts in chained execution.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Shape 23"/>
          <p:cNvSpPr/>
          <p:nvPr/>
        </p:nvSpPr>
        <p:spPr>
          <a:xfrm>
            <a:off x="0" y="0"/>
            <a:ext cx="12161160" cy="7272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37" name="Image 4" descr="fhb_logo.png"/>
          <p:cNvPicPr/>
          <p:nvPr/>
        </p:nvPicPr>
        <p:blipFill>
          <a:blip r:embed="rId3"/>
          <a:stretch/>
        </p:blipFill>
        <p:spPr>
          <a:xfrm>
            <a:off x="10031040" y="146160"/>
            <a:ext cx="1828440" cy="338040"/>
          </a:xfrm>
          <a:prstGeom prst="rect">
            <a:avLst/>
          </a:prstGeom>
          <a:ln w="0">
            <a:noFill/>
          </a:ln>
        </p:spPr>
      </p:pic>
      <p:sp>
        <p:nvSpPr>
          <p:cNvPr id="438" name="Shape 24"/>
          <p:cNvSpPr/>
          <p:nvPr/>
        </p:nvSpPr>
        <p:spPr>
          <a:xfrm>
            <a:off x="457200" y="6583680"/>
            <a:ext cx="11274120" cy="1980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Shape 25"/>
          <p:cNvSpPr/>
          <p:nvPr/>
        </p:nvSpPr>
        <p:spPr>
          <a:xfrm>
            <a:off x="457200" y="6510600"/>
            <a:ext cx="164160" cy="16416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0" name="Text 26"/>
          <p:cNvSpPr/>
          <p:nvPr/>
        </p:nvSpPr>
        <p:spPr>
          <a:xfrm>
            <a:off x="713160" y="64008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MCP Security  ·  Deck 3 of 3  ·  NSA Guidance (May 2026)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Text 27"/>
          <p:cNvSpPr/>
          <p:nvPr/>
        </p:nvSpPr>
        <p:spPr>
          <a:xfrm>
            <a:off x="1115568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14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42" name="Text 0"/>
          <p:cNvSpPr/>
          <p:nvPr/>
        </p:nvSpPr>
        <p:spPr>
          <a:xfrm>
            <a:off x="457200" y="457200"/>
            <a:ext cx="9417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299">
                <a:solidFill>
                  <a:srgbClr val="8B0E15"/>
                </a:solidFill>
                <a:latin typeface="Calibri"/>
                <a:ea typeface="Calibri"/>
              </a:rPr>
              <a:t>RECOMMENDATIONS · C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Text 1"/>
          <p:cNvSpPr/>
          <p:nvPr/>
        </p:nvSpPr>
        <p:spPr>
          <a:xfrm>
            <a:off x="457200" y="73152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231F20"/>
                </a:solidFill>
                <a:latin typeface="Open Sans"/>
                <a:ea typeface="Open Sans"/>
              </a:rPr>
              <a:t>Operate with visibility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Text 2"/>
          <p:cNvSpPr/>
          <p:nvPr/>
        </p:nvSpPr>
        <p:spPr>
          <a:xfrm>
            <a:off x="457200" y="1371600"/>
            <a:ext cx="11246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3A3536"/>
                </a:solidFill>
                <a:latin typeface="Calibri"/>
                <a:ea typeface="Calibri"/>
              </a:rPr>
              <a:t>You can't defend what you can't see. Instrument, track, and scan — continuously.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Shape 3"/>
          <p:cNvSpPr/>
          <p:nvPr/>
        </p:nvSpPr>
        <p:spPr>
          <a:xfrm>
            <a:off x="457200" y="2103120"/>
            <a:ext cx="3520080" cy="356580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Shape 4"/>
          <p:cNvSpPr/>
          <p:nvPr/>
        </p:nvSpPr>
        <p:spPr>
          <a:xfrm>
            <a:off x="457200" y="2103120"/>
            <a:ext cx="3520080" cy="10944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7" name="Shape 5"/>
          <p:cNvSpPr/>
          <p:nvPr/>
        </p:nvSpPr>
        <p:spPr>
          <a:xfrm>
            <a:off x="731520" y="2331720"/>
            <a:ext cx="566640" cy="566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48" name="Image 0" descr="preencoded.png"/>
          <p:cNvPicPr/>
          <p:nvPr/>
        </p:nvPicPr>
        <p:blipFill>
          <a:blip r:embed="rId2"/>
          <a:stretch/>
        </p:blipFill>
        <p:spPr>
          <a:xfrm>
            <a:off x="856080" y="2456280"/>
            <a:ext cx="317160" cy="317160"/>
          </a:xfrm>
          <a:prstGeom prst="rect">
            <a:avLst/>
          </a:prstGeom>
          <a:ln w="0">
            <a:noFill/>
          </a:ln>
        </p:spPr>
      </p:pic>
      <p:sp>
        <p:nvSpPr>
          <p:cNvPr id="449" name="Text 6"/>
          <p:cNvSpPr/>
          <p:nvPr/>
        </p:nvSpPr>
        <p:spPr>
          <a:xfrm>
            <a:off x="731520" y="3063240"/>
            <a:ext cx="301716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strike="noStrike" spc="-1">
                <a:solidFill>
                  <a:srgbClr val="231F20"/>
                </a:solidFill>
                <a:latin typeface="Open Sans"/>
                <a:ea typeface="Open Sans"/>
              </a:rPr>
              <a:t>Instrument for detection</a:t>
            </a:r>
            <a:endParaRPr lang="en-US" sz="16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Text 7"/>
          <p:cNvSpPr/>
          <p:nvPr/>
        </p:nvSpPr>
        <p:spPr>
          <a:xfrm>
            <a:off x="731520" y="3794760"/>
            <a:ext cx="3062880" cy="173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3A3536"/>
                </a:solidFill>
                <a:latin typeface="Calibri"/>
                <a:ea typeface="Calibri"/>
              </a:rPr>
              <a:t>Log every tool and model invocation — parameters, identities, and (where feasible) cryptographic hashes of output. Feed it into your SIEM and detection pipelines.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Shape 8"/>
          <p:cNvSpPr/>
          <p:nvPr/>
        </p:nvSpPr>
        <p:spPr>
          <a:xfrm>
            <a:off x="4251960" y="2103120"/>
            <a:ext cx="3520080" cy="356580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Shape 9"/>
          <p:cNvSpPr/>
          <p:nvPr/>
        </p:nvSpPr>
        <p:spPr>
          <a:xfrm>
            <a:off x="4251960" y="2103120"/>
            <a:ext cx="3520080" cy="10944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3" name="Shape 10"/>
          <p:cNvSpPr/>
          <p:nvPr/>
        </p:nvSpPr>
        <p:spPr>
          <a:xfrm>
            <a:off x="4526280" y="2331720"/>
            <a:ext cx="566640" cy="566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54" name="Image 1" descr="preencoded.png"/>
          <p:cNvPicPr/>
          <p:nvPr/>
        </p:nvPicPr>
        <p:blipFill>
          <a:blip r:embed="rId5"/>
          <a:stretch/>
        </p:blipFill>
        <p:spPr>
          <a:xfrm>
            <a:off x="4650840" y="2456280"/>
            <a:ext cx="317160" cy="317160"/>
          </a:xfrm>
          <a:prstGeom prst="rect">
            <a:avLst/>
          </a:prstGeom>
          <a:ln w="0">
            <a:noFill/>
          </a:ln>
        </p:spPr>
      </p:pic>
      <p:sp>
        <p:nvSpPr>
          <p:cNvPr id="455" name="Text 11"/>
          <p:cNvSpPr/>
          <p:nvPr/>
        </p:nvSpPr>
        <p:spPr>
          <a:xfrm>
            <a:off x="4526280" y="3063240"/>
            <a:ext cx="301716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strike="noStrike" spc="-1">
                <a:solidFill>
                  <a:srgbClr val="231F20"/>
                </a:solidFill>
                <a:latin typeface="Open Sans"/>
                <a:ea typeface="Open Sans"/>
              </a:rPr>
              <a:t>Track &amp; patch</a:t>
            </a:r>
            <a:endParaRPr lang="en-US" sz="16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Text 12"/>
          <p:cNvSpPr/>
          <p:nvPr/>
        </p:nvSpPr>
        <p:spPr>
          <a:xfrm>
            <a:off x="4526280" y="3794760"/>
            <a:ext cx="3062880" cy="173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3A3536"/>
                </a:solidFill>
                <a:latin typeface="Calibri"/>
                <a:ea typeface="Calibri"/>
              </a:rPr>
              <a:t>Keep an inventory of deployed MCP agents and tools with versions and patch history. Subscribe to CVE feeds and vendor advisories; triage fast.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Shape 13"/>
          <p:cNvSpPr/>
          <p:nvPr/>
        </p:nvSpPr>
        <p:spPr>
          <a:xfrm>
            <a:off x="8046720" y="2103120"/>
            <a:ext cx="3520080" cy="356580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Shape 14"/>
          <p:cNvSpPr/>
          <p:nvPr/>
        </p:nvSpPr>
        <p:spPr>
          <a:xfrm>
            <a:off x="8046720" y="2103120"/>
            <a:ext cx="3520080" cy="10944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9" name="Shape 15"/>
          <p:cNvSpPr/>
          <p:nvPr/>
        </p:nvSpPr>
        <p:spPr>
          <a:xfrm>
            <a:off x="8321040" y="2331720"/>
            <a:ext cx="566640" cy="566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60" name="Image 2" descr="preencoded.png"/>
          <p:cNvPicPr/>
          <p:nvPr/>
        </p:nvPicPr>
        <p:blipFill>
          <a:blip r:embed="rId4"/>
          <a:stretch/>
        </p:blipFill>
        <p:spPr>
          <a:xfrm>
            <a:off x="8445600" y="2456280"/>
            <a:ext cx="317160" cy="317160"/>
          </a:xfrm>
          <a:prstGeom prst="rect">
            <a:avLst/>
          </a:prstGeom>
          <a:ln w="0">
            <a:noFill/>
          </a:ln>
        </p:spPr>
      </p:pic>
      <p:sp>
        <p:nvSpPr>
          <p:cNvPr id="461" name="Text 16"/>
          <p:cNvSpPr/>
          <p:nvPr/>
        </p:nvSpPr>
        <p:spPr>
          <a:xfrm>
            <a:off x="8321040" y="3063240"/>
            <a:ext cx="301716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strike="noStrike" spc="-1">
                <a:solidFill>
                  <a:srgbClr val="231F20"/>
                </a:solidFill>
                <a:latin typeface="Open Sans"/>
                <a:ea typeface="Open Sans"/>
              </a:rPr>
              <a:t>Scan the network</a:t>
            </a:r>
            <a:endParaRPr lang="en-US" sz="16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Text 17"/>
          <p:cNvSpPr/>
          <p:nvPr/>
        </p:nvSpPr>
        <p:spPr>
          <a:xfrm>
            <a:off x="8321040" y="3794760"/>
            <a:ext cx="3062880" cy="173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3A3536"/>
                </a:solidFill>
                <a:latin typeface="Calibri"/>
                <a:ea typeface="Calibri"/>
              </a:rPr>
              <a:t>Regularly scan for open, unauthenticated, or unauthorized MCP servers — they may change ports. Tools like MCP Scanner, Ramparts, CyberMCP, Proximity help.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Shape 18"/>
          <p:cNvSpPr/>
          <p:nvPr/>
        </p:nvSpPr>
        <p:spPr>
          <a:xfrm>
            <a:off x="0" y="0"/>
            <a:ext cx="12161160" cy="7272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64" name="Image 3" descr="fhb_logo.png"/>
          <p:cNvPicPr/>
          <p:nvPr/>
        </p:nvPicPr>
        <p:blipFill>
          <a:blip r:embed="rId3"/>
          <a:stretch/>
        </p:blipFill>
        <p:spPr>
          <a:xfrm>
            <a:off x="10031040" y="146160"/>
            <a:ext cx="1828440" cy="338040"/>
          </a:xfrm>
          <a:prstGeom prst="rect">
            <a:avLst/>
          </a:prstGeom>
          <a:ln w="0">
            <a:noFill/>
          </a:ln>
        </p:spPr>
      </p:pic>
      <p:sp>
        <p:nvSpPr>
          <p:cNvPr id="465" name="Shape 19"/>
          <p:cNvSpPr/>
          <p:nvPr/>
        </p:nvSpPr>
        <p:spPr>
          <a:xfrm>
            <a:off x="457200" y="6583680"/>
            <a:ext cx="11274120" cy="1980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Shape 20"/>
          <p:cNvSpPr/>
          <p:nvPr/>
        </p:nvSpPr>
        <p:spPr>
          <a:xfrm>
            <a:off x="457200" y="6510600"/>
            <a:ext cx="164160" cy="16416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7" name="Text 21"/>
          <p:cNvSpPr/>
          <p:nvPr/>
        </p:nvSpPr>
        <p:spPr>
          <a:xfrm>
            <a:off x="713160" y="64008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MCP Security  ·  Deck 3 of 3  ·  NSA Guidance (May 2026)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Text 22"/>
          <p:cNvSpPr/>
          <p:nvPr/>
        </p:nvSpPr>
        <p:spPr>
          <a:xfrm>
            <a:off x="1115568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15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69" name="Text 0"/>
          <p:cNvSpPr/>
          <p:nvPr/>
        </p:nvSpPr>
        <p:spPr>
          <a:xfrm>
            <a:off x="457200" y="457200"/>
            <a:ext cx="9417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299">
                <a:solidFill>
                  <a:srgbClr val="8B0E15"/>
                </a:solidFill>
                <a:latin typeface="Calibri"/>
                <a:ea typeface="Calibri"/>
              </a:rPr>
              <a:t>BRINGING IT HOME · D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Text 1"/>
          <p:cNvSpPr/>
          <p:nvPr/>
        </p:nvSpPr>
        <p:spPr>
          <a:xfrm>
            <a:off x="457200" y="73152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231F20"/>
                </a:solidFill>
                <a:latin typeface="Open Sans"/>
                <a:ea typeface="Open Sans"/>
              </a:rPr>
              <a:t>What this means for a bank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Shape 4"/>
          <p:cNvSpPr/>
          <p:nvPr/>
        </p:nvSpPr>
        <p:spPr>
          <a:xfrm>
            <a:off x="457200" y="1965960"/>
            <a:ext cx="5531760" cy="178272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Shape 5"/>
          <p:cNvSpPr/>
          <p:nvPr/>
        </p:nvSpPr>
        <p:spPr>
          <a:xfrm>
            <a:off x="457200" y="1965960"/>
            <a:ext cx="91080" cy="178272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5" name="Shape 6"/>
          <p:cNvSpPr/>
          <p:nvPr/>
        </p:nvSpPr>
        <p:spPr>
          <a:xfrm>
            <a:off x="731520" y="2240280"/>
            <a:ext cx="502560" cy="5025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76" name="Image 0" descr="preencoded.png"/>
          <p:cNvPicPr/>
          <p:nvPr/>
        </p:nvPicPr>
        <p:blipFill>
          <a:blip r:embed="rId2"/>
          <a:stretch/>
        </p:blipFill>
        <p:spPr>
          <a:xfrm>
            <a:off x="842040" y="2350800"/>
            <a:ext cx="281160" cy="281160"/>
          </a:xfrm>
          <a:prstGeom prst="rect">
            <a:avLst/>
          </a:prstGeom>
          <a:ln w="0">
            <a:noFill/>
          </a:ln>
        </p:spPr>
      </p:pic>
      <p:sp>
        <p:nvSpPr>
          <p:cNvPr id="477" name="Text 7"/>
          <p:cNvSpPr/>
          <p:nvPr/>
        </p:nvSpPr>
        <p:spPr>
          <a:xfrm>
            <a:off x="1417320" y="2240280"/>
            <a:ext cx="4388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231F20"/>
                </a:solidFill>
                <a:latin typeface="Open Sans"/>
                <a:ea typeface="Open Sans"/>
              </a:rPr>
              <a:t>Data-classification alignment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Text 8"/>
          <p:cNvSpPr/>
          <p:nvPr/>
        </p:nvSpPr>
        <p:spPr>
          <a:xfrm>
            <a:off x="731520" y="2834640"/>
            <a:ext cx="507456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3A3536"/>
                </a:solidFill>
                <a:latin typeface="Calibri"/>
                <a:ea typeface="Calibri"/>
              </a:rPr>
              <a:t>Map MCP servers to data zones. Public-data tools never share an instance with anything touching customer or regulated data.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Shape 9"/>
          <p:cNvSpPr/>
          <p:nvPr/>
        </p:nvSpPr>
        <p:spPr>
          <a:xfrm>
            <a:off x="6172200" y="1965960"/>
            <a:ext cx="5531760" cy="178272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Shape 10"/>
          <p:cNvSpPr/>
          <p:nvPr/>
        </p:nvSpPr>
        <p:spPr>
          <a:xfrm>
            <a:off x="6172200" y="1965960"/>
            <a:ext cx="91080" cy="178272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1" name="Shape 11"/>
          <p:cNvSpPr/>
          <p:nvPr/>
        </p:nvSpPr>
        <p:spPr>
          <a:xfrm>
            <a:off x="6446520" y="2240280"/>
            <a:ext cx="502560" cy="5025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82" name="Image 1" descr="preencoded.png"/>
          <p:cNvPicPr/>
          <p:nvPr/>
        </p:nvPicPr>
        <p:blipFill>
          <a:blip r:embed="rId6"/>
          <a:stretch/>
        </p:blipFill>
        <p:spPr>
          <a:xfrm>
            <a:off x="6557040" y="2350800"/>
            <a:ext cx="281160" cy="281160"/>
          </a:xfrm>
          <a:prstGeom prst="rect">
            <a:avLst/>
          </a:prstGeom>
          <a:ln w="0">
            <a:noFill/>
          </a:ln>
        </p:spPr>
      </p:pic>
      <p:sp>
        <p:nvSpPr>
          <p:cNvPr id="483" name="Text 12"/>
          <p:cNvSpPr/>
          <p:nvPr/>
        </p:nvSpPr>
        <p:spPr>
          <a:xfrm>
            <a:off x="7132320" y="2240280"/>
            <a:ext cx="4388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231F20"/>
                </a:solidFill>
                <a:latin typeface="Open Sans"/>
                <a:ea typeface="Open Sans"/>
              </a:rPr>
              <a:t>Third-party / vendor risk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4" name="Text 13"/>
          <p:cNvSpPr/>
          <p:nvPr/>
        </p:nvSpPr>
        <p:spPr>
          <a:xfrm>
            <a:off x="6446520" y="2834640"/>
            <a:ext cx="507456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3A3536"/>
                </a:solidFill>
                <a:latin typeface="Calibri"/>
                <a:ea typeface="Calibri"/>
              </a:rPr>
              <a:t>An MCP server is a vendor. It belongs in vendor risk management — assessed, inventoried, and re-reviewed when its capabilities change.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Shape 14"/>
          <p:cNvSpPr/>
          <p:nvPr/>
        </p:nvSpPr>
        <p:spPr>
          <a:xfrm>
            <a:off x="457200" y="3931920"/>
            <a:ext cx="5531760" cy="178272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Shape 15"/>
          <p:cNvSpPr/>
          <p:nvPr/>
        </p:nvSpPr>
        <p:spPr>
          <a:xfrm>
            <a:off x="457200" y="3931920"/>
            <a:ext cx="91080" cy="178272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7" name="Shape 16"/>
          <p:cNvSpPr/>
          <p:nvPr/>
        </p:nvSpPr>
        <p:spPr>
          <a:xfrm>
            <a:off x="731520" y="4206240"/>
            <a:ext cx="502560" cy="5025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88" name="Image 2" descr="preencoded.png"/>
          <p:cNvPicPr/>
          <p:nvPr/>
        </p:nvPicPr>
        <p:blipFill>
          <a:blip r:embed="rId5"/>
          <a:stretch/>
        </p:blipFill>
        <p:spPr>
          <a:xfrm>
            <a:off x="842040" y="4316760"/>
            <a:ext cx="281160" cy="281160"/>
          </a:xfrm>
          <a:prstGeom prst="rect">
            <a:avLst/>
          </a:prstGeom>
          <a:ln w="0">
            <a:noFill/>
          </a:ln>
        </p:spPr>
      </p:pic>
      <p:sp>
        <p:nvSpPr>
          <p:cNvPr id="489" name="Text 17"/>
          <p:cNvSpPr/>
          <p:nvPr/>
        </p:nvSpPr>
        <p:spPr>
          <a:xfrm>
            <a:off x="1417320" y="4206240"/>
            <a:ext cx="4388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231F20"/>
                </a:solidFill>
                <a:latin typeface="Open Sans"/>
                <a:ea typeface="Open Sans"/>
              </a:rPr>
              <a:t>Loggability for examiners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Text 18"/>
          <p:cNvSpPr/>
          <p:nvPr/>
        </p:nvSpPr>
        <p:spPr>
          <a:xfrm>
            <a:off x="731520" y="4800600"/>
            <a:ext cx="507456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3A3536"/>
                </a:solidFill>
                <a:latin typeface="Calibri"/>
                <a:ea typeface="Calibri"/>
              </a:rPr>
              <a:t>Audit logs aren't just for IR — they're evidence. Capture the traceable action sequence regulators and examiners will expect.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Shape 19"/>
          <p:cNvSpPr/>
          <p:nvPr/>
        </p:nvSpPr>
        <p:spPr>
          <a:xfrm>
            <a:off x="6172200" y="3931920"/>
            <a:ext cx="5531760" cy="178272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Shape 20"/>
          <p:cNvSpPr/>
          <p:nvPr/>
        </p:nvSpPr>
        <p:spPr>
          <a:xfrm>
            <a:off x="6172200" y="3931920"/>
            <a:ext cx="91080" cy="178272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3" name="Shape 21"/>
          <p:cNvSpPr/>
          <p:nvPr/>
        </p:nvSpPr>
        <p:spPr>
          <a:xfrm>
            <a:off x="6446520" y="4206240"/>
            <a:ext cx="502560" cy="5025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94" name="Image 3" descr="preencoded.png"/>
          <p:cNvPicPr/>
          <p:nvPr/>
        </p:nvPicPr>
        <p:blipFill>
          <a:blip r:embed="rId4"/>
          <a:stretch/>
        </p:blipFill>
        <p:spPr>
          <a:xfrm>
            <a:off x="6557040" y="4316760"/>
            <a:ext cx="281160" cy="281160"/>
          </a:xfrm>
          <a:prstGeom prst="rect">
            <a:avLst/>
          </a:prstGeom>
          <a:ln w="0">
            <a:noFill/>
          </a:ln>
        </p:spPr>
      </p:pic>
      <p:sp>
        <p:nvSpPr>
          <p:cNvPr id="495" name="Text 22"/>
          <p:cNvSpPr/>
          <p:nvPr/>
        </p:nvSpPr>
        <p:spPr>
          <a:xfrm>
            <a:off x="7132320" y="4206240"/>
            <a:ext cx="4388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231F20"/>
                </a:solidFill>
                <a:latin typeface="Open Sans"/>
                <a:ea typeface="Open Sans"/>
              </a:rPr>
              <a:t>Least privilege as policy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6" name="Text 23"/>
          <p:cNvSpPr/>
          <p:nvPr/>
        </p:nvSpPr>
        <p:spPr>
          <a:xfrm>
            <a:off x="6446520" y="4800600"/>
            <a:ext cx="507456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3A3536"/>
                </a:solidFill>
                <a:latin typeface="Calibri"/>
                <a:ea typeface="Calibri"/>
              </a:rPr>
              <a:t>“Deny unneeded paths” becomes a written control with an owner — not a deployment-time afterthought.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7" name="Shape 24"/>
          <p:cNvSpPr/>
          <p:nvPr/>
        </p:nvSpPr>
        <p:spPr>
          <a:xfrm>
            <a:off x="0" y="0"/>
            <a:ext cx="12161160" cy="7272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98" name="Image 4" descr="fhb_logo.png"/>
          <p:cNvPicPr/>
          <p:nvPr/>
        </p:nvPicPr>
        <p:blipFill>
          <a:blip r:embed="rId3"/>
          <a:stretch/>
        </p:blipFill>
        <p:spPr>
          <a:xfrm>
            <a:off x="10031040" y="146160"/>
            <a:ext cx="1828440" cy="338040"/>
          </a:xfrm>
          <a:prstGeom prst="rect">
            <a:avLst/>
          </a:prstGeom>
          <a:ln w="0">
            <a:noFill/>
          </a:ln>
        </p:spPr>
      </p:pic>
      <p:sp>
        <p:nvSpPr>
          <p:cNvPr id="499" name="Shape 25"/>
          <p:cNvSpPr/>
          <p:nvPr/>
        </p:nvSpPr>
        <p:spPr>
          <a:xfrm>
            <a:off x="457200" y="6583680"/>
            <a:ext cx="11274120" cy="1980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Shape 26"/>
          <p:cNvSpPr/>
          <p:nvPr/>
        </p:nvSpPr>
        <p:spPr>
          <a:xfrm>
            <a:off x="457200" y="6510600"/>
            <a:ext cx="164160" cy="16416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1" name="Text 27"/>
          <p:cNvSpPr/>
          <p:nvPr/>
        </p:nvSpPr>
        <p:spPr>
          <a:xfrm>
            <a:off x="713160" y="64008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MCP Security  ·  Deck 3 of 3  ·  NSA Guidance (May 2026)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Text 28"/>
          <p:cNvSpPr/>
          <p:nvPr/>
        </p:nvSpPr>
        <p:spPr>
          <a:xfrm>
            <a:off x="1115568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16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A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03" name="Shape 0"/>
          <p:cNvSpPr/>
          <p:nvPr/>
        </p:nvSpPr>
        <p:spPr>
          <a:xfrm>
            <a:off x="0" y="0"/>
            <a:ext cx="12161160" cy="7272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4" name="Shape 1"/>
          <p:cNvSpPr/>
          <p:nvPr/>
        </p:nvSpPr>
        <p:spPr>
          <a:xfrm>
            <a:off x="9829800" y="164520"/>
            <a:ext cx="2057040" cy="5025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05" name="Image 0" descr="fhb_logo.png"/>
          <p:cNvPicPr/>
          <p:nvPr/>
        </p:nvPicPr>
        <p:blipFill>
          <a:blip r:embed="rId2"/>
          <a:stretch/>
        </p:blipFill>
        <p:spPr>
          <a:xfrm>
            <a:off x="9921240" y="255960"/>
            <a:ext cx="1828440" cy="338040"/>
          </a:xfrm>
          <a:prstGeom prst="rect">
            <a:avLst/>
          </a:prstGeom>
          <a:ln w="0">
            <a:noFill/>
          </a:ln>
        </p:spPr>
      </p:pic>
      <p:sp>
        <p:nvSpPr>
          <p:cNvPr id="506" name="Shape 2"/>
          <p:cNvSpPr/>
          <p:nvPr/>
        </p:nvSpPr>
        <p:spPr>
          <a:xfrm>
            <a:off x="457200" y="6583680"/>
            <a:ext cx="11274120" cy="1980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Shape 3"/>
          <p:cNvSpPr/>
          <p:nvPr/>
        </p:nvSpPr>
        <p:spPr>
          <a:xfrm>
            <a:off x="457200" y="6510600"/>
            <a:ext cx="164160" cy="1641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Shape 4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B886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9" name="Text 5"/>
          <p:cNvSpPr/>
          <p:nvPr/>
        </p:nvSpPr>
        <p:spPr>
          <a:xfrm>
            <a:off x="457200" y="457200"/>
            <a:ext cx="9417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299">
                <a:solidFill>
                  <a:srgbClr val="F0B968"/>
                </a:solidFill>
                <a:latin typeface="Calibri"/>
                <a:ea typeface="Calibri"/>
              </a:rPr>
              <a:t>CONCLUSION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0" name="Text 6"/>
          <p:cNvSpPr/>
          <p:nvPr/>
        </p:nvSpPr>
        <p:spPr>
          <a:xfrm>
            <a:off x="777240" y="868680"/>
            <a:ext cx="107895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strike="noStrike" spc="-1">
                <a:solidFill>
                  <a:srgbClr val="FFFFFF"/>
                </a:solidFill>
                <a:latin typeface="Open Sans"/>
                <a:ea typeface="Open Sans"/>
              </a:rPr>
              <a:t>Discipline, not protocol guarantees</a:t>
            </a:r>
            <a:endParaRPr lang="en-US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1" name="Text 7"/>
          <p:cNvSpPr/>
          <p:nvPr/>
        </p:nvSpPr>
        <p:spPr>
          <a:xfrm>
            <a:off x="822960" y="169164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strike="noStrike" spc="-1">
                <a:solidFill>
                  <a:srgbClr val="F0E8DC"/>
                </a:solidFill>
                <a:latin typeface="Calibri"/>
                <a:ea typeface="Calibri"/>
              </a:rPr>
              <a:t>MCP is a promising foundation for agentic AI — but its security posture is uneven and depends on how it's implemented, not on what the protocol guarantees.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2" name="Shape 8"/>
          <p:cNvSpPr/>
          <p:nvPr/>
        </p:nvSpPr>
        <p:spPr>
          <a:xfrm>
            <a:off x="822960" y="2606040"/>
            <a:ext cx="3382920" cy="21942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8A6A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Shape 9"/>
          <p:cNvSpPr/>
          <p:nvPr/>
        </p:nvSpPr>
        <p:spPr>
          <a:xfrm>
            <a:off x="1097280" y="2834640"/>
            <a:ext cx="502560" cy="502560"/>
          </a:xfrm>
          <a:prstGeom prst="ellipse">
            <a:avLst/>
          </a:prstGeom>
          <a:solidFill>
            <a:srgbClr val="B886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4" name="Text 10"/>
          <p:cNvSpPr/>
          <p:nvPr/>
        </p:nvSpPr>
        <p:spPr>
          <a:xfrm>
            <a:off x="1097280" y="28346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FFFFFF"/>
                </a:solidFill>
                <a:latin typeface="Open Sans"/>
                <a:ea typeface="Open Sans"/>
              </a:rPr>
              <a:t>1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5" name="Text 11"/>
          <p:cNvSpPr/>
          <p:nvPr/>
        </p:nvSpPr>
        <p:spPr>
          <a:xfrm>
            <a:off x="1097280" y="3474720"/>
            <a:ext cx="28342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FFFFFF"/>
                </a:solidFill>
                <a:latin typeface="Open Sans"/>
                <a:ea typeface="Open Sans"/>
              </a:rPr>
              <a:t>Proceed with caution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6" name="Text 12"/>
          <p:cNvSpPr/>
          <p:nvPr/>
        </p:nvSpPr>
        <p:spPr>
          <a:xfrm>
            <a:off x="1097280" y="4114800"/>
            <a:ext cx="288000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E8DFD2"/>
                </a:solidFill>
                <a:latin typeface="Calibri"/>
                <a:ea typeface="Calibri"/>
              </a:rPr>
              <a:t>Apply heightened scrutiny to the novel integration and automation patterns MCP introduces.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7" name="Shape 13"/>
          <p:cNvSpPr/>
          <p:nvPr/>
        </p:nvSpPr>
        <p:spPr>
          <a:xfrm>
            <a:off x="4434840" y="2606040"/>
            <a:ext cx="3382920" cy="21942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8A6A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Shape 14"/>
          <p:cNvSpPr/>
          <p:nvPr/>
        </p:nvSpPr>
        <p:spPr>
          <a:xfrm>
            <a:off x="4709160" y="2834640"/>
            <a:ext cx="502560" cy="502560"/>
          </a:xfrm>
          <a:prstGeom prst="ellipse">
            <a:avLst/>
          </a:prstGeom>
          <a:solidFill>
            <a:srgbClr val="B886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9" name="Text 15"/>
          <p:cNvSpPr/>
          <p:nvPr/>
        </p:nvSpPr>
        <p:spPr>
          <a:xfrm>
            <a:off x="4709160" y="28346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FFFFFF"/>
                </a:solidFill>
                <a:latin typeface="Open Sans"/>
                <a:ea typeface="Open Sans"/>
              </a:rPr>
              <a:t>2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0" name="Text 16"/>
          <p:cNvSpPr/>
          <p:nvPr/>
        </p:nvSpPr>
        <p:spPr>
          <a:xfrm>
            <a:off x="4709160" y="3474720"/>
            <a:ext cx="28342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FFFFFF"/>
                </a:solidFill>
                <a:latin typeface="Open Sans"/>
                <a:ea typeface="Open Sans"/>
              </a:rPr>
              <a:t>Borrow hard-won lessons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1" name="Text 17"/>
          <p:cNvSpPr/>
          <p:nvPr/>
        </p:nvSpPr>
        <p:spPr>
          <a:xfrm>
            <a:off x="4709160" y="4114800"/>
            <a:ext cx="288000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 dirty="0">
                <a:solidFill>
                  <a:srgbClr val="E8DFD2"/>
                </a:solidFill>
                <a:latin typeface="Calibri"/>
                <a:ea typeface="Calibri"/>
              </a:rPr>
              <a:t>Treat MCP like distributed systems — the failure modes are similar.</a:t>
            </a:r>
            <a:endParaRPr lang="en-US" sz="12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2" name="Shape 18"/>
          <p:cNvSpPr/>
          <p:nvPr/>
        </p:nvSpPr>
        <p:spPr>
          <a:xfrm>
            <a:off x="8046720" y="2606040"/>
            <a:ext cx="3382920" cy="21942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8A6A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3" name="Shape 19"/>
          <p:cNvSpPr/>
          <p:nvPr/>
        </p:nvSpPr>
        <p:spPr>
          <a:xfrm>
            <a:off x="8321040" y="2834640"/>
            <a:ext cx="502560" cy="502560"/>
          </a:xfrm>
          <a:prstGeom prst="ellipse">
            <a:avLst/>
          </a:prstGeom>
          <a:solidFill>
            <a:srgbClr val="B886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4" name="Text 20"/>
          <p:cNvSpPr/>
          <p:nvPr/>
        </p:nvSpPr>
        <p:spPr>
          <a:xfrm>
            <a:off x="8321040" y="28346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FFFFFF"/>
                </a:solidFill>
                <a:latin typeface="Open Sans"/>
                <a:ea typeface="Open Sans"/>
              </a:rPr>
              <a:t>3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5" name="Text 21"/>
          <p:cNvSpPr/>
          <p:nvPr/>
        </p:nvSpPr>
        <p:spPr>
          <a:xfrm>
            <a:off x="8321040" y="3474720"/>
            <a:ext cx="28342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FFFFFF"/>
                </a:solidFill>
                <a:latin typeface="Open Sans"/>
                <a:ea typeface="Open Sans"/>
              </a:rPr>
              <a:t>Security is your job, not the spec's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6" name="Text 22"/>
          <p:cNvSpPr/>
          <p:nvPr/>
        </p:nvSpPr>
        <p:spPr>
          <a:xfrm>
            <a:off x="8321040" y="4114800"/>
            <a:ext cx="288000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E8DFD2"/>
                </a:solidFill>
                <a:latin typeface="Calibri"/>
                <a:ea typeface="Calibri"/>
              </a:rPr>
              <a:t>The protocol openly can't enforce its own principles. Layer the controls in this deck on top.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1892</Words>
  <Application>Microsoft Macintosh PowerPoint</Application>
  <PresentationFormat>Widescreen</PresentationFormat>
  <Paragraphs>255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Consolas</vt:lpstr>
      <vt:lpstr>Open Sans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James Jaworski</cp:lastModifiedBy>
  <cp:revision>2</cp:revision>
  <dcterms:modified xsi:type="dcterms:W3CDTF">2026-05-29T06:54:58Z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2026-05-29T02:46:07Z</dcterms:created>
  <dc:creator>Jamie — FHB Cybersecurity &amp; Technology</dc:creator>
  <dc:description/>
  <dc:language>en-US</dc:language>
  <cp:lastModifiedBy>Jamie — FHB Cybersecurity &amp; Technology</cp:lastModifiedBy>
  <dcterms:modified xsi:type="dcterms:W3CDTF">2026-05-29T02:46:07Z</dcterms:modified>
  <cp:revision>1</cp:revision>
  <dc:subject>PptxGenJS Presentation</dc:subject>
  <dc:title>MCP &amp; Agentic AI: Architecture and Mechanics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15</vt:r8>
  </property>
  <property fmtid="{D5CDD505-2E9C-101B-9397-08002B2CF9AE}" pid="3" name="PresentationFormat">
    <vt:lpwstr>On-screen Show (16:9)</vt:lpwstr>
  </property>
  <property fmtid="{D5CDD505-2E9C-101B-9397-08002B2CF9AE}" pid="4" name="Slides">
    <vt:r8>15</vt:r8>
  </property>
</Properties>
</file>