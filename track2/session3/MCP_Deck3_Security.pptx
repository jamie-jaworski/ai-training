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58"/>
  </p:normalViewPr>
  <p:slideViewPr>
    <p:cSldViewPr snapToGrid="0">
      <p:cViewPr>
        <p:scale>
          <a:sx n="118" d="100"/>
          <a:sy n="118" d="100"/>
        </p:scale>
        <p:origin x="1288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Click to move the slide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buNone/>
            </a:pPr>
            <a:r>
              <a:rPr lang="en-US" sz="2000" b="0" strike="noStrike" spc="-1">
                <a:solidFill>
                  <a:srgbClr val="000000"/>
                </a:solidFill>
                <a:latin typeface="Arial"/>
              </a:rPr>
              <a:t>Click to edit the notes format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&lt;header&gt;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&lt;date/time&gt;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&lt;footer&gt;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07EEF399-9D72-4F3B-8FFF-76F0E2B0C20B}" type="slidenum">
              <a:rPr lang="en-US" sz="1400" b="0" strike="noStrike" spc="-1">
                <a:solidFill>
                  <a:srgbClr val="000000"/>
                </a:solidFill>
                <a:latin typeface="Times New Roman"/>
              </a:rPr>
              <a:t>‹#›</a:t>
            </a:fld>
            <a:endParaRPr lang="en-US" sz="14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7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1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C031C71-8F61-4B3A-BAA2-F2E87FEBEFFB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7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4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0DFB3BB-7EEE-411A-AD9C-40B89BDE180B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2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7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7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3E51B2B-7EE0-41A8-AAEF-64CF17DDDFAF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3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7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0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FA11611-4F58-45F0-8A0B-9DE91B2E04C0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4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8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3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003EACE-9DCC-4AAE-AE1D-30EEA32F3E63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5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8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6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BDC695F-D0D3-4B62-A644-F2A29CC16FA8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6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8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9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5C80DF8-B810-4C7C-A346-B92F225E7547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7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59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2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2730585-5590-4130-823B-10A2DC66EFF4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8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5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81F0151-E148-4EBE-BF8C-75289D6B9631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9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5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8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11538B5-0152-46A9-BF7F-4F4F626CCD69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10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1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EC6A49C-2197-479B-855B-9693277FE8D9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11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4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B09F4E9-5D2C-44AD-9D23-8136E5505012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12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7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D7E6A96-5DAD-4EB9-9962-15B71277BE0F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13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0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73A2762-0ABC-4E44-8567-76A52CAEC728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14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6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3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806582D-A2CD-4B66-AAA9-8EC3E31990DF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15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6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461D2DE-462B-425A-9278-F17B6F265EAE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16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ln w="0">
            <a:noFill/>
          </a:ln>
        </p:spPr>
      </p:sp>
      <p:sp>
        <p:nvSpPr>
          <p:cNvPr id="6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16000" indent="-216000">
              <a:buNone/>
            </a:pP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9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strike="noStrike" spc="-1">
                <a:solidFill>
                  <a:schemeClr val="dk1"/>
                </a:solidFill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59AD843-F226-47E4-B23B-675D22E4BC59}" type="slidenum">
              <a:rPr lang="en-US" sz="1200" b="0" strike="noStrike" spc="-1">
                <a:solidFill>
                  <a:schemeClr val="dk1"/>
                </a:solidFill>
                <a:latin typeface="+mn-lt"/>
                <a:ea typeface="+mn-ea"/>
              </a:rPr>
              <a:t>17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strike="noStrike" spc="-1">
                <a:solidFill>
                  <a:schemeClr val="dk1"/>
                </a:solidFill>
                <a:latin typeface="Calibri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solidFill>
                  <a:schemeClr val="dk1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strike="noStrike" spc="-1">
                <a:solidFill>
                  <a:schemeClr val="dk1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chemeClr val="dk1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5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8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1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8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7.png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0" descr="fhb_rainbow.png"/>
          <p:cNvPicPr/>
          <p:nvPr/>
        </p:nvPicPr>
        <p:blipFill>
          <a:blip r:embed="rId3"/>
          <a:stretch/>
        </p:blipFill>
        <p:spPr>
          <a:xfrm>
            <a:off x="-1554480" y="1828800"/>
            <a:ext cx="5028840" cy="5028840"/>
          </a:xfrm>
          <a:prstGeom prst="rect">
            <a:avLst/>
          </a:prstGeom>
          <a:ln w="0">
            <a:noFill/>
          </a:ln>
        </p:spPr>
      </p:pic>
      <p:pic>
        <p:nvPicPr>
          <p:cNvPr id="9" name="Image 1" descr="fhb_logo.png"/>
          <p:cNvPicPr/>
          <p:nvPr/>
        </p:nvPicPr>
        <p:blipFill>
          <a:blip r:embed="rId4"/>
          <a:stretch/>
        </p:blipFill>
        <p:spPr>
          <a:xfrm>
            <a:off x="8686800" y="457200"/>
            <a:ext cx="2742840" cy="502560"/>
          </a:xfrm>
          <a:prstGeom prst="rect">
            <a:avLst/>
          </a:prstGeom>
          <a:ln w="0">
            <a:noFill/>
          </a:ln>
        </p:spPr>
      </p:pic>
      <p:sp>
        <p:nvSpPr>
          <p:cNvPr id="10" name="Text 0"/>
          <p:cNvSpPr/>
          <p:nvPr/>
        </p:nvSpPr>
        <p:spPr>
          <a:xfrm>
            <a:off x="4572000" y="2011680"/>
            <a:ext cx="694908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299">
                <a:solidFill>
                  <a:srgbClr val="8B0E15"/>
                </a:solidFill>
                <a:latin typeface="Calibri"/>
                <a:ea typeface="Calibri"/>
              </a:rPr>
              <a:t>AI TRAINING SERIES  ·  PART 3 OF 3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Text 1"/>
          <p:cNvSpPr/>
          <p:nvPr/>
        </p:nvSpPr>
        <p:spPr>
          <a:xfrm>
            <a:off x="4526280" y="2423160"/>
            <a:ext cx="704052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600" b="1" strike="noStrike" spc="-1">
                <a:solidFill>
                  <a:srgbClr val="8B0E15"/>
                </a:solidFill>
                <a:latin typeface="Open Sans"/>
                <a:ea typeface="Open Sans"/>
              </a:rPr>
              <a:t>MCP Security</a:t>
            </a:r>
            <a:endParaRPr lang="en-US" sz="4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Text 2"/>
          <p:cNvSpPr/>
          <p:nvPr/>
        </p:nvSpPr>
        <p:spPr>
          <a:xfrm>
            <a:off x="4572000" y="3383280"/>
            <a:ext cx="69490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0" strike="noStrike" spc="-1">
                <a:solidFill>
                  <a:srgbClr val="231F20"/>
                </a:solidFill>
                <a:latin typeface="Open Sans"/>
                <a:ea typeface="Open Sans"/>
              </a:rPr>
              <a:t>What the spec can't enforce</a:t>
            </a:r>
            <a:endParaRPr lang="en-US" sz="2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Shape 3"/>
          <p:cNvSpPr/>
          <p:nvPr/>
        </p:nvSpPr>
        <p:spPr>
          <a:xfrm>
            <a:off x="4572000" y="3977640"/>
            <a:ext cx="2742840" cy="27000"/>
          </a:xfrm>
          <a:prstGeom prst="rect">
            <a:avLst/>
          </a:prstGeom>
          <a:solidFill>
            <a:srgbClr val="F5A8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17640" rIns="90000" bIns="-1764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Text 4"/>
          <p:cNvSpPr/>
          <p:nvPr/>
        </p:nvSpPr>
        <p:spPr>
          <a:xfrm>
            <a:off x="4572000" y="4160520"/>
            <a:ext cx="68576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strike="noStrike" spc="-1">
                <a:solidFill>
                  <a:srgbClr val="3A3536"/>
                </a:solidFill>
                <a:latin typeface="Calibri"/>
                <a:ea typeface="Calibri"/>
              </a:rPr>
              <a:t>The design gaps, demonstrated exploits, and concrete controls for adopting MCP in a high-stakes environment.</a:t>
            </a:r>
            <a:endParaRPr lang="en-US" sz="14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Shape 5"/>
          <p:cNvSpPr/>
          <p:nvPr/>
        </p:nvSpPr>
        <p:spPr>
          <a:xfrm>
            <a:off x="4572000" y="5029200"/>
            <a:ext cx="6857640" cy="914040"/>
          </a:xfrm>
          <a:prstGeom prst="rect">
            <a:avLst/>
          </a:prstGeom>
          <a:solidFill>
            <a:srgbClr val="FBF1E3"/>
          </a:solidFill>
          <a:ln w="12700">
            <a:solidFill>
              <a:srgbClr val="F5A800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Shape 6"/>
          <p:cNvSpPr/>
          <p:nvPr/>
        </p:nvSpPr>
        <p:spPr>
          <a:xfrm>
            <a:off x="4754880" y="5230440"/>
            <a:ext cx="456840" cy="4568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" name="Image 2" descr="preencoded.png"/>
          <p:cNvPicPr/>
          <p:nvPr/>
        </p:nvPicPr>
        <p:blipFill>
          <a:blip r:embed="rId5"/>
          <a:stretch/>
        </p:blipFill>
        <p:spPr>
          <a:xfrm>
            <a:off x="4855320" y="5330880"/>
            <a:ext cx="255600" cy="255600"/>
          </a:xfrm>
          <a:prstGeom prst="rect">
            <a:avLst/>
          </a:prstGeom>
          <a:ln w="0">
            <a:noFill/>
          </a:ln>
        </p:spPr>
      </p:pic>
      <p:sp>
        <p:nvSpPr>
          <p:cNvPr id="18" name="Text 7"/>
          <p:cNvSpPr/>
          <p:nvPr/>
        </p:nvSpPr>
        <p:spPr>
          <a:xfrm>
            <a:off x="5349240" y="5029200"/>
            <a:ext cx="594324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1" strike="noStrike" spc="-1">
                <a:solidFill>
                  <a:srgbClr val="8A5A12"/>
                </a:solidFill>
                <a:latin typeface="Calibri"/>
                <a:ea typeface="Calibri"/>
              </a:rPr>
              <a:t>Source   </a:t>
            </a:r>
            <a:r>
              <a:rPr lang="en-US" sz="1150" b="0" strike="noStrike" spc="-1">
                <a:solidFill>
                  <a:srgbClr val="8A5A12"/>
                </a:solidFill>
                <a:latin typeface="Calibri"/>
                <a:ea typeface="Calibri"/>
              </a:rPr>
              <a:t>NSA Cybersecurity Information Sheet — “Model Context Protocol (MCP): Security Design Considerations,” May 2026.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Text 8"/>
          <p:cNvSpPr/>
          <p:nvPr/>
        </p:nvSpPr>
        <p:spPr>
          <a:xfrm>
            <a:off x="4572000" y="6035040"/>
            <a:ext cx="68576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0" i="1" strike="noStrike" spc="-1">
                <a:solidFill>
                  <a:srgbClr val="8A8385"/>
                </a:solidFill>
                <a:latin typeface="Calibri"/>
                <a:ea typeface="Calibri"/>
              </a:rPr>
              <a:t>Deck 2 ended on the spec's own admission. This deck is the answer to it.</a:t>
            </a:r>
            <a:endParaRPr lang="en-US" sz="1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0"/>
          <p:cNvSpPr/>
          <p:nvPr/>
        </p:nvSpPr>
        <p:spPr>
          <a:xfrm>
            <a:off x="457200" y="457200"/>
            <a:ext cx="94179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299">
                <a:solidFill>
                  <a:srgbClr val="8B0E15"/>
                </a:solidFill>
                <a:latin typeface="Calibri"/>
                <a:ea typeface="Calibri"/>
              </a:rPr>
              <a:t>WHY THIS IS DIFFERENT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Text 1"/>
          <p:cNvSpPr/>
          <p:nvPr/>
        </p:nvSpPr>
        <p:spPr>
          <a:xfrm>
            <a:off x="457200" y="73152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231F20"/>
                </a:solidFill>
                <a:latin typeface="Open Sans"/>
                <a:ea typeface="Open Sans"/>
              </a:rPr>
              <a:t>Old controls still apply — but they're not enough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Text 2"/>
          <p:cNvSpPr/>
          <p:nvPr/>
        </p:nvSpPr>
        <p:spPr>
          <a:xfrm>
            <a:off x="457200" y="1371600"/>
            <a:ext cx="112467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strike="noStrike" spc="-1">
                <a:solidFill>
                  <a:srgbClr val="3A3536"/>
                </a:solidFill>
                <a:latin typeface="Calibri"/>
                <a:ea typeface="Calibri"/>
              </a:rPr>
              <a:t>Authentication, authorization, and input validation remain necessary. But agentic systems introduce novel, systemic risks that traditional cyber defense doesn't address.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Shape 3"/>
          <p:cNvSpPr/>
          <p:nvPr/>
        </p:nvSpPr>
        <p:spPr>
          <a:xfrm>
            <a:off x="457200" y="2148840"/>
            <a:ext cx="3520080" cy="2285640"/>
          </a:xfrm>
          <a:prstGeom prst="rect">
            <a:avLst/>
          </a:prstGeom>
          <a:solidFill>
            <a:srgbClr val="F7F4EF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Shape 4"/>
          <p:cNvSpPr/>
          <p:nvPr/>
        </p:nvSpPr>
        <p:spPr>
          <a:xfrm>
            <a:off x="457200" y="2148840"/>
            <a:ext cx="3520080" cy="109440"/>
          </a:xfrm>
          <a:prstGeom prst="rect">
            <a:avLst/>
          </a:prstGeom>
          <a:solidFill>
            <a:srgbClr val="B8860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Shape 5"/>
          <p:cNvSpPr/>
          <p:nvPr/>
        </p:nvSpPr>
        <p:spPr>
          <a:xfrm>
            <a:off x="731520" y="2377440"/>
            <a:ext cx="566640" cy="566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6" name="Image 0" descr="preencoded.png"/>
          <p:cNvPicPr/>
          <p:nvPr/>
        </p:nvPicPr>
        <p:blipFill>
          <a:blip r:embed="rId3"/>
          <a:stretch/>
        </p:blipFill>
        <p:spPr>
          <a:xfrm>
            <a:off x="856080" y="2502000"/>
            <a:ext cx="317160" cy="317160"/>
          </a:xfrm>
          <a:prstGeom prst="rect">
            <a:avLst/>
          </a:prstGeom>
          <a:ln w="0">
            <a:noFill/>
          </a:ln>
        </p:spPr>
      </p:pic>
      <p:sp>
        <p:nvSpPr>
          <p:cNvPr id="27" name="Text 6"/>
          <p:cNvSpPr/>
          <p:nvPr/>
        </p:nvSpPr>
        <p:spPr>
          <a:xfrm>
            <a:off x="731520" y="3090600"/>
            <a:ext cx="30171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strike="noStrike" spc="-1">
                <a:solidFill>
                  <a:srgbClr val="231F20"/>
                </a:solidFill>
                <a:latin typeface="Open Sans"/>
                <a:ea typeface="Open Sans"/>
              </a:rPr>
              <a:t>Dynamic tool invocation</a:t>
            </a:r>
            <a:endParaRPr lang="en-US" sz="16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Text 7"/>
          <p:cNvSpPr/>
          <p:nvPr/>
        </p:nvSpPr>
        <p:spPr>
          <a:xfrm>
            <a:off x="731520" y="3611880"/>
            <a:ext cx="306288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3A3536"/>
                </a:solidFill>
                <a:latin typeface="Calibri"/>
                <a:ea typeface="Calibri"/>
              </a:rPr>
              <a:t>Agents can autonomously call new tools at runtime — the set of actions isn't fixed or known in advance.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Shape 8"/>
          <p:cNvSpPr/>
          <p:nvPr/>
        </p:nvSpPr>
        <p:spPr>
          <a:xfrm>
            <a:off x="4251960" y="2148840"/>
            <a:ext cx="3520080" cy="2285640"/>
          </a:xfrm>
          <a:prstGeom prst="rect">
            <a:avLst/>
          </a:prstGeom>
          <a:solidFill>
            <a:srgbClr val="F7F4EF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Shape 9"/>
          <p:cNvSpPr/>
          <p:nvPr/>
        </p:nvSpPr>
        <p:spPr>
          <a:xfrm>
            <a:off x="4251960" y="2148840"/>
            <a:ext cx="3520080" cy="109440"/>
          </a:xfrm>
          <a:prstGeom prst="rect">
            <a:avLst/>
          </a:prstGeom>
          <a:solidFill>
            <a:srgbClr val="B8860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Shape 10"/>
          <p:cNvSpPr/>
          <p:nvPr/>
        </p:nvSpPr>
        <p:spPr>
          <a:xfrm>
            <a:off x="4526280" y="2377440"/>
            <a:ext cx="566640" cy="566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2" name="Image 1" descr="preencoded.png"/>
          <p:cNvPicPr/>
          <p:nvPr/>
        </p:nvPicPr>
        <p:blipFill>
          <a:blip r:embed="rId4"/>
          <a:stretch/>
        </p:blipFill>
        <p:spPr>
          <a:xfrm>
            <a:off x="4650840" y="2502000"/>
            <a:ext cx="317160" cy="317160"/>
          </a:xfrm>
          <a:prstGeom prst="rect">
            <a:avLst/>
          </a:prstGeom>
          <a:ln w="0">
            <a:noFill/>
          </a:ln>
        </p:spPr>
      </p:pic>
      <p:sp>
        <p:nvSpPr>
          <p:cNvPr id="33" name="Text 11"/>
          <p:cNvSpPr/>
          <p:nvPr/>
        </p:nvSpPr>
        <p:spPr>
          <a:xfrm>
            <a:off x="4526280" y="3090600"/>
            <a:ext cx="30171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strike="noStrike" spc="-1">
                <a:solidFill>
                  <a:srgbClr val="231F20"/>
                </a:solidFill>
                <a:latin typeface="Open Sans"/>
                <a:ea typeface="Open Sans"/>
              </a:rPr>
              <a:t>Implicit trust</a:t>
            </a:r>
            <a:endParaRPr lang="en-US" sz="16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Text 12"/>
          <p:cNvSpPr/>
          <p:nvPr/>
        </p:nvSpPr>
        <p:spPr>
          <a:xfrm>
            <a:off x="4526280" y="3611880"/>
            <a:ext cx="306288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3A3536"/>
                </a:solidFill>
                <a:latin typeface="Calibri"/>
                <a:ea typeface="Calibri"/>
              </a:rPr>
              <a:t>One agent's output is assumed valid by the next, with no explicit verification between them.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Shape 13"/>
          <p:cNvSpPr/>
          <p:nvPr/>
        </p:nvSpPr>
        <p:spPr>
          <a:xfrm>
            <a:off x="8046720" y="2148840"/>
            <a:ext cx="3520080" cy="2285640"/>
          </a:xfrm>
          <a:prstGeom prst="rect">
            <a:avLst/>
          </a:prstGeom>
          <a:solidFill>
            <a:srgbClr val="F7F4EF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Shape 14"/>
          <p:cNvSpPr/>
          <p:nvPr/>
        </p:nvSpPr>
        <p:spPr>
          <a:xfrm>
            <a:off x="8046720" y="2148840"/>
            <a:ext cx="3520080" cy="109440"/>
          </a:xfrm>
          <a:prstGeom prst="rect">
            <a:avLst/>
          </a:prstGeom>
          <a:solidFill>
            <a:srgbClr val="B8860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Shape 15"/>
          <p:cNvSpPr/>
          <p:nvPr/>
        </p:nvSpPr>
        <p:spPr>
          <a:xfrm>
            <a:off x="8321040" y="2377440"/>
            <a:ext cx="566640" cy="566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8" name="Image 2" descr="preencoded.png"/>
          <p:cNvPicPr/>
          <p:nvPr/>
        </p:nvPicPr>
        <p:blipFill>
          <a:blip r:embed="rId5"/>
          <a:stretch/>
        </p:blipFill>
        <p:spPr>
          <a:xfrm>
            <a:off x="8445600" y="2502000"/>
            <a:ext cx="317160" cy="317160"/>
          </a:xfrm>
          <a:prstGeom prst="rect">
            <a:avLst/>
          </a:prstGeom>
          <a:ln w="0">
            <a:noFill/>
          </a:ln>
        </p:spPr>
      </p:pic>
      <p:sp>
        <p:nvSpPr>
          <p:cNvPr id="39" name="Text 16"/>
          <p:cNvSpPr/>
          <p:nvPr/>
        </p:nvSpPr>
        <p:spPr>
          <a:xfrm>
            <a:off x="8321040" y="3090600"/>
            <a:ext cx="30171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strike="noStrike" spc="-1">
                <a:solidFill>
                  <a:srgbClr val="231F20"/>
                </a:solidFill>
                <a:latin typeface="Open Sans"/>
                <a:ea typeface="Open Sans"/>
              </a:rPr>
              <a:t>Context sharing</a:t>
            </a:r>
            <a:endParaRPr lang="en-US" sz="16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Text 17"/>
          <p:cNvSpPr/>
          <p:nvPr/>
        </p:nvSpPr>
        <p:spPr>
          <a:xfrm>
            <a:off x="8321040" y="3611880"/>
            <a:ext cx="306288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3A3536"/>
                </a:solidFill>
                <a:latin typeface="Calibri"/>
                <a:ea typeface="Calibri"/>
              </a:rPr>
              <a:t>Long-lived or overlapping context windows can leak, blend, or misalign across tasks.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Shape 18"/>
          <p:cNvSpPr/>
          <p:nvPr/>
        </p:nvSpPr>
        <p:spPr>
          <a:xfrm>
            <a:off x="457200" y="4709160"/>
            <a:ext cx="11246760" cy="1279800"/>
          </a:xfrm>
          <a:prstGeom prst="rect">
            <a:avLst/>
          </a:prstGeom>
          <a:solidFill>
            <a:srgbClr val="5A0E1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Shape 19"/>
          <p:cNvSpPr/>
          <p:nvPr/>
        </p:nvSpPr>
        <p:spPr>
          <a:xfrm>
            <a:off x="457200" y="4709160"/>
            <a:ext cx="109440" cy="1279800"/>
          </a:xfrm>
          <a:prstGeom prst="rect">
            <a:avLst/>
          </a:prstGeom>
          <a:solidFill>
            <a:srgbClr val="B8860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" name="Text 20"/>
          <p:cNvSpPr/>
          <p:nvPr/>
        </p:nvSpPr>
        <p:spPr>
          <a:xfrm>
            <a:off x="777240" y="4864680"/>
            <a:ext cx="10515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299">
                <a:solidFill>
                  <a:srgbClr val="F5A800"/>
                </a:solidFill>
                <a:latin typeface="Calibri"/>
                <a:ea typeface="Calibri"/>
              </a:rPr>
              <a:t>THE LIFECYCLE IS THE ATTACK SURFACE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Text 21"/>
          <p:cNvSpPr/>
          <p:nvPr/>
        </p:nvSpPr>
        <p:spPr>
          <a:xfrm>
            <a:off x="777240" y="5139000"/>
            <a:ext cx="1078956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0" strike="noStrike" spc="-1">
                <a:solidFill>
                  <a:srgbClr val="F0E8DC"/>
                </a:solidFill>
                <a:latin typeface="Calibri"/>
                <a:ea typeface="Calibri"/>
              </a:rPr>
              <a:t>These aren't endpoint bugs you patch in isolation. They span the whole lifecycle — protocol design, agent behavior, runtime scheduling, external integration, and monitoring. A subtle inconsistency at any stage can propagate and compound into an exploitable condition.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Shape 22"/>
          <p:cNvSpPr/>
          <p:nvPr/>
        </p:nvSpPr>
        <p:spPr>
          <a:xfrm>
            <a:off x="0" y="0"/>
            <a:ext cx="12161160" cy="7272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6" name="Image 3" descr="fhb_logo.png"/>
          <p:cNvPicPr/>
          <p:nvPr/>
        </p:nvPicPr>
        <p:blipFill>
          <a:blip r:embed="rId6"/>
          <a:stretch/>
        </p:blipFill>
        <p:spPr>
          <a:xfrm>
            <a:off x="10031040" y="146160"/>
            <a:ext cx="1828440" cy="338040"/>
          </a:xfrm>
          <a:prstGeom prst="rect">
            <a:avLst/>
          </a:prstGeom>
          <a:ln w="0">
            <a:noFill/>
          </a:ln>
        </p:spPr>
      </p:pic>
      <p:sp>
        <p:nvSpPr>
          <p:cNvPr id="47" name="Shape 23"/>
          <p:cNvSpPr/>
          <p:nvPr/>
        </p:nvSpPr>
        <p:spPr>
          <a:xfrm>
            <a:off x="457200" y="6583680"/>
            <a:ext cx="11274120" cy="19800"/>
          </a:xfrm>
          <a:prstGeom prst="rect">
            <a:avLst/>
          </a:prstGeom>
          <a:solidFill>
            <a:srgbClr val="F5A8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4840" rIns="90000" bIns="-2484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Shape 24"/>
          <p:cNvSpPr/>
          <p:nvPr/>
        </p:nvSpPr>
        <p:spPr>
          <a:xfrm>
            <a:off x="457200" y="6510600"/>
            <a:ext cx="164160" cy="16416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Text 25"/>
          <p:cNvSpPr/>
          <p:nvPr/>
        </p:nvSpPr>
        <p:spPr>
          <a:xfrm>
            <a:off x="713160" y="640080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8385"/>
                </a:solidFill>
                <a:latin typeface="Calibri"/>
                <a:ea typeface="Calibri"/>
              </a:rPr>
              <a:t>MCP Security  ·  Deck 3 of 3  ·  NSA Guidance (May 2026)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Text 26"/>
          <p:cNvSpPr/>
          <p:nvPr/>
        </p:nvSpPr>
        <p:spPr>
          <a:xfrm>
            <a:off x="11155680" y="640080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8385"/>
                </a:solidFill>
                <a:latin typeface="Calibri"/>
                <a:ea typeface="Calibri"/>
              </a:rPr>
              <a:t>2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 0"/>
          <p:cNvSpPr/>
          <p:nvPr/>
        </p:nvSpPr>
        <p:spPr>
          <a:xfrm>
            <a:off x="457200" y="457200"/>
            <a:ext cx="94179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299">
                <a:solidFill>
                  <a:srgbClr val="B8860B"/>
                </a:solidFill>
                <a:latin typeface="Calibri"/>
                <a:ea typeface="Calibri"/>
              </a:rPr>
              <a:t>A NOVEL AGENTIC RISK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Text 1"/>
          <p:cNvSpPr/>
          <p:nvPr/>
        </p:nvSpPr>
        <p:spPr>
          <a:xfrm>
            <a:off x="457200" y="73152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231F20"/>
                </a:solidFill>
                <a:latin typeface="Open Sans"/>
                <a:ea typeface="Open Sans"/>
              </a:rPr>
              <a:t>Context sharing — memory bleeding across tasks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Text 2"/>
          <p:cNvSpPr/>
          <p:nvPr/>
        </p:nvSpPr>
        <p:spPr>
          <a:xfrm>
            <a:off x="457200" y="1481400"/>
            <a:ext cx="112467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spc="-1" dirty="0">
                <a:solidFill>
                  <a:srgbClr val="3A3536"/>
                </a:solidFill>
                <a:latin typeface="Calibri"/>
                <a:ea typeface="Calibri"/>
              </a:rPr>
              <a:t>The previous s</a:t>
            </a:r>
            <a:r>
              <a:rPr lang="en-US" sz="1450" b="0" strike="noStrike" spc="-1" dirty="0">
                <a:solidFill>
                  <a:srgbClr val="3A3536"/>
                </a:solidFill>
                <a:latin typeface="Calibri"/>
                <a:ea typeface="Calibri"/>
              </a:rPr>
              <a:t>lide named context sharing as one of the novel risks. It deserves its own treatment: when long-lived or overlapping context windows are reused across tasks and servers, the boundaries that normally isolate one piece of work from another quietly disappear.</a:t>
            </a:r>
            <a:endParaRPr lang="en-US" sz="145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Shape 3"/>
          <p:cNvSpPr/>
          <p:nvPr/>
        </p:nvSpPr>
        <p:spPr>
          <a:xfrm>
            <a:off x="457200" y="2240280"/>
            <a:ext cx="3520080" cy="2605680"/>
          </a:xfrm>
          <a:prstGeom prst="rect">
            <a:avLst/>
          </a:prstGeom>
          <a:solidFill>
            <a:srgbClr val="F7F4EF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" name="Shape 4"/>
          <p:cNvSpPr/>
          <p:nvPr/>
        </p:nvSpPr>
        <p:spPr>
          <a:xfrm>
            <a:off x="457200" y="2240280"/>
            <a:ext cx="3520080" cy="109440"/>
          </a:xfrm>
          <a:prstGeom prst="rect">
            <a:avLst/>
          </a:prstGeom>
          <a:solidFill>
            <a:srgbClr val="B8860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Shape 5"/>
          <p:cNvSpPr/>
          <p:nvPr/>
        </p:nvSpPr>
        <p:spPr>
          <a:xfrm>
            <a:off x="713160" y="2468880"/>
            <a:ext cx="529920" cy="529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7" name="Image 0" descr="preencoded.png"/>
          <p:cNvPicPr/>
          <p:nvPr/>
        </p:nvPicPr>
        <p:blipFill>
          <a:blip r:embed="rId3"/>
          <a:stretch/>
        </p:blipFill>
        <p:spPr>
          <a:xfrm>
            <a:off x="829800" y="2585520"/>
            <a:ext cx="296640" cy="296640"/>
          </a:xfrm>
          <a:prstGeom prst="rect">
            <a:avLst/>
          </a:prstGeom>
          <a:ln w="0">
            <a:noFill/>
          </a:ln>
        </p:spPr>
      </p:pic>
      <p:sp>
        <p:nvSpPr>
          <p:cNvPr id="58" name="Text 6"/>
          <p:cNvSpPr/>
          <p:nvPr/>
        </p:nvSpPr>
        <p:spPr>
          <a:xfrm>
            <a:off x="1371600" y="2487240"/>
            <a:ext cx="24685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rgbClr val="231F20"/>
                </a:solidFill>
                <a:latin typeface="Open Sans"/>
                <a:ea typeface="Open Sans"/>
              </a:rPr>
              <a:t>Leak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Text 7"/>
          <p:cNvSpPr/>
          <p:nvPr/>
        </p:nvSpPr>
        <p:spPr>
          <a:xfrm>
            <a:off x="731520" y="3154680"/>
            <a:ext cx="3017160" cy="1599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3A3536"/>
                </a:solidFill>
                <a:latin typeface="Calibri"/>
                <a:ea typeface="Calibri"/>
              </a:rPr>
              <a:t>Data from one task surfaces in another. Context gathered for a privileged operation lingers and becomes visible to a later, unrelated request — or to a different server sharing the window.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Shape 8"/>
          <p:cNvSpPr/>
          <p:nvPr/>
        </p:nvSpPr>
        <p:spPr>
          <a:xfrm>
            <a:off x="4251960" y="2240280"/>
            <a:ext cx="3520080" cy="2605680"/>
          </a:xfrm>
          <a:prstGeom prst="rect">
            <a:avLst/>
          </a:prstGeom>
          <a:solidFill>
            <a:srgbClr val="F7F4EF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Shape 9"/>
          <p:cNvSpPr/>
          <p:nvPr/>
        </p:nvSpPr>
        <p:spPr>
          <a:xfrm>
            <a:off x="4251960" y="2240280"/>
            <a:ext cx="3520080" cy="109440"/>
          </a:xfrm>
          <a:prstGeom prst="rect">
            <a:avLst/>
          </a:prstGeom>
          <a:solidFill>
            <a:srgbClr val="B8860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Shape 10"/>
          <p:cNvSpPr/>
          <p:nvPr/>
        </p:nvSpPr>
        <p:spPr>
          <a:xfrm>
            <a:off x="4507920" y="2468880"/>
            <a:ext cx="529920" cy="529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3" name="Image 1" descr="preencoded.png"/>
          <p:cNvPicPr/>
          <p:nvPr/>
        </p:nvPicPr>
        <p:blipFill>
          <a:blip r:embed="rId4"/>
          <a:stretch/>
        </p:blipFill>
        <p:spPr>
          <a:xfrm>
            <a:off x="4624560" y="2585520"/>
            <a:ext cx="296640" cy="296640"/>
          </a:xfrm>
          <a:prstGeom prst="rect">
            <a:avLst/>
          </a:prstGeom>
          <a:ln w="0">
            <a:noFill/>
          </a:ln>
        </p:spPr>
      </p:pic>
      <p:sp>
        <p:nvSpPr>
          <p:cNvPr id="64" name="Text 11"/>
          <p:cNvSpPr/>
          <p:nvPr/>
        </p:nvSpPr>
        <p:spPr>
          <a:xfrm>
            <a:off x="5166360" y="2487240"/>
            <a:ext cx="24685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rgbClr val="231F20"/>
                </a:solidFill>
                <a:latin typeface="Open Sans"/>
                <a:ea typeface="Open Sans"/>
              </a:rPr>
              <a:t>Blend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Text 12"/>
          <p:cNvSpPr/>
          <p:nvPr/>
        </p:nvSpPr>
        <p:spPr>
          <a:xfrm>
            <a:off x="4526280" y="3154680"/>
            <a:ext cx="3017160" cy="1599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3A3536"/>
                </a:solidFill>
                <a:latin typeface="Calibri"/>
                <a:ea typeface="Calibri"/>
              </a:rPr>
              <a:t>Two tasks' context merge. The model can no longer tell which instructions and data belong to which job, so one task's intent contaminates another's execution.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Shape 13"/>
          <p:cNvSpPr/>
          <p:nvPr/>
        </p:nvSpPr>
        <p:spPr>
          <a:xfrm>
            <a:off x="8046720" y="2240280"/>
            <a:ext cx="3520080" cy="2605680"/>
          </a:xfrm>
          <a:prstGeom prst="rect">
            <a:avLst/>
          </a:prstGeom>
          <a:solidFill>
            <a:srgbClr val="F7F4EF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Shape 14"/>
          <p:cNvSpPr/>
          <p:nvPr/>
        </p:nvSpPr>
        <p:spPr>
          <a:xfrm>
            <a:off x="8046720" y="2240280"/>
            <a:ext cx="3520080" cy="109440"/>
          </a:xfrm>
          <a:prstGeom prst="rect">
            <a:avLst/>
          </a:prstGeom>
          <a:solidFill>
            <a:srgbClr val="B8860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" name="Shape 15"/>
          <p:cNvSpPr/>
          <p:nvPr/>
        </p:nvSpPr>
        <p:spPr>
          <a:xfrm>
            <a:off x="8302680" y="2468880"/>
            <a:ext cx="529920" cy="529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9" name="Image 2" descr="preencoded.png"/>
          <p:cNvPicPr/>
          <p:nvPr/>
        </p:nvPicPr>
        <p:blipFill>
          <a:blip r:embed="rId5"/>
          <a:stretch/>
        </p:blipFill>
        <p:spPr>
          <a:xfrm>
            <a:off x="8419320" y="2585520"/>
            <a:ext cx="296640" cy="296640"/>
          </a:xfrm>
          <a:prstGeom prst="rect">
            <a:avLst/>
          </a:prstGeom>
          <a:ln w="0">
            <a:noFill/>
          </a:ln>
        </p:spPr>
      </p:pic>
      <p:sp>
        <p:nvSpPr>
          <p:cNvPr id="70" name="Text 16"/>
          <p:cNvSpPr/>
          <p:nvPr/>
        </p:nvSpPr>
        <p:spPr>
          <a:xfrm>
            <a:off x="8961120" y="2487240"/>
            <a:ext cx="24685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rgbClr val="231F20"/>
                </a:solidFill>
                <a:latin typeface="Open Sans"/>
                <a:ea typeface="Open Sans"/>
              </a:rPr>
              <a:t>Misalign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Text 17"/>
          <p:cNvSpPr/>
          <p:nvPr/>
        </p:nvSpPr>
        <p:spPr>
          <a:xfrm>
            <a:off x="8321040" y="3154680"/>
            <a:ext cx="3017160" cy="1599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3A3536"/>
                </a:solidFill>
                <a:latin typeface="Calibri"/>
                <a:ea typeface="Calibri"/>
              </a:rPr>
              <a:t>Stale or mismatched context drives the wrong action. The model acts on assumptions that were true for an earlier task but no longer hold for the current one.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Shape 18"/>
          <p:cNvSpPr/>
          <p:nvPr/>
        </p:nvSpPr>
        <p:spPr>
          <a:xfrm>
            <a:off x="457200" y="5074920"/>
            <a:ext cx="11246760" cy="1005480"/>
          </a:xfrm>
          <a:prstGeom prst="rect">
            <a:avLst/>
          </a:prstGeom>
          <a:solidFill>
            <a:srgbClr val="5A0E12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73" name="Shape 19"/>
          <p:cNvSpPr/>
          <p:nvPr/>
        </p:nvSpPr>
        <p:spPr>
          <a:xfrm>
            <a:off x="457200" y="5074920"/>
            <a:ext cx="109440" cy="1005480"/>
          </a:xfrm>
          <a:prstGeom prst="rect">
            <a:avLst/>
          </a:prstGeom>
          <a:solidFill>
            <a:srgbClr val="F5A8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Text 20"/>
          <p:cNvSpPr/>
          <p:nvPr/>
        </p:nvSpPr>
        <p:spPr>
          <a:xfrm>
            <a:off x="777240" y="5212080"/>
            <a:ext cx="10515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299">
                <a:solidFill>
                  <a:srgbClr val="F5A800"/>
                </a:solidFill>
                <a:latin typeface="Calibri"/>
                <a:ea typeface="Calibri"/>
              </a:rPr>
              <a:t>WHY IT COMPOUNDS IN MCP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Text 21"/>
          <p:cNvSpPr/>
          <p:nvPr/>
        </p:nvSpPr>
        <p:spPr>
          <a:xfrm>
            <a:off x="777240" y="5486400"/>
            <a:ext cx="107895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FFFFFF"/>
                </a:solidFill>
                <a:latin typeface="Calibri"/>
                <a:ea typeface="Calibri"/>
              </a:rPr>
              <a:t>In multi-agent workflows, one agent's output becomes the next agent's input. </a:t>
            </a:r>
            <a:r>
              <a:rPr lang="en-US" sz="1300" b="0" strike="noStrike" spc="-1">
                <a:solidFill>
                  <a:srgbClr val="F0E8DC"/>
                </a:solidFill>
                <a:latin typeface="Calibri"/>
                <a:ea typeface="Calibri"/>
              </a:rPr>
              <a:t>Shared or poisoned context doesn't stay put — it propagates down the chain, letting hidden instructions in an earlier result steer how later agents interpret and act. A single contaminated window can subvert an entire pipeline.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Shape 22"/>
          <p:cNvSpPr/>
          <p:nvPr/>
        </p:nvSpPr>
        <p:spPr>
          <a:xfrm>
            <a:off x="0" y="0"/>
            <a:ext cx="12161160" cy="7272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77" name="Image 3" descr="fhb_logo.png"/>
          <p:cNvPicPr/>
          <p:nvPr/>
        </p:nvPicPr>
        <p:blipFill>
          <a:blip r:embed="rId6"/>
          <a:stretch/>
        </p:blipFill>
        <p:spPr>
          <a:xfrm>
            <a:off x="10031040" y="146160"/>
            <a:ext cx="1828440" cy="338040"/>
          </a:xfrm>
          <a:prstGeom prst="rect">
            <a:avLst/>
          </a:prstGeom>
          <a:ln w="0">
            <a:noFill/>
          </a:ln>
        </p:spPr>
      </p:pic>
      <p:sp>
        <p:nvSpPr>
          <p:cNvPr id="78" name="Shape 23"/>
          <p:cNvSpPr/>
          <p:nvPr/>
        </p:nvSpPr>
        <p:spPr>
          <a:xfrm>
            <a:off x="457200" y="6583680"/>
            <a:ext cx="11274120" cy="19800"/>
          </a:xfrm>
          <a:prstGeom prst="rect">
            <a:avLst/>
          </a:prstGeom>
          <a:solidFill>
            <a:srgbClr val="F5A8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4840" rIns="90000" bIns="-2484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Shape 24"/>
          <p:cNvSpPr/>
          <p:nvPr/>
        </p:nvSpPr>
        <p:spPr>
          <a:xfrm>
            <a:off x="457200" y="6510600"/>
            <a:ext cx="164160" cy="16416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" name="Text 25"/>
          <p:cNvSpPr/>
          <p:nvPr/>
        </p:nvSpPr>
        <p:spPr>
          <a:xfrm>
            <a:off x="713160" y="640080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8385"/>
                </a:solidFill>
                <a:latin typeface="Calibri"/>
                <a:ea typeface="Calibri"/>
              </a:rPr>
              <a:t>MCP Security  ·  Deck 3 of 3  ·  NSA Guidance (May 2026)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Text 26"/>
          <p:cNvSpPr/>
          <p:nvPr/>
        </p:nvSpPr>
        <p:spPr>
          <a:xfrm>
            <a:off x="11155680" y="640080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8385"/>
                </a:solidFill>
                <a:latin typeface="Calibri"/>
                <a:ea typeface="Calibri"/>
              </a:rPr>
              <a:t>3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 0"/>
          <p:cNvSpPr/>
          <p:nvPr/>
        </p:nvSpPr>
        <p:spPr>
          <a:xfrm>
            <a:off x="457200" y="457200"/>
            <a:ext cx="94179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299">
                <a:solidFill>
                  <a:srgbClr val="8B0E15"/>
                </a:solidFill>
                <a:latin typeface="Calibri"/>
                <a:ea typeface="Calibri"/>
              </a:rPr>
              <a:t>CALLBACK TO DECK 1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Text 1"/>
          <p:cNvSpPr/>
          <p:nvPr/>
        </p:nvSpPr>
        <p:spPr>
          <a:xfrm>
            <a:off x="457200" y="73152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231F20"/>
                </a:solidFill>
                <a:latin typeface="Open Sans"/>
                <a:ea typeface="Open Sans"/>
              </a:rPr>
              <a:t>The inversion is where it all starts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Text 2"/>
          <p:cNvSpPr/>
          <p:nvPr/>
        </p:nvSpPr>
        <p:spPr>
          <a:xfrm>
            <a:off x="457200" y="1371600"/>
            <a:ext cx="112467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strike="noStrike" spc="-1" dirty="0">
                <a:solidFill>
                  <a:srgbClr val="3A3536"/>
                </a:solidFill>
                <a:latin typeface="Calibri"/>
                <a:ea typeface="Calibri"/>
              </a:rPr>
              <a:t>Remember the interaction inversion from Deck 1? </a:t>
            </a:r>
            <a:endParaRPr lang="en-US" sz="15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Shape 3"/>
          <p:cNvSpPr/>
          <p:nvPr/>
        </p:nvSpPr>
        <p:spPr>
          <a:xfrm>
            <a:off x="640080" y="2286000"/>
            <a:ext cx="776880" cy="776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86" name="Image 0" descr="preencoded.png"/>
          <p:cNvPicPr/>
          <p:nvPr/>
        </p:nvPicPr>
        <p:blipFill>
          <a:blip r:embed="rId3"/>
          <a:stretch/>
        </p:blipFill>
        <p:spPr>
          <a:xfrm>
            <a:off x="811080" y="2457000"/>
            <a:ext cx="434880" cy="434880"/>
          </a:xfrm>
          <a:prstGeom prst="rect">
            <a:avLst/>
          </a:prstGeom>
          <a:ln w="0">
            <a:noFill/>
          </a:ln>
        </p:spPr>
      </p:pic>
      <p:sp>
        <p:nvSpPr>
          <p:cNvPr id="87" name="Text 4"/>
          <p:cNvSpPr/>
          <p:nvPr/>
        </p:nvSpPr>
        <p:spPr>
          <a:xfrm>
            <a:off x="1645920" y="2240280"/>
            <a:ext cx="978372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strike="noStrike" spc="-1">
                <a:solidFill>
                  <a:srgbClr val="3A3536"/>
                </a:solidFill>
                <a:latin typeface="Calibri"/>
                <a:ea typeface="Calibri"/>
              </a:rPr>
              <a:t>In a normal client-server world, the client requests and the server responds — trust flows one way. MCP often expects the server to query, and sometimes act, on the client's side. That reversal creates new, poorly-traced attack paths that decades of web-security intuition don't cover.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Shape 5"/>
          <p:cNvSpPr/>
          <p:nvPr/>
        </p:nvSpPr>
        <p:spPr>
          <a:xfrm>
            <a:off x="457200" y="3611880"/>
            <a:ext cx="3520080" cy="1828440"/>
          </a:xfrm>
          <a:prstGeom prst="rect">
            <a:avLst/>
          </a:prstGeom>
          <a:solidFill>
            <a:srgbClr val="FBF1E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Shape 6"/>
          <p:cNvSpPr/>
          <p:nvPr/>
        </p:nvSpPr>
        <p:spPr>
          <a:xfrm>
            <a:off x="457200" y="3611880"/>
            <a:ext cx="91080" cy="1828440"/>
          </a:xfrm>
          <a:prstGeom prst="rect">
            <a:avLst/>
          </a:prstGeom>
          <a:solidFill>
            <a:srgbClr val="B8860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Text 7"/>
          <p:cNvSpPr/>
          <p:nvPr/>
        </p:nvSpPr>
        <p:spPr>
          <a:xfrm>
            <a:off x="731520" y="3840480"/>
            <a:ext cx="310860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strike="noStrike" spc="-1">
                <a:solidFill>
                  <a:srgbClr val="8A5A12"/>
                </a:solidFill>
                <a:latin typeface="Open Sans"/>
                <a:ea typeface="Open Sans"/>
              </a:rPr>
              <a:t>Server-influenced model behavior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Text 8"/>
          <p:cNvSpPr/>
          <p:nvPr/>
        </p:nvSpPr>
        <p:spPr>
          <a:xfrm>
            <a:off x="731520" y="4526280"/>
            <a:ext cx="310860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8A5A12"/>
                </a:solidFill>
                <a:latin typeface="Calibri"/>
                <a:ea typeface="Calibri"/>
              </a:rPr>
              <a:t>A connected server can shape what the LLM does next.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Shape 9"/>
          <p:cNvSpPr/>
          <p:nvPr/>
        </p:nvSpPr>
        <p:spPr>
          <a:xfrm>
            <a:off x="4251960" y="3611880"/>
            <a:ext cx="3520080" cy="1828440"/>
          </a:xfrm>
          <a:prstGeom prst="rect">
            <a:avLst/>
          </a:prstGeom>
          <a:solidFill>
            <a:srgbClr val="FBF1E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Shape 10"/>
          <p:cNvSpPr/>
          <p:nvPr/>
        </p:nvSpPr>
        <p:spPr>
          <a:xfrm>
            <a:off x="4251960" y="3611880"/>
            <a:ext cx="91080" cy="1828440"/>
          </a:xfrm>
          <a:prstGeom prst="rect">
            <a:avLst/>
          </a:prstGeom>
          <a:solidFill>
            <a:srgbClr val="B8860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Text 11"/>
          <p:cNvSpPr/>
          <p:nvPr/>
        </p:nvSpPr>
        <p:spPr>
          <a:xfrm>
            <a:off x="4526280" y="3840480"/>
            <a:ext cx="310860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strike="noStrike" spc="-1">
                <a:solidFill>
                  <a:srgbClr val="8A5A12"/>
                </a:solidFill>
                <a:latin typeface="Open Sans"/>
                <a:ea typeface="Open Sans"/>
              </a:rPr>
              <a:t>Reach toward the user's environment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Text 12"/>
          <p:cNvSpPr/>
          <p:nvPr/>
        </p:nvSpPr>
        <p:spPr>
          <a:xfrm>
            <a:off x="4526280" y="4526280"/>
            <a:ext cx="310860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8A5A12"/>
                </a:solidFill>
                <a:latin typeface="Calibri"/>
                <a:ea typeface="Calibri"/>
              </a:rPr>
              <a:t>Sampling (sampling/createMessage) is the primary feature enabling this — the server asks the client's own LLM to run a completion. Roots and elicitation also point back at the client.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Shape 13"/>
          <p:cNvSpPr/>
          <p:nvPr/>
        </p:nvSpPr>
        <p:spPr>
          <a:xfrm>
            <a:off x="8046720" y="3611880"/>
            <a:ext cx="3520080" cy="1828440"/>
          </a:xfrm>
          <a:prstGeom prst="rect">
            <a:avLst/>
          </a:prstGeom>
          <a:solidFill>
            <a:srgbClr val="FBF1E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Shape 14"/>
          <p:cNvSpPr/>
          <p:nvPr/>
        </p:nvSpPr>
        <p:spPr>
          <a:xfrm>
            <a:off x="8046720" y="3611880"/>
            <a:ext cx="91080" cy="1828440"/>
          </a:xfrm>
          <a:prstGeom prst="rect">
            <a:avLst/>
          </a:prstGeom>
          <a:solidFill>
            <a:srgbClr val="B8860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" name="Text 15"/>
          <p:cNvSpPr/>
          <p:nvPr/>
        </p:nvSpPr>
        <p:spPr>
          <a:xfrm>
            <a:off x="8321040" y="3840480"/>
            <a:ext cx="310860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strike="noStrike" spc="-1">
                <a:solidFill>
                  <a:srgbClr val="8A5A12"/>
                </a:solidFill>
                <a:latin typeface="Open Sans"/>
                <a:ea typeface="Open Sans"/>
              </a:rPr>
              <a:t>Underspecified by design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Text 16"/>
          <p:cNvSpPr/>
          <p:nvPr/>
        </p:nvSpPr>
        <p:spPr>
          <a:xfrm>
            <a:off x="8321040" y="4526280"/>
            <a:ext cx="310860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8A5A12"/>
                </a:solidFill>
                <a:latin typeface="Calibri"/>
                <a:ea typeface="Calibri"/>
              </a:rPr>
              <a:t>The protocol leaves security to implementers — so gaps are the default, not the exception.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Shape 18"/>
          <p:cNvSpPr/>
          <p:nvPr/>
        </p:nvSpPr>
        <p:spPr>
          <a:xfrm>
            <a:off x="0" y="0"/>
            <a:ext cx="12161160" cy="7272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02" name="Image 1" descr="fhb_logo.png"/>
          <p:cNvPicPr/>
          <p:nvPr/>
        </p:nvPicPr>
        <p:blipFill>
          <a:blip r:embed="rId4"/>
          <a:stretch/>
        </p:blipFill>
        <p:spPr>
          <a:xfrm>
            <a:off x="10031040" y="146160"/>
            <a:ext cx="1828440" cy="338040"/>
          </a:xfrm>
          <a:prstGeom prst="rect">
            <a:avLst/>
          </a:prstGeom>
          <a:ln w="0">
            <a:noFill/>
          </a:ln>
        </p:spPr>
      </p:pic>
      <p:sp>
        <p:nvSpPr>
          <p:cNvPr id="103" name="Shape 19"/>
          <p:cNvSpPr/>
          <p:nvPr/>
        </p:nvSpPr>
        <p:spPr>
          <a:xfrm>
            <a:off x="457200" y="6583680"/>
            <a:ext cx="11274120" cy="19800"/>
          </a:xfrm>
          <a:prstGeom prst="rect">
            <a:avLst/>
          </a:prstGeom>
          <a:solidFill>
            <a:srgbClr val="F5A8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4840" rIns="90000" bIns="-2484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Shape 20"/>
          <p:cNvSpPr/>
          <p:nvPr/>
        </p:nvSpPr>
        <p:spPr>
          <a:xfrm>
            <a:off x="457200" y="6510600"/>
            <a:ext cx="164160" cy="16416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Text 21"/>
          <p:cNvSpPr/>
          <p:nvPr/>
        </p:nvSpPr>
        <p:spPr>
          <a:xfrm>
            <a:off x="713160" y="640080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8385"/>
                </a:solidFill>
                <a:latin typeface="Calibri"/>
                <a:ea typeface="Calibri"/>
              </a:rPr>
              <a:t>MCP Security  ·  Deck 3 of 3  ·  NSA Guidance (May 2026)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Text 22"/>
          <p:cNvSpPr/>
          <p:nvPr/>
        </p:nvSpPr>
        <p:spPr>
          <a:xfrm>
            <a:off x="11155680" y="640080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8385"/>
                </a:solidFill>
                <a:latin typeface="Calibri"/>
                <a:ea typeface="Calibri"/>
              </a:rPr>
              <a:t>4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Text 0"/>
          <p:cNvSpPr/>
          <p:nvPr/>
        </p:nvSpPr>
        <p:spPr>
          <a:xfrm>
            <a:off x="457200" y="457200"/>
            <a:ext cx="94179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299">
                <a:solidFill>
                  <a:srgbClr val="B8860B"/>
                </a:solidFill>
                <a:latin typeface="Calibri"/>
                <a:ea typeface="Calibri"/>
              </a:rPr>
              <a:t>DESIGN &amp; IMPLEMENTATION CONCERNS · A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Text 1"/>
          <p:cNvSpPr/>
          <p:nvPr/>
        </p:nvSpPr>
        <p:spPr>
          <a:xfrm>
            <a:off x="457200" y="73152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231F20"/>
                </a:solidFill>
                <a:latin typeface="Open Sans"/>
                <a:ea typeface="Open Sans"/>
              </a:rPr>
              <a:t>Access control &amp; trust boundaries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Text 2"/>
          <p:cNvSpPr/>
          <p:nvPr/>
        </p:nvSpPr>
        <p:spPr>
          <a:xfrm>
            <a:off x="457200" y="1371600"/>
            <a:ext cx="112467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strike="noStrike" spc="-1">
                <a:solidFill>
                  <a:srgbClr val="3A3536"/>
                </a:solidFill>
                <a:latin typeface="Calibri"/>
                <a:ea typeface="Calibri"/>
              </a:rPr>
              <a:t>The protocol doesn't bind a session to an identity — it's left to the implementer. The result is ambiguous, often untraceable access to data and context.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Shape 3"/>
          <p:cNvSpPr/>
          <p:nvPr/>
        </p:nvSpPr>
        <p:spPr>
          <a:xfrm>
            <a:off x="457200" y="2148840"/>
            <a:ext cx="3520080" cy="3108600"/>
          </a:xfrm>
          <a:prstGeom prst="rect">
            <a:avLst/>
          </a:prstGeom>
          <a:solidFill>
            <a:srgbClr val="F7F4EF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Shape 4"/>
          <p:cNvSpPr/>
          <p:nvPr/>
        </p:nvSpPr>
        <p:spPr>
          <a:xfrm>
            <a:off x="457200" y="2148840"/>
            <a:ext cx="3520080" cy="109440"/>
          </a:xfrm>
          <a:prstGeom prst="rect">
            <a:avLst/>
          </a:prstGeom>
          <a:solidFill>
            <a:srgbClr val="B8860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" name="Shape 5"/>
          <p:cNvSpPr/>
          <p:nvPr/>
        </p:nvSpPr>
        <p:spPr>
          <a:xfrm>
            <a:off x="713160" y="2423160"/>
            <a:ext cx="548280" cy="5482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3" name="Image 0" descr="preencoded.png"/>
          <p:cNvPicPr/>
          <p:nvPr/>
        </p:nvPicPr>
        <p:blipFill>
          <a:blip r:embed="rId3"/>
          <a:stretch/>
        </p:blipFill>
        <p:spPr>
          <a:xfrm>
            <a:off x="833760" y="2543760"/>
            <a:ext cx="306720" cy="306720"/>
          </a:xfrm>
          <a:prstGeom prst="rect">
            <a:avLst/>
          </a:prstGeom>
          <a:ln w="0">
            <a:noFill/>
          </a:ln>
        </p:spPr>
      </p:pic>
      <p:sp>
        <p:nvSpPr>
          <p:cNvPr id="114" name="Text 6"/>
          <p:cNvSpPr/>
          <p:nvPr/>
        </p:nvSpPr>
        <p:spPr>
          <a:xfrm>
            <a:off x="1417320" y="2404800"/>
            <a:ext cx="23313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strike="noStrike" spc="-1">
                <a:solidFill>
                  <a:srgbClr val="231F20"/>
                </a:solidFill>
                <a:latin typeface="Open Sans"/>
                <a:ea typeface="Open Sans"/>
              </a:rPr>
              <a:t>No required identity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Text 7"/>
          <p:cNvSpPr/>
          <p:nvPr/>
        </p:nvSpPr>
        <p:spPr>
          <a:xfrm>
            <a:off x="731520" y="3063240"/>
            <a:ext cx="2971440" cy="1737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3A3536"/>
                </a:solidFill>
                <a:latin typeface="Calibri"/>
                <a:ea typeface="Calibri"/>
              </a:rPr>
              <a:t>Sessions need not be tied to any identity. Many implementations omit authentication entirely.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Shape 8"/>
          <p:cNvSpPr/>
          <p:nvPr/>
        </p:nvSpPr>
        <p:spPr>
          <a:xfrm>
            <a:off x="4251960" y="2148840"/>
            <a:ext cx="3520080" cy="3108600"/>
          </a:xfrm>
          <a:prstGeom prst="rect">
            <a:avLst/>
          </a:prstGeom>
          <a:solidFill>
            <a:srgbClr val="F7F4EF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Shape 9"/>
          <p:cNvSpPr/>
          <p:nvPr/>
        </p:nvSpPr>
        <p:spPr>
          <a:xfrm>
            <a:off x="4251960" y="2148840"/>
            <a:ext cx="3520080" cy="109440"/>
          </a:xfrm>
          <a:prstGeom prst="rect">
            <a:avLst/>
          </a:prstGeom>
          <a:solidFill>
            <a:srgbClr val="B8860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" name="Shape 10"/>
          <p:cNvSpPr/>
          <p:nvPr/>
        </p:nvSpPr>
        <p:spPr>
          <a:xfrm>
            <a:off x="4507920" y="2423160"/>
            <a:ext cx="548280" cy="5482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19" name="Image 1" descr="preencoded.png"/>
          <p:cNvPicPr/>
          <p:nvPr/>
        </p:nvPicPr>
        <p:blipFill>
          <a:blip r:embed="rId4"/>
          <a:stretch/>
        </p:blipFill>
        <p:spPr>
          <a:xfrm>
            <a:off x="4628520" y="2543760"/>
            <a:ext cx="306720" cy="306720"/>
          </a:xfrm>
          <a:prstGeom prst="rect">
            <a:avLst/>
          </a:prstGeom>
          <a:ln w="0">
            <a:noFill/>
          </a:ln>
        </p:spPr>
      </p:pic>
      <p:sp>
        <p:nvSpPr>
          <p:cNvPr id="120" name="Text 11"/>
          <p:cNvSpPr/>
          <p:nvPr/>
        </p:nvSpPr>
        <p:spPr>
          <a:xfrm>
            <a:off x="5212080" y="2404800"/>
            <a:ext cx="23313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strike="noStrike" spc="-1">
                <a:solidFill>
                  <a:srgbClr val="231F20"/>
                </a:solidFill>
                <a:latin typeface="Open Sans"/>
                <a:ea typeface="Open Sans"/>
              </a:rPr>
              <a:t>No RBAC at instantiation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Text 12"/>
          <p:cNvSpPr/>
          <p:nvPr/>
        </p:nvSpPr>
        <p:spPr>
          <a:xfrm>
            <a:off x="4526280" y="3063240"/>
            <a:ext cx="2971440" cy="1737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3A3536"/>
                </a:solidFill>
                <a:latin typeface="Calibri"/>
                <a:ea typeface="Calibri"/>
              </a:rPr>
              <a:t>MCP doesn't support the exchange of role-based permissions when a connection starts — so CRUD-level enforcement is hard to implement.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Shape 13"/>
          <p:cNvSpPr/>
          <p:nvPr/>
        </p:nvSpPr>
        <p:spPr>
          <a:xfrm>
            <a:off x="8046720" y="2148840"/>
            <a:ext cx="3520080" cy="3108600"/>
          </a:xfrm>
          <a:prstGeom prst="rect">
            <a:avLst/>
          </a:prstGeom>
          <a:solidFill>
            <a:srgbClr val="F7F4EF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Shape 14"/>
          <p:cNvSpPr/>
          <p:nvPr/>
        </p:nvSpPr>
        <p:spPr>
          <a:xfrm>
            <a:off x="8046720" y="2148840"/>
            <a:ext cx="3520080" cy="109440"/>
          </a:xfrm>
          <a:prstGeom prst="rect">
            <a:avLst/>
          </a:prstGeom>
          <a:solidFill>
            <a:srgbClr val="B8860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" name="Shape 15"/>
          <p:cNvSpPr/>
          <p:nvPr/>
        </p:nvSpPr>
        <p:spPr>
          <a:xfrm>
            <a:off x="8302680" y="2423160"/>
            <a:ext cx="548280" cy="5482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5" name="Image 2" descr="preencoded.png"/>
          <p:cNvPicPr/>
          <p:nvPr/>
        </p:nvPicPr>
        <p:blipFill>
          <a:blip r:embed="rId5"/>
          <a:stretch/>
        </p:blipFill>
        <p:spPr>
          <a:xfrm>
            <a:off x="8423280" y="2543760"/>
            <a:ext cx="306720" cy="306720"/>
          </a:xfrm>
          <a:prstGeom prst="rect">
            <a:avLst/>
          </a:prstGeom>
          <a:ln w="0">
            <a:noFill/>
          </a:ln>
        </p:spPr>
      </p:pic>
      <p:sp>
        <p:nvSpPr>
          <p:cNvPr id="126" name="Text 16"/>
          <p:cNvSpPr/>
          <p:nvPr/>
        </p:nvSpPr>
        <p:spPr>
          <a:xfrm>
            <a:off x="9006840" y="2404800"/>
            <a:ext cx="23313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strike="noStrike" spc="-1">
                <a:solidFill>
                  <a:srgbClr val="231F20"/>
                </a:solidFill>
                <a:latin typeface="Open Sans"/>
                <a:ea typeface="Open Sans"/>
              </a:rPr>
              <a:t>Context shared freely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Text 17"/>
          <p:cNvSpPr/>
          <p:nvPr/>
        </p:nvSpPr>
        <p:spPr>
          <a:xfrm>
            <a:off x="8321040" y="3063240"/>
            <a:ext cx="2971440" cy="1737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3A3536"/>
                </a:solidFill>
                <a:latin typeface="Calibri"/>
                <a:ea typeface="Calibri"/>
              </a:rPr>
              <a:t>Multiple servers can be exposed to information the client shares broadly, inviting leakage and unverified task propagation.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Shape 18"/>
          <p:cNvSpPr/>
          <p:nvPr/>
        </p:nvSpPr>
        <p:spPr>
          <a:xfrm>
            <a:off x="457200" y="5486400"/>
            <a:ext cx="11246760" cy="548280"/>
          </a:xfrm>
          <a:prstGeom prst="rect">
            <a:avLst/>
          </a:prstGeom>
          <a:solidFill>
            <a:srgbClr val="EFE9E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Text 19"/>
          <p:cNvSpPr/>
          <p:nvPr/>
        </p:nvSpPr>
        <p:spPr>
          <a:xfrm>
            <a:off x="640080" y="548640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1" strike="noStrike" spc="-1">
                <a:solidFill>
                  <a:srgbClr val="231F20"/>
                </a:solidFill>
                <a:latin typeface="Calibri"/>
                <a:ea typeface="Calibri"/>
              </a:rPr>
              <a:t>Unverified task propagation:  </a:t>
            </a:r>
            <a:r>
              <a:rPr lang="en-US" sz="1250" b="0" strike="noStrike" spc="-1">
                <a:solidFill>
                  <a:srgbClr val="3A3536"/>
                </a:solidFill>
                <a:latin typeface="Calibri"/>
                <a:ea typeface="Calibri"/>
              </a:rPr>
              <a:t>a task passed between servers without checking its origin, scope, or intent can trigger unrelated downstream tools or overreach.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Shape 20"/>
          <p:cNvSpPr/>
          <p:nvPr/>
        </p:nvSpPr>
        <p:spPr>
          <a:xfrm>
            <a:off x="0" y="0"/>
            <a:ext cx="12161160" cy="7272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31" name="Image 3" descr="fhb_logo.png"/>
          <p:cNvPicPr/>
          <p:nvPr/>
        </p:nvPicPr>
        <p:blipFill>
          <a:blip r:embed="rId6"/>
          <a:stretch/>
        </p:blipFill>
        <p:spPr>
          <a:xfrm>
            <a:off x="10031040" y="146160"/>
            <a:ext cx="1828440" cy="338040"/>
          </a:xfrm>
          <a:prstGeom prst="rect">
            <a:avLst/>
          </a:prstGeom>
          <a:ln w="0">
            <a:noFill/>
          </a:ln>
        </p:spPr>
      </p:pic>
      <p:sp>
        <p:nvSpPr>
          <p:cNvPr id="132" name="Shape 21"/>
          <p:cNvSpPr/>
          <p:nvPr/>
        </p:nvSpPr>
        <p:spPr>
          <a:xfrm>
            <a:off x="457200" y="6583680"/>
            <a:ext cx="11274120" cy="19800"/>
          </a:xfrm>
          <a:prstGeom prst="rect">
            <a:avLst/>
          </a:prstGeom>
          <a:solidFill>
            <a:srgbClr val="F5A8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4840" rIns="90000" bIns="-2484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Shape 22"/>
          <p:cNvSpPr/>
          <p:nvPr/>
        </p:nvSpPr>
        <p:spPr>
          <a:xfrm>
            <a:off x="457200" y="6510600"/>
            <a:ext cx="164160" cy="16416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" name="Text 23"/>
          <p:cNvSpPr/>
          <p:nvPr/>
        </p:nvSpPr>
        <p:spPr>
          <a:xfrm>
            <a:off x="713160" y="640080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8385"/>
                </a:solidFill>
                <a:latin typeface="Calibri"/>
                <a:ea typeface="Calibri"/>
              </a:rPr>
              <a:t>MCP Security  ·  Deck 3 of 3  ·  NSA Guidance (May 2026)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Text 24"/>
          <p:cNvSpPr/>
          <p:nvPr/>
        </p:nvSpPr>
        <p:spPr>
          <a:xfrm>
            <a:off x="11155680" y="640080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8385"/>
                </a:solidFill>
                <a:latin typeface="Calibri"/>
                <a:ea typeface="Calibri"/>
              </a:rPr>
              <a:t>5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ext 0"/>
          <p:cNvSpPr/>
          <p:nvPr/>
        </p:nvSpPr>
        <p:spPr>
          <a:xfrm>
            <a:off x="457200" y="457200"/>
            <a:ext cx="94179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299">
                <a:solidFill>
                  <a:srgbClr val="B8860B"/>
                </a:solidFill>
                <a:latin typeface="Calibri"/>
                <a:ea typeface="Calibri"/>
              </a:rPr>
              <a:t>DESIGN &amp; IMPLEMENTATION CONCERNS · A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Text 1"/>
          <p:cNvSpPr/>
          <p:nvPr/>
        </p:nvSpPr>
        <p:spPr>
          <a:xfrm>
            <a:off x="457200" y="73152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231F20"/>
                </a:solidFill>
                <a:latin typeface="Open Sans"/>
                <a:ea typeface="Open Sans"/>
              </a:rPr>
              <a:t>Insecure serialization &amp; injection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Text 2"/>
          <p:cNvSpPr/>
          <p:nvPr/>
        </p:nvSpPr>
        <p:spPr>
          <a:xfrm>
            <a:off x="457200" y="1371600"/>
            <a:ext cx="112467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strike="noStrike" spc="-1">
                <a:solidFill>
                  <a:srgbClr val="3A3536"/>
                </a:solidFill>
                <a:latin typeface="Calibri"/>
                <a:ea typeface="Calibri"/>
              </a:rPr>
              <a:t>MCP passes structured objects — context, configuration, payloads — through serialization that often lacks strict schema enforcement. That's an injection path.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Shape 3"/>
          <p:cNvSpPr/>
          <p:nvPr/>
        </p:nvSpPr>
        <p:spPr>
          <a:xfrm>
            <a:off x="457200" y="2148840"/>
            <a:ext cx="5486040" cy="3108600"/>
          </a:xfrm>
          <a:prstGeom prst="rect">
            <a:avLst/>
          </a:prstGeom>
          <a:solidFill>
            <a:srgbClr val="F7F4EF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Shape 4"/>
          <p:cNvSpPr/>
          <p:nvPr/>
        </p:nvSpPr>
        <p:spPr>
          <a:xfrm>
            <a:off x="457200" y="2148840"/>
            <a:ext cx="5486040" cy="109440"/>
          </a:xfrm>
          <a:prstGeom prst="rect">
            <a:avLst/>
          </a:prstGeom>
          <a:solidFill>
            <a:srgbClr val="B8860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" name="Shape 5"/>
          <p:cNvSpPr/>
          <p:nvPr/>
        </p:nvSpPr>
        <p:spPr>
          <a:xfrm>
            <a:off x="731520" y="2377440"/>
            <a:ext cx="548280" cy="5482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2" name="Image 0" descr="preencoded.png"/>
          <p:cNvPicPr/>
          <p:nvPr/>
        </p:nvPicPr>
        <p:blipFill>
          <a:blip r:embed="rId3"/>
          <a:stretch/>
        </p:blipFill>
        <p:spPr>
          <a:xfrm>
            <a:off x="852120" y="2498040"/>
            <a:ext cx="306720" cy="306720"/>
          </a:xfrm>
          <a:prstGeom prst="rect">
            <a:avLst/>
          </a:prstGeom>
          <a:ln w="0">
            <a:noFill/>
          </a:ln>
        </p:spPr>
      </p:pic>
      <p:sp>
        <p:nvSpPr>
          <p:cNvPr id="143" name="Text 6"/>
          <p:cNvSpPr/>
          <p:nvPr/>
        </p:nvSpPr>
        <p:spPr>
          <a:xfrm>
            <a:off x="1417320" y="2377440"/>
            <a:ext cx="41144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strike="noStrike" spc="-1">
                <a:solidFill>
                  <a:srgbClr val="231F20"/>
                </a:solidFill>
                <a:latin typeface="Open Sans"/>
                <a:ea typeface="Open Sans"/>
              </a:rPr>
              <a:t>The mechanism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Text 7"/>
          <p:cNvSpPr/>
          <p:nvPr/>
        </p:nvSpPr>
        <p:spPr>
          <a:xfrm>
            <a:off x="731520" y="3063240"/>
            <a:ext cx="4983120" cy="2102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rgbClr val="3A3536"/>
                </a:solidFill>
                <a:latin typeface="Calibri"/>
                <a:ea typeface="Calibri"/>
              </a:rPr>
              <a:t>Serialized content can carry comments or prompts that embed executable code or model calls.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rgbClr val="3A3536"/>
                </a:solidFill>
                <a:latin typeface="Calibri"/>
                <a:ea typeface="Calibri"/>
              </a:rPr>
              <a:t>Permissive deserialization without isolation between code and data opens the door — the classic insecure-deserialization risk (OWASP A08), now with a language-model twist.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Shape 8"/>
          <p:cNvSpPr/>
          <p:nvPr/>
        </p:nvSpPr>
        <p:spPr>
          <a:xfrm>
            <a:off x="6217920" y="2148840"/>
            <a:ext cx="5486040" cy="3108600"/>
          </a:xfrm>
          <a:prstGeom prst="rect">
            <a:avLst/>
          </a:prstGeom>
          <a:solidFill>
            <a:srgbClr val="5A0E12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" name="Shape 9"/>
          <p:cNvSpPr/>
          <p:nvPr/>
        </p:nvSpPr>
        <p:spPr>
          <a:xfrm>
            <a:off x="6217920" y="2148840"/>
            <a:ext cx="5486040" cy="109440"/>
          </a:xfrm>
          <a:prstGeom prst="rect">
            <a:avLst/>
          </a:prstGeom>
          <a:solidFill>
            <a:srgbClr val="B8860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" name="Text 10"/>
          <p:cNvSpPr/>
          <p:nvPr/>
        </p:nvSpPr>
        <p:spPr>
          <a:xfrm>
            <a:off x="6492240" y="2377440"/>
            <a:ext cx="49374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199">
                <a:solidFill>
                  <a:srgbClr val="F5A800"/>
                </a:solidFill>
                <a:latin typeface="Calibri"/>
                <a:ea typeface="Calibri"/>
              </a:rPr>
              <a:t>WHY IT'S WORSE IN MCP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Text 11"/>
          <p:cNvSpPr/>
          <p:nvPr/>
        </p:nvSpPr>
        <p:spPr>
          <a:xfrm>
            <a:off x="6492240" y="2743200"/>
            <a:ext cx="4983120" cy="2377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FFFFFF"/>
                </a:solidFill>
                <a:latin typeface="Calibri"/>
                <a:ea typeface="Calibri"/>
              </a:rPr>
              <a:t>Content is parsed by a model, not just a machine.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strike="noStrike" spc="-1">
                <a:solidFill>
                  <a:srgbClr val="E8DFD2"/>
                </a:solidFill>
                <a:latin typeface="Calibri"/>
                <a:ea typeface="Calibri"/>
              </a:rPr>
              <a:t>An embedded instruction that a traditional parser would ignore can be read by an LLM as a command. The boundary between “data” and “instruction” — already fragile in serialization bugs — nearly disappears when natural language is in the payload.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Shape 13"/>
          <p:cNvSpPr/>
          <p:nvPr/>
        </p:nvSpPr>
        <p:spPr>
          <a:xfrm>
            <a:off x="0" y="0"/>
            <a:ext cx="12161160" cy="7272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51" name="Image 1" descr="fhb_logo.png"/>
          <p:cNvPicPr/>
          <p:nvPr/>
        </p:nvPicPr>
        <p:blipFill>
          <a:blip r:embed="rId4"/>
          <a:stretch/>
        </p:blipFill>
        <p:spPr>
          <a:xfrm>
            <a:off x="10031040" y="146160"/>
            <a:ext cx="1828440" cy="338040"/>
          </a:xfrm>
          <a:prstGeom prst="rect">
            <a:avLst/>
          </a:prstGeom>
          <a:ln w="0">
            <a:noFill/>
          </a:ln>
        </p:spPr>
      </p:pic>
      <p:sp>
        <p:nvSpPr>
          <p:cNvPr id="152" name="Shape 14"/>
          <p:cNvSpPr/>
          <p:nvPr/>
        </p:nvSpPr>
        <p:spPr>
          <a:xfrm>
            <a:off x="457200" y="6583680"/>
            <a:ext cx="11274120" cy="19800"/>
          </a:xfrm>
          <a:prstGeom prst="rect">
            <a:avLst/>
          </a:prstGeom>
          <a:solidFill>
            <a:srgbClr val="F5A8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4840" rIns="90000" bIns="-2484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Shape 15"/>
          <p:cNvSpPr/>
          <p:nvPr/>
        </p:nvSpPr>
        <p:spPr>
          <a:xfrm>
            <a:off x="457200" y="6510600"/>
            <a:ext cx="164160" cy="16416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" name="Text 16"/>
          <p:cNvSpPr/>
          <p:nvPr/>
        </p:nvSpPr>
        <p:spPr>
          <a:xfrm>
            <a:off x="713160" y="640080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8385"/>
                </a:solidFill>
                <a:latin typeface="Calibri"/>
                <a:ea typeface="Calibri"/>
              </a:rPr>
              <a:t>MCP Security  ·  Deck 3 of 3  ·  NSA Guidance (May 2026)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Text 17"/>
          <p:cNvSpPr/>
          <p:nvPr/>
        </p:nvSpPr>
        <p:spPr>
          <a:xfrm>
            <a:off x="11155680" y="640080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8385"/>
                </a:solidFill>
                <a:latin typeface="Calibri"/>
                <a:ea typeface="Calibri"/>
              </a:rPr>
              <a:t>6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Text 0"/>
          <p:cNvSpPr/>
          <p:nvPr/>
        </p:nvSpPr>
        <p:spPr>
          <a:xfrm>
            <a:off x="457200" y="457200"/>
            <a:ext cx="94179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299">
                <a:solidFill>
                  <a:srgbClr val="B8860B"/>
                </a:solidFill>
                <a:latin typeface="Calibri"/>
                <a:ea typeface="Calibri"/>
              </a:rPr>
              <a:t>DESIGN &amp; IMPLEMENTATION CONCERNS · A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Text 1"/>
          <p:cNvSpPr/>
          <p:nvPr/>
        </p:nvSpPr>
        <p:spPr>
          <a:xfrm>
            <a:off x="457200" y="73152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231F20"/>
                </a:solidFill>
                <a:latin typeface="Open Sans"/>
                <a:ea typeface="Open Sans"/>
              </a:rPr>
              <a:t>Token &amp; session security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Text 2"/>
          <p:cNvSpPr/>
          <p:nvPr/>
        </p:nvSpPr>
        <p:spPr>
          <a:xfrm>
            <a:off x="457200" y="1371600"/>
            <a:ext cx="112467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strike="noStrike" spc="-1">
                <a:solidFill>
                  <a:srgbClr val="3A3536"/>
                </a:solidFill>
                <a:latin typeface="Calibri"/>
                <a:ea typeface="Calibri"/>
              </a:rPr>
              <a:t>Authorization in MCP is optional, and where it exists, the spec doesn't mandate token lifecycle management. That leaves room for replay and hijacking.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Shape 3"/>
          <p:cNvSpPr/>
          <p:nvPr/>
        </p:nvSpPr>
        <p:spPr>
          <a:xfrm>
            <a:off x="457200" y="2148840"/>
            <a:ext cx="3520080" cy="2742840"/>
          </a:xfrm>
          <a:prstGeom prst="rect">
            <a:avLst/>
          </a:prstGeom>
          <a:solidFill>
            <a:srgbClr val="F7F4EF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Shape 4"/>
          <p:cNvSpPr/>
          <p:nvPr/>
        </p:nvSpPr>
        <p:spPr>
          <a:xfrm>
            <a:off x="457200" y="2148840"/>
            <a:ext cx="3520080" cy="109440"/>
          </a:xfrm>
          <a:prstGeom prst="rect">
            <a:avLst/>
          </a:prstGeom>
          <a:solidFill>
            <a:srgbClr val="B8860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1" name="Shape 5"/>
          <p:cNvSpPr/>
          <p:nvPr/>
        </p:nvSpPr>
        <p:spPr>
          <a:xfrm>
            <a:off x="713160" y="2423160"/>
            <a:ext cx="548280" cy="5482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2" name="Image 0" descr="preencoded.png"/>
          <p:cNvPicPr/>
          <p:nvPr/>
        </p:nvPicPr>
        <p:blipFill>
          <a:blip r:embed="rId3"/>
          <a:stretch/>
        </p:blipFill>
        <p:spPr>
          <a:xfrm>
            <a:off x="833760" y="2543760"/>
            <a:ext cx="306720" cy="306720"/>
          </a:xfrm>
          <a:prstGeom prst="rect">
            <a:avLst/>
          </a:prstGeom>
          <a:ln w="0">
            <a:noFill/>
          </a:ln>
        </p:spPr>
      </p:pic>
      <p:sp>
        <p:nvSpPr>
          <p:cNvPr id="163" name="Text 6"/>
          <p:cNvSpPr/>
          <p:nvPr/>
        </p:nvSpPr>
        <p:spPr>
          <a:xfrm>
            <a:off x="1417320" y="2404800"/>
            <a:ext cx="23313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strike="noStrike" spc="-1">
                <a:solidFill>
                  <a:srgbClr val="231F20"/>
                </a:solidFill>
                <a:latin typeface="Open Sans"/>
                <a:ea typeface="Open Sans"/>
              </a:rPr>
              <a:t>Auth is optional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Text 7"/>
          <p:cNvSpPr/>
          <p:nvPr/>
        </p:nvSpPr>
        <p:spPr>
          <a:xfrm>
            <a:off x="731520" y="3063240"/>
            <a:ext cx="2971440" cy="1371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3A3536"/>
                </a:solidFill>
                <a:latin typeface="Calibri"/>
                <a:ea typeface="Calibri"/>
              </a:rPr>
              <a:t>Not every implementation uses it. Bearer tokens are common but not required.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Shape 8"/>
          <p:cNvSpPr/>
          <p:nvPr/>
        </p:nvSpPr>
        <p:spPr>
          <a:xfrm>
            <a:off x="4251960" y="2148840"/>
            <a:ext cx="3520080" cy="2742840"/>
          </a:xfrm>
          <a:prstGeom prst="rect">
            <a:avLst/>
          </a:prstGeom>
          <a:solidFill>
            <a:srgbClr val="F7F4EF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Shape 9"/>
          <p:cNvSpPr/>
          <p:nvPr/>
        </p:nvSpPr>
        <p:spPr>
          <a:xfrm>
            <a:off x="4251960" y="2148840"/>
            <a:ext cx="3520080" cy="109440"/>
          </a:xfrm>
          <a:prstGeom prst="rect">
            <a:avLst/>
          </a:prstGeom>
          <a:solidFill>
            <a:srgbClr val="B8860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7" name="Shape 10"/>
          <p:cNvSpPr/>
          <p:nvPr/>
        </p:nvSpPr>
        <p:spPr>
          <a:xfrm>
            <a:off x="4507920" y="2423160"/>
            <a:ext cx="548280" cy="5482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8" name="Image 1" descr="preencoded.png"/>
          <p:cNvPicPr/>
          <p:nvPr/>
        </p:nvPicPr>
        <p:blipFill>
          <a:blip r:embed="rId4"/>
          <a:stretch/>
        </p:blipFill>
        <p:spPr>
          <a:xfrm>
            <a:off x="4628520" y="2543760"/>
            <a:ext cx="306720" cy="306720"/>
          </a:xfrm>
          <a:prstGeom prst="rect">
            <a:avLst/>
          </a:prstGeom>
          <a:ln w="0">
            <a:noFill/>
          </a:ln>
        </p:spPr>
      </p:pic>
      <p:sp>
        <p:nvSpPr>
          <p:cNvPr id="169" name="Text 11"/>
          <p:cNvSpPr/>
          <p:nvPr/>
        </p:nvSpPr>
        <p:spPr>
          <a:xfrm>
            <a:off x="5212080" y="2404800"/>
            <a:ext cx="23313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strike="noStrike" spc="-1">
                <a:solidFill>
                  <a:srgbClr val="231F20"/>
                </a:solidFill>
                <a:latin typeface="Open Sans"/>
                <a:ea typeface="Open Sans"/>
              </a:rPr>
              <a:t>No mandated lifecycle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Text 12"/>
          <p:cNvSpPr/>
          <p:nvPr/>
        </p:nvSpPr>
        <p:spPr>
          <a:xfrm>
            <a:off x="4526280" y="3063240"/>
            <a:ext cx="2971440" cy="1371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3A3536"/>
                </a:solidFill>
                <a:latin typeface="Calibri"/>
                <a:ea typeface="Calibri"/>
              </a:rPr>
              <a:t>Refresh, revocation, and reuse control aren't required by the core spec — only recommended in places.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Shape 13"/>
          <p:cNvSpPr/>
          <p:nvPr/>
        </p:nvSpPr>
        <p:spPr>
          <a:xfrm>
            <a:off x="8046720" y="2148840"/>
            <a:ext cx="3520080" cy="2742840"/>
          </a:xfrm>
          <a:prstGeom prst="rect">
            <a:avLst/>
          </a:prstGeom>
          <a:solidFill>
            <a:srgbClr val="F7F4EF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Shape 14"/>
          <p:cNvSpPr/>
          <p:nvPr/>
        </p:nvSpPr>
        <p:spPr>
          <a:xfrm>
            <a:off x="8046720" y="2148840"/>
            <a:ext cx="3520080" cy="109440"/>
          </a:xfrm>
          <a:prstGeom prst="rect">
            <a:avLst/>
          </a:prstGeom>
          <a:solidFill>
            <a:srgbClr val="B8860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" name="Shape 15"/>
          <p:cNvSpPr/>
          <p:nvPr/>
        </p:nvSpPr>
        <p:spPr>
          <a:xfrm>
            <a:off x="8302680" y="2423160"/>
            <a:ext cx="548280" cy="5482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4" name="Image 2" descr="preencoded.png"/>
          <p:cNvPicPr/>
          <p:nvPr/>
        </p:nvPicPr>
        <p:blipFill>
          <a:blip r:embed="rId5"/>
          <a:stretch/>
        </p:blipFill>
        <p:spPr>
          <a:xfrm>
            <a:off x="8423280" y="2543760"/>
            <a:ext cx="306720" cy="306720"/>
          </a:xfrm>
          <a:prstGeom prst="rect">
            <a:avLst/>
          </a:prstGeom>
          <a:ln w="0">
            <a:noFill/>
          </a:ln>
        </p:spPr>
      </p:pic>
      <p:sp>
        <p:nvSpPr>
          <p:cNvPr id="175" name="Text 16"/>
          <p:cNvSpPr/>
          <p:nvPr/>
        </p:nvSpPr>
        <p:spPr>
          <a:xfrm>
            <a:off x="9006840" y="2404800"/>
            <a:ext cx="23313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700" b="1" strike="noStrike" spc="-1">
                <a:solidFill>
                  <a:srgbClr val="231F20"/>
                </a:solidFill>
                <a:latin typeface="Open Sans"/>
                <a:ea typeface="Open Sans"/>
              </a:rPr>
              <a:t>Replay &amp; hijack</a:t>
            </a:r>
            <a:endParaRPr lang="en-US" sz="17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Text 17"/>
          <p:cNvSpPr/>
          <p:nvPr/>
        </p:nvSpPr>
        <p:spPr>
          <a:xfrm>
            <a:off x="8321040" y="3063240"/>
            <a:ext cx="2971440" cy="1371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3A3536"/>
                </a:solidFill>
                <a:latin typeface="Calibri"/>
                <a:ea typeface="Calibri"/>
              </a:rPr>
              <a:t>Without lifecycle control, valid sessions can be reused or hijacked — a malicious actor impersonates a legitimate client.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Shape 18"/>
          <p:cNvSpPr/>
          <p:nvPr/>
        </p:nvSpPr>
        <p:spPr>
          <a:xfrm>
            <a:off x="457200" y="5120640"/>
            <a:ext cx="11246760" cy="914040"/>
          </a:xfrm>
          <a:prstGeom prst="rect">
            <a:avLst/>
          </a:prstGeom>
          <a:solidFill>
            <a:srgbClr val="FBF1E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Shape 19"/>
          <p:cNvSpPr/>
          <p:nvPr/>
        </p:nvSpPr>
        <p:spPr>
          <a:xfrm>
            <a:off x="457200" y="5120640"/>
            <a:ext cx="91080" cy="914040"/>
          </a:xfrm>
          <a:prstGeom prst="rect">
            <a:avLst/>
          </a:prstGeom>
          <a:solidFill>
            <a:srgbClr val="B8860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79" name="Image 3" descr="preencoded.png"/>
          <p:cNvPicPr/>
          <p:nvPr/>
        </p:nvPicPr>
        <p:blipFill>
          <a:blip r:embed="rId6"/>
          <a:stretch/>
        </p:blipFill>
        <p:spPr>
          <a:xfrm>
            <a:off x="713160" y="5394960"/>
            <a:ext cx="383760" cy="383760"/>
          </a:xfrm>
          <a:prstGeom prst="rect">
            <a:avLst/>
          </a:prstGeom>
          <a:ln w="0">
            <a:noFill/>
          </a:ln>
        </p:spPr>
      </p:pic>
      <p:sp>
        <p:nvSpPr>
          <p:cNvPr id="180" name="Text 20"/>
          <p:cNvSpPr/>
          <p:nvPr/>
        </p:nvSpPr>
        <p:spPr>
          <a:xfrm>
            <a:off x="1234440" y="5120640"/>
            <a:ext cx="1024092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8A5A12"/>
                </a:solidFill>
                <a:latin typeface="Calibri"/>
                <a:ea typeface="Calibri"/>
              </a:rPr>
              <a:t>Idempotency isn't enforced either.  </a:t>
            </a:r>
            <a:r>
              <a:rPr lang="en-US" sz="1300" b="0" strike="noStrike" spc="-1">
                <a:solidFill>
                  <a:srgbClr val="8A5A12"/>
                </a:solidFill>
                <a:latin typeface="Calibri"/>
                <a:ea typeface="Calibri"/>
              </a:rPr>
              <a:t>MCP leaves it to the underlying JSON-RPC and message-queue layers — so the same operation may execute more than once if no one implements the guard.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1" name="Shape 21"/>
          <p:cNvSpPr/>
          <p:nvPr/>
        </p:nvSpPr>
        <p:spPr>
          <a:xfrm>
            <a:off x="0" y="0"/>
            <a:ext cx="12161160" cy="7272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182" name="Image 4" descr="fhb_logo.png"/>
          <p:cNvPicPr/>
          <p:nvPr/>
        </p:nvPicPr>
        <p:blipFill>
          <a:blip r:embed="rId7"/>
          <a:stretch/>
        </p:blipFill>
        <p:spPr>
          <a:xfrm>
            <a:off x="10031040" y="146160"/>
            <a:ext cx="1828440" cy="338040"/>
          </a:xfrm>
          <a:prstGeom prst="rect">
            <a:avLst/>
          </a:prstGeom>
          <a:ln w="0">
            <a:noFill/>
          </a:ln>
        </p:spPr>
      </p:pic>
      <p:sp>
        <p:nvSpPr>
          <p:cNvPr id="183" name="Shape 22"/>
          <p:cNvSpPr/>
          <p:nvPr/>
        </p:nvSpPr>
        <p:spPr>
          <a:xfrm>
            <a:off x="457200" y="6583680"/>
            <a:ext cx="11274120" cy="19800"/>
          </a:xfrm>
          <a:prstGeom prst="rect">
            <a:avLst/>
          </a:prstGeom>
          <a:solidFill>
            <a:srgbClr val="F5A8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4840" rIns="90000" bIns="-2484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Shape 23"/>
          <p:cNvSpPr/>
          <p:nvPr/>
        </p:nvSpPr>
        <p:spPr>
          <a:xfrm>
            <a:off x="457200" y="6510600"/>
            <a:ext cx="164160" cy="16416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" name="Text 24"/>
          <p:cNvSpPr/>
          <p:nvPr/>
        </p:nvSpPr>
        <p:spPr>
          <a:xfrm>
            <a:off x="713160" y="640080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8385"/>
                </a:solidFill>
                <a:latin typeface="Calibri"/>
                <a:ea typeface="Calibri"/>
              </a:rPr>
              <a:t>MCP Security  ·  Deck 3 of 3  ·  NSA Guidance (May 2026)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Text 25"/>
          <p:cNvSpPr/>
          <p:nvPr/>
        </p:nvSpPr>
        <p:spPr>
          <a:xfrm>
            <a:off x="11155680" y="640080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8385"/>
                </a:solidFill>
                <a:latin typeface="Calibri"/>
                <a:ea typeface="Calibri"/>
              </a:rPr>
              <a:t>7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Text 0"/>
          <p:cNvSpPr/>
          <p:nvPr/>
        </p:nvSpPr>
        <p:spPr>
          <a:xfrm>
            <a:off x="457200" y="457200"/>
            <a:ext cx="94179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299">
                <a:solidFill>
                  <a:srgbClr val="8B0E15"/>
                </a:solidFill>
                <a:latin typeface="Calibri"/>
                <a:ea typeface="Calibri"/>
              </a:rPr>
              <a:t>THE PRIMARY AUTH MECHANISM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Text 1"/>
          <p:cNvSpPr/>
          <p:nvPr/>
        </p:nvSpPr>
        <p:spPr>
          <a:xfrm>
            <a:off x="457200" y="73152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231F20"/>
                </a:solidFill>
                <a:latin typeface="Open Sans"/>
                <a:ea typeface="Open Sans"/>
              </a:rPr>
              <a:t>OAuth 2.1 — how MCP does authorization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Text 2"/>
          <p:cNvSpPr/>
          <p:nvPr/>
        </p:nvSpPr>
        <p:spPr>
          <a:xfrm>
            <a:off x="457200" y="1371600"/>
            <a:ext cx="112467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strike="noStrike" spc="-1">
                <a:solidFill>
                  <a:srgbClr val="3A3536"/>
                </a:solidFill>
                <a:latin typeface="Calibri"/>
                <a:ea typeface="Calibri"/>
              </a:rPr>
              <a:t>When auth IS implemented, OAuth 2.1 is the standard. The MCP server is a resource server: it validates tokens issued by a separate authorization server — it never runs the login itself.</a:t>
            </a:r>
            <a:endParaRPr lang="en-US" sz="14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Text 3"/>
          <p:cNvSpPr/>
          <p:nvPr/>
        </p:nvSpPr>
        <p:spPr>
          <a:xfrm>
            <a:off x="457200" y="2011680"/>
            <a:ext cx="100580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199">
                <a:solidFill>
                  <a:srgbClr val="8B0E15"/>
                </a:solidFill>
                <a:latin typeface="Calibri"/>
                <a:ea typeface="Calibri"/>
              </a:rPr>
              <a:t>THE FLOW, SIMPLIFIED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Shape 4"/>
          <p:cNvSpPr/>
          <p:nvPr/>
        </p:nvSpPr>
        <p:spPr>
          <a:xfrm>
            <a:off x="457200" y="2331720"/>
            <a:ext cx="2605680" cy="1782720"/>
          </a:xfrm>
          <a:prstGeom prst="rect">
            <a:avLst/>
          </a:prstGeom>
          <a:solidFill>
            <a:srgbClr val="F7F4EF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Shape 5"/>
          <p:cNvSpPr/>
          <p:nvPr/>
        </p:nvSpPr>
        <p:spPr>
          <a:xfrm>
            <a:off x="640080" y="2487240"/>
            <a:ext cx="456840" cy="456840"/>
          </a:xfrm>
          <a:prstGeom prst="ellipse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3" name="Text 6"/>
          <p:cNvSpPr/>
          <p:nvPr/>
        </p:nvSpPr>
        <p:spPr>
          <a:xfrm>
            <a:off x="640080" y="248724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FFFFFF"/>
                </a:solidFill>
                <a:latin typeface="Open Sans"/>
                <a:ea typeface="Open Sans"/>
              </a:rPr>
              <a:t>1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Text 7"/>
          <p:cNvSpPr/>
          <p:nvPr/>
        </p:nvSpPr>
        <p:spPr>
          <a:xfrm>
            <a:off x="1188720" y="2505600"/>
            <a:ext cx="17370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strike="noStrike" spc="-1">
                <a:solidFill>
                  <a:srgbClr val="231F20"/>
                </a:solidFill>
                <a:latin typeface="Open Sans"/>
                <a:ea typeface="Open Sans"/>
              </a:rPr>
              <a:t>Client requests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Text 8"/>
          <p:cNvSpPr/>
          <p:nvPr/>
        </p:nvSpPr>
        <p:spPr>
          <a:xfrm>
            <a:off x="658440" y="3063240"/>
            <a:ext cx="2221560" cy="95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3A3536"/>
                </a:solidFill>
                <a:latin typeface="Calibri"/>
                <a:ea typeface="Calibri"/>
              </a:rPr>
              <a:t>No valid token yet → the server replies 401 with WWW-Authenticate.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Shape 9"/>
          <p:cNvSpPr/>
          <p:nvPr/>
        </p:nvSpPr>
        <p:spPr>
          <a:xfrm>
            <a:off x="3081240" y="3200400"/>
            <a:ext cx="201240" cy="360"/>
          </a:xfrm>
          <a:prstGeom prst="line">
            <a:avLst/>
          </a:prstGeom>
          <a:ln w="25400">
            <a:solidFill>
              <a:srgbClr val="8B0E15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Shape 10"/>
          <p:cNvSpPr/>
          <p:nvPr/>
        </p:nvSpPr>
        <p:spPr>
          <a:xfrm>
            <a:off x="3291840" y="2331720"/>
            <a:ext cx="2605680" cy="1782720"/>
          </a:xfrm>
          <a:prstGeom prst="rect">
            <a:avLst/>
          </a:prstGeom>
          <a:solidFill>
            <a:srgbClr val="F7F4EF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Shape 11"/>
          <p:cNvSpPr/>
          <p:nvPr/>
        </p:nvSpPr>
        <p:spPr>
          <a:xfrm>
            <a:off x="3474720" y="2487240"/>
            <a:ext cx="456840" cy="456840"/>
          </a:xfrm>
          <a:prstGeom prst="ellipse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9" name="Text 12"/>
          <p:cNvSpPr/>
          <p:nvPr/>
        </p:nvSpPr>
        <p:spPr>
          <a:xfrm>
            <a:off x="3474720" y="248724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FFFFFF"/>
                </a:solidFill>
                <a:latin typeface="Open Sans"/>
                <a:ea typeface="Open Sans"/>
              </a:rPr>
              <a:t>2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Text 13"/>
          <p:cNvSpPr/>
          <p:nvPr/>
        </p:nvSpPr>
        <p:spPr>
          <a:xfrm>
            <a:off x="4023360" y="2505600"/>
            <a:ext cx="17370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strike="noStrike" spc="-1">
                <a:solidFill>
                  <a:srgbClr val="231F20"/>
                </a:solidFill>
                <a:latin typeface="Open Sans"/>
                <a:ea typeface="Open Sans"/>
              </a:rPr>
              <a:t>Discover &amp; authorize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Text 14"/>
          <p:cNvSpPr/>
          <p:nvPr/>
        </p:nvSpPr>
        <p:spPr>
          <a:xfrm>
            <a:off x="3493080" y="3063240"/>
            <a:ext cx="2221560" cy="95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 dirty="0">
                <a:solidFill>
                  <a:srgbClr val="3A3536"/>
                </a:solidFill>
                <a:latin typeface="Calibri"/>
                <a:ea typeface="Calibri"/>
              </a:rPr>
              <a:t>Client reads resource metadata, finds the auth server, and authorizes.</a:t>
            </a:r>
            <a:endParaRPr lang="en-US" sz="105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Shape 15"/>
          <p:cNvSpPr/>
          <p:nvPr/>
        </p:nvSpPr>
        <p:spPr>
          <a:xfrm>
            <a:off x="5915880" y="3200400"/>
            <a:ext cx="201240" cy="360"/>
          </a:xfrm>
          <a:prstGeom prst="line">
            <a:avLst/>
          </a:prstGeom>
          <a:ln w="25400">
            <a:solidFill>
              <a:srgbClr val="8B0E15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Shape 16"/>
          <p:cNvSpPr/>
          <p:nvPr/>
        </p:nvSpPr>
        <p:spPr>
          <a:xfrm>
            <a:off x="6126480" y="2331720"/>
            <a:ext cx="2605680" cy="1782720"/>
          </a:xfrm>
          <a:prstGeom prst="rect">
            <a:avLst/>
          </a:prstGeom>
          <a:solidFill>
            <a:srgbClr val="F7F4EF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Shape 17"/>
          <p:cNvSpPr/>
          <p:nvPr/>
        </p:nvSpPr>
        <p:spPr>
          <a:xfrm>
            <a:off x="6309360" y="2487240"/>
            <a:ext cx="456840" cy="456840"/>
          </a:xfrm>
          <a:prstGeom prst="ellipse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5" name="Text 18"/>
          <p:cNvSpPr/>
          <p:nvPr/>
        </p:nvSpPr>
        <p:spPr>
          <a:xfrm>
            <a:off x="6309360" y="248724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FFFFFF"/>
                </a:solidFill>
                <a:latin typeface="Open Sans"/>
                <a:ea typeface="Open Sans"/>
              </a:rPr>
              <a:t>3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Text 19"/>
          <p:cNvSpPr/>
          <p:nvPr/>
        </p:nvSpPr>
        <p:spPr>
          <a:xfrm>
            <a:off x="6858000" y="2505600"/>
            <a:ext cx="17370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strike="noStrike" spc="-1">
                <a:solidFill>
                  <a:srgbClr val="231F20"/>
                </a:solidFill>
                <a:latin typeface="Open Sans"/>
                <a:ea typeface="Open Sans"/>
              </a:rPr>
              <a:t>Token issued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Text 20"/>
          <p:cNvSpPr/>
          <p:nvPr/>
        </p:nvSpPr>
        <p:spPr>
          <a:xfrm>
            <a:off x="6327720" y="3063240"/>
            <a:ext cx="2221560" cy="95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 dirty="0">
                <a:solidFill>
                  <a:srgbClr val="3A3536"/>
                </a:solidFill>
                <a:latin typeface="Calibri"/>
                <a:ea typeface="Calibri"/>
              </a:rPr>
              <a:t>Auth server returns an access token audience-scoped to this MCP server.</a:t>
            </a:r>
            <a:endParaRPr lang="en-US" sz="105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Shape 21"/>
          <p:cNvSpPr/>
          <p:nvPr/>
        </p:nvSpPr>
        <p:spPr>
          <a:xfrm>
            <a:off x="8750520" y="3200400"/>
            <a:ext cx="201240" cy="360"/>
          </a:xfrm>
          <a:prstGeom prst="line">
            <a:avLst/>
          </a:prstGeom>
          <a:ln w="25400">
            <a:solidFill>
              <a:srgbClr val="8B0E15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Shape 22"/>
          <p:cNvSpPr/>
          <p:nvPr/>
        </p:nvSpPr>
        <p:spPr>
          <a:xfrm>
            <a:off x="8961120" y="2331720"/>
            <a:ext cx="2605680" cy="1782720"/>
          </a:xfrm>
          <a:prstGeom prst="rect">
            <a:avLst/>
          </a:prstGeom>
          <a:solidFill>
            <a:srgbClr val="F7F4EF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Shape 23"/>
          <p:cNvSpPr/>
          <p:nvPr/>
        </p:nvSpPr>
        <p:spPr>
          <a:xfrm>
            <a:off x="9144000" y="2487240"/>
            <a:ext cx="456840" cy="456840"/>
          </a:xfrm>
          <a:prstGeom prst="ellipse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1" name="Text 24"/>
          <p:cNvSpPr/>
          <p:nvPr/>
        </p:nvSpPr>
        <p:spPr>
          <a:xfrm>
            <a:off x="9144000" y="2487240"/>
            <a:ext cx="4568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FFFFFF"/>
                </a:solidFill>
                <a:latin typeface="Open Sans"/>
                <a:ea typeface="Open Sans"/>
              </a:rPr>
              <a:t>4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Text 25"/>
          <p:cNvSpPr/>
          <p:nvPr/>
        </p:nvSpPr>
        <p:spPr>
          <a:xfrm>
            <a:off x="9692640" y="2505600"/>
            <a:ext cx="17370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strike="noStrike" spc="-1">
                <a:solidFill>
                  <a:srgbClr val="231F20"/>
                </a:solidFill>
                <a:latin typeface="Open Sans"/>
                <a:ea typeface="Open Sans"/>
              </a:rPr>
              <a:t>Validated calls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Text 26"/>
          <p:cNvSpPr/>
          <p:nvPr/>
        </p:nvSpPr>
        <p:spPr>
          <a:xfrm>
            <a:off x="9162360" y="3063240"/>
            <a:ext cx="2221560" cy="95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3A3536"/>
                </a:solidFill>
                <a:latin typeface="Calibri"/>
                <a:ea typeface="Calibri"/>
              </a:rPr>
              <a:t>Client sends Bearer token each request; server checks signature, expiry, and audience.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Text 27"/>
          <p:cNvSpPr/>
          <p:nvPr/>
        </p:nvSpPr>
        <p:spPr>
          <a:xfrm>
            <a:off x="457200" y="4343400"/>
            <a:ext cx="100580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199">
                <a:solidFill>
                  <a:srgbClr val="8A5A12"/>
                </a:solidFill>
                <a:latin typeface="Calibri"/>
                <a:ea typeface="Calibri"/>
              </a:rPr>
              <a:t>WHERE IT GOES WRONG IN MCP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Shape 28"/>
          <p:cNvSpPr/>
          <p:nvPr/>
        </p:nvSpPr>
        <p:spPr>
          <a:xfrm>
            <a:off x="457200" y="4663440"/>
            <a:ext cx="5531760" cy="1142640"/>
          </a:xfrm>
          <a:prstGeom prst="rect">
            <a:avLst/>
          </a:prstGeom>
          <a:solidFill>
            <a:srgbClr val="FBF1E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Shape 29"/>
          <p:cNvSpPr/>
          <p:nvPr/>
        </p:nvSpPr>
        <p:spPr>
          <a:xfrm>
            <a:off x="457200" y="4663440"/>
            <a:ext cx="91080" cy="1142640"/>
          </a:xfrm>
          <a:prstGeom prst="rect">
            <a:avLst/>
          </a:prstGeom>
          <a:solidFill>
            <a:srgbClr val="B8860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7" name="Shape 30"/>
          <p:cNvSpPr/>
          <p:nvPr/>
        </p:nvSpPr>
        <p:spPr>
          <a:xfrm>
            <a:off x="685800" y="4864680"/>
            <a:ext cx="456840" cy="4568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18" name="Image 0" descr="preencoded.png"/>
          <p:cNvPicPr/>
          <p:nvPr/>
        </p:nvPicPr>
        <p:blipFill>
          <a:blip r:embed="rId3"/>
          <a:stretch/>
        </p:blipFill>
        <p:spPr>
          <a:xfrm>
            <a:off x="786240" y="4965120"/>
            <a:ext cx="255600" cy="255600"/>
          </a:xfrm>
          <a:prstGeom prst="rect">
            <a:avLst/>
          </a:prstGeom>
          <a:ln w="0">
            <a:noFill/>
          </a:ln>
        </p:spPr>
      </p:pic>
      <p:sp>
        <p:nvSpPr>
          <p:cNvPr id="219" name="Text 31"/>
          <p:cNvSpPr/>
          <p:nvPr/>
        </p:nvSpPr>
        <p:spPr>
          <a:xfrm>
            <a:off x="1280160" y="4773240"/>
            <a:ext cx="45716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strike="noStrike" spc="-1">
                <a:solidFill>
                  <a:srgbClr val="8A5A12"/>
                </a:solidFill>
                <a:latin typeface="Open Sans"/>
                <a:ea typeface="Open Sans"/>
              </a:rPr>
              <a:t>Missing audience validation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Text 32"/>
          <p:cNvSpPr/>
          <p:nvPr/>
        </p:nvSpPr>
        <p:spPr>
          <a:xfrm>
            <a:off x="1280160" y="5230440"/>
            <a:ext cx="45716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8A5A12"/>
                </a:solidFill>
                <a:latin typeface="Calibri"/>
                <a:ea typeface="Calibri"/>
              </a:rPr>
              <a:t>If the server doesn't check the token's audience claim, it accepts tokens minted for other services — a valid signature on the wrong token.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1" name="Shape 33"/>
          <p:cNvSpPr/>
          <p:nvPr/>
        </p:nvSpPr>
        <p:spPr>
          <a:xfrm>
            <a:off x="6172200" y="4663440"/>
            <a:ext cx="5531760" cy="1142640"/>
          </a:xfrm>
          <a:prstGeom prst="rect">
            <a:avLst/>
          </a:prstGeom>
          <a:solidFill>
            <a:srgbClr val="FBF1E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Shape 34"/>
          <p:cNvSpPr/>
          <p:nvPr/>
        </p:nvSpPr>
        <p:spPr>
          <a:xfrm>
            <a:off x="6172200" y="4663440"/>
            <a:ext cx="91080" cy="1142640"/>
          </a:xfrm>
          <a:prstGeom prst="rect">
            <a:avLst/>
          </a:prstGeom>
          <a:solidFill>
            <a:srgbClr val="B8860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3" name="Shape 35"/>
          <p:cNvSpPr/>
          <p:nvPr/>
        </p:nvSpPr>
        <p:spPr>
          <a:xfrm>
            <a:off x="6400800" y="4864680"/>
            <a:ext cx="456840" cy="4568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24" name="Image 1" descr="preencoded.png"/>
          <p:cNvPicPr/>
          <p:nvPr/>
        </p:nvPicPr>
        <p:blipFill>
          <a:blip r:embed="rId4"/>
          <a:stretch/>
        </p:blipFill>
        <p:spPr>
          <a:xfrm>
            <a:off x="6501240" y="4965120"/>
            <a:ext cx="255600" cy="255600"/>
          </a:xfrm>
          <a:prstGeom prst="rect">
            <a:avLst/>
          </a:prstGeom>
          <a:ln w="0">
            <a:noFill/>
          </a:ln>
        </p:spPr>
      </p:pic>
      <p:sp>
        <p:nvSpPr>
          <p:cNvPr id="225" name="Text 36"/>
          <p:cNvSpPr/>
          <p:nvPr/>
        </p:nvSpPr>
        <p:spPr>
          <a:xfrm>
            <a:off x="6995160" y="4773240"/>
            <a:ext cx="45716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strike="noStrike" spc="-1">
                <a:solidFill>
                  <a:srgbClr val="8A5A12"/>
                </a:solidFill>
                <a:latin typeface="Open Sans"/>
                <a:ea typeface="Open Sans"/>
              </a:rPr>
              <a:t>Token passthrough → confused deputy</a:t>
            </a:r>
            <a:endParaRPr lang="en-US" sz="13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6" name="Text 37"/>
          <p:cNvSpPr/>
          <p:nvPr/>
        </p:nvSpPr>
        <p:spPr>
          <a:xfrm>
            <a:off x="6995160" y="5230440"/>
            <a:ext cx="45716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8A5A12"/>
                </a:solidFill>
                <a:latin typeface="Calibri"/>
                <a:ea typeface="Calibri"/>
              </a:rPr>
              <a:t>Forwarding the client's token to an upstream API makes the server a confused deputy. It must instead get its own separate token for each downstream call.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7" name="Text 38"/>
          <p:cNvSpPr/>
          <p:nvPr/>
        </p:nvSpPr>
        <p:spPr>
          <a:xfrm>
            <a:off x="457200" y="5943600"/>
            <a:ext cx="112467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i="1" strike="noStrike" spc="-1">
                <a:solidFill>
                  <a:srgbClr val="8A8385"/>
                </a:solidFill>
                <a:latin typeface="Calibri"/>
                <a:ea typeface="Calibri"/>
              </a:rPr>
              <a:t>Real instance: the mcp-remote OAuth proxy (400k+ environments) accepted a malicious authorization_endpoint that injected shell commands — RCE on the developer's machine.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Shape 39"/>
          <p:cNvSpPr/>
          <p:nvPr/>
        </p:nvSpPr>
        <p:spPr>
          <a:xfrm>
            <a:off x="0" y="0"/>
            <a:ext cx="12161160" cy="7272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29" name="Image 2" descr="fhb_logo.png"/>
          <p:cNvPicPr/>
          <p:nvPr/>
        </p:nvPicPr>
        <p:blipFill>
          <a:blip r:embed="rId5"/>
          <a:stretch/>
        </p:blipFill>
        <p:spPr>
          <a:xfrm>
            <a:off x="10031040" y="146160"/>
            <a:ext cx="1828440" cy="338040"/>
          </a:xfrm>
          <a:prstGeom prst="rect">
            <a:avLst/>
          </a:prstGeom>
          <a:ln w="0">
            <a:noFill/>
          </a:ln>
        </p:spPr>
      </p:pic>
      <p:sp>
        <p:nvSpPr>
          <p:cNvPr id="230" name="Shape 40"/>
          <p:cNvSpPr/>
          <p:nvPr/>
        </p:nvSpPr>
        <p:spPr>
          <a:xfrm>
            <a:off x="457200" y="6583680"/>
            <a:ext cx="11274120" cy="19800"/>
          </a:xfrm>
          <a:prstGeom prst="rect">
            <a:avLst/>
          </a:prstGeom>
          <a:solidFill>
            <a:srgbClr val="F5A8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4840" rIns="90000" bIns="-2484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1" name="Shape 41"/>
          <p:cNvSpPr/>
          <p:nvPr/>
        </p:nvSpPr>
        <p:spPr>
          <a:xfrm>
            <a:off x="457200" y="6510600"/>
            <a:ext cx="164160" cy="16416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2" name="Text 42"/>
          <p:cNvSpPr/>
          <p:nvPr/>
        </p:nvSpPr>
        <p:spPr>
          <a:xfrm>
            <a:off x="713160" y="640080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8385"/>
                </a:solidFill>
                <a:latin typeface="Calibri"/>
                <a:ea typeface="Calibri"/>
              </a:rPr>
              <a:t>MCP Security  ·  Deck 3 of 3  ·  NSA Guidance (May 2026)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Text 43"/>
          <p:cNvSpPr/>
          <p:nvPr/>
        </p:nvSpPr>
        <p:spPr>
          <a:xfrm>
            <a:off x="11155680" y="640080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8385"/>
                </a:solidFill>
                <a:latin typeface="Calibri"/>
                <a:ea typeface="Calibri"/>
              </a:rPr>
              <a:t>8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Text 0"/>
          <p:cNvSpPr/>
          <p:nvPr/>
        </p:nvSpPr>
        <p:spPr>
          <a:xfrm>
            <a:off x="457200" y="457200"/>
            <a:ext cx="94179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299">
                <a:solidFill>
                  <a:srgbClr val="8B0E15"/>
                </a:solidFill>
                <a:latin typeface="Calibri"/>
                <a:ea typeface="Calibri"/>
              </a:rPr>
              <a:t>THE OTHER HALF OF SLIDE 7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Text 1"/>
          <p:cNvSpPr/>
          <p:nvPr/>
        </p:nvSpPr>
        <p:spPr>
          <a:xfrm>
            <a:off x="457200" y="73152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231F20"/>
                </a:solidFill>
                <a:latin typeface="Open Sans"/>
                <a:ea typeface="Open Sans"/>
              </a:rPr>
              <a:t>Idempotency — why “exactly once” matters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Text 2"/>
          <p:cNvSpPr/>
          <p:nvPr/>
        </p:nvSpPr>
        <p:spPr>
          <a:xfrm>
            <a:off x="457200" y="1371600"/>
            <a:ext cx="1124676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strike="noStrike" spc="-1">
                <a:solidFill>
                  <a:srgbClr val="3A3536"/>
                </a:solidFill>
                <a:latin typeface="Calibri"/>
                <a:ea typeface="Calibri"/>
              </a:rPr>
              <a:t>Slide 7 noted MCP leaves idempotency to the lower layers. Here's why that gap matters: in an agentic system, the same operation can fire more than once — and whether that's harmless or harmful depends entirely on the tool.</a:t>
            </a:r>
            <a:endParaRPr lang="en-US" sz="14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7" name="Shape 3"/>
          <p:cNvSpPr/>
          <p:nvPr/>
        </p:nvSpPr>
        <p:spPr>
          <a:xfrm>
            <a:off x="457200" y="2240280"/>
            <a:ext cx="5531760" cy="1828440"/>
          </a:xfrm>
          <a:prstGeom prst="rect">
            <a:avLst/>
          </a:prstGeom>
          <a:solidFill>
            <a:srgbClr val="F7F4EF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Shape 4"/>
          <p:cNvSpPr/>
          <p:nvPr/>
        </p:nvSpPr>
        <p:spPr>
          <a:xfrm>
            <a:off x="457200" y="2240280"/>
            <a:ext cx="5531760" cy="10944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9" name="Shape 5"/>
          <p:cNvSpPr/>
          <p:nvPr/>
        </p:nvSpPr>
        <p:spPr>
          <a:xfrm>
            <a:off x="713160" y="2441520"/>
            <a:ext cx="502560" cy="5025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40" name="Image 0" descr="preencoded.png"/>
          <p:cNvPicPr/>
          <p:nvPr/>
        </p:nvPicPr>
        <p:blipFill>
          <a:blip r:embed="rId3"/>
          <a:stretch/>
        </p:blipFill>
        <p:spPr>
          <a:xfrm>
            <a:off x="824040" y="2552040"/>
            <a:ext cx="281160" cy="281160"/>
          </a:xfrm>
          <a:prstGeom prst="rect">
            <a:avLst/>
          </a:prstGeom>
          <a:ln w="0">
            <a:noFill/>
          </a:ln>
        </p:spPr>
      </p:pic>
      <p:sp>
        <p:nvSpPr>
          <p:cNvPr id="241" name="Text 6"/>
          <p:cNvSpPr/>
          <p:nvPr/>
        </p:nvSpPr>
        <p:spPr>
          <a:xfrm>
            <a:off x="1325880" y="2450520"/>
            <a:ext cx="43887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231F20"/>
                </a:solidFill>
                <a:latin typeface="Open Sans"/>
                <a:ea typeface="Open Sans"/>
              </a:rPr>
              <a:t>What it means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Text 7"/>
          <p:cNvSpPr/>
          <p:nvPr/>
        </p:nvSpPr>
        <p:spPr>
          <a:xfrm>
            <a:off x="713160" y="3017520"/>
            <a:ext cx="5028840" cy="95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3A3536"/>
                </a:solidFill>
                <a:latin typeface="Calibri"/>
                <a:ea typeface="Calibri"/>
              </a:rPr>
              <a:t>An operation is </a:t>
            </a:r>
            <a:r>
              <a:rPr lang="en-US" sz="1250" b="1" i="1" strike="noStrike" spc="-1">
                <a:solidFill>
                  <a:srgbClr val="3A3536"/>
                </a:solidFill>
                <a:latin typeface="Calibri"/>
                <a:ea typeface="Calibri"/>
              </a:rPr>
              <a:t>idempotent</a:t>
            </a:r>
            <a:r>
              <a:rPr lang="en-US" sz="1250" b="0" strike="noStrike" spc="-1">
                <a:solidFill>
                  <a:srgbClr val="3A3536"/>
                </a:solidFill>
                <a:latin typeface="Calibri"/>
                <a:ea typeface="Calibri"/>
              </a:rPr>
              <a:t> if running it twice has the same effect as running it once. 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5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500" b="0" strike="noStrike" spc="-1">
              <a:solidFill>
                <a:srgbClr val="000000"/>
              </a:solidFill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3A3536"/>
                </a:solidFill>
                <a:latin typeface="Calibri"/>
                <a:ea typeface="Calibri"/>
              </a:rPr>
              <a:t>“Read the balance” is naturally idempotent. “Transfer $500” is not — do it twice and the customer is out $1,000.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Shape 8"/>
          <p:cNvSpPr/>
          <p:nvPr/>
        </p:nvSpPr>
        <p:spPr>
          <a:xfrm>
            <a:off x="6172200" y="2240280"/>
            <a:ext cx="5531760" cy="1828440"/>
          </a:xfrm>
          <a:prstGeom prst="rect">
            <a:avLst/>
          </a:prstGeom>
          <a:solidFill>
            <a:srgbClr val="F7F4EF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4" name="Shape 9"/>
          <p:cNvSpPr/>
          <p:nvPr/>
        </p:nvSpPr>
        <p:spPr>
          <a:xfrm>
            <a:off x="6172200" y="2240280"/>
            <a:ext cx="5531760" cy="10944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5" name="Shape 10"/>
          <p:cNvSpPr/>
          <p:nvPr/>
        </p:nvSpPr>
        <p:spPr>
          <a:xfrm>
            <a:off x="6428160" y="2441520"/>
            <a:ext cx="502560" cy="5025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46" name="Image 1" descr="preencoded.png"/>
          <p:cNvPicPr/>
          <p:nvPr/>
        </p:nvPicPr>
        <p:blipFill>
          <a:blip r:embed="rId3"/>
          <a:stretch/>
        </p:blipFill>
        <p:spPr>
          <a:xfrm>
            <a:off x="6539040" y="2552040"/>
            <a:ext cx="281160" cy="281160"/>
          </a:xfrm>
          <a:prstGeom prst="rect">
            <a:avLst/>
          </a:prstGeom>
          <a:ln w="0">
            <a:noFill/>
          </a:ln>
        </p:spPr>
      </p:pic>
      <p:sp>
        <p:nvSpPr>
          <p:cNvPr id="247" name="Text 11"/>
          <p:cNvSpPr/>
          <p:nvPr/>
        </p:nvSpPr>
        <p:spPr>
          <a:xfrm>
            <a:off x="7040880" y="2450520"/>
            <a:ext cx="457164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231F20"/>
                </a:solidFill>
                <a:latin typeface="Open Sans"/>
                <a:ea typeface="Open Sans"/>
              </a:rPr>
              <a:t>Why duplicates happen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Text 12"/>
          <p:cNvSpPr/>
          <p:nvPr/>
        </p:nvSpPr>
        <p:spPr>
          <a:xfrm>
            <a:off x="6428160" y="3017520"/>
            <a:ext cx="5074560" cy="95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3A3536"/>
                </a:solidFill>
                <a:latin typeface="Calibri"/>
                <a:ea typeface="Calibri"/>
              </a:rPr>
              <a:t>A network retry, an agent that re-issues a call it thinks failed, a replayed message, or a queue that delivers twice. In agentic chains these are routine — not edge cases. Without a guard, each duplicate re-executes the action.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Text 13"/>
          <p:cNvSpPr/>
          <p:nvPr/>
        </p:nvSpPr>
        <p:spPr>
          <a:xfrm>
            <a:off x="457200" y="4251960"/>
            <a:ext cx="1005804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strike="noStrike" spc="199">
                <a:solidFill>
                  <a:srgbClr val="8A5A12"/>
                </a:solidFill>
                <a:latin typeface="Calibri"/>
                <a:ea typeface="Calibri"/>
              </a:rPr>
              <a:t>THE SECURITY ISSUES</a:t>
            </a:r>
            <a:endParaRPr lang="en-US" sz="11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Shape 14"/>
          <p:cNvSpPr/>
          <p:nvPr/>
        </p:nvSpPr>
        <p:spPr>
          <a:xfrm>
            <a:off x="457200" y="4572000"/>
            <a:ext cx="3520080" cy="1234080"/>
          </a:xfrm>
          <a:prstGeom prst="rect">
            <a:avLst/>
          </a:prstGeom>
          <a:solidFill>
            <a:srgbClr val="FBF1E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Shape 15"/>
          <p:cNvSpPr/>
          <p:nvPr/>
        </p:nvSpPr>
        <p:spPr>
          <a:xfrm>
            <a:off x="457200" y="4572000"/>
            <a:ext cx="91080" cy="1234080"/>
          </a:xfrm>
          <a:prstGeom prst="rect">
            <a:avLst/>
          </a:prstGeom>
          <a:solidFill>
            <a:srgbClr val="B8860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2" name="Shape 16"/>
          <p:cNvSpPr/>
          <p:nvPr/>
        </p:nvSpPr>
        <p:spPr>
          <a:xfrm>
            <a:off x="685800" y="4754880"/>
            <a:ext cx="456840" cy="4568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53" name="Image 2" descr="preencoded.png"/>
          <p:cNvPicPr/>
          <p:nvPr/>
        </p:nvPicPr>
        <p:blipFill>
          <a:blip r:embed="rId4"/>
          <a:stretch/>
        </p:blipFill>
        <p:spPr>
          <a:xfrm>
            <a:off x="786240" y="4855320"/>
            <a:ext cx="255600" cy="255600"/>
          </a:xfrm>
          <a:prstGeom prst="rect">
            <a:avLst/>
          </a:prstGeom>
          <a:ln w="0">
            <a:noFill/>
          </a:ln>
        </p:spPr>
      </p:pic>
      <p:sp>
        <p:nvSpPr>
          <p:cNvPr id="254" name="Text 17"/>
          <p:cNvSpPr/>
          <p:nvPr/>
        </p:nvSpPr>
        <p:spPr>
          <a:xfrm>
            <a:off x="1234440" y="4681800"/>
            <a:ext cx="265140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8A5A12"/>
                </a:solidFill>
                <a:latin typeface="Open Sans"/>
                <a:ea typeface="Open Sans"/>
              </a:rPr>
              <a:t>Duplicate state changes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Text 18"/>
          <p:cNvSpPr/>
          <p:nvPr/>
        </p:nvSpPr>
        <p:spPr>
          <a:xfrm>
            <a:off x="713160" y="5257800"/>
            <a:ext cx="310860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8A5A12"/>
                </a:solidFill>
                <a:latin typeface="Calibri"/>
                <a:ea typeface="Calibri"/>
              </a:rPr>
              <a:t>Repeated transfers, double-posted records, doubled orders — direct financial and data-integrity harm.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6" name="Shape 19"/>
          <p:cNvSpPr/>
          <p:nvPr/>
        </p:nvSpPr>
        <p:spPr>
          <a:xfrm>
            <a:off x="4251960" y="4572000"/>
            <a:ext cx="3520080" cy="1234080"/>
          </a:xfrm>
          <a:prstGeom prst="rect">
            <a:avLst/>
          </a:prstGeom>
          <a:solidFill>
            <a:srgbClr val="FBF1E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Shape 20"/>
          <p:cNvSpPr/>
          <p:nvPr/>
        </p:nvSpPr>
        <p:spPr>
          <a:xfrm>
            <a:off x="4251960" y="4572000"/>
            <a:ext cx="91080" cy="1234080"/>
          </a:xfrm>
          <a:prstGeom prst="rect">
            <a:avLst/>
          </a:prstGeom>
          <a:solidFill>
            <a:srgbClr val="B8860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8" name="Shape 21"/>
          <p:cNvSpPr/>
          <p:nvPr/>
        </p:nvSpPr>
        <p:spPr>
          <a:xfrm>
            <a:off x="4480560" y="4754880"/>
            <a:ext cx="456840" cy="4568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59" name="Image 3" descr="preencoded.png"/>
          <p:cNvPicPr/>
          <p:nvPr/>
        </p:nvPicPr>
        <p:blipFill>
          <a:blip r:embed="rId3"/>
          <a:stretch/>
        </p:blipFill>
        <p:spPr>
          <a:xfrm>
            <a:off x="4581000" y="4855320"/>
            <a:ext cx="255600" cy="255600"/>
          </a:xfrm>
          <a:prstGeom prst="rect">
            <a:avLst/>
          </a:prstGeom>
          <a:ln w="0">
            <a:noFill/>
          </a:ln>
        </p:spPr>
      </p:pic>
      <p:sp>
        <p:nvSpPr>
          <p:cNvPr id="260" name="Text 22"/>
          <p:cNvSpPr/>
          <p:nvPr/>
        </p:nvSpPr>
        <p:spPr>
          <a:xfrm>
            <a:off x="5029200" y="4681800"/>
            <a:ext cx="265140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8A5A12"/>
                </a:solidFill>
                <a:latin typeface="Open Sans"/>
                <a:ea typeface="Open Sans"/>
              </a:rPr>
              <a:t>Replay attacks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Text 23"/>
          <p:cNvSpPr/>
          <p:nvPr/>
        </p:nvSpPr>
        <p:spPr>
          <a:xfrm>
            <a:off x="4507920" y="5257800"/>
            <a:ext cx="310860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8A5A12"/>
                </a:solidFill>
                <a:latin typeface="Calibri"/>
                <a:ea typeface="Calibri"/>
              </a:rPr>
              <a:t>With no idempotency key or nonce, an attacker can resend a captured request and have it executed again.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Shape 24"/>
          <p:cNvSpPr/>
          <p:nvPr/>
        </p:nvSpPr>
        <p:spPr>
          <a:xfrm>
            <a:off x="8046720" y="4572000"/>
            <a:ext cx="3520080" cy="1234080"/>
          </a:xfrm>
          <a:prstGeom prst="rect">
            <a:avLst/>
          </a:prstGeom>
          <a:solidFill>
            <a:srgbClr val="FBF1E3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Shape 25"/>
          <p:cNvSpPr/>
          <p:nvPr/>
        </p:nvSpPr>
        <p:spPr>
          <a:xfrm>
            <a:off x="8046720" y="4572000"/>
            <a:ext cx="91080" cy="1234080"/>
          </a:xfrm>
          <a:prstGeom prst="rect">
            <a:avLst/>
          </a:prstGeom>
          <a:solidFill>
            <a:srgbClr val="B8860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4" name="Shape 26"/>
          <p:cNvSpPr/>
          <p:nvPr/>
        </p:nvSpPr>
        <p:spPr>
          <a:xfrm>
            <a:off x="8275320" y="4754880"/>
            <a:ext cx="456840" cy="4568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65" name="Image 4" descr="preencoded.png"/>
          <p:cNvPicPr/>
          <p:nvPr/>
        </p:nvPicPr>
        <p:blipFill>
          <a:blip r:embed="rId5"/>
          <a:stretch/>
        </p:blipFill>
        <p:spPr>
          <a:xfrm>
            <a:off x="8375760" y="4855320"/>
            <a:ext cx="255600" cy="255600"/>
          </a:xfrm>
          <a:prstGeom prst="rect">
            <a:avLst/>
          </a:prstGeom>
          <a:ln w="0">
            <a:noFill/>
          </a:ln>
        </p:spPr>
      </p:pic>
      <p:sp>
        <p:nvSpPr>
          <p:cNvPr id="266" name="Text 27"/>
          <p:cNvSpPr/>
          <p:nvPr/>
        </p:nvSpPr>
        <p:spPr>
          <a:xfrm>
            <a:off x="8823960" y="4681800"/>
            <a:ext cx="265140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strike="noStrike" spc="-1">
                <a:solidFill>
                  <a:srgbClr val="8A5A12"/>
                </a:solidFill>
                <a:latin typeface="Open Sans"/>
                <a:ea typeface="Open Sans"/>
              </a:rPr>
              <a:t>Inconsistent state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Text 28"/>
          <p:cNvSpPr/>
          <p:nvPr/>
        </p:nvSpPr>
        <p:spPr>
          <a:xfrm>
            <a:off x="8302680" y="5257800"/>
            <a:ext cx="310860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strike="noStrike" spc="-1">
                <a:solidFill>
                  <a:srgbClr val="8A5A12"/>
                </a:solidFill>
                <a:latin typeface="Calibri"/>
                <a:ea typeface="Calibri"/>
              </a:rPr>
              <a:t>Partial re-execution leaves records out of sync, which is hard to detect and harder to unwind after the fact.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Text 29"/>
          <p:cNvSpPr/>
          <p:nvPr/>
        </p:nvSpPr>
        <p:spPr>
          <a:xfrm>
            <a:off x="457200" y="5943600"/>
            <a:ext cx="112467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50" b="0" i="1" strike="noStrike" spc="-1">
                <a:solidFill>
                  <a:srgbClr val="8A8385"/>
                </a:solidFill>
                <a:latin typeface="Calibri"/>
                <a:ea typeface="Calibri"/>
              </a:rPr>
              <a:t>The fix lives below MCP: idempotency keys, nonces with expiry, and dedup at the tool or API layer. The protocol won't do it for you — so it's a design requirement, not an assumption.</a:t>
            </a:r>
            <a:endParaRPr lang="en-US" sz="10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Shape 30"/>
          <p:cNvSpPr/>
          <p:nvPr/>
        </p:nvSpPr>
        <p:spPr>
          <a:xfrm>
            <a:off x="0" y="0"/>
            <a:ext cx="12161160" cy="7272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70" name="Image 5" descr="fhb_logo.png"/>
          <p:cNvPicPr/>
          <p:nvPr/>
        </p:nvPicPr>
        <p:blipFill>
          <a:blip r:embed="rId6"/>
          <a:stretch/>
        </p:blipFill>
        <p:spPr>
          <a:xfrm>
            <a:off x="10031040" y="146160"/>
            <a:ext cx="1828440" cy="338040"/>
          </a:xfrm>
          <a:prstGeom prst="rect">
            <a:avLst/>
          </a:prstGeom>
          <a:ln w="0">
            <a:noFill/>
          </a:ln>
        </p:spPr>
      </p:pic>
      <p:sp>
        <p:nvSpPr>
          <p:cNvPr id="271" name="Shape 31"/>
          <p:cNvSpPr/>
          <p:nvPr/>
        </p:nvSpPr>
        <p:spPr>
          <a:xfrm>
            <a:off x="457200" y="6583680"/>
            <a:ext cx="11274120" cy="19800"/>
          </a:xfrm>
          <a:prstGeom prst="rect">
            <a:avLst/>
          </a:prstGeom>
          <a:solidFill>
            <a:srgbClr val="F5A8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4840" rIns="90000" bIns="-2484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Shape 32"/>
          <p:cNvSpPr/>
          <p:nvPr/>
        </p:nvSpPr>
        <p:spPr>
          <a:xfrm>
            <a:off x="457200" y="6510600"/>
            <a:ext cx="164160" cy="16416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3" name="Text 33"/>
          <p:cNvSpPr/>
          <p:nvPr/>
        </p:nvSpPr>
        <p:spPr>
          <a:xfrm>
            <a:off x="713160" y="640080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8385"/>
                </a:solidFill>
                <a:latin typeface="Calibri"/>
                <a:ea typeface="Calibri"/>
              </a:rPr>
              <a:t>MCP Security  ·  Deck 3 of 3  ·  NSA Guidance (May 2026)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Text 34"/>
          <p:cNvSpPr/>
          <p:nvPr/>
        </p:nvSpPr>
        <p:spPr>
          <a:xfrm>
            <a:off x="11155680" y="640080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8385"/>
                </a:solidFill>
                <a:latin typeface="Calibri"/>
                <a:ea typeface="Calibri"/>
              </a:rPr>
              <a:t>9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Text 0"/>
          <p:cNvSpPr/>
          <p:nvPr/>
        </p:nvSpPr>
        <p:spPr>
          <a:xfrm>
            <a:off x="457200" y="457200"/>
            <a:ext cx="94179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299">
                <a:solidFill>
                  <a:srgbClr val="B8860B"/>
                </a:solidFill>
                <a:latin typeface="Calibri"/>
                <a:ea typeface="Calibri"/>
              </a:rPr>
              <a:t>DESIGN &amp; IMPLEMENTATION CONCERNS · A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Text 1"/>
          <p:cNvSpPr/>
          <p:nvPr/>
        </p:nvSpPr>
        <p:spPr>
          <a:xfrm>
            <a:off x="457200" y="73152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231F20"/>
                </a:solidFill>
                <a:latin typeface="Open Sans"/>
                <a:ea typeface="Open Sans"/>
              </a:rPr>
              <a:t>Approval workflow gaps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7" name="Text 2"/>
          <p:cNvSpPr/>
          <p:nvPr/>
        </p:nvSpPr>
        <p:spPr>
          <a:xfrm>
            <a:off x="457200" y="1371600"/>
            <a:ext cx="1124676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strike="noStrike" spc="-1">
                <a:solidFill>
                  <a:srgbClr val="3A3536"/>
                </a:solidFill>
                <a:latin typeface="Calibri"/>
                <a:ea typeface="Calibri"/>
              </a:rPr>
              <a:t>Even when a server is approved once, its behavior can change later — silently. Users are rarely re-prompted, so a benign tool can quietly become something else.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Shape 3"/>
          <p:cNvSpPr/>
          <p:nvPr/>
        </p:nvSpPr>
        <p:spPr>
          <a:xfrm>
            <a:off x="457200" y="2194560"/>
            <a:ext cx="2605680" cy="2377080"/>
          </a:xfrm>
          <a:prstGeom prst="rect">
            <a:avLst/>
          </a:prstGeom>
          <a:solidFill>
            <a:srgbClr val="F7F4EF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Shape 4"/>
          <p:cNvSpPr/>
          <p:nvPr/>
        </p:nvSpPr>
        <p:spPr>
          <a:xfrm>
            <a:off x="685800" y="2423160"/>
            <a:ext cx="502560" cy="502560"/>
          </a:xfrm>
          <a:prstGeom prst="ellipse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0" name="Text 5"/>
          <p:cNvSpPr/>
          <p:nvPr/>
        </p:nvSpPr>
        <p:spPr>
          <a:xfrm>
            <a:off x="685800" y="242316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rgbClr val="FFFFFF"/>
                </a:solidFill>
                <a:latin typeface="Open Sans"/>
                <a:ea typeface="Open Sans"/>
              </a:rPr>
              <a:t>1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Text 6"/>
          <p:cNvSpPr/>
          <p:nvPr/>
        </p:nvSpPr>
        <p:spPr>
          <a:xfrm>
            <a:off x="685800" y="3063240"/>
            <a:ext cx="21484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strike="noStrike" spc="-1">
                <a:solidFill>
                  <a:srgbClr val="231F20"/>
                </a:solidFill>
                <a:latin typeface="Open Sans"/>
                <a:ea typeface="Open Sans"/>
              </a:rPr>
              <a:t>Approved once</a:t>
            </a:r>
            <a:endParaRPr lang="en-US" sz="15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Text 7"/>
          <p:cNvSpPr/>
          <p:nvPr/>
        </p:nvSpPr>
        <p:spPr>
          <a:xfrm>
            <a:off x="685800" y="3611880"/>
            <a:ext cx="214848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3A3536"/>
                </a:solidFill>
                <a:latin typeface="Calibri"/>
                <a:ea typeface="Calibri"/>
              </a:rPr>
              <a:t>User grants a server access and clicks “allow” on its actions.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3" name="Shape 8"/>
          <p:cNvSpPr/>
          <p:nvPr/>
        </p:nvSpPr>
        <p:spPr>
          <a:xfrm>
            <a:off x="3081240" y="3383280"/>
            <a:ext cx="201240" cy="360"/>
          </a:xfrm>
          <a:prstGeom prst="line">
            <a:avLst/>
          </a:prstGeom>
          <a:ln w="25400">
            <a:solidFill>
              <a:srgbClr val="8B0E15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Shape 9"/>
          <p:cNvSpPr/>
          <p:nvPr/>
        </p:nvSpPr>
        <p:spPr>
          <a:xfrm>
            <a:off x="3291840" y="2194560"/>
            <a:ext cx="2605680" cy="2377080"/>
          </a:xfrm>
          <a:prstGeom prst="rect">
            <a:avLst/>
          </a:prstGeom>
          <a:solidFill>
            <a:srgbClr val="F7F4EF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Shape 10"/>
          <p:cNvSpPr/>
          <p:nvPr/>
        </p:nvSpPr>
        <p:spPr>
          <a:xfrm>
            <a:off x="3520440" y="2423160"/>
            <a:ext cx="502560" cy="502560"/>
          </a:xfrm>
          <a:prstGeom prst="ellipse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6" name="Text 11"/>
          <p:cNvSpPr/>
          <p:nvPr/>
        </p:nvSpPr>
        <p:spPr>
          <a:xfrm>
            <a:off x="3520440" y="242316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rgbClr val="FFFFFF"/>
                </a:solidFill>
                <a:latin typeface="Open Sans"/>
                <a:ea typeface="Open Sans"/>
              </a:rPr>
              <a:t>2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7" name="Text 12"/>
          <p:cNvSpPr/>
          <p:nvPr/>
        </p:nvSpPr>
        <p:spPr>
          <a:xfrm>
            <a:off x="3520440" y="3063240"/>
            <a:ext cx="21484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strike="noStrike" spc="-1">
                <a:solidFill>
                  <a:srgbClr val="231F20"/>
                </a:solidFill>
                <a:latin typeface="Open Sans"/>
                <a:ea typeface="Open Sans"/>
              </a:rPr>
              <a:t>Behavior changes</a:t>
            </a:r>
            <a:endParaRPr lang="en-US" sz="15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Text 13"/>
          <p:cNvSpPr/>
          <p:nvPr/>
        </p:nvSpPr>
        <p:spPr>
          <a:xfrm>
            <a:off x="3520440" y="3611880"/>
            <a:ext cx="214848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3A3536"/>
                </a:solidFill>
                <a:latin typeface="Calibri"/>
                <a:ea typeface="Calibri"/>
              </a:rPr>
              <a:t>The server adds a capability or new data access — no re-approval is required.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Shape 14"/>
          <p:cNvSpPr/>
          <p:nvPr/>
        </p:nvSpPr>
        <p:spPr>
          <a:xfrm>
            <a:off x="5915880" y="3383280"/>
            <a:ext cx="201240" cy="360"/>
          </a:xfrm>
          <a:prstGeom prst="line">
            <a:avLst/>
          </a:prstGeom>
          <a:ln w="25400">
            <a:solidFill>
              <a:srgbClr val="8B0E15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Shape 15"/>
          <p:cNvSpPr/>
          <p:nvPr/>
        </p:nvSpPr>
        <p:spPr>
          <a:xfrm>
            <a:off x="6126480" y="2194560"/>
            <a:ext cx="2605680" cy="2377080"/>
          </a:xfrm>
          <a:prstGeom prst="rect">
            <a:avLst/>
          </a:prstGeom>
          <a:solidFill>
            <a:srgbClr val="F7F4EF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Shape 16"/>
          <p:cNvSpPr/>
          <p:nvPr/>
        </p:nvSpPr>
        <p:spPr>
          <a:xfrm>
            <a:off x="6355080" y="2423160"/>
            <a:ext cx="502560" cy="502560"/>
          </a:xfrm>
          <a:prstGeom prst="ellipse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2" name="Text 17"/>
          <p:cNvSpPr/>
          <p:nvPr/>
        </p:nvSpPr>
        <p:spPr>
          <a:xfrm>
            <a:off x="6355080" y="242316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rgbClr val="FFFFFF"/>
                </a:solidFill>
                <a:latin typeface="Open Sans"/>
                <a:ea typeface="Open Sans"/>
              </a:rPr>
              <a:t>3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3" name="Text 18"/>
          <p:cNvSpPr/>
          <p:nvPr/>
        </p:nvSpPr>
        <p:spPr>
          <a:xfrm>
            <a:off x="6355080" y="3063240"/>
            <a:ext cx="21484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strike="noStrike" spc="-1">
                <a:solidFill>
                  <a:srgbClr val="231F20"/>
                </a:solidFill>
                <a:latin typeface="Open Sans"/>
                <a:ea typeface="Open Sans"/>
              </a:rPr>
              <a:t>No informed consent</a:t>
            </a:r>
            <a:endParaRPr lang="en-US" sz="15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Text 19"/>
          <p:cNvSpPr/>
          <p:nvPr/>
        </p:nvSpPr>
        <p:spPr>
          <a:xfrm>
            <a:off x="6355080" y="3611880"/>
            <a:ext cx="214848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3A3536"/>
                </a:solidFill>
                <a:latin typeface="Calibri"/>
                <a:ea typeface="Calibri"/>
              </a:rPr>
              <a:t>The user is never prompted to accept the change, benign or not.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5" name="Shape 20"/>
          <p:cNvSpPr/>
          <p:nvPr/>
        </p:nvSpPr>
        <p:spPr>
          <a:xfrm>
            <a:off x="8750520" y="3383280"/>
            <a:ext cx="201240" cy="360"/>
          </a:xfrm>
          <a:prstGeom prst="line">
            <a:avLst/>
          </a:prstGeom>
          <a:ln w="25400">
            <a:solidFill>
              <a:srgbClr val="8B0E15"/>
            </a:solidFill>
            <a:round/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 anchorCtr="1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Shape 21"/>
          <p:cNvSpPr/>
          <p:nvPr/>
        </p:nvSpPr>
        <p:spPr>
          <a:xfrm>
            <a:off x="8961120" y="2194560"/>
            <a:ext cx="2605680" cy="2377080"/>
          </a:xfrm>
          <a:prstGeom prst="rect">
            <a:avLst/>
          </a:prstGeom>
          <a:solidFill>
            <a:srgbClr val="FBF1E3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7" name="Shape 22"/>
          <p:cNvSpPr/>
          <p:nvPr/>
        </p:nvSpPr>
        <p:spPr>
          <a:xfrm>
            <a:off x="9189720" y="2423160"/>
            <a:ext cx="502560" cy="502560"/>
          </a:xfrm>
          <a:prstGeom prst="ellipse">
            <a:avLst/>
          </a:prstGeom>
          <a:solidFill>
            <a:srgbClr val="B8860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8" name="Text 23"/>
          <p:cNvSpPr/>
          <p:nvPr/>
        </p:nvSpPr>
        <p:spPr>
          <a:xfrm>
            <a:off x="9189720" y="242316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rgbClr val="FFFFFF"/>
                </a:solidFill>
                <a:latin typeface="Open Sans"/>
                <a:ea typeface="Open Sans"/>
              </a:rPr>
              <a:t>4</a:t>
            </a:r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9" name="Text 24"/>
          <p:cNvSpPr/>
          <p:nvPr/>
        </p:nvSpPr>
        <p:spPr>
          <a:xfrm>
            <a:off x="9189720" y="3063240"/>
            <a:ext cx="214848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50" b="1" strike="noStrike" spc="-1">
                <a:solidFill>
                  <a:srgbClr val="8A5A12"/>
                </a:solidFill>
                <a:latin typeface="Open Sans"/>
                <a:ea typeface="Open Sans"/>
              </a:rPr>
              <a:t>Quietly elevated</a:t>
            </a:r>
            <a:endParaRPr lang="en-US" sz="15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Text 25"/>
          <p:cNvSpPr/>
          <p:nvPr/>
        </p:nvSpPr>
        <p:spPr>
          <a:xfrm>
            <a:off x="9189720" y="3611880"/>
            <a:ext cx="214848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8A5A12"/>
                </a:solidFill>
                <a:latin typeface="Calibri"/>
                <a:ea typeface="Calibri"/>
              </a:rPr>
              <a:t>A previously benign service can now reach sensitive resources on demand.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1" name="Text 26"/>
          <p:cNvSpPr/>
          <p:nvPr/>
        </p:nvSpPr>
        <p:spPr>
          <a:xfrm>
            <a:off x="457200" y="4846320"/>
            <a:ext cx="112467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strike="noStrike" spc="-1">
                <a:solidFill>
                  <a:srgbClr val="8A8385"/>
                </a:solidFill>
                <a:latin typeface="Calibri"/>
                <a:ea typeface="Calibri"/>
              </a:rPr>
              <a:t>The change can be a legitimate background improvement — or a deliberate switch flipped after trust was earned. The workflow can't tell the difference.</a:t>
            </a:r>
            <a:endParaRPr lang="en-US" sz="13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2" name="Shape 27"/>
          <p:cNvSpPr/>
          <p:nvPr/>
        </p:nvSpPr>
        <p:spPr>
          <a:xfrm>
            <a:off x="0" y="0"/>
            <a:ext cx="12161160" cy="7272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03" name="Image 0" descr="fhb_logo.png"/>
          <p:cNvPicPr/>
          <p:nvPr/>
        </p:nvPicPr>
        <p:blipFill>
          <a:blip r:embed="rId3"/>
          <a:stretch/>
        </p:blipFill>
        <p:spPr>
          <a:xfrm>
            <a:off x="10031040" y="146160"/>
            <a:ext cx="1828440" cy="338040"/>
          </a:xfrm>
          <a:prstGeom prst="rect">
            <a:avLst/>
          </a:prstGeom>
          <a:ln w="0">
            <a:noFill/>
          </a:ln>
        </p:spPr>
      </p:pic>
      <p:sp>
        <p:nvSpPr>
          <p:cNvPr id="304" name="Shape 28"/>
          <p:cNvSpPr/>
          <p:nvPr/>
        </p:nvSpPr>
        <p:spPr>
          <a:xfrm>
            <a:off x="457200" y="6583680"/>
            <a:ext cx="11274120" cy="19800"/>
          </a:xfrm>
          <a:prstGeom prst="rect">
            <a:avLst/>
          </a:prstGeom>
          <a:solidFill>
            <a:srgbClr val="F5A8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4840" rIns="90000" bIns="-2484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5" name="Shape 29"/>
          <p:cNvSpPr/>
          <p:nvPr/>
        </p:nvSpPr>
        <p:spPr>
          <a:xfrm>
            <a:off x="457200" y="6510600"/>
            <a:ext cx="164160" cy="16416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6" name="Text 30"/>
          <p:cNvSpPr/>
          <p:nvPr/>
        </p:nvSpPr>
        <p:spPr>
          <a:xfrm>
            <a:off x="713160" y="640080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8385"/>
                </a:solidFill>
                <a:latin typeface="Calibri"/>
                <a:ea typeface="Calibri"/>
              </a:rPr>
              <a:t>MCP Security  ·  Deck 3 of 3  ·  NSA Guidance (May 2026)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Text 31"/>
          <p:cNvSpPr/>
          <p:nvPr/>
        </p:nvSpPr>
        <p:spPr>
          <a:xfrm>
            <a:off x="11155680" y="640080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8385"/>
                </a:solidFill>
                <a:latin typeface="Calibri"/>
                <a:ea typeface="Calibri"/>
              </a:rPr>
              <a:t>10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Text 0"/>
          <p:cNvSpPr/>
          <p:nvPr/>
        </p:nvSpPr>
        <p:spPr>
          <a:xfrm>
            <a:off x="457200" y="457200"/>
            <a:ext cx="94179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299">
                <a:solidFill>
                  <a:srgbClr val="B8860B"/>
                </a:solidFill>
                <a:latin typeface="Calibri"/>
                <a:ea typeface="Calibri"/>
              </a:rPr>
              <a:t>DESIGN &amp; IMPLEMENTATION CONCERNS · A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Text 1"/>
          <p:cNvSpPr/>
          <p:nvPr/>
        </p:nvSpPr>
        <p:spPr>
          <a:xfrm>
            <a:off x="457200" y="73152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231F20"/>
                </a:solidFill>
                <a:latin typeface="Open Sans"/>
                <a:ea typeface="Open Sans"/>
              </a:rPr>
              <a:t>Operational gaps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Text 2"/>
          <p:cNvSpPr/>
          <p:nvPr/>
        </p:nvSpPr>
        <p:spPr>
          <a:xfrm>
            <a:off x="457200" y="1371600"/>
            <a:ext cx="112467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strike="noStrike" spc="-1">
                <a:solidFill>
                  <a:srgbClr val="3A3536"/>
                </a:solidFill>
                <a:latin typeface="Calibri"/>
                <a:ea typeface="Calibri"/>
              </a:rPr>
              <a:t>Four more weaknesses that show up once MCP is actually running in production.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Shape 3"/>
          <p:cNvSpPr/>
          <p:nvPr/>
        </p:nvSpPr>
        <p:spPr>
          <a:xfrm>
            <a:off x="457200" y="2057400"/>
            <a:ext cx="5531760" cy="1737000"/>
          </a:xfrm>
          <a:prstGeom prst="rect">
            <a:avLst/>
          </a:prstGeom>
          <a:solidFill>
            <a:srgbClr val="F7F4EF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2" name="Shape 4"/>
          <p:cNvSpPr/>
          <p:nvPr/>
        </p:nvSpPr>
        <p:spPr>
          <a:xfrm>
            <a:off x="457200" y="2057400"/>
            <a:ext cx="91080" cy="1737000"/>
          </a:xfrm>
          <a:prstGeom prst="rect">
            <a:avLst/>
          </a:prstGeom>
          <a:solidFill>
            <a:srgbClr val="B8860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3" name="Shape 5"/>
          <p:cNvSpPr/>
          <p:nvPr/>
        </p:nvSpPr>
        <p:spPr>
          <a:xfrm>
            <a:off x="731520" y="2331720"/>
            <a:ext cx="502560" cy="5025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14" name="Image 0" descr="preencoded.png"/>
          <p:cNvPicPr/>
          <p:nvPr/>
        </p:nvPicPr>
        <p:blipFill>
          <a:blip r:embed="rId3"/>
          <a:stretch/>
        </p:blipFill>
        <p:spPr>
          <a:xfrm>
            <a:off x="842040" y="2442240"/>
            <a:ext cx="281160" cy="281160"/>
          </a:xfrm>
          <a:prstGeom prst="rect">
            <a:avLst/>
          </a:prstGeom>
          <a:ln w="0">
            <a:noFill/>
          </a:ln>
        </p:spPr>
      </p:pic>
      <p:sp>
        <p:nvSpPr>
          <p:cNvPr id="315" name="Text 6"/>
          <p:cNvSpPr/>
          <p:nvPr/>
        </p:nvSpPr>
        <p:spPr>
          <a:xfrm>
            <a:off x="1417320" y="2331720"/>
            <a:ext cx="43887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strike="noStrike" spc="-1">
                <a:solidFill>
                  <a:srgbClr val="231F20"/>
                </a:solidFill>
                <a:latin typeface="Open Sans"/>
                <a:ea typeface="Open Sans"/>
              </a:rPr>
              <a:t>Weak isolation</a:t>
            </a:r>
            <a:endParaRPr lang="en-US" sz="16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6" name="Text 7"/>
          <p:cNvSpPr/>
          <p:nvPr/>
        </p:nvSpPr>
        <p:spPr>
          <a:xfrm>
            <a:off x="731520" y="2926080"/>
            <a:ext cx="502884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3A3536"/>
                </a:solidFill>
                <a:latin typeface="Calibri"/>
                <a:ea typeface="Calibri"/>
              </a:rPr>
              <a:t>A trivial server (say, weather lookup) deployed without limits can be repurposed to reach sensitive data. Servers often lack task or data isolation.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7" name="Shape 8"/>
          <p:cNvSpPr/>
          <p:nvPr/>
        </p:nvSpPr>
        <p:spPr>
          <a:xfrm>
            <a:off x="6172200" y="2057400"/>
            <a:ext cx="5531760" cy="1737000"/>
          </a:xfrm>
          <a:prstGeom prst="rect">
            <a:avLst/>
          </a:prstGeom>
          <a:solidFill>
            <a:srgbClr val="F7F4EF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Shape 9"/>
          <p:cNvSpPr/>
          <p:nvPr/>
        </p:nvSpPr>
        <p:spPr>
          <a:xfrm>
            <a:off x="6172200" y="2057400"/>
            <a:ext cx="91080" cy="1737000"/>
          </a:xfrm>
          <a:prstGeom prst="rect">
            <a:avLst/>
          </a:prstGeom>
          <a:solidFill>
            <a:srgbClr val="B8860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9" name="Shape 10"/>
          <p:cNvSpPr/>
          <p:nvPr/>
        </p:nvSpPr>
        <p:spPr>
          <a:xfrm>
            <a:off x="6446520" y="2331720"/>
            <a:ext cx="502560" cy="5025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20" name="Image 1" descr="preencoded.png"/>
          <p:cNvPicPr/>
          <p:nvPr/>
        </p:nvPicPr>
        <p:blipFill>
          <a:blip r:embed="rId4"/>
          <a:stretch/>
        </p:blipFill>
        <p:spPr>
          <a:xfrm>
            <a:off x="6557040" y="2442240"/>
            <a:ext cx="281160" cy="281160"/>
          </a:xfrm>
          <a:prstGeom prst="rect">
            <a:avLst/>
          </a:prstGeom>
          <a:ln w="0">
            <a:noFill/>
          </a:ln>
        </p:spPr>
      </p:pic>
      <p:sp>
        <p:nvSpPr>
          <p:cNvPr id="321" name="Text 11"/>
          <p:cNvSpPr/>
          <p:nvPr/>
        </p:nvSpPr>
        <p:spPr>
          <a:xfrm>
            <a:off x="7132320" y="2331720"/>
            <a:ext cx="43887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strike="noStrike" spc="-1">
                <a:solidFill>
                  <a:srgbClr val="231F20"/>
                </a:solidFill>
                <a:latin typeface="Open Sans"/>
                <a:ea typeface="Open Sans"/>
              </a:rPr>
              <a:t>Inconsistent behavior</a:t>
            </a:r>
            <a:endParaRPr lang="en-US" sz="16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Text 12"/>
          <p:cNvSpPr/>
          <p:nvPr/>
        </p:nvSpPr>
        <p:spPr>
          <a:xfrm>
            <a:off x="6446520" y="2926080"/>
            <a:ext cx="502884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3A3536"/>
                </a:solidFill>
                <a:latin typeface="Calibri"/>
                <a:ea typeface="Calibri"/>
              </a:rPr>
              <a:t>Implementations interpret context and messages differently. Non-deterministic outcomes create blind spots an attacker can precondition.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3" name="Shape 13"/>
          <p:cNvSpPr/>
          <p:nvPr/>
        </p:nvSpPr>
        <p:spPr>
          <a:xfrm>
            <a:off x="457200" y="4023360"/>
            <a:ext cx="5531760" cy="1737000"/>
          </a:xfrm>
          <a:prstGeom prst="rect">
            <a:avLst/>
          </a:prstGeom>
          <a:solidFill>
            <a:srgbClr val="F7F4EF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Shape 14"/>
          <p:cNvSpPr/>
          <p:nvPr/>
        </p:nvSpPr>
        <p:spPr>
          <a:xfrm>
            <a:off x="457200" y="4023360"/>
            <a:ext cx="91080" cy="1737000"/>
          </a:xfrm>
          <a:prstGeom prst="rect">
            <a:avLst/>
          </a:prstGeom>
          <a:solidFill>
            <a:srgbClr val="B8860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5" name="Shape 15"/>
          <p:cNvSpPr/>
          <p:nvPr/>
        </p:nvSpPr>
        <p:spPr>
          <a:xfrm>
            <a:off x="731520" y="4297680"/>
            <a:ext cx="502560" cy="5025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26" name="Image 2" descr="preencoded.png"/>
          <p:cNvPicPr/>
          <p:nvPr/>
        </p:nvPicPr>
        <p:blipFill>
          <a:blip r:embed="rId5"/>
          <a:stretch/>
        </p:blipFill>
        <p:spPr>
          <a:xfrm>
            <a:off x="842040" y="4408200"/>
            <a:ext cx="281160" cy="281160"/>
          </a:xfrm>
          <a:prstGeom prst="rect">
            <a:avLst/>
          </a:prstGeom>
          <a:ln w="0">
            <a:noFill/>
          </a:ln>
        </p:spPr>
      </p:pic>
      <p:sp>
        <p:nvSpPr>
          <p:cNvPr id="327" name="Text 16"/>
          <p:cNvSpPr/>
          <p:nvPr/>
        </p:nvSpPr>
        <p:spPr>
          <a:xfrm>
            <a:off x="1417320" y="4297680"/>
            <a:ext cx="43887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strike="noStrike" spc="-1">
                <a:solidFill>
                  <a:srgbClr val="231F20"/>
                </a:solidFill>
                <a:latin typeface="Open Sans"/>
                <a:ea typeface="Open Sans"/>
              </a:rPr>
              <a:t>Poor audit logs</a:t>
            </a:r>
            <a:endParaRPr lang="en-US" sz="16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8" name="Text 17"/>
          <p:cNvSpPr/>
          <p:nvPr/>
        </p:nvSpPr>
        <p:spPr>
          <a:xfrm>
            <a:off x="731520" y="4892040"/>
            <a:ext cx="502884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3A3536"/>
                </a:solidFill>
                <a:latin typeface="Calibri"/>
                <a:ea typeface="Calibri"/>
              </a:rPr>
              <a:t>Many implementations log little or nothing. Without a traceable action sequence, incident response and accountability collapse.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Shape 18"/>
          <p:cNvSpPr/>
          <p:nvPr/>
        </p:nvSpPr>
        <p:spPr>
          <a:xfrm>
            <a:off x="6172200" y="4023360"/>
            <a:ext cx="5531760" cy="1737000"/>
          </a:xfrm>
          <a:prstGeom prst="rect">
            <a:avLst/>
          </a:prstGeom>
          <a:solidFill>
            <a:srgbClr val="F7F4EF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0" name="Shape 19"/>
          <p:cNvSpPr/>
          <p:nvPr/>
        </p:nvSpPr>
        <p:spPr>
          <a:xfrm>
            <a:off x="6172200" y="4023360"/>
            <a:ext cx="91080" cy="1737000"/>
          </a:xfrm>
          <a:prstGeom prst="rect">
            <a:avLst/>
          </a:prstGeom>
          <a:solidFill>
            <a:srgbClr val="B8860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1" name="Shape 20"/>
          <p:cNvSpPr/>
          <p:nvPr/>
        </p:nvSpPr>
        <p:spPr>
          <a:xfrm>
            <a:off x="6446520" y="4297680"/>
            <a:ext cx="502560" cy="5025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32" name="Image 3" descr="preencoded.png"/>
          <p:cNvPicPr/>
          <p:nvPr/>
        </p:nvPicPr>
        <p:blipFill>
          <a:blip r:embed="rId6"/>
          <a:stretch/>
        </p:blipFill>
        <p:spPr>
          <a:xfrm>
            <a:off x="6557040" y="4408200"/>
            <a:ext cx="281160" cy="281160"/>
          </a:xfrm>
          <a:prstGeom prst="rect">
            <a:avLst/>
          </a:prstGeom>
          <a:ln w="0">
            <a:noFill/>
          </a:ln>
        </p:spPr>
      </p:pic>
      <p:sp>
        <p:nvSpPr>
          <p:cNvPr id="333" name="Text 21"/>
          <p:cNvSpPr/>
          <p:nvPr/>
        </p:nvSpPr>
        <p:spPr>
          <a:xfrm>
            <a:off x="7132320" y="4297680"/>
            <a:ext cx="43887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strike="noStrike" spc="-1">
                <a:solidFill>
                  <a:srgbClr val="231F20"/>
                </a:solidFill>
                <a:latin typeface="Open Sans"/>
                <a:ea typeface="Open Sans"/>
              </a:rPr>
              <a:t>DoS &amp; fatigue</a:t>
            </a:r>
            <a:endParaRPr lang="en-US" sz="16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4" name="Text 22"/>
          <p:cNvSpPr/>
          <p:nvPr/>
        </p:nvSpPr>
        <p:spPr>
          <a:xfrm>
            <a:off x="6446520" y="4892040"/>
            <a:ext cx="502884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3A3536"/>
                </a:solidFill>
                <a:latin typeface="Calibri"/>
                <a:ea typeface="Calibri"/>
              </a:rPr>
              <a:t>Prompt storms, malformed inputs, or “lethargy” — overly complex but legitimate tasks — can exhaust resources and stall the workflow.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Shape 23"/>
          <p:cNvSpPr/>
          <p:nvPr/>
        </p:nvSpPr>
        <p:spPr>
          <a:xfrm>
            <a:off x="0" y="0"/>
            <a:ext cx="12161160" cy="7272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36" name="Image 4" descr="fhb_logo.png"/>
          <p:cNvPicPr/>
          <p:nvPr/>
        </p:nvPicPr>
        <p:blipFill>
          <a:blip r:embed="rId7"/>
          <a:stretch/>
        </p:blipFill>
        <p:spPr>
          <a:xfrm>
            <a:off x="10031040" y="146160"/>
            <a:ext cx="1828440" cy="338040"/>
          </a:xfrm>
          <a:prstGeom prst="rect">
            <a:avLst/>
          </a:prstGeom>
          <a:ln w="0">
            <a:noFill/>
          </a:ln>
        </p:spPr>
      </p:pic>
      <p:sp>
        <p:nvSpPr>
          <p:cNvPr id="337" name="Shape 24"/>
          <p:cNvSpPr/>
          <p:nvPr/>
        </p:nvSpPr>
        <p:spPr>
          <a:xfrm>
            <a:off x="457200" y="6583680"/>
            <a:ext cx="11274120" cy="19800"/>
          </a:xfrm>
          <a:prstGeom prst="rect">
            <a:avLst/>
          </a:prstGeom>
          <a:solidFill>
            <a:srgbClr val="F5A8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4840" rIns="90000" bIns="-2484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8" name="Shape 25"/>
          <p:cNvSpPr/>
          <p:nvPr/>
        </p:nvSpPr>
        <p:spPr>
          <a:xfrm>
            <a:off x="457200" y="6510600"/>
            <a:ext cx="164160" cy="16416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9" name="Text 26"/>
          <p:cNvSpPr/>
          <p:nvPr/>
        </p:nvSpPr>
        <p:spPr>
          <a:xfrm>
            <a:off x="713160" y="640080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8385"/>
                </a:solidFill>
                <a:latin typeface="Calibri"/>
                <a:ea typeface="Calibri"/>
              </a:rPr>
              <a:t>MCP Security  ·  Deck 3 of 3  ·  NSA Guidance (May 2026)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0" name="Text 27"/>
          <p:cNvSpPr/>
          <p:nvPr/>
        </p:nvSpPr>
        <p:spPr>
          <a:xfrm>
            <a:off x="11155680" y="640080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8385"/>
                </a:solidFill>
                <a:latin typeface="Calibri"/>
                <a:ea typeface="Calibri"/>
              </a:rPr>
              <a:t>11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Text 0"/>
          <p:cNvSpPr/>
          <p:nvPr/>
        </p:nvSpPr>
        <p:spPr>
          <a:xfrm>
            <a:off x="457200" y="457200"/>
            <a:ext cx="94179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299">
                <a:solidFill>
                  <a:srgbClr val="B8860B"/>
                </a:solidFill>
                <a:latin typeface="Calibri"/>
                <a:ea typeface="Calibri"/>
              </a:rPr>
              <a:t>THIS IS NOT HYPOTHETICAL · B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2" name="Text 1"/>
          <p:cNvSpPr/>
          <p:nvPr/>
        </p:nvSpPr>
        <p:spPr>
          <a:xfrm>
            <a:off x="457200" y="73152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231F20"/>
                </a:solidFill>
                <a:latin typeface="Open Sans"/>
                <a:ea typeface="Open Sans"/>
              </a:rPr>
              <a:t>Demonstrated exploits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Text 2"/>
          <p:cNvSpPr/>
          <p:nvPr/>
        </p:nvSpPr>
        <p:spPr>
          <a:xfrm>
            <a:off x="457200" y="1325880"/>
            <a:ext cx="112467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strike="noStrike" spc="-1">
                <a:solidFill>
                  <a:srgbClr val="3A3536"/>
                </a:solidFill>
                <a:latin typeface="Calibri"/>
                <a:ea typeface="Calibri"/>
              </a:rPr>
              <a:t>Researchers have already shown these in the wild. The throughline: legitimate functionality manipulated, implicit trust abused.</a:t>
            </a:r>
            <a:endParaRPr lang="en-US" sz="14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4" name="Shape 3"/>
          <p:cNvSpPr/>
          <p:nvPr/>
        </p:nvSpPr>
        <p:spPr>
          <a:xfrm>
            <a:off x="457200" y="1965960"/>
            <a:ext cx="3520080" cy="1645560"/>
          </a:xfrm>
          <a:prstGeom prst="rect">
            <a:avLst/>
          </a:prstGeom>
          <a:solidFill>
            <a:srgbClr val="F7F4EF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Shape 4"/>
          <p:cNvSpPr/>
          <p:nvPr/>
        </p:nvSpPr>
        <p:spPr>
          <a:xfrm>
            <a:off x="685800" y="2194560"/>
            <a:ext cx="456840" cy="4568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46" name="Image 0" descr="preencoded.png"/>
          <p:cNvPicPr/>
          <p:nvPr/>
        </p:nvPicPr>
        <p:blipFill>
          <a:blip r:embed="rId3"/>
          <a:stretch/>
        </p:blipFill>
        <p:spPr>
          <a:xfrm>
            <a:off x="786240" y="2295000"/>
            <a:ext cx="255600" cy="255600"/>
          </a:xfrm>
          <a:prstGeom prst="rect">
            <a:avLst/>
          </a:prstGeom>
          <a:ln w="0">
            <a:noFill/>
          </a:ln>
        </p:spPr>
      </p:pic>
      <p:sp>
        <p:nvSpPr>
          <p:cNvPr id="347" name="Text 5"/>
          <p:cNvSpPr/>
          <p:nvPr/>
        </p:nvSpPr>
        <p:spPr>
          <a:xfrm>
            <a:off x="1280160" y="2167200"/>
            <a:ext cx="25599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strike="noStrike" spc="-1">
                <a:solidFill>
                  <a:srgbClr val="231F20"/>
                </a:solidFill>
                <a:latin typeface="Open Sans"/>
                <a:ea typeface="Open Sans"/>
              </a:rPr>
              <a:t>Tool parameter injection</a:t>
            </a:r>
            <a:endParaRPr lang="en-US" sz="14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8" name="Text 6"/>
          <p:cNvSpPr/>
          <p:nvPr/>
        </p:nvSpPr>
        <p:spPr>
          <a:xfrm>
            <a:off x="713160" y="2743200"/>
            <a:ext cx="30628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strike="noStrike" spc="-1">
                <a:solidFill>
                  <a:srgbClr val="3A3536"/>
                </a:solidFill>
                <a:latin typeface="Calibri"/>
                <a:ea typeface="Calibri"/>
              </a:rPr>
              <a:t>Unsanitized parameters in malformed messages reached execution — arbitrary commands via a legitimate interface.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9" name="Shape 7"/>
          <p:cNvSpPr/>
          <p:nvPr/>
        </p:nvSpPr>
        <p:spPr>
          <a:xfrm>
            <a:off x="4251960" y="1965960"/>
            <a:ext cx="3520080" cy="1645560"/>
          </a:xfrm>
          <a:prstGeom prst="rect">
            <a:avLst/>
          </a:prstGeom>
          <a:solidFill>
            <a:srgbClr val="F7F4EF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0" name="Shape 8"/>
          <p:cNvSpPr/>
          <p:nvPr/>
        </p:nvSpPr>
        <p:spPr>
          <a:xfrm>
            <a:off x="4480560" y="2194560"/>
            <a:ext cx="456840" cy="4568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51" name="Image 1" descr="preencoded.png"/>
          <p:cNvPicPr/>
          <p:nvPr/>
        </p:nvPicPr>
        <p:blipFill>
          <a:blip r:embed="rId4"/>
          <a:stretch/>
        </p:blipFill>
        <p:spPr>
          <a:xfrm>
            <a:off x="4581000" y="2295000"/>
            <a:ext cx="255600" cy="255600"/>
          </a:xfrm>
          <a:prstGeom prst="rect">
            <a:avLst/>
          </a:prstGeom>
          <a:ln w="0">
            <a:noFill/>
          </a:ln>
        </p:spPr>
      </p:pic>
      <p:sp>
        <p:nvSpPr>
          <p:cNvPr id="352" name="Text 9"/>
          <p:cNvSpPr/>
          <p:nvPr/>
        </p:nvSpPr>
        <p:spPr>
          <a:xfrm>
            <a:off x="5074920" y="2167200"/>
            <a:ext cx="25599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strike="noStrike" spc="-1">
                <a:solidFill>
                  <a:srgbClr val="231F20"/>
                </a:solidFill>
                <a:latin typeface="Open Sans"/>
                <a:ea typeface="Open Sans"/>
              </a:rPr>
              <a:t>Tool-name collision</a:t>
            </a:r>
            <a:endParaRPr lang="en-US" sz="14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3" name="Text 10"/>
          <p:cNvSpPr/>
          <p:nvPr/>
        </p:nvSpPr>
        <p:spPr>
          <a:xfrm>
            <a:off x="4507920" y="2743200"/>
            <a:ext cx="30628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strike="noStrike" spc="-1">
                <a:solidFill>
                  <a:srgbClr val="3A3536"/>
                </a:solidFill>
                <a:latin typeface="Calibri"/>
                <a:ea typeface="Calibri"/>
              </a:rPr>
              <a:t>Similarly-named tools from different sources resolve unpredictably; an attacker's code loads in place of the real tool.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4" name="Shape 11"/>
          <p:cNvSpPr/>
          <p:nvPr/>
        </p:nvSpPr>
        <p:spPr>
          <a:xfrm>
            <a:off x="8046720" y="1965960"/>
            <a:ext cx="3520080" cy="1645560"/>
          </a:xfrm>
          <a:prstGeom prst="rect">
            <a:avLst/>
          </a:prstGeom>
          <a:solidFill>
            <a:srgbClr val="F7F4EF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5" name="Shape 12"/>
          <p:cNvSpPr/>
          <p:nvPr/>
        </p:nvSpPr>
        <p:spPr>
          <a:xfrm>
            <a:off x="8275320" y="2194560"/>
            <a:ext cx="456840" cy="4568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56" name="Image 2" descr="preencoded.png"/>
          <p:cNvPicPr/>
          <p:nvPr/>
        </p:nvPicPr>
        <p:blipFill>
          <a:blip r:embed="rId5"/>
          <a:stretch/>
        </p:blipFill>
        <p:spPr>
          <a:xfrm>
            <a:off x="8375760" y="2295000"/>
            <a:ext cx="255600" cy="255600"/>
          </a:xfrm>
          <a:prstGeom prst="rect">
            <a:avLst/>
          </a:prstGeom>
          <a:ln w="0">
            <a:noFill/>
          </a:ln>
        </p:spPr>
      </p:pic>
      <p:sp>
        <p:nvSpPr>
          <p:cNvPr id="357" name="Text 13"/>
          <p:cNvSpPr/>
          <p:nvPr/>
        </p:nvSpPr>
        <p:spPr>
          <a:xfrm>
            <a:off x="8869680" y="2167200"/>
            <a:ext cx="25599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strike="noStrike" spc="-1">
                <a:solidFill>
                  <a:srgbClr val="231F20"/>
                </a:solidFill>
                <a:latin typeface="Open Sans"/>
                <a:ea typeface="Open Sans"/>
              </a:rPr>
              <a:t>GitHub MCP over-reach</a:t>
            </a:r>
            <a:endParaRPr lang="en-US" sz="14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8" name="Text 14"/>
          <p:cNvSpPr/>
          <p:nvPr/>
        </p:nvSpPr>
        <p:spPr>
          <a:xfrm>
            <a:off x="8302680" y="2743200"/>
            <a:ext cx="30628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strike="noStrike" spc="-1">
                <a:solidFill>
                  <a:srgbClr val="3A3536"/>
                </a:solidFill>
                <a:latin typeface="Calibri"/>
                <a:ea typeface="Calibri"/>
              </a:rPr>
              <a:t>Blanket repo access let compromised tools read private repos and publish their contents to public ones.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9" name="Shape 15"/>
          <p:cNvSpPr/>
          <p:nvPr/>
        </p:nvSpPr>
        <p:spPr>
          <a:xfrm>
            <a:off x="457200" y="3794760"/>
            <a:ext cx="3520080" cy="1645560"/>
          </a:xfrm>
          <a:prstGeom prst="rect">
            <a:avLst/>
          </a:prstGeom>
          <a:solidFill>
            <a:srgbClr val="F7F4EF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0" name="Shape 16"/>
          <p:cNvSpPr/>
          <p:nvPr/>
        </p:nvSpPr>
        <p:spPr>
          <a:xfrm>
            <a:off x="685800" y="4023360"/>
            <a:ext cx="456840" cy="4568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61" name="Image 3" descr="preencoded.png"/>
          <p:cNvPicPr/>
          <p:nvPr/>
        </p:nvPicPr>
        <p:blipFill>
          <a:blip r:embed="rId6"/>
          <a:stretch/>
        </p:blipFill>
        <p:spPr>
          <a:xfrm>
            <a:off x="786240" y="4123800"/>
            <a:ext cx="255600" cy="255600"/>
          </a:xfrm>
          <a:prstGeom prst="rect">
            <a:avLst/>
          </a:prstGeom>
          <a:ln w="0">
            <a:noFill/>
          </a:ln>
        </p:spPr>
      </p:pic>
      <p:sp>
        <p:nvSpPr>
          <p:cNvPr id="362" name="Text 17"/>
          <p:cNvSpPr/>
          <p:nvPr/>
        </p:nvSpPr>
        <p:spPr>
          <a:xfrm>
            <a:off x="1280160" y="3996000"/>
            <a:ext cx="25599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strike="noStrike" spc="-1">
                <a:solidFill>
                  <a:srgbClr val="231F20"/>
                </a:solidFill>
                <a:latin typeface="Open Sans"/>
                <a:ea typeface="Open Sans"/>
              </a:rPr>
              <a:t>WhatsApp exfiltration</a:t>
            </a:r>
            <a:endParaRPr lang="en-US" sz="14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3" name="Text 18"/>
          <p:cNvSpPr/>
          <p:nvPr/>
        </p:nvSpPr>
        <p:spPr>
          <a:xfrm>
            <a:off x="713160" y="4572000"/>
            <a:ext cx="30628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strike="noStrike" spc="-1">
                <a:solidFill>
                  <a:srgbClr val="3A3536"/>
                </a:solidFill>
                <a:latin typeface="Calibri"/>
                <a:ea typeface="Calibri"/>
              </a:rPr>
              <a:t>A co-connected malicious server coerced the client into leaking message history — benign at install, malicious later.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4" name="Shape 19"/>
          <p:cNvSpPr/>
          <p:nvPr/>
        </p:nvSpPr>
        <p:spPr>
          <a:xfrm>
            <a:off x="4251960" y="3794760"/>
            <a:ext cx="3520080" cy="1645560"/>
          </a:xfrm>
          <a:prstGeom prst="rect">
            <a:avLst/>
          </a:prstGeom>
          <a:solidFill>
            <a:srgbClr val="F7F4EF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5" name="Shape 20"/>
          <p:cNvSpPr/>
          <p:nvPr/>
        </p:nvSpPr>
        <p:spPr>
          <a:xfrm>
            <a:off x="4480560" y="4023360"/>
            <a:ext cx="456840" cy="4568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66" name="Image 4" descr="preencoded.png"/>
          <p:cNvPicPr/>
          <p:nvPr/>
        </p:nvPicPr>
        <p:blipFill>
          <a:blip r:embed="rId4"/>
          <a:stretch/>
        </p:blipFill>
        <p:spPr>
          <a:xfrm>
            <a:off x="4581000" y="4123800"/>
            <a:ext cx="255600" cy="255600"/>
          </a:xfrm>
          <a:prstGeom prst="rect">
            <a:avLst/>
          </a:prstGeom>
          <a:ln w="0">
            <a:noFill/>
          </a:ln>
        </p:spPr>
      </p:pic>
      <p:sp>
        <p:nvSpPr>
          <p:cNvPr id="367" name="Text 21"/>
          <p:cNvSpPr/>
          <p:nvPr/>
        </p:nvSpPr>
        <p:spPr>
          <a:xfrm>
            <a:off x="5074920" y="3996000"/>
            <a:ext cx="25599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strike="noStrike" spc="-1">
                <a:solidFill>
                  <a:srgbClr val="231F20"/>
                </a:solidFill>
                <a:latin typeface="Open Sans"/>
                <a:ea typeface="Open Sans"/>
              </a:rPr>
              <a:t>Output poisoning</a:t>
            </a:r>
            <a:endParaRPr lang="en-US" sz="14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8" name="Text 22"/>
          <p:cNvSpPr/>
          <p:nvPr/>
        </p:nvSpPr>
        <p:spPr>
          <a:xfrm>
            <a:off x="4507920" y="4572000"/>
            <a:ext cx="30628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strike="noStrike" spc="-1">
                <a:solidFill>
                  <a:srgbClr val="3A3536"/>
                </a:solidFill>
                <a:latin typeface="Calibri"/>
                <a:ea typeface="Calibri"/>
              </a:rPr>
              <a:t>One agent's output, blindly trusted downstream, carries hidden instructions that hijack the next agent.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9" name="Shape 23"/>
          <p:cNvSpPr/>
          <p:nvPr/>
        </p:nvSpPr>
        <p:spPr>
          <a:xfrm>
            <a:off x="8046720" y="3794760"/>
            <a:ext cx="3520080" cy="1645560"/>
          </a:xfrm>
          <a:prstGeom prst="rect">
            <a:avLst/>
          </a:prstGeom>
          <a:solidFill>
            <a:srgbClr val="F7F4EF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0" name="Shape 24"/>
          <p:cNvSpPr/>
          <p:nvPr/>
        </p:nvSpPr>
        <p:spPr>
          <a:xfrm>
            <a:off x="8275320" y="4023360"/>
            <a:ext cx="456840" cy="4568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71" name="Image 5" descr="preencoded.png"/>
          <p:cNvPicPr/>
          <p:nvPr/>
        </p:nvPicPr>
        <p:blipFill>
          <a:blip r:embed="rId7"/>
          <a:stretch/>
        </p:blipFill>
        <p:spPr>
          <a:xfrm>
            <a:off x="8375760" y="4123800"/>
            <a:ext cx="255600" cy="255600"/>
          </a:xfrm>
          <a:prstGeom prst="rect">
            <a:avLst/>
          </a:prstGeom>
          <a:ln w="0">
            <a:noFill/>
          </a:ln>
        </p:spPr>
      </p:pic>
      <p:sp>
        <p:nvSpPr>
          <p:cNvPr id="372" name="Text 25"/>
          <p:cNvSpPr/>
          <p:nvPr/>
        </p:nvSpPr>
        <p:spPr>
          <a:xfrm>
            <a:off x="8869680" y="3996000"/>
            <a:ext cx="25599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1" strike="noStrike" spc="-1">
                <a:solidFill>
                  <a:srgbClr val="231F20"/>
                </a:solidFill>
                <a:latin typeface="Open Sans"/>
                <a:ea typeface="Open Sans"/>
              </a:rPr>
              <a:t>MCP-Inspector RCE</a:t>
            </a:r>
            <a:endParaRPr lang="en-US" sz="14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3" name="Text 26"/>
          <p:cNvSpPr/>
          <p:nvPr/>
        </p:nvSpPr>
        <p:spPr>
          <a:xfrm>
            <a:off x="8302680" y="4572000"/>
            <a:ext cx="306288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50" b="0" strike="noStrike" spc="-1">
                <a:solidFill>
                  <a:srgbClr val="3A3536"/>
                </a:solidFill>
                <a:latin typeface="Calibri"/>
                <a:ea typeface="Calibri"/>
              </a:rPr>
              <a:t>CVE-2025-49596: crafted messages triggered remote code execution in the testing tool.</a:t>
            </a:r>
            <a:endParaRPr lang="en-US" sz="11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4" name="Shape 27"/>
          <p:cNvSpPr/>
          <p:nvPr/>
        </p:nvSpPr>
        <p:spPr>
          <a:xfrm>
            <a:off x="457200" y="5669280"/>
            <a:ext cx="11246760" cy="502560"/>
          </a:xfrm>
          <a:prstGeom prst="rect">
            <a:avLst/>
          </a:prstGeom>
          <a:solidFill>
            <a:srgbClr val="E3EEED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5" name="Text 28"/>
          <p:cNvSpPr/>
          <p:nvPr/>
        </p:nvSpPr>
        <p:spPr>
          <a:xfrm>
            <a:off x="640080" y="5669280"/>
            <a:ext cx="109724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-1">
                <a:solidFill>
                  <a:srgbClr val="8B0E15"/>
                </a:solidFill>
                <a:latin typeface="Calibri"/>
                <a:ea typeface="Calibri"/>
              </a:rPr>
              <a:t>Note:  </a:t>
            </a:r>
            <a:r>
              <a:rPr lang="en-US" sz="1200" b="0" strike="noStrike" spc="-1">
                <a:solidFill>
                  <a:srgbClr val="3A3536"/>
                </a:solidFill>
                <a:latin typeface="Calibri"/>
                <a:ea typeface="Calibri"/>
              </a:rPr>
              <a:t>CVE-2025-49596 was in MCP-Inspector — Anthropic's dev/testing tool, fixed in 0.14.1 — not a production runtime component.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6" name="Shape 29"/>
          <p:cNvSpPr/>
          <p:nvPr/>
        </p:nvSpPr>
        <p:spPr>
          <a:xfrm>
            <a:off x="0" y="0"/>
            <a:ext cx="12161160" cy="7272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377" name="Image 6" descr="fhb_logo.png"/>
          <p:cNvPicPr/>
          <p:nvPr/>
        </p:nvPicPr>
        <p:blipFill>
          <a:blip r:embed="rId8"/>
          <a:stretch/>
        </p:blipFill>
        <p:spPr>
          <a:xfrm>
            <a:off x="10031040" y="146160"/>
            <a:ext cx="1828440" cy="338040"/>
          </a:xfrm>
          <a:prstGeom prst="rect">
            <a:avLst/>
          </a:prstGeom>
          <a:ln w="0">
            <a:noFill/>
          </a:ln>
        </p:spPr>
      </p:pic>
      <p:sp>
        <p:nvSpPr>
          <p:cNvPr id="378" name="Shape 30"/>
          <p:cNvSpPr/>
          <p:nvPr/>
        </p:nvSpPr>
        <p:spPr>
          <a:xfrm>
            <a:off x="457200" y="6583680"/>
            <a:ext cx="11274120" cy="19800"/>
          </a:xfrm>
          <a:prstGeom prst="rect">
            <a:avLst/>
          </a:prstGeom>
          <a:solidFill>
            <a:srgbClr val="F5A8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4840" rIns="90000" bIns="-2484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9" name="Shape 31"/>
          <p:cNvSpPr/>
          <p:nvPr/>
        </p:nvSpPr>
        <p:spPr>
          <a:xfrm>
            <a:off x="457200" y="6510600"/>
            <a:ext cx="164160" cy="16416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0" name="Text 32"/>
          <p:cNvSpPr/>
          <p:nvPr/>
        </p:nvSpPr>
        <p:spPr>
          <a:xfrm>
            <a:off x="713160" y="640080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8385"/>
                </a:solidFill>
                <a:latin typeface="Calibri"/>
                <a:ea typeface="Calibri"/>
              </a:rPr>
              <a:t>MCP Security  ·  Deck 3 of 3  ·  NSA Guidance (May 2026)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1" name="Text 33"/>
          <p:cNvSpPr/>
          <p:nvPr/>
        </p:nvSpPr>
        <p:spPr>
          <a:xfrm>
            <a:off x="11155680" y="640080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8385"/>
                </a:solidFill>
                <a:latin typeface="Calibri"/>
                <a:ea typeface="Calibri"/>
              </a:rPr>
              <a:t>12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Text 0"/>
          <p:cNvSpPr/>
          <p:nvPr/>
        </p:nvSpPr>
        <p:spPr>
          <a:xfrm>
            <a:off x="457200" y="457200"/>
            <a:ext cx="94179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299">
                <a:solidFill>
                  <a:srgbClr val="8B0E15"/>
                </a:solidFill>
                <a:latin typeface="Calibri"/>
                <a:ea typeface="Calibri"/>
              </a:rPr>
              <a:t>RECOMMENDATIONS · C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3" name="Text 1"/>
          <p:cNvSpPr/>
          <p:nvPr/>
        </p:nvSpPr>
        <p:spPr>
          <a:xfrm>
            <a:off x="457200" y="73152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231F20"/>
                </a:solidFill>
                <a:latin typeface="Open Sans"/>
                <a:ea typeface="Open Sans"/>
              </a:rPr>
              <a:t>Architect for containment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4" name="Text 2"/>
          <p:cNvSpPr/>
          <p:nvPr/>
        </p:nvSpPr>
        <p:spPr>
          <a:xfrm>
            <a:off x="457200" y="1371600"/>
            <a:ext cx="112467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strike="noStrike" spc="-1">
                <a:solidFill>
                  <a:srgbClr val="3A3536"/>
                </a:solidFill>
                <a:latin typeface="Calibri"/>
                <a:ea typeface="Calibri"/>
              </a:rPr>
              <a:t>The first line of defense is structural — decide what can reach what before a single message flows.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5" name="Shape 3"/>
          <p:cNvSpPr/>
          <p:nvPr/>
        </p:nvSpPr>
        <p:spPr>
          <a:xfrm>
            <a:off x="457200" y="2103120"/>
            <a:ext cx="3520080" cy="3565800"/>
          </a:xfrm>
          <a:prstGeom prst="rect">
            <a:avLst/>
          </a:prstGeom>
          <a:solidFill>
            <a:srgbClr val="F7F4EF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6" name="Shape 4"/>
          <p:cNvSpPr/>
          <p:nvPr/>
        </p:nvSpPr>
        <p:spPr>
          <a:xfrm>
            <a:off x="457200" y="2103120"/>
            <a:ext cx="3520080" cy="10944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7" name="Shape 5"/>
          <p:cNvSpPr/>
          <p:nvPr/>
        </p:nvSpPr>
        <p:spPr>
          <a:xfrm>
            <a:off x="731520" y="2331720"/>
            <a:ext cx="566640" cy="566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88" name="Image 0" descr="preencoded.png"/>
          <p:cNvPicPr/>
          <p:nvPr/>
        </p:nvPicPr>
        <p:blipFill>
          <a:blip r:embed="rId3"/>
          <a:stretch/>
        </p:blipFill>
        <p:spPr>
          <a:xfrm>
            <a:off x="856080" y="2456280"/>
            <a:ext cx="317160" cy="317160"/>
          </a:xfrm>
          <a:prstGeom prst="rect">
            <a:avLst/>
          </a:prstGeom>
          <a:ln w="0">
            <a:noFill/>
          </a:ln>
        </p:spPr>
      </p:pic>
      <p:sp>
        <p:nvSpPr>
          <p:cNvPr id="389" name="Text 6"/>
          <p:cNvSpPr/>
          <p:nvPr/>
        </p:nvSpPr>
        <p:spPr>
          <a:xfrm>
            <a:off x="731520" y="3063240"/>
            <a:ext cx="301716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strike="noStrike" spc="-1">
                <a:solidFill>
                  <a:srgbClr val="231F20"/>
                </a:solidFill>
                <a:latin typeface="Open Sans"/>
                <a:ea typeface="Open Sans"/>
              </a:rPr>
              <a:t>Choose supported projects</a:t>
            </a:r>
            <a:endParaRPr lang="en-US" sz="16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0" name="Text 7"/>
          <p:cNvSpPr/>
          <p:nvPr/>
        </p:nvSpPr>
        <p:spPr>
          <a:xfrm>
            <a:off x="731520" y="3794760"/>
            <a:ext cx="3062880" cy="1737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3A3536"/>
                </a:solidFill>
                <a:latin typeface="Calibri"/>
                <a:ea typeface="Calibri"/>
              </a:rPr>
              <a:t>Prefer actively-maintained servers; apply your most stringent code-audit profile to new integrations. Many popular servers are now archived.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1" name="Shape 8"/>
          <p:cNvSpPr/>
          <p:nvPr/>
        </p:nvSpPr>
        <p:spPr>
          <a:xfrm>
            <a:off x="4251960" y="2103120"/>
            <a:ext cx="3520080" cy="3565800"/>
          </a:xfrm>
          <a:prstGeom prst="rect">
            <a:avLst/>
          </a:prstGeom>
          <a:solidFill>
            <a:srgbClr val="F7F4EF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2" name="Shape 9"/>
          <p:cNvSpPr/>
          <p:nvPr/>
        </p:nvSpPr>
        <p:spPr>
          <a:xfrm>
            <a:off x="4251960" y="2103120"/>
            <a:ext cx="3520080" cy="10944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3" name="Shape 10"/>
          <p:cNvSpPr/>
          <p:nvPr/>
        </p:nvSpPr>
        <p:spPr>
          <a:xfrm>
            <a:off x="4526280" y="2331720"/>
            <a:ext cx="566640" cy="566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394" name="Image 1" descr="preencoded.png"/>
          <p:cNvPicPr/>
          <p:nvPr/>
        </p:nvPicPr>
        <p:blipFill>
          <a:blip r:embed="rId4"/>
          <a:stretch/>
        </p:blipFill>
        <p:spPr>
          <a:xfrm>
            <a:off x="4650840" y="2456280"/>
            <a:ext cx="317160" cy="317160"/>
          </a:xfrm>
          <a:prstGeom prst="rect">
            <a:avLst/>
          </a:prstGeom>
          <a:ln w="0">
            <a:noFill/>
          </a:ln>
        </p:spPr>
      </p:pic>
      <p:sp>
        <p:nvSpPr>
          <p:cNvPr id="395" name="Text 11"/>
          <p:cNvSpPr/>
          <p:nvPr/>
        </p:nvSpPr>
        <p:spPr>
          <a:xfrm>
            <a:off x="4526280" y="3063240"/>
            <a:ext cx="301716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strike="noStrike" spc="-1">
                <a:solidFill>
                  <a:srgbClr val="231F20"/>
                </a:solidFill>
                <a:latin typeface="Open Sans"/>
                <a:ea typeface="Open Sans"/>
              </a:rPr>
              <a:t>Design for trust boundaries</a:t>
            </a:r>
            <a:endParaRPr lang="en-US" sz="16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6" name="Text 12"/>
          <p:cNvSpPr/>
          <p:nvPr/>
        </p:nvSpPr>
        <p:spPr>
          <a:xfrm>
            <a:off x="4526280" y="3794760"/>
            <a:ext cx="3062880" cy="1737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3A3536"/>
                </a:solidFill>
                <a:latin typeface="Calibri"/>
                <a:ea typeface="Calibri"/>
              </a:rPr>
              <a:t>Treat agents, plugins, models, and users as separate trust zones. Align tools with data-classification: public tools for public data, segregated access for regulated data.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7" name="Shape 13"/>
          <p:cNvSpPr/>
          <p:nvPr/>
        </p:nvSpPr>
        <p:spPr>
          <a:xfrm>
            <a:off x="8046720" y="2103120"/>
            <a:ext cx="3520080" cy="3565800"/>
          </a:xfrm>
          <a:prstGeom prst="rect">
            <a:avLst/>
          </a:prstGeom>
          <a:solidFill>
            <a:srgbClr val="F7F4EF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8" name="Shape 14"/>
          <p:cNvSpPr/>
          <p:nvPr/>
        </p:nvSpPr>
        <p:spPr>
          <a:xfrm>
            <a:off x="8046720" y="2103120"/>
            <a:ext cx="3520080" cy="10944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9" name="Shape 15"/>
          <p:cNvSpPr/>
          <p:nvPr/>
        </p:nvSpPr>
        <p:spPr>
          <a:xfrm>
            <a:off x="8321040" y="2331720"/>
            <a:ext cx="566640" cy="566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00" name="Image 2" descr="preencoded.png"/>
          <p:cNvPicPr/>
          <p:nvPr/>
        </p:nvPicPr>
        <p:blipFill>
          <a:blip r:embed="rId5"/>
          <a:stretch/>
        </p:blipFill>
        <p:spPr>
          <a:xfrm>
            <a:off x="8445600" y="2456280"/>
            <a:ext cx="317160" cy="317160"/>
          </a:xfrm>
          <a:prstGeom prst="rect">
            <a:avLst/>
          </a:prstGeom>
          <a:ln w="0">
            <a:noFill/>
          </a:ln>
        </p:spPr>
      </p:pic>
      <p:sp>
        <p:nvSpPr>
          <p:cNvPr id="401" name="Text 16"/>
          <p:cNvSpPr/>
          <p:nvPr/>
        </p:nvSpPr>
        <p:spPr>
          <a:xfrm>
            <a:off x="8321040" y="3063240"/>
            <a:ext cx="301716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strike="noStrike" spc="-1">
                <a:solidFill>
                  <a:srgbClr val="231F20"/>
                </a:solidFill>
                <a:latin typeface="Open Sans"/>
                <a:ea typeface="Open Sans"/>
              </a:rPr>
              <a:t>Contain egress</a:t>
            </a:r>
            <a:endParaRPr lang="en-US" sz="16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2" name="Text 17"/>
          <p:cNvSpPr/>
          <p:nvPr/>
        </p:nvSpPr>
        <p:spPr>
          <a:xfrm>
            <a:off x="8321040" y="3794760"/>
            <a:ext cx="3062880" cy="1737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3A3536"/>
                </a:solidFill>
                <a:latin typeface="Calibri"/>
                <a:ea typeface="Calibri"/>
              </a:rPr>
              <a:t>Prefer local servers for sensitive data. Put a filtering proxy or DLP in front of outbound connections to named resources only.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3" name="Shape 18"/>
          <p:cNvSpPr/>
          <p:nvPr/>
        </p:nvSpPr>
        <p:spPr>
          <a:xfrm>
            <a:off x="0" y="0"/>
            <a:ext cx="12161160" cy="7272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04" name="Image 3" descr="fhb_logo.png"/>
          <p:cNvPicPr/>
          <p:nvPr/>
        </p:nvPicPr>
        <p:blipFill>
          <a:blip r:embed="rId6"/>
          <a:stretch/>
        </p:blipFill>
        <p:spPr>
          <a:xfrm>
            <a:off x="10031040" y="146160"/>
            <a:ext cx="1828440" cy="338040"/>
          </a:xfrm>
          <a:prstGeom prst="rect">
            <a:avLst/>
          </a:prstGeom>
          <a:ln w="0">
            <a:noFill/>
          </a:ln>
        </p:spPr>
      </p:pic>
      <p:sp>
        <p:nvSpPr>
          <p:cNvPr id="405" name="Shape 19"/>
          <p:cNvSpPr/>
          <p:nvPr/>
        </p:nvSpPr>
        <p:spPr>
          <a:xfrm>
            <a:off x="457200" y="6583680"/>
            <a:ext cx="11274120" cy="19800"/>
          </a:xfrm>
          <a:prstGeom prst="rect">
            <a:avLst/>
          </a:prstGeom>
          <a:solidFill>
            <a:srgbClr val="F5A8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4840" rIns="90000" bIns="-2484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6" name="Shape 20"/>
          <p:cNvSpPr/>
          <p:nvPr/>
        </p:nvSpPr>
        <p:spPr>
          <a:xfrm>
            <a:off x="457200" y="6510600"/>
            <a:ext cx="164160" cy="16416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7" name="Text 21"/>
          <p:cNvSpPr/>
          <p:nvPr/>
        </p:nvSpPr>
        <p:spPr>
          <a:xfrm>
            <a:off x="713160" y="640080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8385"/>
                </a:solidFill>
                <a:latin typeface="Calibri"/>
                <a:ea typeface="Calibri"/>
              </a:rPr>
              <a:t>MCP Security  ·  Deck 3 of 3  ·  NSA Guidance (May 2026)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8" name="Text 22"/>
          <p:cNvSpPr/>
          <p:nvPr/>
        </p:nvSpPr>
        <p:spPr>
          <a:xfrm>
            <a:off x="11155680" y="640080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8385"/>
                </a:solidFill>
                <a:latin typeface="Calibri"/>
                <a:ea typeface="Calibri"/>
              </a:rPr>
              <a:t>13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Text 0"/>
          <p:cNvSpPr/>
          <p:nvPr/>
        </p:nvSpPr>
        <p:spPr>
          <a:xfrm>
            <a:off x="457200" y="457200"/>
            <a:ext cx="94179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299">
                <a:solidFill>
                  <a:srgbClr val="8B0E15"/>
                </a:solidFill>
                <a:latin typeface="Calibri"/>
                <a:ea typeface="Calibri"/>
              </a:rPr>
              <a:t>RECOMMENDATIONS · C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0" name="Text 1"/>
          <p:cNvSpPr/>
          <p:nvPr/>
        </p:nvSpPr>
        <p:spPr>
          <a:xfrm>
            <a:off x="457200" y="73152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231F20"/>
                </a:solidFill>
                <a:latin typeface="Open Sans"/>
                <a:ea typeface="Open Sans"/>
              </a:rPr>
              <a:t>Harden execution &amp; messages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1" name="Text 2"/>
          <p:cNvSpPr/>
          <p:nvPr/>
        </p:nvSpPr>
        <p:spPr>
          <a:xfrm>
            <a:off x="457200" y="1371600"/>
            <a:ext cx="112467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strike="noStrike" spc="-1">
                <a:solidFill>
                  <a:srgbClr val="3A3536"/>
                </a:solidFill>
                <a:latin typeface="Calibri"/>
                <a:ea typeface="Calibri"/>
              </a:rPr>
              <a:t>Once data is flowing, constrain what each component can do and prove that messages are what they claim to be.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2" name="Shape 3"/>
          <p:cNvSpPr/>
          <p:nvPr/>
        </p:nvSpPr>
        <p:spPr>
          <a:xfrm>
            <a:off x="457200" y="2057400"/>
            <a:ext cx="5531760" cy="1782720"/>
          </a:xfrm>
          <a:prstGeom prst="rect">
            <a:avLst/>
          </a:prstGeom>
          <a:solidFill>
            <a:srgbClr val="F7F4EF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3" name="Shape 4"/>
          <p:cNvSpPr/>
          <p:nvPr/>
        </p:nvSpPr>
        <p:spPr>
          <a:xfrm>
            <a:off x="457200" y="2057400"/>
            <a:ext cx="91080" cy="178272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4" name="Shape 5"/>
          <p:cNvSpPr/>
          <p:nvPr/>
        </p:nvSpPr>
        <p:spPr>
          <a:xfrm>
            <a:off x="731520" y="2331720"/>
            <a:ext cx="502560" cy="5025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15" name="Image 0" descr="preencoded.png"/>
          <p:cNvPicPr/>
          <p:nvPr/>
        </p:nvPicPr>
        <p:blipFill>
          <a:blip r:embed="rId3"/>
          <a:stretch/>
        </p:blipFill>
        <p:spPr>
          <a:xfrm>
            <a:off x="842040" y="2442240"/>
            <a:ext cx="281160" cy="281160"/>
          </a:xfrm>
          <a:prstGeom prst="rect">
            <a:avLst/>
          </a:prstGeom>
          <a:ln w="0">
            <a:noFill/>
          </a:ln>
        </p:spPr>
      </p:pic>
      <p:sp>
        <p:nvSpPr>
          <p:cNvPr id="416" name="Text 6"/>
          <p:cNvSpPr/>
          <p:nvPr/>
        </p:nvSpPr>
        <p:spPr>
          <a:xfrm>
            <a:off x="1417320" y="2331720"/>
            <a:ext cx="43887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231F20"/>
                </a:solidFill>
                <a:latin typeface="Open Sans"/>
                <a:ea typeface="Open Sans"/>
              </a:rPr>
              <a:t>Validate parameters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7" name="Text 7"/>
          <p:cNvSpPr/>
          <p:nvPr/>
        </p:nvSpPr>
        <p:spPr>
          <a:xfrm>
            <a:off x="731520" y="2926080"/>
            <a:ext cx="507456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3A3536"/>
                </a:solidFill>
                <a:latin typeface="Calibri"/>
                <a:ea typeface="Calibri"/>
              </a:rPr>
              <a:t>Check inputs against schemas, ranges, and the intended execution context — not just the value. Block parameter forwarding when the source is ambiguous.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8" name="Shape 8"/>
          <p:cNvSpPr/>
          <p:nvPr/>
        </p:nvSpPr>
        <p:spPr>
          <a:xfrm>
            <a:off x="6172200" y="2057400"/>
            <a:ext cx="5531760" cy="1782720"/>
          </a:xfrm>
          <a:prstGeom prst="rect">
            <a:avLst/>
          </a:prstGeom>
          <a:solidFill>
            <a:srgbClr val="F7F4EF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9" name="Shape 9"/>
          <p:cNvSpPr/>
          <p:nvPr/>
        </p:nvSpPr>
        <p:spPr>
          <a:xfrm>
            <a:off x="6172200" y="2057400"/>
            <a:ext cx="91080" cy="178272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0" name="Shape 10"/>
          <p:cNvSpPr/>
          <p:nvPr/>
        </p:nvSpPr>
        <p:spPr>
          <a:xfrm>
            <a:off x="6446520" y="2331720"/>
            <a:ext cx="502560" cy="5025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21" name="Image 1" descr="preencoded.png"/>
          <p:cNvPicPr/>
          <p:nvPr/>
        </p:nvPicPr>
        <p:blipFill>
          <a:blip r:embed="rId4"/>
          <a:stretch/>
        </p:blipFill>
        <p:spPr>
          <a:xfrm>
            <a:off x="6557040" y="2442240"/>
            <a:ext cx="281160" cy="281160"/>
          </a:xfrm>
          <a:prstGeom prst="rect">
            <a:avLst/>
          </a:prstGeom>
          <a:ln w="0">
            <a:noFill/>
          </a:ln>
        </p:spPr>
      </p:pic>
      <p:sp>
        <p:nvSpPr>
          <p:cNvPr id="422" name="Text 11"/>
          <p:cNvSpPr/>
          <p:nvPr/>
        </p:nvSpPr>
        <p:spPr>
          <a:xfrm>
            <a:off x="7132320" y="2331720"/>
            <a:ext cx="43887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231F20"/>
                </a:solidFill>
                <a:latin typeface="Open Sans"/>
                <a:ea typeface="Open Sans"/>
              </a:rPr>
              <a:t>Sandbox tool execution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3" name="Text 12"/>
          <p:cNvSpPr/>
          <p:nvPr/>
        </p:nvSpPr>
        <p:spPr>
          <a:xfrm>
            <a:off x="6446520" y="2926080"/>
            <a:ext cx="507456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3A3536"/>
                </a:solidFill>
                <a:latin typeface="Calibri"/>
                <a:ea typeface="Calibri"/>
              </a:rPr>
              <a:t>Treat every tool call as high-risk and isolate it; enforce least privilege; deny unneeded paths at runtime.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4" name="Shape 13"/>
          <p:cNvSpPr/>
          <p:nvPr/>
        </p:nvSpPr>
        <p:spPr>
          <a:xfrm>
            <a:off x="457200" y="4023360"/>
            <a:ext cx="5531760" cy="1782720"/>
          </a:xfrm>
          <a:prstGeom prst="rect">
            <a:avLst/>
          </a:prstGeom>
          <a:solidFill>
            <a:srgbClr val="F7F4EF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5" name="Shape 14"/>
          <p:cNvSpPr/>
          <p:nvPr/>
        </p:nvSpPr>
        <p:spPr>
          <a:xfrm>
            <a:off x="457200" y="4023360"/>
            <a:ext cx="91080" cy="178272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6" name="Shape 15"/>
          <p:cNvSpPr/>
          <p:nvPr/>
        </p:nvSpPr>
        <p:spPr>
          <a:xfrm>
            <a:off x="731520" y="4297680"/>
            <a:ext cx="502560" cy="5025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27" name="Image 2" descr="preencoded.png"/>
          <p:cNvPicPr/>
          <p:nvPr/>
        </p:nvPicPr>
        <p:blipFill>
          <a:blip r:embed="rId5"/>
          <a:stretch/>
        </p:blipFill>
        <p:spPr>
          <a:xfrm>
            <a:off x="842040" y="4408200"/>
            <a:ext cx="281160" cy="281160"/>
          </a:xfrm>
          <a:prstGeom prst="rect">
            <a:avLst/>
          </a:prstGeom>
          <a:ln w="0">
            <a:noFill/>
          </a:ln>
        </p:spPr>
      </p:pic>
      <p:sp>
        <p:nvSpPr>
          <p:cNvPr id="428" name="Text 16"/>
          <p:cNvSpPr/>
          <p:nvPr/>
        </p:nvSpPr>
        <p:spPr>
          <a:xfrm>
            <a:off x="1417320" y="4297680"/>
            <a:ext cx="43887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231F20"/>
                </a:solidFill>
                <a:latin typeface="Open Sans"/>
                <a:ea typeface="Open Sans"/>
              </a:rPr>
              <a:t>Sign &amp; verify messages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9" name="Text 17"/>
          <p:cNvSpPr/>
          <p:nvPr/>
        </p:nvSpPr>
        <p:spPr>
          <a:xfrm>
            <a:off x="731520" y="4892040"/>
            <a:ext cx="507456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3A3536"/>
                </a:solidFill>
                <a:latin typeface="Calibri"/>
                <a:ea typeface="Calibri"/>
              </a:rPr>
              <a:t>Add cryptographic signatures in the payload, with expiry and replay-protection metadata. Bind requests to time and context (OWASP ASVS V7).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0" name="Shape 18"/>
          <p:cNvSpPr/>
          <p:nvPr/>
        </p:nvSpPr>
        <p:spPr>
          <a:xfrm>
            <a:off x="6172200" y="4023360"/>
            <a:ext cx="5531760" cy="1782720"/>
          </a:xfrm>
          <a:prstGeom prst="rect">
            <a:avLst/>
          </a:prstGeom>
          <a:solidFill>
            <a:srgbClr val="F7F4EF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1" name="Shape 19"/>
          <p:cNvSpPr/>
          <p:nvPr/>
        </p:nvSpPr>
        <p:spPr>
          <a:xfrm>
            <a:off x="6172200" y="4023360"/>
            <a:ext cx="91080" cy="178272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2" name="Shape 20"/>
          <p:cNvSpPr/>
          <p:nvPr/>
        </p:nvSpPr>
        <p:spPr>
          <a:xfrm>
            <a:off x="6446520" y="4297680"/>
            <a:ext cx="502560" cy="5025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33" name="Image 3" descr="preencoded.png"/>
          <p:cNvPicPr/>
          <p:nvPr/>
        </p:nvPicPr>
        <p:blipFill>
          <a:blip r:embed="rId6"/>
          <a:stretch/>
        </p:blipFill>
        <p:spPr>
          <a:xfrm>
            <a:off x="6557040" y="4408200"/>
            <a:ext cx="281160" cy="281160"/>
          </a:xfrm>
          <a:prstGeom prst="rect">
            <a:avLst/>
          </a:prstGeom>
          <a:ln w="0">
            <a:noFill/>
          </a:ln>
        </p:spPr>
      </p:pic>
      <p:sp>
        <p:nvSpPr>
          <p:cNvPr id="434" name="Text 21"/>
          <p:cNvSpPr/>
          <p:nvPr/>
        </p:nvSpPr>
        <p:spPr>
          <a:xfrm>
            <a:off x="7132320" y="4297680"/>
            <a:ext cx="43887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231F20"/>
                </a:solidFill>
                <a:latin typeface="Open Sans"/>
                <a:ea typeface="Open Sans"/>
              </a:rPr>
              <a:t>Filter output pipelines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5" name="Text 22"/>
          <p:cNvSpPr/>
          <p:nvPr/>
        </p:nvSpPr>
        <p:spPr>
          <a:xfrm>
            <a:off x="6446520" y="4892040"/>
            <a:ext cx="507456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3A3536"/>
                </a:solidFill>
                <a:latin typeface="Calibri"/>
                <a:ea typeface="Calibri"/>
              </a:rPr>
              <a:t>Treat each tool's output as untrusted input to the next stage. Scan for indirect prompt injection and toolchain-pivot attempts in chained execution.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6" name="Shape 23"/>
          <p:cNvSpPr/>
          <p:nvPr/>
        </p:nvSpPr>
        <p:spPr>
          <a:xfrm>
            <a:off x="0" y="0"/>
            <a:ext cx="12161160" cy="7272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37" name="Image 4" descr="fhb_logo.png"/>
          <p:cNvPicPr/>
          <p:nvPr/>
        </p:nvPicPr>
        <p:blipFill>
          <a:blip r:embed="rId7"/>
          <a:stretch/>
        </p:blipFill>
        <p:spPr>
          <a:xfrm>
            <a:off x="10031040" y="146160"/>
            <a:ext cx="1828440" cy="338040"/>
          </a:xfrm>
          <a:prstGeom prst="rect">
            <a:avLst/>
          </a:prstGeom>
          <a:ln w="0">
            <a:noFill/>
          </a:ln>
        </p:spPr>
      </p:pic>
      <p:sp>
        <p:nvSpPr>
          <p:cNvPr id="438" name="Shape 24"/>
          <p:cNvSpPr/>
          <p:nvPr/>
        </p:nvSpPr>
        <p:spPr>
          <a:xfrm>
            <a:off x="457200" y="6583680"/>
            <a:ext cx="11274120" cy="19800"/>
          </a:xfrm>
          <a:prstGeom prst="rect">
            <a:avLst/>
          </a:prstGeom>
          <a:solidFill>
            <a:srgbClr val="F5A8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4840" rIns="90000" bIns="-2484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9" name="Shape 25"/>
          <p:cNvSpPr/>
          <p:nvPr/>
        </p:nvSpPr>
        <p:spPr>
          <a:xfrm>
            <a:off x="457200" y="6510600"/>
            <a:ext cx="164160" cy="16416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0" name="Text 26"/>
          <p:cNvSpPr/>
          <p:nvPr/>
        </p:nvSpPr>
        <p:spPr>
          <a:xfrm>
            <a:off x="713160" y="640080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8385"/>
                </a:solidFill>
                <a:latin typeface="Calibri"/>
                <a:ea typeface="Calibri"/>
              </a:rPr>
              <a:t>MCP Security  ·  Deck 3 of 3  ·  NSA Guidance (May 2026)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1" name="Text 27"/>
          <p:cNvSpPr/>
          <p:nvPr/>
        </p:nvSpPr>
        <p:spPr>
          <a:xfrm>
            <a:off x="11155680" y="640080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8385"/>
                </a:solidFill>
                <a:latin typeface="Calibri"/>
                <a:ea typeface="Calibri"/>
              </a:rPr>
              <a:t>14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Text 0"/>
          <p:cNvSpPr/>
          <p:nvPr/>
        </p:nvSpPr>
        <p:spPr>
          <a:xfrm>
            <a:off x="457200" y="457200"/>
            <a:ext cx="94179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299">
                <a:solidFill>
                  <a:srgbClr val="8B0E15"/>
                </a:solidFill>
                <a:latin typeface="Calibri"/>
                <a:ea typeface="Calibri"/>
              </a:rPr>
              <a:t>RECOMMENDATIONS · C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3" name="Text 1"/>
          <p:cNvSpPr/>
          <p:nvPr/>
        </p:nvSpPr>
        <p:spPr>
          <a:xfrm>
            <a:off x="457200" y="73152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231F20"/>
                </a:solidFill>
                <a:latin typeface="Open Sans"/>
                <a:ea typeface="Open Sans"/>
              </a:rPr>
              <a:t>Operate with visibility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4" name="Text 2"/>
          <p:cNvSpPr/>
          <p:nvPr/>
        </p:nvSpPr>
        <p:spPr>
          <a:xfrm>
            <a:off x="457200" y="1371600"/>
            <a:ext cx="112467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strike="noStrike" spc="-1">
                <a:solidFill>
                  <a:srgbClr val="3A3536"/>
                </a:solidFill>
                <a:latin typeface="Calibri"/>
                <a:ea typeface="Calibri"/>
              </a:rPr>
              <a:t>You can't defend what you can't see. Instrument, track, and scan — continuously.</a:t>
            </a:r>
            <a:endParaRPr lang="en-US" sz="15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5" name="Shape 3"/>
          <p:cNvSpPr/>
          <p:nvPr/>
        </p:nvSpPr>
        <p:spPr>
          <a:xfrm>
            <a:off x="457200" y="2103120"/>
            <a:ext cx="3520080" cy="3565800"/>
          </a:xfrm>
          <a:prstGeom prst="rect">
            <a:avLst/>
          </a:prstGeom>
          <a:solidFill>
            <a:srgbClr val="F7F4EF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6" name="Shape 4"/>
          <p:cNvSpPr/>
          <p:nvPr/>
        </p:nvSpPr>
        <p:spPr>
          <a:xfrm>
            <a:off x="457200" y="2103120"/>
            <a:ext cx="3520080" cy="10944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7" name="Shape 5"/>
          <p:cNvSpPr/>
          <p:nvPr/>
        </p:nvSpPr>
        <p:spPr>
          <a:xfrm>
            <a:off x="731520" y="2331720"/>
            <a:ext cx="566640" cy="566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48" name="Image 0" descr="preencoded.png"/>
          <p:cNvPicPr/>
          <p:nvPr/>
        </p:nvPicPr>
        <p:blipFill>
          <a:blip r:embed="rId3"/>
          <a:stretch/>
        </p:blipFill>
        <p:spPr>
          <a:xfrm>
            <a:off x="856080" y="2456280"/>
            <a:ext cx="317160" cy="317160"/>
          </a:xfrm>
          <a:prstGeom prst="rect">
            <a:avLst/>
          </a:prstGeom>
          <a:ln w="0">
            <a:noFill/>
          </a:ln>
        </p:spPr>
      </p:pic>
      <p:sp>
        <p:nvSpPr>
          <p:cNvPr id="449" name="Text 6"/>
          <p:cNvSpPr/>
          <p:nvPr/>
        </p:nvSpPr>
        <p:spPr>
          <a:xfrm>
            <a:off x="731520" y="3063240"/>
            <a:ext cx="301716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strike="noStrike" spc="-1">
                <a:solidFill>
                  <a:srgbClr val="231F20"/>
                </a:solidFill>
                <a:latin typeface="Open Sans"/>
                <a:ea typeface="Open Sans"/>
              </a:rPr>
              <a:t>Instrument for detection</a:t>
            </a:r>
            <a:endParaRPr lang="en-US" sz="16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0" name="Text 7"/>
          <p:cNvSpPr/>
          <p:nvPr/>
        </p:nvSpPr>
        <p:spPr>
          <a:xfrm>
            <a:off x="731520" y="3794760"/>
            <a:ext cx="3062880" cy="1737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3A3536"/>
                </a:solidFill>
                <a:latin typeface="Calibri"/>
                <a:ea typeface="Calibri"/>
              </a:rPr>
              <a:t>Log every tool and model invocation — parameters, identities, and (where feasible) cryptographic hashes of output. Feed it into your SIEM and detection pipelines.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1" name="Shape 8"/>
          <p:cNvSpPr/>
          <p:nvPr/>
        </p:nvSpPr>
        <p:spPr>
          <a:xfrm>
            <a:off x="4251960" y="2103120"/>
            <a:ext cx="3520080" cy="3565800"/>
          </a:xfrm>
          <a:prstGeom prst="rect">
            <a:avLst/>
          </a:prstGeom>
          <a:solidFill>
            <a:srgbClr val="F7F4EF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2" name="Shape 9"/>
          <p:cNvSpPr/>
          <p:nvPr/>
        </p:nvSpPr>
        <p:spPr>
          <a:xfrm>
            <a:off x="4251960" y="2103120"/>
            <a:ext cx="3520080" cy="10944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3" name="Shape 10"/>
          <p:cNvSpPr/>
          <p:nvPr/>
        </p:nvSpPr>
        <p:spPr>
          <a:xfrm>
            <a:off x="4526280" y="2331720"/>
            <a:ext cx="566640" cy="566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54" name="Image 1" descr="preencoded.png"/>
          <p:cNvPicPr/>
          <p:nvPr/>
        </p:nvPicPr>
        <p:blipFill>
          <a:blip r:embed="rId4"/>
          <a:stretch/>
        </p:blipFill>
        <p:spPr>
          <a:xfrm>
            <a:off x="4650840" y="2456280"/>
            <a:ext cx="317160" cy="317160"/>
          </a:xfrm>
          <a:prstGeom prst="rect">
            <a:avLst/>
          </a:prstGeom>
          <a:ln w="0">
            <a:noFill/>
          </a:ln>
        </p:spPr>
      </p:pic>
      <p:sp>
        <p:nvSpPr>
          <p:cNvPr id="455" name="Text 11"/>
          <p:cNvSpPr/>
          <p:nvPr/>
        </p:nvSpPr>
        <p:spPr>
          <a:xfrm>
            <a:off x="4526280" y="3063240"/>
            <a:ext cx="301716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strike="noStrike" spc="-1">
                <a:solidFill>
                  <a:srgbClr val="231F20"/>
                </a:solidFill>
                <a:latin typeface="Open Sans"/>
                <a:ea typeface="Open Sans"/>
              </a:rPr>
              <a:t>Track &amp; patch</a:t>
            </a:r>
            <a:endParaRPr lang="en-US" sz="16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6" name="Text 12"/>
          <p:cNvSpPr/>
          <p:nvPr/>
        </p:nvSpPr>
        <p:spPr>
          <a:xfrm>
            <a:off x="4526280" y="3794760"/>
            <a:ext cx="3062880" cy="1737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3A3536"/>
                </a:solidFill>
                <a:latin typeface="Calibri"/>
                <a:ea typeface="Calibri"/>
              </a:rPr>
              <a:t>Keep an inventory of deployed MCP agents and tools with versions and patch history. Subscribe to CVE feeds and vendor advisories; triage fast.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7" name="Shape 13"/>
          <p:cNvSpPr/>
          <p:nvPr/>
        </p:nvSpPr>
        <p:spPr>
          <a:xfrm>
            <a:off x="8046720" y="2103120"/>
            <a:ext cx="3520080" cy="3565800"/>
          </a:xfrm>
          <a:prstGeom prst="rect">
            <a:avLst/>
          </a:prstGeom>
          <a:solidFill>
            <a:srgbClr val="F7F4EF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8" name="Shape 14"/>
          <p:cNvSpPr/>
          <p:nvPr/>
        </p:nvSpPr>
        <p:spPr>
          <a:xfrm>
            <a:off x="8046720" y="2103120"/>
            <a:ext cx="3520080" cy="10944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9" name="Shape 15"/>
          <p:cNvSpPr/>
          <p:nvPr/>
        </p:nvSpPr>
        <p:spPr>
          <a:xfrm>
            <a:off x="8321040" y="2331720"/>
            <a:ext cx="566640" cy="566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60" name="Image 2" descr="preencoded.png"/>
          <p:cNvPicPr/>
          <p:nvPr/>
        </p:nvPicPr>
        <p:blipFill>
          <a:blip r:embed="rId5"/>
          <a:stretch/>
        </p:blipFill>
        <p:spPr>
          <a:xfrm>
            <a:off x="8445600" y="2456280"/>
            <a:ext cx="317160" cy="317160"/>
          </a:xfrm>
          <a:prstGeom prst="rect">
            <a:avLst/>
          </a:prstGeom>
          <a:ln w="0">
            <a:noFill/>
          </a:ln>
        </p:spPr>
      </p:pic>
      <p:sp>
        <p:nvSpPr>
          <p:cNvPr id="461" name="Text 16"/>
          <p:cNvSpPr/>
          <p:nvPr/>
        </p:nvSpPr>
        <p:spPr>
          <a:xfrm>
            <a:off x="8321040" y="3063240"/>
            <a:ext cx="301716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50" b="1" strike="noStrike" spc="-1">
                <a:solidFill>
                  <a:srgbClr val="231F20"/>
                </a:solidFill>
                <a:latin typeface="Open Sans"/>
                <a:ea typeface="Open Sans"/>
              </a:rPr>
              <a:t>Scan the network</a:t>
            </a:r>
            <a:endParaRPr lang="en-US" sz="16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2" name="Text 17"/>
          <p:cNvSpPr/>
          <p:nvPr/>
        </p:nvSpPr>
        <p:spPr>
          <a:xfrm>
            <a:off x="8321040" y="3794760"/>
            <a:ext cx="3062880" cy="1737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strike="noStrike" spc="-1">
                <a:solidFill>
                  <a:srgbClr val="3A3536"/>
                </a:solidFill>
                <a:latin typeface="Calibri"/>
                <a:ea typeface="Calibri"/>
              </a:rPr>
              <a:t>Regularly scan for open, unauthenticated, or unauthorized MCP servers — they may change ports. Tools like MCP Scanner, Ramparts, CyberMCP, Proximity help.</a:t>
            </a:r>
            <a:endParaRPr lang="en-US" sz="125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3" name="Shape 18"/>
          <p:cNvSpPr/>
          <p:nvPr/>
        </p:nvSpPr>
        <p:spPr>
          <a:xfrm>
            <a:off x="0" y="0"/>
            <a:ext cx="12161160" cy="7272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64" name="Image 3" descr="fhb_logo.png"/>
          <p:cNvPicPr/>
          <p:nvPr/>
        </p:nvPicPr>
        <p:blipFill>
          <a:blip r:embed="rId6"/>
          <a:stretch/>
        </p:blipFill>
        <p:spPr>
          <a:xfrm>
            <a:off x="10031040" y="146160"/>
            <a:ext cx="1828440" cy="338040"/>
          </a:xfrm>
          <a:prstGeom prst="rect">
            <a:avLst/>
          </a:prstGeom>
          <a:ln w="0">
            <a:noFill/>
          </a:ln>
        </p:spPr>
      </p:pic>
      <p:sp>
        <p:nvSpPr>
          <p:cNvPr id="465" name="Shape 19"/>
          <p:cNvSpPr/>
          <p:nvPr/>
        </p:nvSpPr>
        <p:spPr>
          <a:xfrm>
            <a:off x="457200" y="6583680"/>
            <a:ext cx="11274120" cy="19800"/>
          </a:xfrm>
          <a:prstGeom prst="rect">
            <a:avLst/>
          </a:prstGeom>
          <a:solidFill>
            <a:srgbClr val="F5A8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4840" rIns="90000" bIns="-2484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6" name="Shape 20"/>
          <p:cNvSpPr/>
          <p:nvPr/>
        </p:nvSpPr>
        <p:spPr>
          <a:xfrm>
            <a:off x="457200" y="6510600"/>
            <a:ext cx="164160" cy="16416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7" name="Text 21"/>
          <p:cNvSpPr/>
          <p:nvPr/>
        </p:nvSpPr>
        <p:spPr>
          <a:xfrm>
            <a:off x="713160" y="640080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8385"/>
                </a:solidFill>
                <a:latin typeface="Calibri"/>
                <a:ea typeface="Calibri"/>
              </a:rPr>
              <a:t>MCP Security  ·  Deck 3 of 3  ·  NSA Guidance (May 2026)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8" name="Text 22"/>
          <p:cNvSpPr/>
          <p:nvPr/>
        </p:nvSpPr>
        <p:spPr>
          <a:xfrm>
            <a:off x="11155680" y="640080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8385"/>
                </a:solidFill>
                <a:latin typeface="Calibri"/>
                <a:ea typeface="Calibri"/>
              </a:rPr>
              <a:t>15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Text 0"/>
          <p:cNvSpPr/>
          <p:nvPr/>
        </p:nvSpPr>
        <p:spPr>
          <a:xfrm>
            <a:off x="457200" y="457200"/>
            <a:ext cx="94179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299">
                <a:solidFill>
                  <a:srgbClr val="8B0E15"/>
                </a:solidFill>
                <a:latin typeface="Calibri"/>
                <a:ea typeface="Calibri"/>
              </a:rPr>
              <a:t>BRINGING IT HOME · D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0" name="Text 1"/>
          <p:cNvSpPr/>
          <p:nvPr/>
        </p:nvSpPr>
        <p:spPr>
          <a:xfrm>
            <a:off x="457200" y="731520"/>
            <a:ext cx="112467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strike="noStrike" spc="-1">
                <a:solidFill>
                  <a:srgbClr val="231F20"/>
                </a:solidFill>
                <a:latin typeface="Open Sans"/>
                <a:ea typeface="Open Sans"/>
              </a:rPr>
              <a:t>What this means for a bank</a:t>
            </a:r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3" name="Shape 4"/>
          <p:cNvSpPr/>
          <p:nvPr/>
        </p:nvSpPr>
        <p:spPr>
          <a:xfrm>
            <a:off x="457200" y="1965960"/>
            <a:ext cx="5531760" cy="1782720"/>
          </a:xfrm>
          <a:prstGeom prst="rect">
            <a:avLst/>
          </a:prstGeom>
          <a:solidFill>
            <a:srgbClr val="F7F4EF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4" name="Shape 5"/>
          <p:cNvSpPr/>
          <p:nvPr/>
        </p:nvSpPr>
        <p:spPr>
          <a:xfrm>
            <a:off x="457200" y="1965960"/>
            <a:ext cx="91080" cy="178272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5" name="Shape 6"/>
          <p:cNvSpPr/>
          <p:nvPr/>
        </p:nvSpPr>
        <p:spPr>
          <a:xfrm>
            <a:off x="731520" y="2240280"/>
            <a:ext cx="502560" cy="5025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76" name="Image 0" descr="preencoded.png"/>
          <p:cNvPicPr/>
          <p:nvPr/>
        </p:nvPicPr>
        <p:blipFill>
          <a:blip r:embed="rId3"/>
          <a:stretch/>
        </p:blipFill>
        <p:spPr>
          <a:xfrm>
            <a:off x="842040" y="2350800"/>
            <a:ext cx="281160" cy="281160"/>
          </a:xfrm>
          <a:prstGeom prst="rect">
            <a:avLst/>
          </a:prstGeom>
          <a:ln w="0">
            <a:noFill/>
          </a:ln>
        </p:spPr>
      </p:pic>
      <p:sp>
        <p:nvSpPr>
          <p:cNvPr id="477" name="Text 7"/>
          <p:cNvSpPr/>
          <p:nvPr/>
        </p:nvSpPr>
        <p:spPr>
          <a:xfrm>
            <a:off x="1417320" y="2240280"/>
            <a:ext cx="43887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231F20"/>
                </a:solidFill>
                <a:latin typeface="Open Sans"/>
                <a:ea typeface="Open Sans"/>
              </a:rPr>
              <a:t>Data-classification alignment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8" name="Text 8"/>
          <p:cNvSpPr/>
          <p:nvPr/>
        </p:nvSpPr>
        <p:spPr>
          <a:xfrm>
            <a:off x="731520" y="2834640"/>
            <a:ext cx="507456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3A3536"/>
                </a:solidFill>
                <a:latin typeface="Calibri"/>
                <a:ea typeface="Calibri"/>
              </a:rPr>
              <a:t>Map MCP servers to data zones. Public-data tools never share an instance with anything touching customer or regulated data.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9" name="Shape 9"/>
          <p:cNvSpPr/>
          <p:nvPr/>
        </p:nvSpPr>
        <p:spPr>
          <a:xfrm>
            <a:off x="6172200" y="1965960"/>
            <a:ext cx="5531760" cy="1782720"/>
          </a:xfrm>
          <a:prstGeom prst="rect">
            <a:avLst/>
          </a:prstGeom>
          <a:solidFill>
            <a:srgbClr val="F7F4EF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0" name="Shape 10"/>
          <p:cNvSpPr/>
          <p:nvPr/>
        </p:nvSpPr>
        <p:spPr>
          <a:xfrm>
            <a:off x="6172200" y="1965960"/>
            <a:ext cx="91080" cy="178272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1" name="Shape 11"/>
          <p:cNvSpPr/>
          <p:nvPr/>
        </p:nvSpPr>
        <p:spPr>
          <a:xfrm>
            <a:off x="6446520" y="2240280"/>
            <a:ext cx="502560" cy="5025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82" name="Image 1" descr="preencoded.png"/>
          <p:cNvPicPr/>
          <p:nvPr/>
        </p:nvPicPr>
        <p:blipFill>
          <a:blip r:embed="rId4"/>
          <a:stretch/>
        </p:blipFill>
        <p:spPr>
          <a:xfrm>
            <a:off x="6557040" y="2350800"/>
            <a:ext cx="281160" cy="281160"/>
          </a:xfrm>
          <a:prstGeom prst="rect">
            <a:avLst/>
          </a:prstGeom>
          <a:ln w="0">
            <a:noFill/>
          </a:ln>
        </p:spPr>
      </p:pic>
      <p:sp>
        <p:nvSpPr>
          <p:cNvPr id="483" name="Text 12"/>
          <p:cNvSpPr/>
          <p:nvPr/>
        </p:nvSpPr>
        <p:spPr>
          <a:xfrm>
            <a:off x="7132320" y="2240280"/>
            <a:ext cx="43887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231F20"/>
                </a:solidFill>
                <a:latin typeface="Open Sans"/>
                <a:ea typeface="Open Sans"/>
              </a:rPr>
              <a:t>Third-party / vendor risk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4" name="Text 13"/>
          <p:cNvSpPr/>
          <p:nvPr/>
        </p:nvSpPr>
        <p:spPr>
          <a:xfrm>
            <a:off x="6446520" y="2834640"/>
            <a:ext cx="507456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3A3536"/>
                </a:solidFill>
                <a:latin typeface="Calibri"/>
                <a:ea typeface="Calibri"/>
              </a:rPr>
              <a:t>An MCP server is a vendor. It belongs in vendor risk management — assessed, inventoried, and re-reviewed when its capabilities change.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5" name="Shape 14"/>
          <p:cNvSpPr/>
          <p:nvPr/>
        </p:nvSpPr>
        <p:spPr>
          <a:xfrm>
            <a:off x="457200" y="3931920"/>
            <a:ext cx="5531760" cy="1782720"/>
          </a:xfrm>
          <a:prstGeom prst="rect">
            <a:avLst/>
          </a:prstGeom>
          <a:solidFill>
            <a:srgbClr val="F7F4EF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6" name="Shape 15"/>
          <p:cNvSpPr/>
          <p:nvPr/>
        </p:nvSpPr>
        <p:spPr>
          <a:xfrm>
            <a:off x="457200" y="3931920"/>
            <a:ext cx="91080" cy="178272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7" name="Shape 16"/>
          <p:cNvSpPr/>
          <p:nvPr/>
        </p:nvSpPr>
        <p:spPr>
          <a:xfrm>
            <a:off x="731520" y="4206240"/>
            <a:ext cx="502560" cy="5025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88" name="Image 2" descr="preencoded.png"/>
          <p:cNvPicPr/>
          <p:nvPr/>
        </p:nvPicPr>
        <p:blipFill>
          <a:blip r:embed="rId5"/>
          <a:stretch/>
        </p:blipFill>
        <p:spPr>
          <a:xfrm>
            <a:off x="842040" y="4316760"/>
            <a:ext cx="281160" cy="281160"/>
          </a:xfrm>
          <a:prstGeom prst="rect">
            <a:avLst/>
          </a:prstGeom>
          <a:ln w="0">
            <a:noFill/>
          </a:ln>
        </p:spPr>
      </p:pic>
      <p:sp>
        <p:nvSpPr>
          <p:cNvPr id="489" name="Text 17"/>
          <p:cNvSpPr/>
          <p:nvPr/>
        </p:nvSpPr>
        <p:spPr>
          <a:xfrm>
            <a:off x="1417320" y="4206240"/>
            <a:ext cx="43887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231F20"/>
                </a:solidFill>
                <a:latin typeface="Open Sans"/>
                <a:ea typeface="Open Sans"/>
              </a:rPr>
              <a:t>Loggability for examiners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0" name="Text 18"/>
          <p:cNvSpPr/>
          <p:nvPr/>
        </p:nvSpPr>
        <p:spPr>
          <a:xfrm>
            <a:off x="731520" y="4800600"/>
            <a:ext cx="507456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3A3536"/>
                </a:solidFill>
                <a:latin typeface="Calibri"/>
                <a:ea typeface="Calibri"/>
              </a:rPr>
              <a:t>Audit logs aren't just for IR — they're evidence. Capture the traceable action sequence regulators and examiners will expect.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1" name="Shape 19"/>
          <p:cNvSpPr/>
          <p:nvPr/>
        </p:nvSpPr>
        <p:spPr>
          <a:xfrm>
            <a:off x="6172200" y="3931920"/>
            <a:ext cx="5531760" cy="1782720"/>
          </a:xfrm>
          <a:prstGeom prst="rect">
            <a:avLst/>
          </a:prstGeom>
          <a:solidFill>
            <a:srgbClr val="F7F4EF"/>
          </a:solidFill>
          <a:ln w="12700">
            <a:solidFill>
              <a:srgbClr val="DAD3C8"/>
            </a:solidFill>
            <a:round/>
          </a:ln>
          <a:effectLst>
            <a:outerShdw blurRad="88920" dist="37674" dir="8100000" algn="bl" rotWithShape="0">
              <a:srgbClr val="000000">
                <a:alpha val="12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2" name="Shape 20"/>
          <p:cNvSpPr/>
          <p:nvPr/>
        </p:nvSpPr>
        <p:spPr>
          <a:xfrm>
            <a:off x="6172200" y="3931920"/>
            <a:ext cx="91080" cy="178272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3" name="Shape 21"/>
          <p:cNvSpPr/>
          <p:nvPr/>
        </p:nvSpPr>
        <p:spPr>
          <a:xfrm>
            <a:off x="6446520" y="4206240"/>
            <a:ext cx="502560" cy="5025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AD3C8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94" name="Image 3" descr="preencoded.png"/>
          <p:cNvPicPr/>
          <p:nvPr/>
        </p:nvPicPr>
        <p:blipFill>
          <a:blip r:embed="rId6"/>
          <a:stretch/>
        </p:blipFill>
        <p:spPr>
          <a:xfrm>
            <a:off x="6557040" y="4316760"/>
            <a:ext cx="281160" cy="281160"/>
          </a:xfrm>
          <a:prstGeom prst="rect">
            <a:avLst/>
          </a:prstGeom>
          <a:ln w="0">
            <a:noFill/>
          </a:ln>
        </p:spPr>
      </p:pic>
      <p:sp>
        <p:nvSpPr>
          <p:cNvPr id="495" name="Text 22"/>
          <p:cNvSpPr/>
          <p:nvPr/>
        </p:nvSpPr>
        <p:spPr>
          <a:xfrm>
            <a:off x="7132320" y="4206240"/>
            <a:ext cx="43887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231F20"/>
                </a:solidFill>
                <a:latin typeface="Open Sans"/>
                <a:ea typeface="Open Sans"/>
              </a:rPr>
              <a:t>Least privilege as policy</a:t>
            </a:r>
            <a:endParaRPr lang="en-US" sz="16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6" name="Text 23"/>
          <p:cNvSpPr/>
          <p:nvPr/>
        </p:nvSpPr>
        <p:spPr>
          <a:xfrm>
            <a:off x="6446520" y="4800600"/>
            <a:ext cx="507456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3A3536"/>
                </a:solidFill>
                <a:latin typeface="Calibri"/>
                <a:ea typeface="Calibri"/>
              </a:rPr>
              <a:t>“Deny unneeded paths” becomes a written control with an owner — not a deployment-time afterthought.</a:t>
            </a:r>
            <a:endParaRPr lang="en-US" sz="1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7" name="Shape 24"/>
          <p:cNvSpPr/>
          <p:nvPr/>
        </p:nvSpPr>
        <p:spPr>
          <a:xfrm>
            <a:off x="0" y="0"/>
            <a:ext cx="12161160" cy="7272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498" name="Image 4" descr="fhb_logo.png"/>
          <p:cNvPicPr/>
          <p:nvPr/>
        </p:nvPicPr>
        <p:blipFill>
          <a:blip r:embed="rId7"/>
          <a:stretch/>
        </p:blipFill>
        <p:spPr>
          <a:xfrm>
            <a:off x="10031040" y="146160"/>
            <a:ext cx="1828440" cy="338040"/>
          </a:xfrm>
          <a:prstGeom prst="rect">
            <a:avLst/>
          </a:prstGeom>
          <a:ln w="0">
            <a:noFill/>
          </a:ln>
        </p:spPr>
      </p:pic>
      <p:sp>
        <p:nvSpPr>
          <p:cNvPr id="499" name="Shape 25"/>
          <p:cNvSpPr/>
          <p:nvPr/>
        </p:nvSpPr>
        <p:spPr>
          <a:xfrm>
            <a:off x="457200" y="6583680"/>
            <a:ext cx="11274120" cy="19800"/>
          </a:xfrm>
          <a:prstGeom prst="rect">
            <a:avLst/>
          </a:prstGeom>
          <a:solidFill>
            <a:srgbClr val="F5A8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4840" rIns="90000" bIns="-2484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0" name="Shape 26"/>
          <p:cNvSpPr/>
          <p:nvPr/>
        </p:nvSpPr>
        <p:spPr>
          <a:xfrm>
            <a:off x="457200" y="6510600"/>
            <a:ext cx="164160" cy="164160"/>
          </a:xfrm>
          <a:prstGeom prst="rect">
            <a:avLst/>
          </a:prstGeom>
          <a:solidFill>
            <a:srgbClr val="8B0E1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1" name="Text 27"/>
          <p:cNvSpPr/>
          <p:nvPr/>
        </p:nvSpPr>
        <p:spPr>
          <a:xfrm>
            <a:off x="713160" y="640080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8385"/>
                </a:solidFill>
                <a:latin typeface="Calibri"/>
                <a:ea typeface="Calibri"/>
              </a:rPr>
              <a:t>MCP Security  ·  Deck 3 of 3  ·  NSA Guidance (May 2026)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2" name="Text 28"/>
          <p:cNvSpPr/>
          <p:nvPr/>
        </p:nvSpPr>
        <p:spPr>
          <a:xfrm>
            <a:off x="11155680" y="6400800"/>
            <a:ext cx="4568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strike="noStrike" spc="-1">
                <a:solidFill>
                  <a:srgbClr val="8A8385"/>
                </a:solidFill>
                <a:latin typeface="Calibri"/>
                <a:ea typeface="Calibri"/>
              </a:rPr>
              <a:t>16</a:t>
            </a:r>
            <a:endParaRPr lang="en-US" sz="9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A0E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Shape 0"/>
          <p:cNvSpPr/>
          <p:nvPr/>
        </p:nvSpPr>
        <p:spPr>
          <a:xfrm>
            <a:off x="0" y="0"/>
            <a:ext cx="12161160" cy="72720"/>
          </a:xfrm>
          <a:prstGeom prst="rect">
            <a:avLst/>
          </a:prstGeom>
          <a:solidFill>
            <a:srgbClr val="F5A8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28080" rIns="90000" bIns="2808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4" name="Shape 1"/>
          <p:cNvSpPr/>
          <p:nvPr/>
        </p:nvSpPr>
        <p:spPr>
          <a:xfrm>
            <a:off x="9829800" y="164520"/>
            <a:ext cx="2057040" cy="5025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505" name="Image 0" descr="fhb_logo.png"/>
          <p:cNvPicPr/>
          <p:nvPr/>
        </p:nvPicPr>
        <p:blipFill>
          <a:blip r:embed="rId3"/>
          <a:stretch/>
        </p:blipFill>
        <p:spPr>
          <a:xfrm>
            <a:off x="9921240" y="255960"/>
            <a:ext cx="1828440" cy="338040"/>
          </a:xfrm>
          <a:prstGeom prst="rect">
            <a:avLst/>
          </a:prstGeom>
          <a:ln w="0">
            <a:noFill/>
          </a:ln>
        </p:spPr>
      </p:pic>
      <p:sp>
        <p:nvSpPr>
          <p:cNvPr id="506" name="Shape 2"/>
          <p:cNvSpPr/>
          <p:nvPr/>
        </p:nvSpPr>
        <p:spPr>
          <a:xfrm>
            <a:off x="457200" y="6583680"/>
            <a:ext cx="11274120" cy="19800"/>
          </a:xfrm>
          <a:prstGeom prst="rect">
            <a:avLst/>
          </a:prstGeom>
          <a:solidFill>
            <a:srgbClr val="F5A800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24840" rIns="90000" bIns="-2484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7" name="Shape 3"/>
          <p:cNvSpPr/>
          <p:nvPr/>
        </p:nvSpPr>
        <p:spPr>
          <a:xfrm>
            <a:off x="457200" y="6510600"/>
            <a:ext cx="164160" cy="1641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8" name="Shape 4"/>
          <p:cNvSpPr/>
          <p:nvPr/>
        </p:nvSpPr>
        <p:spPr>
          <a:xfrm>
            <a:off x="0" y="0"/>
            <a:ext cx="164160" cy="6857640"/>
          </a:xfrm>
          <a:prstGeom prst="rect">
            <a:avLst/>
          </a:prstGeom>
          <a:solidFill>
            <a:srgbClr val="B8860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9" name="Text 5"/>
          <p:cNvSpPr/>
          <p:nvPr/>
        </p:nvSpPr>
        <p:spPr>
          <a:xfrm>
            <a:off x="457200" y="457200"/>
            <a:ext cx="94179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strike="noStrike" spc="299">
                <a:solidFill>
                  <a:srgbClr val="F0B968"/>
                </a:solidFill>
                <a:latin typeface="Calibri"/>
                <a:ea typeface="Calibri"/>
              </a:rPr>
              <a:t>CONCLUSION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0" name="Text 6"/>
          <p:cNvSpPr/>
          <p:nvPr/>
        </p:nvSpPr>
        <p:spPr>
          <a:xfrm>
            <a:off x="777240" y="868680"/>
            <a:ext cx="1078956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1" strike="noStrike" spc="-1">
                <a:solidFill>
                  <a:srgbClr val="FFFFFF"/>
                </a:solidFill>
                <a:latin typeface="Open Sans"/>
                <a:ea typeface="Open Sans"/>
              </a:rPr>
              <a:t>Discipline, not protocol guarantees</a:t>
            </a:r>
            <a:endParaRPr lang="en-US" sz="3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1" name="Text 7"/>
          <p:cNvSpPr/>
          <p:nvPr/>
        </p:nvSpPr>
        <p:spPr>
          <a:xfrm>
            <a:off x="822960" y="1691640"/>
            <a:ext cx="105152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strike="noStrike" spc="-1">
                <a:solidFill>
                  <a:srgbClr val="F0E8DC"/>
                </a:solidFill>
                <a:latin typeface="Calibri"/>
                <a:ea typeface="Calibri"/>
              </a:rPr>
              <a:t>MCP is a promising foundation for agentic AI — but its security posture is uneven and depends on how it's implemented, not on what the protocol guarantees.</a:t>
            </a:r>
            <a:endParaRPr lang="en-US" sz="1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2" name="Shape 8"/>
          <p:cNvSpPr/>
          <p:nvPr/>
        </p:nvSpPr>
        <p:spPr>
          <a:xfrm>
            <a:off x="822960" y="2606040"/>
            <a:ext cx="3382920" cy="21942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8A6A2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3" name="Shape 9"/>
          <p:cNvSpPr/>
          <p:nvPr/>
        </p:nvSpPr>
        <p:spPr>
          <a:xfrm>
            <a:off x="1097280" y="2834640"/>
            <a:ext cx="502560" cy="502560"/>
          </a:xfrm>
          <a:prstGeom prst="ellipse">
            <a:avLst/>
          </a:prstGeom>
          <a:solidFill>
            <a:srgbClr val="B8860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4" name="Text 10"/>
          <p:cNvSpPr/>
          <p:nvPr/>
        </p:nvSpPr>
        <p:spPr>
          <a:xfrm>
            <a:off x="1097280" y="283464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rgbClr val="FFFFFF"/>
                </a:solidFill>
                <a:latin typeface="Open Sans"/>
                <a:ea typeface="Open Sans"/>
              </a:rPr>
              <a:t>1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5" name="Text 11"/>
          <p:cNvSpPr/>
          <p:nvPr/>
        </p:nvSpPr>
        <p:spPr>
          <a:xfrm>
            <a:off x="1097280" y="3474720"/>
            <a:ext cx="283428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FFFFFF"/>
                </a:solidFill>
                <a:latin typeface="Open Sans"/>
                <a:ea typeface="Open Sans"/>
              </a:rPr>
              <a:t>Proceed with caution</a:t>
            </a:r>
            <a:endParaRPr lang="en-US" sz="1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6" name="Text 12"/>
          <p:cNvSpPr/>
          <p:nvPr/>
        </p:nvSpPr>
        <p:spPr>
          <a:xfrm>
            <a:off x="1097280" y="4114800"/>
            <a:ext cx="288000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E8DFD2"/>
                </a:solidFill>
                <a:latin typeface="Calibri"/>
                <a:ea typeface="Calibri"/>
              </a:rPr>
              <a:t>Apply heightened scrutiny to the novel integration and automation patterns MCP introduces.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7" name="Shape 13"/>
          <p:cNvSpPr/>
          <p:nvPr/>
        </p:nvSpPr>
        <p:spPr>
          <a:xfrm>
            <a:off x="4434840" y="2606040"/>
            <a:ext cx="3382920" cy="21942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8A6A2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8" name="Shape 14"/>
          <p:cNvSpPr/>
          <p:nvPr/>
        </p:nvSpPr>
        <p:spPr>
          <a:xfrm>
            <a:off x="4709160" y="2834640"/>
            <a:ext cx="502560" cy="502560"/>
          </a:xfrm>
          <a:prstGeom prst="ellipse">
            <a:avLst/>
          </a:prstGeom>
          <a:solidFill>
            <a:srgbClr val="B8860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9" name="Text 15"/>
          <p:cNvSpPr/>
          <p:nvPr/>
        </p:nvSpPr>
        <p:spPr>
          <a:xfrm>
            <a:off x="4709160" y="283464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rgbClr val="FFFFFF"/>
                </a:solidFill>
                <a:latin typeface="Open Sans"/>
                <a:ea typeface="Open Sans"/>
              </a:rPr>
              <a:t>2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0" name="Text 16"/>
          <p:cNvSpPr/>
          <p:nvPr/>
        </p:nvSpPr>
        <p:spPr>
          <a:xfrm>
            <a:off x="4709160" y="3474720"/>
            <a:ext cx="283428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FFFFFF"/>
                </a:solidFill>
                <a:latin typeface="Open Sans"/>
                <a:ea typeface="Open Sans"/>
              </a:rPr>
              <a:t>Borrow hard-won lessons</a:t>
            </a:r>
            <a:endParaRPr lang="en-US" sz="1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1" name="Text 17"/>
          <p:cNvSpPr/>
          <p:nvPr/>
        </p:nvSpPr>
        <p:spPr>
          <a:xfrm>
            <a:off x="4709160" y="4114800"/>
            <a:ext cx="288000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E8DFD2"/>
                </a:solidFill>
                <a:latin typeface="Calibri"/>
                <a:ea typeface="Calibri"/>
              </a:rPr>
              <a:t>Treat MCP like prior plugin and distributed ecosystems — the failure modes rhyme.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2" name="Shape 18"/>
          <p:cNvSpPr/>
          <p:nvPr/>
        </p:nvSpPr>
        <p:spPr>
          <a:xfrm>
            <a:off x="8046720" y="2606040"/>
            <a:ext cx="3382920" cy="21942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8A6A2F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3" name="Shape 19"/>
          <p:cNvSpPr/>
          <p:nvPr/>
        </p:nvSpPr>
        <p:spPr>
          <a:xfrm>
            <a:off x="8321040" y="2834640"/>
            <a:ext cx="502560" cy="502560"/>
          </a:xfrm>
          <a:prstGeom prst="ellipse">
            <a:avLst/>
          </a:prstGeom>
          <a:solidFill>
            <a:srgbClr val="B8860B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4" name="Text 20"/>
          <p:cNvSpPr/>
          <p:nvPr/>
        </p:nvSpPr>
        <p:spPr>
          <a:xfrm>
            <a:off x="8321040" y="283464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1" strike="noStrike" spc="-1">
                <a:solidFill>
                  <a:srgbClr val="FFFFFF"/>
                </a:solidFill>
                <a:latin typeface="Open Sans"/>
                <a:ea typeface="Open Sans"/>
              </a:rPr>
              <a:t>3</a:t>
            </a:r>
            <a:endParaRPr lang="en-US" sz="18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5" name="Text 21"/>
          <p:cNvSpPr/>
          <p:nvPr/>
        </p:nvSpPr>
        <p:spPr>
          <a:xfrm>
            <a:off x="8321040" y="3474720"/>
            <a:ext cx="283428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1" strike="noStrike" spc="-1">
                <a:solidFill>
                  <a:srgbClr val="FFFFFF"/>
                </a:solidFill>
                <a:latin typeface="Open Sans"/>
                <a:ea typeface="Open Sans"/>
              </a:rPr>
              <a:t>Security is your job, not the spec's</a:t>
            </a:r>
            <a:endParaRPr lang="en-US" sz="1600" b="0" strike="noStrike" spc="-1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6" name="Text 22"/>
          <p:cNvSpPr/>
          <p:nvPr/>
        </p:nvSpPr>
        <p:spPr>
          <a:xfrm>
            <a:off x="8321040" y="4114800"/>
            <a:ext cx="2880000" cy="594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strike="noStrike" spc="-1">
                <a:solidFill>
                  <a:srgbClr val="E8DFD2"/>
                </a:solidFill>
                <a:latin typeface="Calibri"/>
                <a:ea typeface="Calibri"/>
              </a:rPr>
              <a:t>The protocol openly can't enforce its own principles. Layer the controls in this deck on top.</a:t>
            </a:r>
            <a:endParaRPr lang="en-US" sz="1200" b="0" strike="noStrike" spc="-1">
              <a:solidFill>
                <a:srgbClr val="FFFFFF"/>
              </a:solidFill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</TotalTime>
  <Words>2680</Words>
  <Application>Microsoft Macintosh PowerPoint</Application>
  <PresentationFormat>Widescreen</PresentationFormat>
  <Paragraphs>250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Calibri</vt:lpstr>
      <vt:lpstr>Open Sans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James Jaworski</cp:lastModifiedBy>
  <cp:revision>6</cp:revision>
  <dcterms:modified xsi:type="dcterms:W3CDTF">2026-05-29T07:26:16Z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2026-05-29T06:47:40Z</dcterms:created>
  <dc:creator>Jamie — FHB Cybersecurity &amp; Technology</dc:creator>
  <dc:description/>
  <dc:language>en-US</dc:language>
  <cp:lastModifiedBy>Jamie — FHB Cybersecurity &amp; Technology</cp:lastModifiedBy>
  <dcterms:modified xsi:type="dcterms:W3CDTF">2026-05-29T06:47:41Z</dcterms:modified>
  <cp:revision>1</cp:revision>
  <dc:subject>PptxGenJS Presentation</dc:subject>
  <dc:title>MCP Security: The NSA Guidance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r8>18</vt:r8>
  </property>
  <property fmtid="{D5CDD505-2E9C-101B-9397-08002B2CF9AE}" pid="3" name="PresentationFormat">
    <vt:lpwstr>On-screen Show (16:9)</vt:lpwstr>
  </property>
  <property fmtid="{D5CDD505-2E9C-101B-9397-08002B2CF9AE}" pid="4" name="Slides">
    <vt:r8>18</vt:r8>
  </property>
</Properties>
</file>