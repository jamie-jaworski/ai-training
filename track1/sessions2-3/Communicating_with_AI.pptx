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8"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501"/>
    <p:restoredTop sz="94610"/>
  </p:normalViewPr>
  <p:slideViewPr>
    <p:cSldViewPr snapToGrid="0" snapToObjects="1">
      <p:cViewPr>
        <p:scale>
          <a:sx n="190" d="100"/>
          <a:sy n="190" d="100"/>
        </p:scale>
        <p:origin x="1024" y="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1095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53.png"/></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E2E8F0"/>
          </a:solidFill>
          <a:ln w="12700">
            <a:solidFill>
              <a:srgbClr val="E2E8F0"/>
            </a:solidFill>
            <a:prstDash val="solid"/>
          </a:ln>
        </p:spPr>
        <p:txBody>
          <a:bodyPr/>
          <a:lstStyle/>
          <a:p>
            <a:endParaRPr lang="en-US"/>
          </a:p>
        </p:txBody>
      </p:sp>
      <p:sp>
        <p:nvSpPr>
          <p:cNvPr id="3" name="Shape 1"/>
          <p:cNvSpPr/>
          <p:nvPr/>
        </p:nvSpPr>
        <p:spPr>
          <a:xfrm>
            <a:off x="0" y="0"/>
            <a:ext cx="228600" cy="5143500"/>
          </a:xfrm>
          <a:prstGeom prst="rect">
            <a:avLst/>
          </a:prstGeom>
          <a:solidFill>
            <a:srgbClr val="0D9488"/>
          </a:solidFill>
          <a:ln w="12700">
            <a:solidFill>
              <a:srgbClr val="0D9488"/>
            </a:solidFill>
            <a:prstDash val="solid"/>
          </a:ln>
        </p:spPr>
        <p:txBody>
          <a:bodyPr/>
          <a:lstStyle/>
          <a:p>
            <a:endParaRPr lang="en-US"/>
          </a:p>
        </p:txBody>
      </p:sp>
      <p:sp>
        <p:nvSpPr>
          <p:cNvPr id="4" name="Shape 2"/>
          <p:cNvSpPr/>
          <p:nvPr/>
        </p:nvSpPr>
        <p:spPr>
          <a:xfrm>
            <a:off x="7132320" y="-731520"/>
            <a:ext cx="2743200" cy="2743200"/>
          </a:xfrm>
          <a:prstGeom prst="ellipse">
            <a:avLst/>
          </a:prstGeom>
          <a:solidFill>
            <a:srgbClr val="0D9488">
              <a:alpha val="15000"/>
            </a:srgbClr>
          </a:solidFill>
          <a:ln w="12700">
            <a:solidFill>
              <a:srgbClr val="0D9488">
                <a:alpha val="30000"/>
              </a:srgbClr>
            </a:solidFill>
            <a:prstDash val="solid"/>
          </a:ln>
        </p:spPr>
        <p:txBody>
          <a:bodyPr/>
          <a:lstStyle/>
          <a:p>
            <a:endParaRPr lang="en-US"/>
          </a:p>
        </p:txBody>
      </p:sp>
      <p:sp>
        <p:nvSpPr>
          <p:cNvPr id="5" name="Shape 3"/>
          <p:cNvSpPr/>
          <p:nvPr/>
        </p:nvSpPr>
        <p:spPr>
          <a:xfrm>
            <a:off x="7498080" y="-365760"/>
            <a:ext cx="2011680" cy="2011680"/>
          </a:xfrm>
          <a:prstGeom prst="ellipse">
            <a:avLst/>
          </a:prstGeom>
          <a:solidFill>
            <a:srgbClr val="0D9488">
              <a:alpha val="25000"/>
            </a:srgbClr>
          </a:solidFill>
          <a:ln w="12700">
            <a:solidFill>
              <a:srgbClr val="0D9488">
                <a:alpha val="40000"/>
              </a:srgbClr>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7772400" y="457200"/>
            <a:ext cx="1005840" cy="1005840"/>
          </a:xfrm>
          <a:prstGeom prst="rect">
            <a:avLst/>
          </a:prstGeom>
        </p:spPr>
      </p:pic>
      <p:sp>
        <p:nvSpPr>
          <p:cNvPr id="7" name="Text 4"/>
          <p:cNvSpPr/>
          <p:nvPr/>
        </p:nvSpPr>
        <p:spPr>
          <a:xfrm>
            <a:off x="411480" y="256032"/>
            <a:ext cx="7132320" cy="274320"/>
          </a:xfrm>
          <a:prstGeom prst="rect">
            <a:avLst/>
          </a:prstGeom>
          <a:noFill/>
          <a:ln/>
        </p:spPr>
        <p:txBody>
          <a:bodyPr wrap="square" lIns="0" tIns="0" rIns="0" bIns="0" rtlCol="0" anchor="ctr"/>
          <a:lstStyle/>
          <a:p>
            <a:pPr marL="0" indent="0">
              <a:buNone/>
            </a:pPr>
            <a:r>
              <a:rPr lang="en-US" sz="900" kern="0" spc="300" dirty="0">
                <a:solidFill>
                  <a:srgbClr val="0D9488"/>
                </a:solidFill>
                <a:latin typeface="Calibri" pitchFamily="34" charset="0"/>
                <a:ea typeface="Calibri" pitchFamily="34" charset="-122"/>
                <a:cs typeface="Calibri" pitchFamily="34" charset="-120"/>
              </a:rPr>
              <a:t>FIRST HAWAIIAN BANK  ·  CYBERSECURITY</a:t>
            </a:r>
            <a:endParaRPr lang="en-US" sz="900" dirty="0"/>
          </a:p>
        </p:txBody>
      </p:sp>
      <p:sp>
        <p:nvSpPr>
          <p:cNvPr id="8" name="Text 5"/>
          <p:cNvSpPr/>
          <p:nvPr/>
        </p:nvSpPr>
        <p:spPr>
          <a:xfrm>
            <a:off x="411480" y="685800"/>
            <a:ext cx="8046720" cy="685800"/>
          </a:xfrm>
          <a:prstGeom prst="rect">
            <a:avLst/>
          </a:prstGeom>
          <a:noFill/>
          <a:ln/>
        </p:spPr>
        <p:txBody>
          <a:bodyPr wrap="square" lIns="0" tIns="0" rIns="0" bIns="0" rtlCol="0" anchor="ctr"/>
          <a:lstStyle/>
          <a:p>
            <a:pPr marL="0" indent="0">
              <a:buNone/>
            </a:pPr>
            <a:r>
              <a:rPr lang="en-US" sz="3800" b="1" dirty="0">
                <a:solidFill>
                  <a:srgbClr val="1B2A4A"/>
                </a:solidFill>
                <a:latin typeface="Trebuchet MS" pitchFamily="34" charset="0"/>
                <a:ea typeface="Trebuchet MS" pitchFamily="34" charset="-122"/>
                <a:cs typeface="Trebuchet MS" pitchFamily="34" charset="-120"/>
              </a:rPr>
              <a:t>Communicating with AI:</a:t>
            </a:r>
            <a:endParaRPr lang="en-US" sz="3800" dirty="0"/>
          </a:p>
        </p:txBody>
      </p:sp>
      <p:sp>
        <p:nvSpPr>
          <p:cNvPr id="9" name="Text 6"/>
          <p:cNvSpPr/>
          <p:nvPr/>
        </p:nvSpPr>
        <p:spPr>
          <a:xfrm>
            <a:off x="411480" y="1325880"/>
            <a:ext cx="8046720" cy="1188720"/>
          </a:xfrm>
          <a:prstGeom prst="rect">
            <a:avLst/>
          </a:prstGeom>
          <a:noFill/>
          <a:ln/>
        </p:spPr>
        <p:txBody>
          <a:bodyPr wrap="square" lIns="0" tIns="0" rIns="0" bIns="0" rtlCol="0" anchor="ctr"/>
          <a:lstStyle/>
          <a:p>
            <a:pPr marL="0" indent="0">
              <a:buNone/>
            </a:pPr>
            <a:r>
              <a:rPr lang="en-US" sz="3800" b="1" dirty="0">
                <a:solidFill>
                  <a:srgbClr val="0D9488"/>
                </a:solidFill>
                <a:latin typeface="Trebuchet MS" pitchFamily="34" charset="0"/>
                <a:ea typeface="Trebuchet MS" pitchFamily="34" charset="-122"/>
                <a:cs typeface="Trebuchet MS" pitchFamily="34" charset="-120"/>
              </a:rPr>
              <a:t>Prompts, Precision &amp;</a:t>
            </a:r>
            <a:endParaRPr lang="en-US" sz="3800" dirty="0"/>
          </a:p>
          <a:p>
            <a:pPr marL="0" indent="0">
              <a:buNone/>
            </a:pPr>
            <a:r>
              <a:rPr lang="en-US" sz="3800" b="1" dirty="0">
                <a:solidFill>
                  <a:srgbClr val="0D9488"/>
                </a:solidFill>
                <a:latin typeface="Trebuchet MS" pitchFamily="34" charset="0"/>
                <a:ea typeface="Trebuchet MS" pitchFamily="34" charset="-122"/>
                <a:cs typeface="Trebuchet MS" pitchFamily="34" charset="-120"/>
              </a:rPr>
              <a:t>Professional Judgment</a:t>
            </a:r>
            <a:endParaRPr lang="en-US" sz="3800" dirty="0"/>
          </a:p>
        </p:txBody>
      </p:sp>
      <p:sp>
        <p:nvSpPr>
          <p:cNvPr id="10" name="Shape 7"/>
          <p:cNvSpPr/>
          <p:nvPr/>
        </p:nvSpPr>
        <p:spPr>
          <a:xfrm>
            <a:off x="411480" y="2606040"/>
            <a:ext cx="7315200" cy="0"/>
          </a:xfrm>
          <a:prstGeom prst="line">
            <a:avLst/>
          </a:prstGeom>
          <a:noFill/>
          <a:ln w="19050">
            <a:solidFill>
              <a:srgbClr val="0D9488"/>
            </a:solidFill>
            <a:prstDash val="solid"/>
          </a:ln>
        </p:spPr>
        <p:txBody>
          <a:bodyPr/>
          <a:lstStyle/>
          <a:p>
            <a:endParaRPr lang="en-US"/>
          </a:p>
        </p:txBody>
      </p:sp>
      <p:sp>
        <p:nvSpPr>
          <p:cNvPr id="11" name="Text 8"/>
          <p:cNvSpPr/>
          <p:nvPr/>
        </p:nvSpPr>
        <p:spPr>
          <a:xfrm>
            <a:off x="411480" y="2743200"/>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Combined Sessions 1.2 + 1.3  ·  Prompt Engineering &amp; Evaluating GenAI Outputs</a:t>
            </a:r>
            <a:endParaRPr lang="en-US" sz="1300" dirty="0"/>
          </a:p>
        </p:txBody>
      </p:sp>
      <p:sp>
        <p:nvSpPr>
          <p:cNvPr id="12" name="Text 9"/>
          <p:cNvSpPr/>
          <p:nvPr/>
        </p:nvSpPr>
        <p:spPr>
          <a:xfrm>
            <a:off x="411480" y="4224528"/>
            <a:ext cx="82296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Track 1  |  Sessions 1.2 + 1.3 of 14  |  All Staff</a:t>
            </a:r>
            <a:endParaRPr lang="en-US" sz="1000" dirty="0"/>
          </a:p>
        </p:txBody>
      </p:sp>
      <p:sp>
        <p:nvSpPr>
          <p:cNvPr id="13" name="Text 10"/>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0D948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3000" b="1" dirty="0">
                <a:solidFill>
                  <a:srgbClr val="1B2A4A"/>
                </a:solidFill>
                <a:latin typeface="Trebuchet MS" pitchFamily="34" charset="0"/>
                <a:ea typeface="Trebuchet MS" pitchFamily="34" charset="-122"/>
                <a:cs typeface="Trebuchet MS" pitchFamily="34" charset="-120"/>
              </a:rPr>
              <a:t>Session Roadmap</a:t>
            </a:r>
            <a:endParaRPr lang="en-US" sz="3000" dirty="0"/>
          </a:p>
        </p:txBody>
      </p:sp>
      <p:sp>
        <p:nvSpPr>
          <p:cNvPr id="4" name="Text 2"/>
          <p:cNvSpPr/>
          <p:nvPr/>
        </p:nvSpPr>
        <p:spPr>
          <a:xfrm>
            <a:off x="457200" y="713232"/>
            <a:ext cx="8229600" cy="27432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Three parts that build on each other — skills → judgment → framework</a:t>
            </a:r>
            <a:endParaRPr lang="en-US" sz="1300" dirty="0"/>
          </a:p>
        </p:txBody>
      </p:sp>
      <p:sp>
        <p:nvSpPr>
          <p:cNvPr id="5" name="Shape 3"/>
          <p:cNvSpPr/>
          <p:nvPr/>
        </p:nvSpPr>
        <p:spPr>
          <a:xfrm>
            <a:off x="411480" y="1143000"/>
            <a:ext cx="2606040" cy="320040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6" name="Shape 4"/>
          <p:cNvSpPr/>
          <p:nvPr/>
        </p:nvSpPr>
        <p:spPr>
          <a:xfrm>
            <a:off x="411480" y="1143000"/>
            <a:ext cx="2606040" cy="777240"/>
          </a:xfrm>
          <a:prstGeom prst="rect">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548640" y="1216152"/>
            <a:ext cx="233172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Part 1</a:t>
            </a:r>
            <a:endParaRPr lang="en-US" sz="1000" dirty="0"/>
          </a:p>
        </p:txBody>
      </p:sp>
      <p:pic>
        <p:nvPicPr>
          <p:cNvPr id="8" name="Image 0" descr="preencoded.png"/>
          <p:cNvPicPr>
            <a:picLocks noChangeAspect="1"/>
          </p:cNvPicPr>
          <p:nvPr/>
        </p:nvPicPr>
        <p:blipFill>
          <a:blip r:embed="rId3"/>
          <a:stretch>
            <a:fillRect/>
          </a:stretch>
        </p:blipFill>
        <p:spPr>
          <a:xfrm>
            <a:off x="2423160" y="1216152"/>
            <a:ext cx="457200" cy="457200"/>
          </a:xfrm>
          <a:prstGeom prst="rect">
            <a:avLst/>
          </a:prstGeom>
        </p:spPr>
      </p:pic>
      <p:sp>
        <p:nvSpPr>
          <p:cNvPr id="9" name="Text 6"/>
          <p:cNvSpPr/>
          <p:nvPr/>
        </p:nvSpPr>
        <p:spPr>
          <a:xfrm>
            <a:off x="548640" y="2057400"/>
            <a:ext cx="2331720" cy="822960"/>
          </a:xfrm>
          <a:prstGeom prst="rect">
            <a:avLst/>
          </a:prstGeom>
          <a:noFill/>
          <a:ln/>
        </p:spPr>
        <p:txBody>
          <a:bodyPr wrap="square" lIns="0" tIns="0" rIns="0" bIns="0" rtlCol="0" anchor="ctr"/>
          <a:lstStyle/>
          <a:p>
            <a:pPr marL="0" indent="0">
              <a:buNone/>
            </a:pPr>
            <a:r>
              <a:rPr lang="en-US" sz="1800" b="1" dirty="0">
                <a:solidFill>
                  <a:srgbClr val="1B2A4A"/>
                </a:solidFill>
                <a:latin typeface="Trebuchet MS" pitchFamily="34" charset="0"/>
                <a:ea typeface="Trebuchet MS" pitchFamily="34" charset="-122"/>
                <a:cs typeface="Trebuchet MS" pitchFamily="34" charset="-120"/>
              </a:rPr>
              <a:t>The Language</a:t>
            </a:r>
            <a:endParaRPr lang="en-US" sz="1800" dirty="0"/>
          </a:p>
          <a:p>
            <a:pPr marL="0" indent="0">
              <a:buNone/>
            </a:pPr>
            <a:r>
              <a:rPr lang="en-US" sz="1800" b="1" dirty="0">
                <a:solidFill>
                  <a:srgbClr val="1B2A4A"/>
                </a:solidFill>
                <a:latin typeface="Trebuchet MS" pitchFamily="34" charset="0"/>
                <a:ea typeface="Trebuchet MS" pitchFamily="34" charset="-122"/>
                <a:cs typeface="Trebuchet MS" pitchFamily="34" charset="-120"/>
              </a:rPr>
              <a:t>of AI</a:t>
            </a:r>
            <a:endParaRPr lang="en-US" sz="1800" dirty="0"/>
          </a:p>
        </p:txBody>
      </p:sp>
      <p:sp>
        <p:nvSpPr>
          <p:cNvPr id="10" name="Text 7"/>
          <p:cNvSpPr/>
          <p:nvPr/>
        </p:nvSpPr>
        <p:spPr>
          <a:xfrm>
            <a:off x="548640" y="2926080"/>
            <a:ext cx="2331720" cy="77724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How you talk to AI</a:t>
            </a:r>
            <a:endParaRPr lang="en-US" sz="1200" dirty="0"/>
          </a:p>
          <a:p>
            <a:pPr marL="0" indent="0">
              <a:buNone/>
            </a:pPr>
            <a:r>
              <a:rPr lang="en-US" sz="1200" i="1" dirty="0">
                <a:solidFill>
                  <a:srgbClr val="64748B"/>
                </a:solidFill>
                <a:latin typeface="Calibri" pitchFamily="34" charset="0"/>
                <a:ea typeface="Calibri" pitchFamily="34" charset="-122"/>
                <a:cs typeface="Calibri" pitchFamily="34" charset="-120"/>
              </a:rPr>
              <a:t>determines what you get back</a:t>
            </a:r>
            <a:endParaRPr lang="en-US" sz="1200" dirty="0"/>
          </a:p>
        </p:txBody>
      </p:sp>
      <p:sp>
        <p:nvSpPr>
          <p:cNvPr id="11" name="Shape 8"/>
          <p:cNvSpPr/>
          <p:nvPr/>
        </p:nvSpPr>
        <p:spPr>
          <a:xfrm>
            <a:off x="548640" y="3813048"/>
            <a:ext cx="2331720" cy="274320"/>
          </a:xfrm>
          <a:prstGeom prst="rect">
            <a:avLst/>
          </a:prstGeom>
          <a:solidFill>
            <a:srgbClr val="0D9488">
              <a:alpha val="12000"/>
            </a:srgbClr>
          </a:solidFill>
          <a:ln w="6350">
            <a:solidFill>
              <a:srgbClr val="0D9488">
                <a:alpha val="30000"/>
              </a:srgbClr>
            </a:solidFill>
            <a:prstDash val="solid"/>
          </a:ln>
        </p:spPr>
        <p:txBody>
          <a:bodyPr/>
          <a:lstStyle/>
          <a:p>
            <a:endParaRPr lang="en-US"/>
          </a:p>
        </p:txBody>
      </p:sp>
      <p:sp>
        <p:nvSpPr>
          <p:cNvPr id="12" name="Text 9"/>
          <p:cNvSpPr/>
          <p:nvPr/>
        </p:nvSpPr>
        <p:spPr>
          <a:xfrm>
            <a:off x="576072" y="3813048"/>
            <a:ext cx="2331720" cy="27432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Slides 4–13</a:t>
            </a:r>
            <a:endParaRPr lang="en-US" sz="1000" dirty="0"/>
          </a:p>
        </p:txBody>
      </p:sp>
      <p:sp>
        <p:nvSpPr>
          <p:cNvPr id="13" name="Shape 10"/>
          <p:cNvSpPr/>
          <p:nvPr/>
        </p:nvSpPr>
        <p:spPr>
          <a:xfrm>
            <a:off x="3218688" y="1143000"/>
            <a:ext cx="2606040" cy="320040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14" name="Shape 11"/>
          <p:cNvSpPr/>
          <p:nvPr/>
        </p:nvSpPr>
        <p:spPr>
          <a:xfrm>
            <a:off x="3218688" y="1143000"/>
            <a:ext cx="2606040" cy="777240"/>
          </a:xfrm>
          <a:prstGeom prst="rect">
            <a:avLst/>
          </a:prstGeom>
          <a:solidFill>
            <a:srgbClr val="F97316"/>
          </a:solidFill>
          <a:ln w="12700">
            <a:solidFill>
              <a:srgbClr val="F97316"/>
            </a:solidFill>
            <a:prstDash val="solid"/>
          </a:ln>
        </p:spPr>
        <p:txBody>
          <a:bodyPr/>
          <a:lstStyle/>
          <a:p>
            <a:endParaRPr lang="en-US"/>
          </a:p>
        </p:txBody>
      </p:sp>
      <p:sp>
        <p:nvSpPr>
          <p:cNvPr id="15" name="Text 12"/>
          <p:cNvSpPr/>
          <p:nvPr/>
        </p:nvSpPr>
        <p:spPr>
          <a:xfrm>
            <a:off x="3355848" y="1216152"/>
            <a:ext cx="233172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Part 2</a:t>
            </a:r>
            <a:endParaRPr lang="en-US" sz="1000" dirty="0"/>
          </a:p>
        </p:txBody>
      </p:sp>
      <p:pic>
        <p:nvPicPr>
          <p:cNvPr id="16" name="Image 1" descr="preencoded.png"/>
          <p:cNvPicPr>
            <a:picLocks noChangeAspect="1"/>
          </p:cNvPicPr>
          <p:nvPr/>
        </p:nvPicPr>
        <p:blipFill>
          <a:blip r:embed="rId4"/>
          <a:stretch>
            <a:fillRect/>
          </a:stretch>
        </p:blipFill>
        <p:spPr>
          <a:xfrm>
            <a:off x="5230368" y="1216152"/>
            <a:ext cx="457200" cy="457200"/>
          </a:xfrm>
          <a:prstGeom prst="rect">
            <a:avLst/>
          </a:prstGeom>
        </p:spPr>
      </p:pic>
      <p:sp>
        <p:nvSpPr>
          <p:cNvPr id="17" name="Text 13"/>
          <p:cNvSpPr/>
          <p:nvPr/>
        </p:nvSpPr>
        <p:spPr>
          <a:xfrm>
            <a:off x="3355848" y="2057400"/>
            <a:ext cx="2331720" cy="822960"/>
          </a:xfrm>
          <a:prstGeom prst="rect">
            <a:avLst/>
          </a:prstGeom>
          <a:noFill/>
          <a:ln/>
        </p:spPr>
        <p:txBody>
          <a:bodyPr wrap="square" lIns="0" tIns="0" rIns="0" bIns="0" rtlCol="0" anchor="ctr"/>
          <a:lstStyle/>
          <a:p>
            <a:pPr marL="0" indent="0">
              <a:buNone/>
            </a:pPr>
            <a:r>
              <a:rPr lang="en-US" sz="1800" b="1" dirty="0">
                <a:solidFill>
                  <a:srgbClr val="1B2A4A"/>
                </a:solidFill>
                <a:latin typeface="Trebuchet MS" pitchFamily="34" charset="0"/>
                <a:ea typeface="Trebuchet MS" pitchFamily="34" charset="-122"/>
                <a:cs typeface="Trebuchet MS" pitchFamily="34" charset="-120"/>
              </a:rPr>
              <a:t>Trust But</a:t>
            </a:r>
            <a:endParaRPr lang="en-US" sz="1800" dirty="0"/>
          </a:p>
          <a:p>
            <a:pPr marL="0" indent="0">
              <a:buNone/>
            </a:pPr>
            <a:r>
              <a:rPr lang="en-US" sz="1800" b="1" dirty="0">
                <a:solidFill>
                  <a:srgbClr val="1B2A4A"/>
                </a:solidFill>
                <a:latin typeface="Trebuchet MS" pitchFamily="34" charset="0"/>
                <a:ea typeface="Trebuchet MS" pitchFamily="34" charset="-122"/>
                <a:cs typeface="Trebuchet MS" pitchFamily="34" charset="-120"/>
              </a:rPr>
              <a:t>Verify</a:t>
            </a:r>
            <a:endParaRPr lang="en-US" sz="1800" dirty="0"/>
          </a:p>
        </p:txBody>
      </p:sp>
      <p:sp>
        <p:nvSpPr>
          <p:cNvPr id="18" name="Text 14"/>
          <p:cNvSpPr/>
          <p:nvPr/>
        </p:nvSpPr>
        <p:spPr>
          <a:xfrm>
            <a:off x="3355848" y="2926080"/>
            <a:ext cx="2331720" cy="77724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When to rely on AI — and</a:t>
            </a:r>
            <a:endParaRPr lang="en-US" sz="1200" dirty="0"/>
          </a:p>
          <a:p>
            <a:pPr marL="0" indent="0">
              <a:buNone/>
            </a:pPr>
            <a:r>
              <a:rPr lang="en-US" sz="1200" i="1" dirty="0">
                <a:solidFill>
                  <a:srgbClr val="64748B"/>
                </a:solidFill>
                <a:latin typeface="Calibri" pitchFamily="34" charset="0"/>
                <a:ea typeface="Calibri" pitchFamily="34" charset="-122"/>
                <a:cs typeface="Calibri" pitchFamily="34" charset="-120"/>
              </a:rPr>
              <a:t>when to push back</a:t>
            </a:r>
            <a:endParaRPr lang="en-US" sz="1200" dirty="0"/>
          </a:p>
        </p:txBody>
      </p:sp>
      <p:sp>
        <p:nvSpPr>
          <p:cNvPr id="19" name="Shape 15"/>
          <p:cNvSpPr/>
          <p:nvPr/>
        </p:nvSpPr>
        <p:spPr>
          <a:xfrm>
            <a:off x="3355848" y="3813048"/>
            <a:ext cx="2331720" cy="274320"/>
          </a:xfrm>
          <a:prstGeom prst="rect">
            <a:avLst/>
          </a:prstGeom>
          <a:solidFill>
            <a:srgbClr val="F97316">
              <a:alpha val="12000"/>
            </a:srgbClr>
          </a:solidFill>
          <a:ln w="6350">
            <a:solidFill>
              <a:srgbClr val="F97316">
                <a:alpha val="30000"/>
              </a:srgbClr>
            </a:solidFill>
            <a:prstDash val="solid"/>
          </a:ln>
        </p:spPr>
        <p:txBody>
          <a:bodyPr/>
          <a:lstStyle/>
          <a:p>
            <a:endParaRPr lang="en-US"/>
          </a:p>
        </p:txBody>
      </p:sp>
      <p:sp>
        <p:nvSpPr>
          <p:cNvPr id="20" name="Text 16"/>
          <p:cNvSpPr/>
          <p:nvPr/>
        </p:nvSpPr>
        <p:spPr>
          <a:xfrm>
            <a:off x="3383280" y="3813048"/>
            <a:ext cx="2331720" cy="274320"/>
          </a:xfrm>
          <a:prstGeom prst="rect">
            <a:avLst/>
          </a:prstGeom>
          <a:noFill/>
          <a:ln/>
        </p:spPr>
        <p:txBody>
          <a:bodyPr wrap="square" lIns="0" tIns="0" rIns="0" bIns="0" rtlCol="0" anchor="ctr"/>
          <a:lstStyle/>
          <a:p>
            <a:pPr marL="0" indent="0">
              <a:buNone/>
            </a:pPr>
            <a:r>
              <a:rPr lang="en-US" sz="1000" b="1" dirty="0">
                <a:solidFill>
                  <a:srgbClr val="F97316"/>
                </a:solidFill>
                <a:latin typeface="Calibri" pitchFamily="34" charset="0"/>
                <a:ea typeface="Calibri" pitchFamily="34" charset="-122"/>
                <a:cs typeface="Calibri" pitchFamily="34" charset="-120"/>
              </a:rPr>
              <a:t>Slides 14–21</a:t>
            </a:r>
            <a:endParaRPr lang="en-US" sz="1000" dirty="0"/>
          </a:p>
        </p:txBody>
      </p:sp>
      <p:sp>
        <p:nvSpPr>
          <p:cNvPr id="21" name="Shape 17"/>
          <p:cNvSpPr/>
          <p:nvPr/>
        </p:nvSpPr>
        <p:spPr>
          <a:xfrm>
            <a:off x="6025896" y="1143000"/>
            <a:ext cx="2606040" cy="320040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22" name="Shape 18"/>
          <p:cNvSpPr/>
          <p:nvPr/>
        </p:nvSpPr>
        <p:spPr>
          <a:xfrm>
            <a:off x="6025896" y="1143000"/>
            <a:ext cx="2606040" cy="777240"/>
          </a:xfrm>
          <a:prstGeom prst="rect">
            <a:avLst/>
          </a:prstGeom>
          <a:solidFill>
            <a:srgbClr val="7C3AED"/>
          </a:solidFill>
          <a:ln w="12700">
            <a:solidFill>
              <a:srgbClr val="7C3AED"/>
            </a:solidFill>
            <a:prstDash val="solid"/>
          </a:ln>
        </p:spPr>
        <p:txBody>
          <a:bodyPr/>
          <a:lstStyle/>
          <a:p>
            <a:endParaRPr lang="en-US"/>
          </a:p>
        </p:txBody>
      </p:sp>
      <p:sp>
        <p:nvSpPr>
          <p:cNvPr id="23" name="Text 19"/>
          <p:cNvSpPr/>
          <p:nvPr/>
        </p:nvSpPr>
        <p:spPr>
          <a:xfrm>
            <a:off x="6163056" y="1216152"/>
            <a:ext cx="233172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Part 3</a:t>
            </a:r>
            <a:endParaRPr lang="en-US" sz="1000" dirty="0"/>
          </a:p>
        </p:txBody>
      </p:sp>
      <p:pic>
        <p:nvPicPr>
          <p:cNvPr id="24" name="Image 2" descr="preencoded.png"/>
          <p:cNvPicPr>
            <a:picLocks noChangeAspect="1"/>
          </p:cNvPicPr>
          <p:nvPr/>
        </p:nvPicPr>
        <p:blipFill>
          <a:blip r:embed="rId5"/>
          <a:stretch>
            <a:fillRect/>
          </a:stretch>
        </p:blipFill>
        <p:spPr>
          <a:xfrm>
            <a:off x="8037576" y="1216152"/>
            <a:ext cx="457200" cy="457200"/>
          </a:xfrm>
          <a:prstGeom prst="rect">
            <a:avLst/>
          </a:prstGeom>
        </p:spPr>
      </p:pic>
      <p:sp>
        <p:nvSpPr>
          <p:cNvPr id="25" name="Text 20"/>
          <p:cNvSpPr/>
          <p:nvPr/>
        </p:nvSpPr>
        <p:spPr>
          <a:xfrm>
            <a:off x="6163056" y="2057400"/>
            <a:ext cx="2331720" cy="822960"/>
          </a:xfrm>
          <a:prstGeom prst="rect">
            <a:avLst/>
          </a:prstGeom>
          <a:noFill/>
          <a:ln/>
        </p:spPr>
        <p:txBody>
          <a:bodyPr wrap="square" lIns="0" tIns="0" rIns="0" bIns="0" rtlCol="0" anchor="ctr"/>
          <a:lstStyle/>
          <a:p>
            <a:pPr marL="0" indent="0">
              <a:buNone/>
            </a:pPr>
            <a:r>
              <a:rPr lang="en-US" sz="1800" b="1" dirty="0">
                <a:solidFill>
                  <a:srgbClr val="1B2A4A"/>
                </a:solidFill>
                <a:latin typeface="Trebuchet MS" pitchFamily="34" charset="0"/>
                <a:ea typeface="Trebuchet MS" pitchFamily="34" charset="-122"/>
                <a:cs typeface="Trebuchet MS" pitchFamily="34" charset="-120"/>
              </a:rPr>
              <a:t>The 4Ds</a:t>
            </a:r>
            <a:endParaRPr lang="en-US" sz="1800" dirty="0"/>
          </a:p>
          <a:p>
            <a:pPr marL="0" indent="0">
              <a:buNone/>
            </a:pPr>
            <a:r>
              <a:rPr lang="en-US" sz="1800" b="1" dirty="0">
                <a:solidFill>
                  <a:srgbClr val="1B2A4A"/>
                </a:solidFill>
                <a:latin typeface="Trebuchet MS" pitchFamily="34" charset="0"/>
                <a:ea typeface="Trebuchet MS" pitchFamily="34" charset="-122"/>
                <a:cs typeface="Trebuchet MS" pitchFamily="34" charset="-120"/>
              </a:rPr>
              <a:t>Framework</a:t>
            </a:r>
            <a:endParaRPr lang="en-US" sz="1800" dirty="0"/>
          </a:p>
        </p:txBody>
      </p:sp>
      <p:sp>
        <p:nvSpPr>
          <p:cNvPr id="26" name="Text 21"/>
          <p:cNvSpPr/>
          <p:nvPr/>
        </p:nvSpPr>
        <p:spPr>
          <a:xfrm>
            <a:off x="6163056" y="2926080"/>
            <a:ext cx="2331720" cy="77724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A durable professional</a:t>
            </a:r>
            <a:endParaRPr lang="en-US" sz="1200" dirty="0"/>
          </a:p>
          <a:p>
            <a:pPr marL="0" indent="0">
              <a:buNone/>
            </a:pPr>
            <a:r>
              <a:rPr lang="en-US" sz="1200" i="1" dirty="0">
                <a:solidFill>
                  <a:srgbClr val="64748B"/>
                </a:solidFill>
                <a:latin typeface="Calibri" pitchFamily="34" charset="0"/>
                <a:ea typeface="Calibri" pitchFamily="34" charset="-122"/>
                <a:cs typeface="Calibri" pitchFamily="34" charset="-120"/>
              </a:rPr>
              <a:t>framework for every AI task</a:t>
            </a:r>
            <a:endParaRPr lang="en-US" sz="1200" dirty="0"/>
          </a:p>
        </p:txBody>
      </p:sp>
      <p:sp>
        <p:nvSpPr>
          <p:cNvPr id="27" name="Shape 22"/>
          <p:cNvSpPr/>
          <p:nvPr/>
        </p:nvSpPr>
        <p:spPr>
          <a:xfrm>
            <a:off x="6163056" y="3813048"/>
            <a:ext cx="2331720" cy="274320"/>
          </a:xfrm>
          <a:prstGeom prst="rect">
            <a:avLst/>
          </a:prstGeom>
          <a:solidFill>
            <a:srgbClr val="7C3AED">
              <a:alpha val="12000"/>
            </a:srgbClr>
          </a:solidFill>
          <a:ln w="6350">
            <a:solidFill>
              <a:srgbClr val="7C3AED">
                <a:alpha val="30000"/>
              </a:srgbClr>
            </a:solidFill>
            <a:prstDash val="solid"/>
          </a:ln>
        </p:spPr>
        <p:txBody>
          <a:bodyPr/>
          <a:lstStyle/>
          <a:p>
            <a:endParaRPr lang="en-US"/>
          </a:p>
        </p:txBody>
      </p:sp>
      <p:sp>
        <p:nvSpPr>
          <p:cNvPr id="28" name="Text 23"/>
          <p:cNvSpPr/>
          <p:nvPr/>
        </p:nvSpPr>
        <p:spPr>
          <a:xfrm>
            <a:off x="6190488" y="3813048"/>
            <a:ext cx="2331720" cy="274320"/>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Slides 22–31</a:t>
            </a:r>
            <a:endParaRPr lang="en-US" sz="1000" dirty="0"/>
          </a:p>
        </p:txBody>
      </p:sp>
      <p:sp>
        <p:nvSpPr>
          <p:cNvPr id="29" name="Shape 24"/>
          <p:cNvSpPr/>
          <p:nvPr/>
        </p:nvSpPr>
        <p:spPr>
          <a:xfrm>
            <a:off x="2980944" y="2743200"/>
            <a:ext cx="192024" cy="0"/>
          </a:xfrm>
          <a:prstGeom prst="line">
            <a:avLst/>
          </a:prstGeom>
          <a:noFill/>
          <a:ln w="25400">
            <a:solidFill>
              <a:srgbClr val="0D9488"/>
            </a:solidFill>
            <a:prstDash val="solid"/>
          </a:ln>
        </p:spPr>
        <p:txBody>
          <a:bodyPr/>
          <a:lstStyle/>
          <a:p>
            <a:endParaRPr lang="en-US"/>
          </a:p>
        </p:txBody>
      </p:sp>
      <p:sp>
        <p:nvSpPr>
          <p:cNvPr id="30" name="Shape 25"/>
          <p:cNvSpPr/>
          <p:nvPr/>
        </p:nvSpPr>
        <p:spPr>
          <a:xfrm>
            <a:off x="5788152" y="2743200"/>
            <a:ext cx="192024" cy="0"/>
          </a:xfrm>
          <a:prstGeom prst="line">
            <a:avLst/>
          </a:prstGeom>
          <a:noFill/>
          <a:ln w="25400">
            <a:solidFill>
              <a:srgbClr val="0D9488"/>
            </a:solidFill>
            <a:prstDash val="solid"/>
          </a:ln>
        </p:spPr>
        <p:txBody>
          <a:bodyPr/>
          <a:lstStyle/>
          <a:p>
            <a:endParaRPr lang="en-US"/>
          </a:p>
        </p:txBody>
      </p:sp>
      <p:sp>
        <p:nvSpPr>
          <p:cNvPr id="31" name="Text 26"/>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3000" b="1" dirty="0">
                <a:solidFill>
                  <a:srgbClr val="1B2A4A"/>
                </a:solidFill>
                <a:latin typeface="Trebuchet MS" pitchFamily="34" charset="0"/>
                <a:ea typeface="Trebuchet MS" pitchFamily="34" charset="-122"/>
                <a:cs typeface="Trebuchet MS" pitchFamily="34" charset="-120"/>
              </a:rPr>
              <a:t>Same Tool. Very Different Results.</a:t>
            </a:r>
            <a:endParaRPr lang="en-US" sz="3000" dirty="0"/>
          </a:p>
        </p:txBody>
      </p:sp>
      <p:sp>
        <p:nvSpPr>
          <p:cNvPr id="4" name="Text 2"/>
          <p:cNvSpPr/>
          <p:nvPr/>
        </p:nvSpPr>
        <p:spPr>
          <a:xfrm>
            <a:off x="457200" y="749808"/>
            <a:ext cx="8229600" cy="274320"/>
          </a:xfrm>
          <a:prstGeom prst="rect">
            <a:avLst/>
          </a:prstGeom>
          <a:noFill/>
          <a:ln/>
        </p:spPr>
        <p:txBody>
          <a:bodyPr wrap="square" lIns="0" tIns="0" rIns="0" bIns="0" rtlCol="0" anchor="ctr"/>
          <a:lstStyle/>
          <a:p>
            <a:pPr marL="0" indent="0">
              <a:buNone/>
            </a:pPr>
            <a:r>
              <a:rPr lang="en-US" sz="1300" i="1" dirty="0">
                <a:solidFill>
                  <a:srgbClr val="0D9488"/>
                </a:solidFill>
                <a:latin typeface="Calibri" pitchFamily="34" charset="0"/>
                <a:ea typeface="Calibri" pitchFamily="34" charset="-122"/>
                <a:cs typeface="Calibri" pitchFamily="34" charset="-120"/>
              </a:rPr>
              <a:t>Two FHB analysts. Same AI. Same task. What went wrong?</a:t>
            </a:r>
            <a:endParaRPr lang="en-US" sz="1300" dirty="0"/>
          </a:p>
        </p:txBody>
      </p:sp>
      <p:sp>
        <p:nvSpPr>
          <p:cNvPr id="5" name="Shape 3"/>
          <p:cNvSpPr/>
          <p:nvPr/>
        </p:nvSpPr>
        <p:spPr>
          <a:xfrm>
            <a:off x="365760" y="1143000"/>
            <a:ext cx="3840480" cy="3383280"/>
          </a:xfrm>
          <a:prstGeom prst="rect">
            <a:avLst/>
          </a:prstGeom>
          <a:solidFill>
            <a:srgbClr val="FFFFFF"/>
          </a:solidFill>
          <a:ln w="19050">
            <a:solidFill>
              <a:srgbClr val="F97316"/>
            </a:solidFill>
            <a:prstDash val="solid"/>
          </a:ln>
          <a:effectLst>
            <a:outerShdw blurRad="101600" dist="38100" dir="8100000" algn="bl" rotWithShape="0">
              <a:srgbClr val="000000">
                <a:alpha val="13000"/>
              </a:srgbClr>
            </a:outerShdw>
          </a:effectLst>
        </p:spPr>
        <p:txBody>
          <a:bodyPr/>
          <a:lstStyle/>
          <a:p>
            <a:endParaRPr lang="en-US"/>
          </a:p>
        </p:txBody>
      </p:sp>
      <p:sp>
        <p:nvSpPr>
          <p:cNvPr id="6" name="Shape 4"/>
          <p:cNvSpPr/>
          <p:nvPr/>
        </p:nvSpPr>
        <p:spPr>
          <a:xfrm>
            <a:off x="365760" y="1143000"/>
            <a:ext cx="3840480" cy="384048"/>
          </a:xfrm>
          <a:prstGeom prst="rect">
            <a:avLst/>
          </a:prstGeom>
          <a:solidFill>
            <a:srgbClr val="F97316"/>
          </a:solidFill>
          <a:ln w="12700">
            <a:solidFill>
              <a:srgbClr val="F97316"/>
            </a:solidFill>
            <a:prstDash val="solid"/>
          </a:ln>
        </p:spPr>
        <p:txBody>
          <a:bodyPr/>
          <a:lstStyle/>
          <a:p>
            <a:endParaRPr lang="en-US"/>
          </a:p>
        </p:txBody>
      </p:sp>
      <p:sp>
        <p:nvSpPr>
          <p:cNvPr id="7" name="Text 5"/>
          <p:cNvSpPr/>
          <p:nvPr/>
        </p:nvSpPr>
        <p:spPr>
          <a:xfrm>
            <a:off x="502920" y="1170432"/>
            <a:ext cx="3566160" cy="329184"/>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Analyst A</a:t>
            </a:r>
            <a:endParaRPr lang="en-US" sz="1400" dirty="0"/>
          </a:p>
        </p:txBody>
      </p:sp>
      <p:sp>
        <p:nvSpPr>
          <p:cNvPr id="8" name="Text 6"/>
          <p:cNvSpPr/>
          <p:nvPr/>
        </p:nvSpPr>
        <p:spPr>
          <a:xfrm>
            <a:off x="530352" y="1627632"/>
            <a:ext cx="3520440" cy="1828800"/>
          </a:xfrm>
          <a:prstGeom prst="rect">
            <a:avLst/>
          </a:prstGeom>
          <a:noFill/>
          <a:ln/>
        </p:spPr>
        <p:txBody>
          <a:bodyPr wrap="square" lIns="0" tIns="0" rIns="0" bIns="0" rtlCol="0" anchor="ctr"/>
          <a:lstStyle/>
          <a:p>
            <a:pPr marL="0" indent="0">
              <a:buNone/>
            </a:pPr>
            <a:r>
              <a:rPr lang="en-US" sz="1200" b="1" dirty="0">
                <a:solidFill>
                  <a:srgbClr val="F97316"/>
                </a:solidFill>
                <a:latin typeface="Calibri" pitchFamily="34" charset="0"/>
                <a:ea typeface="Calibri" pitchFamily="34" charset="-122"/>
                <a:cs typeface="Calibri" pitchFamily="34" charset="-120"/>
              </a:rPr>
              <a:t>Prompt sent:</a:t>
            </a:r>
            <a:endParaRPr lang="en-US" sz="1200" dirty="0"/>
          </a:p>
          <a:p>
            <a:pPr marL="0" indent="0">
              <a:buNone/>
            </a:pPr>
            <a:r>
              <a:rPr lang="en-US" sz="1200" i="1" dirty="0">
                <a:solidFill>
                  <a:srgbClr val="475569"/>
                </a:solidFill>
                <a:latin typeface="Calibri" pitchFamily="34" charset="0"/>
                <a:ea typeface="Calibri" pitchFamily="34" charset="-122"/>
                <a:cs typeface="Calibri" pitchFamily="34" charset="-120"/>
              </a:rPr>
              <a:t>"Write a summary of this vendor."</a:t>
            </a:r>
            <a:endParaRPr lang="en-US" sz="1200" dirty="0"/>
          </a:p>
          <a:p>
            <a:pPr marL="0" indent="0">
              <a:buNone/>
            </a:pPr>
            <a:endParaRPr lang="en-US" sz="1200" dirty="0"/>
          </a:p>
          <a:p>
            <a:pPr marL="0" indent="0">
              <a:buNone/>
            </a:pPr>
            <a:r>
              <a:rPr lang="en-US" sz="1200" b="1" dirty="0">
                <a:solidFill>
                  <a:srgbClr val="F97316"/>
                </a:solidFill>
                <a:latin typeface="Calibri" pitchFamily="34" charset="0"/>
                <a:ea typeface="Calibri" pitchFamily="34" charset="-122"/>
                <a:cs typeface="Calibri" pitchFamily="34" charset="-120"/>
              </a:rPr>
              <a:t>Result:</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Generic paragraphs. No risk focus. Wrong regulatory frame. Spent 40 minutes re-working it.</a:t>
            </a:r>
            <a:endParaRPr lang="en-US" sz="1200" dirty="0"/>
          </a:p>
        </p:txBody>
      </p:sp>
      <p:pic>
        <p:nvPicPr>
          <p:cNvPr id="9" name="Image 0" descr="preencoded.png"/>
          <p:cNvPicPr>
            <a:picLocks noChangeAspect="1"/>
          </p:cNvPicPr>
          <p:nvPr/>
        </p:nvPicPr>
        <p:blipFill>
          <a:blip r:embed="rId3"/>
          <a:stretch>
            <a:fillRect/>
          </a:stretch>
        </p:blipFill>
        <p:spPr>
          <a:xfrm>
            <a:off x="3547872" y="4069080"/>
            <a:ext cx="365760" cy="365760"/>
          </a:xfrm>
          <a:prstGeom prst="rect">
            <a:avLst/>
          </a:prstGeom>
        </p:spPr>
      </p:pic>
      <p:sp>
        <p:nvSpPr>
          <p:cNvPr id="10" name="Text 7"/>
          <p:cNvSpPr/>
          <p:nvPr/>
        </p:nvSpPr>
        <p:spPr>
          <a:xfrm>
            <a:off x="530352" y="4096512"/>
            <a:ext cx="2926080" cy="274320"/>
          </a:xfrm>
          <a:prstGeom prst="rect">
            <a:avLst/>
          </a:prstGeom>
          <a:noFill/>
          <a:ln/>
        </p:spPr>
        <p:txBody>
          <a:bodyPr wrap="square" lIns="0" tIns="0" rIns="0" bIns="0" rtlCol="0" anchor="ctr"/>
          <a:lstStyle/>
          <a:p>
            <a:pPr marL="0" indent="0">
              <a:buNone/>
            </a:pPr>
            <a:r>
              <a:rPr lang="en-US" sz="1100" i="1" dirty="0">
                <a:solidFill>
                  <a:srgbClr val="F97316"/>
                </a:solidFill>
                <a:latin typeface="Calibri" pitchFamily="34" charset="0"/>
                <a:ea typeface="Calibri" pitchFamily="34" charset="-122"/>
                <a:cs typeface="Calibri" pitchFamily="34" charset="-120"/>
              </a:rPr>
              <a:t>Unusable output</a:t>
            </a:r>
            <a:endParaRPr lang="en-US" sz="1100" dirty="0"/>
          </a:p>
        </p:txBody>
      </p:sp>
      <p:sp>
        <p:nvSpPr>
          <p:cNvPr id="11" name="Shape 8"/>
          <p:cNvSpPr/>
          <p:nvPr/>
        </p:nvSpPr>
        <p:spPr>
          <a:xfrm>
            <a:off x="4937760" y="1143000"/>
            <a:ext cx="3840480" cy="3383280"/>
          </a:xfrm>
          <a:prstGeom prst="rect">
            <a:avLst/>
          </a:prstGeom>
          <a:solidFill>
            <a:srgbClr val="FFFFFF"/>
          </a:solidFill>
          <a:ln w="19050">
            <a:solidFill>
              <a:srgbClr val="0D9488"/>
            </a:solidFill>
            <a:prstDash val="solid"/>
          </a:ln>
          <a:effectLst>
            <a:outerShdw blurRad="101600" dist="38100" dir="8100000" algn="bl" rotWithShape="0">
              <a:srgbClr val="000000">
                <a:alpha val="13000"/>
              </a:srgbClr>
            </a:outerShdw>
          </a:effectLst>
        </p:spPr>
        <p:txBody>
          <a:bodyPr/>
          <a:lstStyle/>
          <a:p>
            <a:endParaRPr lang="en-US"/>
          </a:p>
        </p:txBody>
      </p:sp>
      <p:sp>
        <p:nvSpPr>
          <p:cNvPr id="12" name="Shape 9"/>
          <p:cNvSpPr/>
          <p:nvPr/>
        </p:nvSpPr>
        <p:spPr>
          <a:xfrm>
            <a:off x="4937760" y="1143000"/>
            <a:ext cx="3840480" cy="384048"/>
          </a:xfrm>
          <a:prstGeom prst="rect">
            <a:avLst/>
          </a:prstGeom>
          <a:solidFill>
            <a:srgbClr val="0D9488"/>
          </a:solidFill>
          <a:ln w="12700">
            <a:solidFill>
              <a:srgbClr val="0D9488"/>
            </a:solidFill>
            <a:prstDash val="solid"/>
          </a:ln>
        </p:spPr>
        <p:txBody>
          <a:bodyPr/>
          <a:lstStyle/>
          <a:p>
            <a:endParaRPr lang="en-US"/>
          </a:p>
        </p:txBody>
      </p:sp>
      <p:sp>
        <p:nvSpPr>
          <p:cNvPr id="13" name="Text 10"/>
          <p:cNvSpPr/>
          <p:nvPr/>
        </p:nvSpPr>
        <p:spPr>
          <a:xfrm>
            <a:off x="5074920" y="1170432"/>
            <a:ext cx="3566160" cy="329184"/>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Analyst B</a:t>
            </a:r>
            <a:endParaRPr lang="en-US" sz="1400" dirty="0"/>
          </a:p>
        </p:txBody>
      </p:sp>
      <p:sp>
        <p:nvSpPr>
          <p:cNvPr id="14" name="Text 11"/>
          <p:cNvSpPr/>
          <p:nvPr/>
        </p:nvSpPr>
        <p:spPr>
          <a:xfrm>
            <a:off x="5074920" y="1627632"/>
            <a:ext cx="3520440" cy="182880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Prompt sent:</a:t>
            </a:r>
            <a:endParaRPr lang="en-US" sz="1200" dirty="0"/>
          </a:p>
          <a:p>
            <a:pPr marL="0" indent="0">
              <a:buNone/>
            </a:pPr>
            <a:r>
              <a:rPr lang="en-US" sz="1200" i="1" dirty="0">
                <a:solidFill>
                  <a:srgbClr val="475569"/>
                </a:solidFill>
                <a:latin typeface="Calibri" pitchFamily="34" charset="0"/>
                <a:ea typeface="Calibri" pitchFamily="34" charset="-122"/>
                <a:cs typeface="Calibri" pitchFamily="34" charset="-120"/>
              </a:rPr>
              <a:t>"You are a cybersecurity analyst at a federally regulated bank. Summarize this vendor's security posture in 3–5 bullets, focusing on data handling and third-party risk. Flag any compliance gaps."</a:t>
            </a:r>
            <a:endParaRPr lang="en-US" sz="1200" dirty="0"/>
          </a:p>
          <a:p>
            <a:pPr marL="0" indent="0">
              <a:buNone/>
            </a:pPr>
            <a:endParaRPr lang="en-US" sz="1200" dirty="0"/>
          </a:p>
          <a:p>
            <a:pPr marL="0" indent="0">
              <a:buNone/>
            </a:pPr>
            <a:r>
              <a:rPr lang="en-US" sz="1200" b="1" dirty="0">
                <a:solidFill>
                  <a:srgbClr val="0D9488"/>
                </a:solidFill>
                <a:latin typeface="Calibri" pitchFamily="34" charset="0"/>
                <a:ea typeface="Calibri" pitchFamily="34" charset="-122"/>
                <a:cs typeface="Calibri" pitchFamily="34" charset="-120"/>
              </a:rPr>
              <a:t>Result:</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Accurate, focused, ready to present to CISO.</a:t>
            </a:r>
            <a:endParaRPr lang="en-US" sz="1200" dirty="0"/>
          </a:p>
        </p:txBody>
      </p:sp>
      <p:pic>
        <p:nvPicPr>
          <p:cNvPr id="15" name="Image 1" descr="preencoded.png"/>
          <p:cNvPicPr>
            <a:picLocks noChangeAspect="1"/>
          </p:cNvPicPr>
          <p:nvPr/>
        </p:nvPicPr>
        <p:blipFill>
          <a:blip r:embed="rId4"/>
          <a:stretch>
            <a:fillRect/>
          </a:stretch>
        </p:blipFill>
        <p:spPr>
          <a:xfrm>
            <a:off x="8229600" y="4069080"/>
            <a:ext cx="365760" cy="365760"/>
          </a:xfrm>
          <a:prstGeom prst="rect">
            <a:avLst/>
          </a:prstGeom>
        </p:spPr>
      </p:pic>
      <p:sp>
        <p:nvSpPr>
          <p:cNvPr id="16" name="Text 12"/>
          <p:cNvSpPr/>
          <p:nvPr/>
        </p:nvSpPr>
        <p:spPr>
          <a:xfrm>
            <a:off x="5102352" y="4096512"/>
            <a:ext cx="2926080" cy="274320"/>
          </a:xfrm>
          <a:prstGeom prst="rect">
            <a:avLst/>
          </a:prstGeom>
          <a:noFill/>
          <a:ln/>
        </p:spPr>
        <p:txBody>
          <a:bodyPr wrap="square" lIns="0" tIns="0" rIns="0" bIns="0" rtlCol="0" anchor="ctr"/>
          <a:lstStyle/>
          <a:p>
            <a:pPr marL="0" indent="0">
              <a:buNone/>
            </a:pPr>
            <a:r>
              <a:rPr lang="en-US" sz="1100" i="1" dirty="0">
                <a:solidFill>
                  <a:srgbClr val="0D9488"/>
                </a:solidFill>
                <a:latin typeface="Calibri" pitchFamily="34" charset="0"/>
                <a:ea typeface="Calibri" pitchFamily="34" charset="-122"/>
                <a:cs typeface="Calibri" pitchFamily="34" charset="-120"/>
              </a:rPr>
              <a:t>Polished first draft</a:t>
            </a:r>
            <a:endParaRPr lang="en-US" sz="1100" dirty="0"/>
          </a:p>
        </p:txBody>
      </p:sp>
      <p:sp>
        <p:nvSpPr>
          <p:cNvPr id="17" name="Text 13"/>
          <p:cNvSpPr/>
          <p:nvPr/>
        </p:nvSpPr>
        <p:spPr>
          <a:xfrm>
            <a:off x="1371600" y="4617720"/>
            <a:ext cx="6400800" cy="320040"/>
          </a:xfrm>
          <a:prstGeom prst="rect">
            <a:avLst/>
          </a:prstGeom>
          <a:noFill/>
          <a:ln/>
        </p:spPr>
        <p:txBody>
          <a:bodyPr wrap="square" lIns="0" tIns="0" rIns="0" bIns="0" rtlCol="0" anchor="ctr"/>
          <a:lstStyle/>
          <a:p>
            <a:pPr marL="0" indent="0" algn="ctr">
              <a:buNone/>
            </a:pPr>
            <a:r>
              <a:rPr lang="en-US" sz="1300" b="1" dirty="0">
                <a:solidFill>
                  <a:srgbClr val="F59E0B"/>
                </a:solidFill>
                <a:latin typeface="Trebuchet MS" pitchFamily="34" charset="0"/>
                <a:ea typeface="Trebuchet MS" pitchFamily="34" charset="-122"/>
                <a:cs typeface="Trebuchet MS" pitchFamily="34" charset="-120"/>
              </a:rPr>
              <a:t>The difference isn't the tool — it's the skill.</a:t>
            </a:r>
            <a:endParaRPr lang="en-US" sz="1300" dirty="0"/>
          </a:p>
        </p:txBody>
      </p:sp>
      <p:sp>
        <p:nvSpPr>
          <p:cNvPr id="18" name="Text 14"/>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0D948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9488"/>
        </a:solidFill>
        <a:effectLst/>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B7A70">
              <a:alpha val="50000"/>
            </a:srgbClr>
          </a:solidFill>
          <a:ln w="12700">
            <a:solidFill>
              <a:srgbClr val="0B7A70">
                <a:alpha val="60000"/>
              </a:srgbClr>
            </a:solidFill>
            <a:prstDash val="solid"/>
          </a:ln>
        </p:spPr>
        <p:txBody>
          <a:bodyPr/>
          <a:lstStyle/>
          <a:p>
            <a:endParaRPr lang="en-US"/>
          </a:p>
        </p:txBody>
      </p:sp>
      <p:sp>
        <p:nvSpPr>
          <p:cNvPr id="3" name="Shape 1"/>
          <p:cNvSpPr/>
          <p:nvPr/>
        </p:nvSpPr>
        <p:spPr>
          <a:xfrm>
            <a:off x="6858000" y="2286000"/>
            <a:ext cx="3657600" cy="3657600"/>
          </a:xfrm>
          <a:prstGeom prst="ellipse">
            <a:avLst/>
          </a:prstGeom>
          <a:solidFill>
            <a:srgbClr val="085F57">
              <a:alpha val="60000"/>
            </a:srgbClr>
          </a:solidFill>
          <a:ln w="12700">
            <a:solidFill>
              <a:srgbClr val="085F57">
                <a:alpha val="70000"/>
              </a:srgbClr>
            </a:solidFill>
            <a:prstDash val="solid"/>
          </a:ln>
        </p:spPr>
        <p:txBody>
          <a:bodyPr/>
          <a:lstStyle/>
          <a:p>
            <a:endParaRPr lang="en-US"/>
          </a:p>
        </p:txBody>
      </p:sp>
      <p:sp>
        <p:nvSpPr>
          <p:cNvPr id="4" name="Text 2"/>
          <p:cNvSpPr/>
          <p:nvPr/>
        </p:nvSpPr>
        <p:spPr>
          <a:xfrm>
            <a:off x="548640" y="1097280"/>
            <a:ext cx="3657600" cy="365760"/>
          </a:xfrm>
          <a:prstGeom prst="rect">
            <a:avLst/>
          </a:prstGeom>
          <a:noFill/>
          <a:ln/>
        </p:spPr>
        <p:txBody>
          <a:bodyPr wrap="square" lIns="0" tIns="0" rIns="0" bIns="0" rtlCol="0" anchor="ctr"/>
          <a:lstStyle/>
          <a:p>
            <a:pPr marL="0" indent="0">
              <a:buNone/>
            </a:pPr>
            <a:r>
              <a:rPr lang="en-US" sz="1300" b="1" kern="0" spc="500" dirty="0">
                <a:solidFill>
                  <a:srgbClr val="FFFFFF"/>
                </a:solidFill>
                <a:latin typeface="Calibri" pitchFamily="34" charset="0"/>
                <a:ea typeface="Calibri" pitchFamily="34" charset="-122"/>
                <a:cs typeface="Calibri" pitchFamily="34" charset="-120"/>
              </a:rPr>
              <a:t>PART 1</a:t>
            </a:r>
            <a:endParaRPr lang="en-US" sz="1300" dirty="0"/>
          </a:p>
        </p:txBody>
      </p:sp>
      <p:sp>
        <p:nvSpPr>
          <p:cNvPr id="5" name="Text 3"/>
          <p:cNvSpPr/>
          <p:nvPr/>
        </p:nvSpPr>
        <p:spPr>
          <a:xfrm>
            <a:off x="548640" y="1508760"/>
            <a:ext cx="6400800" cy="1920240"/>
          </a:xfrm>
          <a:prstGeom prst="rect">
            <a:avLst/>
          </a:prstGeom>
          <a:noFill/>
          <a:ln/>
        </p:spPr>
        <p:txBody>
          <a:bodyPr wrap="square" lIns="0" tIns="0" rIns="0" bIns="0" rtlCol="0" anchor="ctr"/>
          <a:lstStyle/>
          <a:p>
            <a:pPr marL="0" indent="0">
              <a:buNone/>
            </a:pPr>
            <a:r>
              <a:rPr lang="en-US" sz="5200" b="1" dirty="0">
                <a:solidFill>
                  <a:srgbClr val="FFFFFF"/>
                </a:solidFill>
                <a:latin typeface="Trebuchet MS" pitchFamily="34" charset="0"/>
                <a:ea typeface="Trebuchet MS" pitchFamily="34" charset="-122"/>
                <a:cs typeface="Trebuchet MS" pitchFamily="34" charset="-120"/>
              </a:rPr>
              <a:t>The Language</a:t>
            </a:r>
            <a:endParaRPr lang="en-US" sz="5200" dirty="0"/>
          </a:p>
          <a:p>
            <a:pPr marL="0" indent="0">
              <a:buNone/>
            </a:pPr>
            <a:r>
              <a:rPr lang="en-US" sz="5200" b="1" dirty="0">
                <a:solidFill>
                  <a:srgbClr val="FFFFFF"/>
                </a:solidFill>
                <a:latin typeface="Trebuchet MS" pitchFamily="34" charset="0"/>
                <a:ea typeface="Trebuchet MS" pitchFamily="34" charset="-122"/>
                <a:cs typeface="Trebuchet MS" pitchFamily="34" charset="-120"/>
              </a:rPr>
              <a:t>of AI</a:t>
            </a:r>
            <a:endParaRPr lang="en-US" sz="5200" dirty="0"/>
          </a:p>
        </p:txBody>
      </p:sp>
      <p:sp>
        <p:nvSpPr>
          <p:cNvPr id="6" name="Text 4"/>
          <p:cNvSpPr/>
          <p:nvPr/>
        </p:nvSpPr>
        <p:spPr>
          <a:xfrm>
            <a:off x="548640" y="3474720"/>
            <a:ext cx="6400800" cy="41148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How you talk to AI determines what it gives you</a:t>
            </a:r>
            <a:endParaRPr lang="en-US" sz="1600" dirty="0"/>
          </a:p>
        </p:txBody>
      </p:sp>
      <p:pic>
        <p:nvPicPr>
          <p:cNvPr id="7" name="Image 0" descr="preencoded.png"/>
          <p:cNvPicPr>
            <a:picLocks noChangeAspect="1"/>
          </p:cNvPicPr>
          <p:nvPr/>
        </p:nvPicPr>
        <p:blipFill>
          <a:blip r:embed="rId3"/>
          <a:stretch>
            <a:fillRect/>
          </a:stretch>
        </p:blipFill>
        <p:spPr>
          <a:xfrm>
            <a:off x="502920" y="3977640"/>
            <a:ext cx="502920" cy="502920"/>
          </a:xfrm>
          <a:prstGeom prst="rect">
            <a:avLst/>
          </a:prstGeom>
        </p:spPr>
      </p:pic>
      <p:sp>
        <p:nvSpPr>
          <p:cNvPr id="8" name="Text 5"/>
          <p:cNvSpPr/>
          <p:nvPr/>
        </p:nvSpPr>
        <p:spPr>
          <a:xfrm>
            <a:off x="1115568" y="4096512"/>
            <a:ext cx="1828800" cy="2743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Slides 4–13</a:t>
            </a:r>
            <a:endParaRPr lang="en-US" sz="1200" dirty="0"/>
          </a:p>
        </p:txBody>
      </p:sp>
      <p:sp>
        <p:nvSpPr>
          <p:cNvPr id="9" name="Text 6"/>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5EEAD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64592"/>
            <a:ext cx="8229600" cy="475488"/>
          </a:xfrm>
          <a:prstGeom prst="rect">
            <a:avLst/>
          </a:prstGeom>
          <a:noFill/>
          <a:ln/>
        </p:spPr>
        <p:txBody>
          <a:bodyPr wrap="square" lIns="0" tIns="0" rIns="0" bIns="0" rtlCol="0" anchor="ctr"/>
          <a:lstStyle/>
          <a:p>
            <a:pPr marL="0" indent="0">
              <a:buNone/>
            </a:pPr>
            <a:r>
              <a:rPr lang="en-US" sz="2800" b="1" dirty="0">
                <a:solidFill>
                  <a:srgbClr val="1B2A4A"/>
                </a:solidFill>
                <a:latin typeface="Trebuchet MS" pitchFamily="34" charset="0"/>
                <a:ea typeface="Trebuchet MS" pitchFamily="34" charset="-122"/>
                <a:cs typeface="Trebuchet MS" pitchFamily="34" charset="-120"/>
              </a:rPr>
              <a:t>How LLMs Process Your Input</a:t>
            </a:r>
            <a:endParaRPr lang="en-US" sz="2800" dirty="0"/>
          </a:p>
        </p:txBody>
      </p:sp>
      <p:sp>
        <p:nvSpPr>
          <p:cNvPr id="4" name="Text 2"/>
          <p:cNvSpPr/>
          <p:nvPr/>
        </p:nvSpPr>
        <p:spPr>
          <a:xfrm>
            <a:off x="457200" y="667512"/>
            <a:ext cx="8229600" cy="25603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A brief refresher — and why it means everything for how you prompt</a:t>
            </a:r>
            <a:endParaRPr lang="en-US" sz="1200" dirty="0"/>
          </a:p>
        </p:txBody>
      </p:sp>
      <p:sp>
        <p:nvSpPr>
          <p:cNvPr id="5" name="Shape 3"/>
          <p:cNvSpPr/>
          <p:nvPr/>
        </p:nvSpPr>
        <p:spPr>
          <a:xfrm>
            <a:off x="365760" y="1051560"/>
            <a:ext cx="3977640" cy="132588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6" name="Shape 4"/>
          <p:cNvSpPr/>
          <p:nvPr/>
        </p:nvSpPr>
        <p:spPr>
          <a:xfrm>
            <a:off x="365760" y="1051560"/>
            <a:ext cx="64008" cy="1325880"/>
          </a:xfrm>
          <a:prstGeom prst="rect">
            <a:avLst/>
          </a:prstGeom>
          <a:solidFill>
            <a:srgbClr val="0D9488"/>
          </a:solidFill>
          <a:ln w="12700">
            <a:solidFill>
              <a:srgbClr val="0D948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3547872" y="1115568"/>
            <a:ext cx="411480" cy="411480"/>
          </a:xfrm>
          <a:prstGeom prst="rect">
            <a:avLst/>
          </a:prstGeom>
        </p:spPr>
      </p:pic>
      <p:sp>
        <p:nvSpPr>
          <p:cNvPr id="8" name="Text 5"/>
          <p:cNvSpPr/>
          <p:nvPr/>
        </p:nvSpPr>
        <p:spPr>
          <a:xfrm>
            <a:off x="548640" y="1078992"/>
            <a:ext cx="3200400" cy="347472"/>
          </a:xfrm>
          <a:prstGeom prst="rect">
            <a:avLst/>
          </a:prstGeom>
          <a:noFill/>
          <a:ln/>
        </p:spPr>
        <p:txBody>
          <a:bodyPr wrap="square" lIns="0" tIns="0" rIns="0" bIns="0" rtlCol="0" anchor="ctr"/>
          <a:lstStyle/>
          <a:p>
            <a:pPr marL="0" indent="0">
              <a:buNone/>
            </a:pPr>
            <a:r>
              <a:rPr lang="en-US" sz="1500" b="1" dirty="0">
                <a:solidFill>
                  <a:srgbClr val="1B2A4A"/>
                </a:solidFill>
                <a:latin typeface="Trebuchet MS" pitchFamily="34" charset="0"/>
                <a:ea typeface="Trebuchet MS" pitchFamily="34" charset="-122"/>
                <a:cs typeface="Trebuchet MS" pitchFamily="34" charset="-120"/>
              </a:rPr>
              <a:t>Tokens, Not Words</a:t>
            </a:r>
            <a:endParaRPr lang="en-US" sz="1500" dirty="0"/>
          </a:p>
        </p:txBody>
      </p:sp>
      <p:sp>
        <p:nvSpPr>
          <p:cNvPr id="9" name="Text 6"/>
          <p:cNvSpPr/>
          <p:nvPr/>
        </p:nvSpPr>
        <p:spPr>
          <a:xfrm>
            <a:off x="548640" y="1417320"/>
            <a:ext cx="3611880" cy="77724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LLMs read statistical patterns — not words, not meaning. Every input is broken into tokens and processed as probability sequences.</a:t>
            </a:r>
            <a:endParaRPr lang="en-US" sz="1150" dirty="0"/>
          </a:p>
        </p:txBody>
      </p:sp>
      <p:sp>
        <p:nvSpPr>
          <p:cNvPr id="10" name="Shape 7"/>
          <p:cNvSpPr/>
          <p:nvPr/>
        </p:nvSpPr>
        <p:spPr>
          <a:xfrm>
            <a:off x="365760" y="2487168"/>
            <a:ext cx="3977640" cy="132588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11" name="Shape 8"/>
          <p:cNvSpPr/>
          <p:nvPr/>
        </p:nvSpPr>
        <p:spPr>
          <a:xfrm>
            <a:off x="365760" y="2487168"/>
            <a:ext cx="64008" cy="1325880"/>
          </a:xfrm>
          <a:prstGeom prst="rect">
            <a:avLst/>
          </a:prstGeom>
          <a:solidFill>
            <a:srgbClr val="7C3AED"/>
          </a:solidFill>
          <a:ln w="12700">
            <a:solidFill>
              <a:srgbClr val="7C3AED"/>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547872" y="2551176"/>
            <a:ext cx="411480" cy="411480"/>
          </a:xfrm>
          <a:prstGeom prst="rect">
            <a:avLst/>
          </a:prstGeom>
        </p:spPr>
      </p:pic>
      <p:sp>
        <p:nvSpPr>
          <p:cNvPr id="13" name="Text 9"/>
          <p:cNvSpPr/>
          <p:nvPr/>
        </p:nvSpPr>
        <p:spPr>
          <a:xfrm>
            <a:off x="548640" y="2514600"/>
            <a:ext cx="3200400" cy="347472"/>
          </a:xfrm>
          <a:prstGeom prst="rect">
            <a:avLst/>
          </a:prstGeom>
          <a:noFill/>
          <a:ln/>
        </p:spPr>
        <p:txBody>
          <a:bodyPr wrap="square" lIns="0" tIns="0" rIns="0" bIns="0" rtlCol="0" anchor="ctr"/>
          <a:lstStyle/>
          <a:p>
            <a:pPr marL="0" indent="0">
              <a:buNone/>
            </a:pPr>
            <a:r>
              <a:rPr lang="en-US" sz="1500" b="1" dirty="0">
                <a:solidFill>
                  <a:srgbClr val="1B2A4A"/>
                </a:solidFill>
                <a:latin typeface="Trebuchet MS" pitchFamily="34" charset="0"/>
                <a:ea typeface="Trebuchet MS" pitchFamily="34" charset="-122"/>
                <a:cs typeface="Trebuchet MS" pitchFamily="34" charset="-120"/>
              </a:rPr>
              <a:t>The Context Window</a:t>
            </a:r>
            <a:endParaRPr lang="en-US" sz="1500" dirty="0"/>
          </a:p>
        </p:txBody>
      </p:sp>
      <p:sp>
        <p:nvSpPr>
          <p:cNvPr id="14" name="Text 10"/>
          <p:cNvSpPr/>
          <p:nvPr/>
        </p:nvSpPr>
        <p:spPr>
          <a:xfrm>
            <a:off x="548640" y="2852928"/>
            <a:ext cx="3611880" cy="77724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AI only knows what's inside the current conversation. No memory across sessions. No background knowledge of your org. No implicit assumptions.</a:t>
            </a:r>
            <a:endParaRPr lang="en-US" sz="1150" dirty="0"/>
          </a:p>
        </p:txBody>
      </p:sp>
      <p:sp>
        <p:nvSpPr>
          <p:cNvPr id="15" name="Shape 11"/>
          <p:cNvSpPr/>
          <p:nvPr/>
        </p:nvSpPr>
        <p:spPr>
          <a:xfrm>
            <a:off x="4663440" y="1051560"/>
            <a:ext cx="4069080" cy="2761488"/>
          </a:xfrm>
          <a:prstGeom prst="rect">
            <a:avLst/>
          </a:prstGeom>
          <a:solidFill>
            <a:srgbClr val="FFFFFF"/>
          </a:solidFill>
          <a:ln w="1270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16" name="Shape 12"/>
          <p:cNvSpPr/>
          <p:nvPr/>
        </p:nvSpPr>
        <p:spPr>
          <a:xfrm>
            <a:off x="4663440" y="1051560"/>
            <a:ext cx="64008" cy="2761488"/>
          </a:xfrm>
          <a:prstGeom prst="rect">
            <a:avLst/>
          </a:prstGeom>
          <a:solidFill>
            <a:srgbClr val="F59E0B"/>
          </a:solidFill>
          <a:ln w="12700">
            <a:solidFill>
              <a:srgbClr val="F59E0B"/>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8138160" y="1115568"/>
            <a:ext cx="411480" cy="411480"/>
          </a:xfrm>
          <a:prstGeom prst="rect">
            <a:avLst/>
          </a:prstGeom>
        </p:spPr>
      </p:pic>
      <p:sp>
        <p:nvSpPr>
          <p:cNvPr id="18" name="Text 13"/>
          <p:cNvSpPr/>
          <p:nvPr/>
        </p:nvSpPr>
        <p:spPr>
          <a:xfrm>
            <a:off x="4846320" y="1115568"/>
            <a:ext cx="3246120" cy="347472"/>
          </a:xfrm>
          <a:prstGeom prst="rect">
            <a:avLst/>
          </a:prstGeom>
          <a:noFill/>
          <a:ln/>
        </p:spPr>
        <p:txBody>
          <a:bodyPr wrap="square" lIns="0" tIns="0" rIns="0" bIns="0" rtlCol="0" anchor="ctr"/>
          <a:lstStyle/>
          <a:p>
            <a:pPr marL="0" indent="0">
              <a:buNone/>
            </a:pPr>
            <a:r>
              <a:rPr lang="en-US" sz="1400" b="1" dirty="0">
                <a:solidFill>
                  <a:srgbClr val="F59E0B"/>
                </a:solidFill>
                <a:latin typeface="Trebuchet MS" pitchFamily="34" charset="0"/>
                <a:ea typeface="Trebuchet MS" pitchFamily="34" charset="-122"/>
                <a:cs typeface="Trebuchet MS" pitchFamily="34" charset="-120"/>
              </a:rPr>
              <a:t>The Practical Implication</a:t>
            </a:r>
            <a:endParaRPr lang="en-US" sz="1400" dirty="0"/>
          </a:p>
        </p:txBody>
      </p:sp>
      <p:sp>
        <p:nvSpPr>
          <p:cNvPr id="19" name="Text 14"/>
          <p:cNvSpPr/>
          <p:nvPr/>
        </p:nvSpPr>
        <p:spPr>
          <a:xfrm>
            <a:off x="4846320" y="1554480"/>
            <a:ext cx="3246120" cy="438912"/>
          </a:xfrm>
          <a:prstGeom prst="rect">
            <a:avLst/>
          </a:prstGeom>
          <a:noFill/>
          <a:ln/>
        </p:spPr>
        <p:txBody>
          <a:bodyPr wrap="square" lIns="0" tIns="0" rIns="0" bIns="0" rtlCol="0" anchor="ctr"/>
          <a:lstStyle/>
          <a:p>
            <a:pPr marL="0" indent="0">
              <a:buNone/>
            </a:pPr>
            <a:r>
              <a:rPr lang="en-US" sz="2200" b="1" dirty="0">
                <a:solidFill>
                  <a:srgbClr val="1B2A4A"/>
                </a:solidFill>
                <a:latin typeface="Trebuchet MS" pitchFamily="34" charset="0"/>
                <a:ea typeface="Trebuchet MS" pitchFamily="34" charset="-122"/>
                <a:cs typeface="Trebuchet MS" pitchFamily="34" charset="-120"/>
              </a:rPr>
              <a:t>You are the context.</a:t>
            </a:r>
            <a:endParaRPr lang="en-US" sz="2200" dirty="0"/>
          </a:p>
        </p:txBody>
      </p:sp>
      <p:sp>
        <p:nvSpPr>
          <p:cNvPr id="20" name="Text 15"/>
          <p:cNvSpPr/>
          <p:nvPr/>
        </p:nvSpPr>
        <p:spPr>
          <a:xfrm>
            <a:off x="4846320" y="2029968"/>
            <a:ext cx="3566160" cy="896112"/>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What you don't tell the AI, it fills in with statistical averages — not FHB’s policies and standards.</a:t>
            </a:r>
            <a:endParaRPr lang="en-US" sz="1200" dirty="0"/>
          </a:p>
        </p:txBody>
      </p:sp>
      <p:sp>
        <p:nvSpPr>
          <p:cNvPr id="21" name="Shape 16"/>
          <p:cNvSpPr/>
          <p:nvPr/>
        </p:nvSpPr>
        <p:spPr>
          <a:xfrm>
            <a:off x="365760" y="3977640"/>
            <a:ext cx="8412480" cy="713232"/>
          </a:xfrm>
          <a:prstGeom prst="rect">
            <a:avLst/>
          </a:prstGeom>
          <a:solidFill>
            <a:srgbClr val="0D9488">
              <a:alpha val="12000"/>
            </a:srgbClr>
          </a:solidFill>
          <a:ln w="9525">
            <a:solidFill>
              <a:srgbClr val="0D9488">
                <a:alpha val="50000"/>
              </a:srgbClr>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502920" y="4160520"/>
            <a:ext cx="292608" cy="292608"/>
          </a:xfrm>
          <a:prstGeom prst="rect">
            <a:avLst/>
          </a:prstGeom>
        </p:spPr>
      </p:pic>
      <p:sp>
        <p:nvSpPr>
          <p:cNvPr id="23" name="Text 17"/>
          <p:cNvSpPr/>
          <p:nvPr/>
        </p:nvSpPr>
        <p:spPr>
          <a:xfrm>
            <a:off x="914400" y="4023360"/>
            <a:ext cx="7589520" cy="640080"/>
          </a:xfrm>
          <a:prstGeom prst="rect">
            <a:avLst/>
          </a:prstGeom>
          <a:noFill/>
          <a:ln/>
        </p:spPr>
        <p:txBody>
          <a:bodyPr wrap="square" lIns="0" tIns="0" rIns="0" bIns="0" rtlCol="0" anchor="ctr"/>
          <a:lstStyle/>
          <a:p>
            <a:pPr marL="0" indent="0">
              <a:buNone/>
            </a:pPr>
            <a:r>
              <a:rPr lang="en-US" sz="1250" b="1" i="1" dirty="0">
                <a:solidFill>
                  <a:srgbClr val="1B2A4A"/>
                </a:solidFill>
                <a:latin typeface="Calibri" pitchFamily="34" charset="0"/>
                <a:ea typeface="Calibri" pitchFamily="34" charset="-122"/>
                <a:cs typeface="Calibri" pitchFamily="34" charset="-120"/>
              </a:rPr>
              <a:t>A vague prompt gets a statistically average answer — not an answer calibrated to your professional context.</a:t>
            </a:r>
            <a:endParaRPr lang="en-US" sz="1250" dirty="0"/>
          </a:p>
        </p:txBody>
      </p:sp>
      <p:sp>
        <p:nvSpPr>
          <p:cNvPr id="24" name="Text 18"/>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64592"/>
            <a:ext cx="8229600" cy="475488"/>
          </a:xfrm>
          <a:prstGeom prst="rect">
            <a:avLst/>
          </a:prstGeom>
          <a:noFill/>
          <a:ln/>
        </p:spPr>
        <p:txBody>
          <a:bodyPr wrap="square" lIns="0" tIns="0" rIns="0" bIns="0" rtlCol="0" anchor="ctr"/>
          <a:lstStyle/>
          <a:p>
            <a:pPr marL="0" indent="0">
              <a:buNone/>
            </a:pPr>
            <a:r>
              <a:rPr lang="en-US" sz="2800" b="1" dirty="0">
                <a:solidFill>
                  <a:srgbClr val="1B2A4A"/>
                </a:solidFill>
                <a:latin typeface="Trebuchet MS" pitchFamily="34" charset="0"/>
                <a:ea typeface="Trebuchet MS" pitchFamily="34" charset="-122"/>
                <a:cs typeface="Trebuchet MS" pitchFamily="34" charset="-120"/>
              </a:rPr>
              <a:t>Anatomy of an Effective Prompt</a:t>
            </a:r>
            <a:endParaRPr lang="en-US" sz="2800" dirty="0"/>
          </a:p>
        </p:txBody>
      </p:sp>
      <p:sp>
        <p:nvSpPr>
          <p:cNvPr id="4" name="Text 2"/>
          <p:cNvSpPr/>
          <p:nvPr/>
        </p:nvSpPr>
        <p:spPr>
          <a:xfrm>
            <a:off x="457200" y="667512"/>
            <a:ext cx="8229600" cy="25603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Four components that transform a vague request into a professional output</a:t>
            </a:r>
            <a:endParaRPr lang="en-US" sz="1200" dirty="0"/>
          </a:p>
        </p:txBody>
      </p:sp>
      <p:sp>
        <p:nvSpPr>
          <p:cNvPr id="5" name="Shape 3"/>
          <p:cNvSpPr/>
          <p:nvPr/>
        </p:nvSpPr>
        <p:spPr>
          <a:xfrm>
            <a:off x="365760" y="1078992"/>
            <a:ext cx="3886200" cy="1481328"/>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6" name="Shape 4"/>
          <p:cNvSpPr/>
          <p:nvPr/>
        </p:nvSpPr>
        <p:spPr>
          <a:xfrm>
            <a:off x="365760" y="1078992"/>
            <a:ext cx="64008" cy="1481328"/>
          </a:xfrm>
          <a:prstGeom prst="rect">
            <a:avLst/>
          </a:prstGeom>
          <a:solidFill>
            <a:srgbClr val="0D9488"/>
          </a:solidFill>
          <a:ln w="12700">
            <a:solidFill>
              <a:srgbClr val="0D9488"/>
            </a:solidFill>
            <a:prstDash val="solid"/>
          </a:ln>
        </p:spPr>
        <p:txBody>
          <a:bodyPr/>
          <a:lstStyle/>
          <a:p>
            <a:endParaRPr lang="en-US"/>
          </a:p>
        </p:txBody>
      </p:sp>
      <p:sp>
        <p:nvSpPr>
          <p:cNvPr id="7" name="Shape 5"/>
          <p:cNvSpPr/>
          <p:nvPr/>
        </p:nvSpPr>
        <p:spPr>
          <a:xfrm>
            <a:off x="502920" y="1188720"/>
            <a:ext cx="384048" cy="384048"/>
          </a:xfrm>
          <a:prstGeom prst="ellipse">
            <a:avLst/>
          </a:prstGeom>
          <a:solidFill>
            <a:srgbClr val="0D9488"/>
          </a:solidFill>
          <a:ln w="12700">
            <a:solidFill>
              <a:srgbClr val="0D9488"/>
            </a:solidFill>
            <a:prstDash val="solid"/>
          </a:ln>
        </p:spPr>
        <p:txBody>
          <a:bodyPr/>
          <a:lstStyle/>
          <a:p>
            <a:endParaRPr lang="en-US"/>
          </a:p>
        </p:txBody>
      </p:sp>
      <p:sp>
        <p:nvSpPr>
          <p:cNvPr id="8" name="Text 6"/>
          <p:cNvSpPr/>
          <p:nvPr/>
        </p:nvSpPr>
        <p:spPr>
          <a:xfrm>
            <a:off x="502920" y="11887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pic>
        <p:nvPicPr>
          <p:cNvPr id="9" name="Image 0" descr="preencoded.png"/>
          <p:cNvPicPr>
            <a:picLocks noChangeAspect="1"/>
          </p:cNvPicPr>
          <p:nvPr/>
        </p:nvPicPr>
        <p:blipFill>
          <a:blip r:embed="rId3"/>
          <a:stretch>
            <a:fillRect/>
          </a:stretch>
        </p:blipFill>
        <p:spPr>
          <a:xfrm>
            <a:off x="3685032" y="1188720"/>
            <a:ext cx="384048" cy="384048"/>
          </a:xfrm>
          <a:prstGeom prst="rect">
            <a:avLst/>
          </a:prstGeom>
        </p:spPr>
      </p:pic>
      <p:sp>
        <p:nvSpPr>
          <p:cNvPr id="10" name="Text 7"/>
          <p:cNvSpPr/>
          <p:nvPr/>
        </p:nvSpPr>
        <p:spPr>
          <a:xfrm>
            <a:off x="1005840" y="1188720"/>
            <a:ext cx="2651760" cy="384048"/>
          </a:xfrm>
          <a:prstGeom prst="rect">
            <a:avLst/>
          </a:prstGeom>
          <a:noFill/>
          <a:ln/>
        </p:spPr>
        <p:txBody>
          <a:bodyPr wrap="square" lIns="0" tIns="0" rIns="0" bIns="0" rtlCol="0" anchor="ctr"/>
          <a:lstStyle/>
          <a:p>
            <a:pPr marL="0" indent="0">
              <a:buNone/>
            </a:pPr>
            <a:r>
              <a:rPr lang="en-US" sz="1600" b="1" dirty="0">
                <a:solidFill>
                  <a:srgbClr val="1B2A4A"/>
                </a:solidFill>
                <a:latin typeface="Trebuchet MS" pitchFamily="34" charset="0"/>
                <a:ea typeface="Trebuchet MS" pitchFamily="34" charset="-122"/>
                <a:cs typeface="Trebuchet MS" pitchFamily="34" charset="-120"/>
              </a:rPr>
              <a:t>Context</a:t>
            </a:r>
            <a:endParaRPr lang="en-US" sz="1600" dirty="0"/>
          </a:p>
        </p:txBody>
      </p:sp>
      <p:sp>
        <p:nvSpPr>
          <p:cNvPr id="11" name="Text 8"/>
          <p:cNvSpPr/>
          <p:nvPr/>
        </p:nvSpPr>
        <p:spPr>
          <a:xfrm>
            <a:off x="530352" y="1645920"/>
            <a:ext cx="3566160" cy="77724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Who you are, what your situation is, what background the AI needs</a:t>
            </a:r>
            <a:endParaRPr lang="en-US" sz="1150" dirty="0"/>
          </a:p>
        </p:txBody>
      </p:sp>
      <p:sp>
        <p:nvSpPr>
          <p:cNvPr id="12" name="Shape 9"/>
          <p:cNvSpPr/>
          <p:nvPr/>
        </p:nvSpPr>
        <p:spPr>
          <a:xfrm>
            <a:off x="4480560" y="1078992"/>
            <a:ext cx="3886200" cy="1481328"/>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13" name="Shape 10"/>
          <p:cNvSpPr/>
          <p:nvPr/>
        </p:nvSpPr>
        <p:spPr>
          <a:xfrm>
            <a:off x="4480560" y="1078992"/>
            <a:ext cx="64008" cy="1481328"/>
          </a:xfrm>
          <a:prstGeom prst="rect">
            <a:avLst/>
          </a:prstGeom>
          <a:solidFill>
            <a:srgbClr val="F97316"/>
          </a:solidFill>
          <a:ln w="12700">
            <a:solidFill>
              <a:srgbClr val="F97316"/>
            </a:solidFill>
            <a:prstDash val="solid"/>
          </a:ln>
        </p:spPr>
        <p:txBody>
          <a:bodyPr/>
          <a:lstStyle/>
          <a:p>
            <a:endParaRPr lang="en-US"/>
          </a:p>
        </p:txBody>
      </p:sp>
      <p:sp>
        <p:nvSpPr>
          <p:cNvPr id="14" name="Shape 11"/>
          <p:cNvSpPr/>
          <p:nvPr/>
        </p:nvSpPr>
        <p:spPr>
          <a:xfrm>
            <a:off x="4617720" y="1188720"/>
            <a:ext cx="384048" cy="384048"/>
          </a:xfrm>
          <a:prstGeom prst="ellipse">
            <a:avLst/>
          </a:prstGeom>
          <a:solidFill>
            <a:srgbClr val="F97316"/>
          </a:solidFill>
          <a:ln w="12700">
            <a:solidFill>
              <a:srgbClr val="F97316"/>
            </a:solidFill>
            <a:prstDash val="solid"/>
          </a:ln>
        </p:spPr>
        <p:txBody>
          <a:bodyPr/>
          <a:lstStyle/>
          <a:p>
            <a:endParaRPr lang="en-US"/>
          </a:p>
        </p:txBody>
      </p:sp>
      <p:sp>
        <p:nvSpPr>
          <p:cNvPr id="15" name="Text 12"/>
          <p:cNvSpPr/>
          <p:nvPr/>
        </p:nvSpPr>
        <p:spPr>
          <a:xfrm>
            <a:off x="4617720" y="11887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pic>
        <p:nvPicPr>
          <p:cNvPr id="16" name="Image 1" descr="preencoded.png"/>
          <p:cNvPicPr>
            <a:picLocks noChangeAspect="1"/>
          </p:cNvPicPr>
          <p:nvPr/>
        </p:nvPicPr>
        <p:blipFill>
          <a:blip r:embed="rId4"/>
          <a:stretch>
            <a:fillRect/>
          </a:stretch>
        </p:blipFill>
        <p:spPr>
          <a:xfrm>
            <a:off x="7799832" y="1188720"/>
            <a:ext cx="384048" cy="384048"/>
          </a:xfrm>
          <a:prstGeom prst="rect">
            <a:avLst/>
          </a:prstGeom>
        </p:spPr>
      </p:pic>
      <p:sp>
        <p:nvSpPr>
          <p:cNvPr id="17" name="Text 13"/>
          <p:cNvSpPr/>
          <p:nvPr/>
        </p:nvSpPr>
        <p:spPr>
          <a:xfrm>
            <a:off x="5120640" y="1188720"/>
            <a:ext cx="2651760" cy="384048"/>
          </a:xfrm>
          <a:prstGeom prst="rect">
            <a:avLst/>
          </a:prstGeom>
          <a:noFill/>
          <a:ln/>
        </p:spPr>
        <p:txBody>
          <a:bodyPr wrap="square" lIns="0" tIns="0" rIns="0" bIns="0" rtlCol="0" anchor="ctr"/>
          <a:lstStyle/>
          <a:p>
            <a:pPr marL="0" indent="0">
              <a:buNone/>
            </a:pPr>
            <a:r>
              <a:rPr lang="en-US" sz="1600" b="1" dirty="0">
                <a:solidFill>
                  <a:srgbClr val="1B2A4A"/>
                </a:solidFill>
                <a:latin typeface="Trebuchet MS" pitchFamily="34" charset="0"/>
                <a:ea typeface="Trebuchet MS" pitchFamily="34" charset="-122"/>
                <a:cs typeface="Trebuchet MS" pitchFamily="34" charset="-120"/>
              </a:rPr>
              <a:t>Instruction</a:t>
            </a:r>
            <a:endParaRPr lang="en-US" sz="1600" dirty="0"/>
          </a:p>
        </p:txBody>
      </p:sp>
      <p:sp>
        <p:nvSpPr>
          <p:cNvPr id="18" name="Text 14"/>
          <p:cNvSpPr/>
          <p:nvPr/>
        </p:nvSpPr>
        <p:spPr>
          <a:xfrm>
            <a:off x="4645152" y="1645920"/>
            <a:ext cx="3566160" cy="77724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The specific task — explicit and unambiguous</a:t>
            </a:r>
            <a:endParaRPr lang="en-US" sz="1150" dirty="0"/>
          </a:p>
        </p:txBody>
      </p:sp>
      <p:sp>
        <p:nvSpPr>
          <p:cNvPr id="19" name="Shape 15"/>
          <p:cNvSpPr/>
          <p:nvPr/>
        </p:nvSpPr>
        <p:spPr>
          <a:xfrm>
            <a:off x="365760" y="2724912"/>
            <a:ext cx="3886200" cy="1481328"/>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20" name="Shape 16"/>
          <p:cNvSpPr/>
          <p:nvPr/>
        </p:nvSpPr>
        <p:spPr>
          <a:xfrm>
            <a:off x="365760" y="2724912"/>
            <a:ext cx="64008" cy="1481328"/>
          </a:xfrm>
          <a:prstGeom prst="rect">
            <a:avLst/>
          </a:prstGeom>
          <a:solidFill>
            <a:srgbClr val="7C3AED"/>
          </a:solidFill>
          <a:ln w="12700">
            <a:solidFill>
              <a:srgbClr val="7C3AED"/>
            </a:solidFill>
            <a:prstDash val="solid"/>
          </a:ln>
        </p:spPr>
        <p:txBody>
          <a:bodyPr/>
          <a:lstStyle/>
          <a:p>
            <a:endParaRPr lang="en-US"/>
          </a:p>
        </p:txBody>
      </p:sp>
      <p:sp>
        <p:nvSpPr>
          <p:cNvPr id="21" name="Shape 17"/>
          <p:cNvSpPr/>
          <p:nvPr/>
        </p:nvSpPr>
        <p:spPr>
          <a:xfrm>
            <a:off x="502920" y="2834640"/>
            <a:ext cx="384048" cy="384048"/>
          </a:xfrm>
          <a:prstGeom prst="ellipse">
            <a:avLst/>
          </a:prstGeom>
          <a:solidFill>
            <a:srgbClr val="7C3AED"/>
          </a:solidFill>
          <a:ln w="12700">
            <a:solidFill>
              <a:srgbClr val="7C3AED"/>
            </a:solidFill>
            <a:prstDash val="solid"/>
          </a:ln>
        </p:spPr>
        <p:txBody>
          <a:bodyPr/>
          <a:lstStyle/>
          <a:p>
            <a:endParaRPr lang="en-US"/>
          </a:p>
        </p:txBody>
      </p:sp>
      <p:sp>
        <p:nvSpPr>
          <p:cNvPr id="22" name="Text 18"/>
          <p:cNvSpPr/>
          <p:nvPr/>
        </p:nvSpPr>
        <p:spPr>
          <a:xfrm>
            <a:off x="502920" y="28346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pic>
        <p:nvPicPr>
          <p:cNvPr id="23" name="Image 2" descr="preencoded.png"/>
          <p:cNvPicPr>
            <a:picLocks noChangeAspect="1"/>
          </p:cNvPicPr>
          <p:nvPr/>
        </p:nvPicPr>
        <p:blipFill>
          <a:blip r:embed="rId5"/>
          <a:stretch>
            <a:fillRect/>
          </a:stretch>
        </p:blipFill>
        <p:spPr>
          <a:xfrm>
            <a:off x="3685032" y="2834640"/>
            <a:ext cx="384048" cy="384048"/>
          </a:xfrm>
          <a:prstGeom prst="rect">
            <a:avLst/>
          </a:prstGeom>
        </p:spPr>
      </p:pic>
      <p:sp>
        <p:nvSpPr>
          <p:cNvPr id="24" name="Text 19"/>
          <p:cNvSpPr/>
          <p:nvPr/>
        </p:nvSpPr>
        <p:spPr>
          <a:xfrm>
            <a:off x="1005840" y="2834640"/>
            <a:ext cx="2651760" cy="384048"/>
          </a:xfrm>
          <a:prstGeom prst="rect">
            <a:avLst/>
          </a:prstGeom>
          <a:noFill/>
          <a:ln/>
        </p:spPr>
        <p:txBody>
          <a:bodyPr wrap="square" lIns="0" tIns="0" rIns="0" bIns="0" rtlCol="0" anchor="ctr"/>
          <a:lstStyle/>
          <a:p>
            <a:pPr marL="0" indent="0">
              <a:buNone/>
            </a:pPr>
            <a:r>
              <a:rPr lang="en-US" sz="1600" b="1" dirty="0">
                <a:solidFill>
                  <a:srgbClr val="1B2A4A"/>
                </a:solidFill>
                <a:latin typeface="Trebuchet MS" pitchFamily="34" charset="0"/>
                <a:ea typeface="Trebuchet MS" pitchFamily="34" charset="-122"/>
                <a:cs typeface="Trebuchet MS" pitchFamily="34" charset="-120"/>
              </a:rPr>
              <a:t>Format</a:t>
            </a:r>
            <a:endParaRPr lang="en-US" sz="1600" dirty="0"/>
          </a:p>
        </p:txBody>
      </p:sp>
      <p:sp>
        <p:nvSpPr>
          <p:cNvPr id="25" name="Text 20"/>
          <p:cNvSpPr/>
          <p:nvPr/>
        </p:nvSpPr>
        <p:spPr>
          <a:xfrm>
            <a:off x="530352" y="3291840"/>
            <a:ext cx="3566160" cy="77724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How you want the output: table, bullets, JSON, paragraph, checklist</a:t>
            </a:r>
            <a:endParaRPr lang="en-US" sz="1150" dirty="0"/>
          </a:p>
        </p:txBody>
      </p:sp>
      <p:sp>
        <p:nvSpPr>
          <p:cNvPr id="26" name="Shape 21"/>
          <p:cNvSpPr/>
          <p:nvPr/>
        </p:nvSpPr>
        <p:spPr>
          <a:xfrm>
            <a:off x="4480560" y="2724912"/>
            <a:ext cx="3886200" cy="1481328"/>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27" name="Shape 22"/>
          <p:cNvSpPr/>
          <p:nvPr/>
        </p:nvSpPr>
        <p:spPr>
          <a:xfrm>
            <a:off x="4480560" y="2724912"/>
            <a:ext cx="64008" cy="1481328"/>
          </a:xfrm>
          <a:prstGeom prst="rect">
            <a:avLst/>
          </a:prstGeom>
          <a:solidFill>
            <a:srgbClr val="F59E0B"/>
          </a:solidFill>
          <a:ln w="12700">
            <a:solidFill>
              <a:srgbClr val="F59E0B"/>
            </a:solidFill>
            <a:prstDash val="solid"/>
          </a:ln>
        </p:spPr>
        <p:txBody>
          <a:bodyPr/>
          <a:lstStyle/>
          <a:p>
            <a:endParaRPr lang="en-US"/>
          </a:p>
        </p:txBody>
      </p:sp>
      <p:sp>
        <p:nvSpPr>
          <p:cNvPr id="28" name="Shape 23"/>
          <p:cNvSpPr/>
          <p:nvPr/>
        </p:nvSpPr>
        <p:spPr>
          <a:xfrm>
            <a:off x="4617720" y="2834640"/>
            <a:ext cx="384048" cy="384048"/>
          </a:xfrm>
          <a:prstGeom prst="ellipse">
            <a:avLst/>
          </a:prstGeom>
          <a:solidFill>
            <a:srgbClr val="F59E0B"/>
          </a:solidFill>
          <a:ln w="12700">
            <a:solidFill>
              <a:srgbClr val="F59E0B"/>
            </a:solidFill>
            <a:prstDash val="solid"/>
          </a:ln>
        </p:spPr>
        <p:txBody>
          <a:bodyPr/>
          <a:lstStyle/>
          <a:p>
            <a:endParaRPr lang="en-US"/>
          </a:p>
        </p:txBody>
      </p:sp>
      <p:sp>
        <p:nvSpPr>
          <p:cNvPr id="29" name="Text 24"/>
          <p:cNvSpPr/>
          <p:nvPr/>
        </p:nvSpPr>
        <p:spPr>
          <a:xfrm>
            <a:off x="4617720" y="28346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pic>
        <p:nvPicPr>
          <p:cNvPr id="30" name="Image 3" descr="preencoded.png"/>
          <p:cNvPicPr>
            <a:picLocks noChangeAspect="1"/>
          </p:cNvPicPr>
          <p:nvPr/>
        </p:nvPicPr>
        <p:blipFill>
          <a:blip r:embed="rId6"/>
          <a:stretch>
            <a:fillRect/>
          </a:stretch>
        </p:blipFill>
        <p:spPr>
          <a:xfrm>
            <a:off x="7799832" y="2834640"/>
            <a:ext cx="384048" cy="384048"/>
          </a:xfrm>
          <a:prstGeom prst="rect">
            <a:avLst/>
          </a:prstGeom>
        </p:spPr>
      </p:pic>
      <p:sp>
        <p:nvSpPr>
          <p:cNvPr id="31" name="Text 25"/>
          <p:cNvSpPr/>
          <p:nvPr/>
        </p:nvSpPr>
        <p:spPr>
          <a:xfrm>
            <a:off x="5120640" y="2834640"/>
            <a:ext cx="2651760" cy="384048"/>
          </a:xfrm>
          <a:prstGeom prst="rect">
            <a:avLst/>
          </a:prstGeom>
          <a:noFill/>
          <a:ln/>
        </p:spPr>
        <p:txBody>
          <a:bodyPr wrap="square" lIns="0" tIns="0" rIns="0" bIns="0" rtlCol="0" anchor="ctr"/>
          <a:lstStyle/>
          <a:p>
            <a:pPr marL="0" indent="0">
              <a:buNone/>
            </a:pPr>
            <a:r>
              <a:rPr lang="en-US" sz="1600" b="1" dirty="0">
                <a:solidFill>
                  <a:srgbClr val="1B2A4A"/>
                </a:solidFill>
                <a:latin typeface="Trebuchet MS" pitchFamily="34" charset="0"/>
                <a:ea typeface="Trebuchet MS" pitchFamily="34" charset="-122"/>
                <a:cs typeface="Trebuchet MS" pitchFamily="34" charset="-120"/>
              </a:rPr>
              <a:t>Constraints</a:t>
            </a:r>
            <a:endParaRPr lang="en-US" sz="1600" dirty="0"/>
          </a:p>
        </p:txBody>
      </p:sp>
      <p:sp>
        <p:nvSpPr>
          <p:cNvPr id="32" name="Text 26"/>
          <p:cNvSpPr/>
          <p:nvPr/>
        </p:nvSpPr>
        <p:spPr>
          <a:xfrm>
            <a:off x="4645152" y="3291840"/>
            <a:ext cx="3566160" cy="77724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What to include, exclude, assume, avoid — guardrails for the response</a:t>
            </a:r>
            <a:endParaRPr lang="en-US" sz="1150" dirty="0"/>
          </a:p>
        </p:txBody>
      </p:sp>
      <p:sp>
        <p:nvSpPr>
          <p:cNvPr id="33" name="Shape 27"/>
          <p:cNvSpPr/>
          <p:nvPr/>
        </p:nvSpPr>
        <p:spPr>
          <a:xfrm>
            <a:off x="365760" y="4187952"/>
            <a:ext cx="8412480" cy="777240"/>
          </a:xfrm>
          <a:prstGeom prst="rect">
            <a:avLst/>
          </a:prstGeom>
          <a:solidFill>
            <a:srgbClr val="1B2A4A"/>
          </a:solidFill>
          <a:ln w="12700">
            <a:solidFill>
              <a:srgbClr val="1B2A4A"/>
            </a:solidFill>
            <a:prstDash val="solid"/>
          </a:ln>
          <a:effectLst>
            <a:outerShdw blurRad="101600" dist="38100" dir="8100000" algn="bl" rotWithShape="0">
              <a:srgbClr val="000000">
                <a:alpha val="13000"/>
              </a:srgbClr>
            </a:outerShdw>
          </a:effectLst>
        </p:spPr>
        <p:txBody>
          <a:bodyPr/>
          <a:lstStyle/>
          <a:p>
            <a:endParaRPr lang="en-US"/>
          </a:p>
        </p:txBody>
      </p:sp>
      <p:sp>
        <p:nvSpPr>
          <p:cNvPr id="34" name="Shape 28"/>
          <p:cNvSpPr/>
          <p:nvPr/>
        </p:nvSpPr>
        <p:spPr>
          <a:xfrm>
            <a:off x="365760" y="4187952"/>
            <a:ext cx="64008" cy="777240"/>
          </a:xfrm>
          <a:prstGeom prst="rect">
            <a:avLst/>
          </a:prstGeom>
          <a:solidFill>
            <a:srgbClr val="F59E0B"/>
          </a:solidFill>
          <a:ln w="12700">
            <a:solidFill>
              <a:srgbClr val="F59E0B"/>
            </a:solidFill>
            <a:prstDash val="solid"/>
          </a:ln>
        </p:spPr>
        <p:txBody>
          <a:bodyPr/>
          <a:lstStyle/>
          <a:p>
            <a:endParaRPr lang="en-US"/>
          </a:p>
        </p:txBody>
      </p:sp>
      <p:sp>
        <p:nvSpPr>
          <p:cNvPr id="35" name="Text 29"/>
          <p:cNvSpPr/>
          <p:nvPr/>
        </p:nvSpPr>
        <p:spPr>
          <a:xfrm>
            <a:off x="548640" y="4206240"/>
            <a:ext cx="8092440" cy="731520"/>
          </a:xfrm>
          <a:prstGeom prst="rect">
            <a:avLst/>
          </a:prstGeom>
          <a:noFill/>
          <a:ln/>
        </p:spPr>
        <p:txBody>
          <a:bodyPr wrap="square" lIns="0" tIns="0" rIns="0" bIns="0" rtlCol="0" anchor="ctr"/>
          <a:lstStyle/>
          <a:p>
            <a:pPr marL="0" indent="0">
              <a:buNone/>
            </a:pPr>
            <a:r>
              <a:rPr lang="en-US" sz="1050" b="1" dirty="0">
                <a:solidFill>
                  <a:srgbClr val="F97316"/>
                </a:solidFill>
                <a:latin typeface="Calibri" pitchFamily="34" charset="0"/>
                <a:ea typeface="Calibri" pitchFamily="34" charset="-122"/>
                <a:cs typeface="Calibri" pitchFamily="34" charset="-120"/>
              </a:rPr>
              <a:t>❌ Vague: </a:t>
            </a:r>
            <a:r>
              <a:rPr lang="en-US" sz="1050" i="1" dirty="0">
                <a:solidFill>
                  <a:srgbClr val="BBBBBB"/>
                </a:solidFill>
                <a:latin typeface="Calibri" pitchFamily="34" charset="0"/>
                <a:ea typeface="Calibri" pitchFamily="34" charset="-122"/>
                <a:cs typeface="Calibri" pitchFamily="34" charset="-120"/>
              </a:rPr>
              <a:t>"Write a summary of this vendor."</a:t>
            </a:r>
            <a:r>
              <a:rPr lang="en-US" sz="1050" b="1" dirty="0">
                <a:solidFill>
                  <a:srgbClr val="5EEAD4"/>
                </a:solidFill>
                <a:latin typeface="Calibri" pitchFamily="34" charset="0"/>
                <a:ea typeface="Calibri" pitchFamily="34" charset="-122"/>
                <a:cs typeface="Calibri" pitchFamily="34" charset="-120"/>
              </a:rPr>
              <a:t>     ✅ Better: </a:t>
            </a:r>
            <a:r>
              <a:rPr lang="en-US" sz="1050" i="1" dirty="0">
                <a:solidFill>
                  <a:srgbClr val="DDDDDD"/>
                </a:solidFill>
                <a:latin typeface="Calibri" pitchFamily="34" charset="0"/>
                <a:ea typeface="Calibri" pitchFamily="34" charset="-122"/>
                <a:cs typeface="Calibri" pitchFamily="34" charset="-120"/>
              </a:rPr>
              <a:t>"You are a cybersecurity analyst at a federally regulated bank. Summarize this vendor's security posture in 3–5 bullets, focusing on data handling and regulatory compliance. Flag any gaps."</a:t>
            </a:r>
            <a:endParaRPr lang="en-US" sz="1050" dirty="0"/>
          </a:p>
        </p:txBody>
      </p:sp>
      <p:sp>
        <p:nvSpPr>
          <p:cNvPr id="36" name="Text 30"/>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64592"/>
            <a:ext cx="7315200" cy="475488"/>
          </a:xfrm>
          <a:prstGeom prst="rect">
            <a:avLst/>
          </a:prstGeom>
          <a:noFill/>
          <a:ln/>
        </p:spPr>
        <p:txBody>
          <a:bodyPr wrap="square" lIns="0" tIns="0" rIns="0" bIns="0" rtlCol="0" anchor="ctr"/>
          <a:lstStyle/>
          <a:p>
            <a:pPr marL="0" indent="0">
              <a:buNone/>
            </a:pPr>
            <a:r>
              <a:rPr lang="en-US" sz="2700" b="1" dirty="0">
                <a:solidFill>
                  <a:srgbClr val="1B2A4A"/>
                </a:solidFill>
                <a:latin typeface="Trebuchet MS" pitchFamily="34" charset="0"/>
                <a:ea typeface="Trebuchet MS" pitchFamily="34" charset="-122"/>
                <a:cs typeface="Trebuchet MS" pitchFamily="34" charset="-120"/>
              </a:rPr>
              <a:t>5 Principles of Effective Prompting</a:t>
            </a:r>
            <a:endParaRPr lang="en-US" sz="2700" dirty="0"/>
          </a:p>
        </p:txBody>
      </p:sp>
      <p:sp>
        <p:nvSpPr>
          <p:cNvPr id="4" name="Shape 2"/>
          <p:cNvSpPr/>
          <p:nvPr/>
        </p:nvSpPr>
        <p:spPr>
          <a:xfrm>
            <a:off x="7498080" y="201168"/>
            <a:ext cx="1325880" cy="347472"/>
          </a:xfrm>
          <a:prstGeom prst="rect">
            <a:avLst/>
          </a:prstGeom>
          <a:solidFill>
            <a:srgbClr val="0D9488"/>
          </a:solidFill>
          <a:ln w="12700">
            <a:solidFill>
              <a:srgbClr val="0D9488"/>
            </a:solidFill>
            <a:prstDash val="solid"/>
          </a:ln>
        </p:spPr>
        <p:txBody>
          <a:bodyPr/>
          <a:lstStyle/>
          <a:p>
            <a:endParaRPr lang="en-US"/>
          </a:p>
        </p:txBody>
      </p:sp>
      <p:sp>
        <p:nvSpPr>
          <p:cNvPr id="5" name="Text 3"/>
          <p:cNvSpPr/>
          <p:nvPr/>
        </p:nvSpPr>
        <p:spPr>
          <a:xfrm>
            <a:off x="7498080" y="201168"/>
            <a:ext cx="13258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Part 1 of 2</a:t>
            </a:r>
            <a:endParaRPr lang="en-US" sz="1000" dirty="0"/>
          </a:p>
        </p:txBody>
      </p:sp>
      <p:sp>
        <p:nvSpPr>
          <p:cNvPr id="6" name="Shape 4"/>
          <p:cNvSpPr/>
          <p:nvPr/>
        </p:nvSpPr>
        <p:spPr>
          <a:xfrm>
            <a:off x="365760" y="804672"/>
            <a:ext cx="8412480" cy="1207008"/>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7" name="Shape 5"/>
          <p:cNvSpPr/>
          <p:nvPr/>
        </p:nvSpPr>
        <p:spPr>
          <a:xfrm>
            <a:off x="365760" y="804672"/>
            <a:ext cx="64008" cy="1207008"/>
          </a:xfrm>
          <a:prstGeom prst="rect">
            <a:avLst/>
          </a:prstGeom>
          <a:solidFill>
            <a:srgbClr val="0D9488"/>
          </a:solidFill>
          <a:ln w="12700">
            <a:solidFill>
              <a:srgbClr val="0D9488"/>
            </a:solidFill>
            <a:prstDash val="solid"/>
          </a:ln>
        </p:spPr>
        <p:txBody>
          <a:bodyPr/>
          <a:lstStyle/>
          <a:p>
            <a:endParaRPr lang="en-US"/>
          </a:p>
        </p:txBody>
      </p:sp>
      <p:sp>
        <p:nvSpPr>
          <p:cNvPr id="8" name="Shape 6"/>
          <p:cNvSpPr/>
          <p:nvPr/>
        </p:nvSpPr>
        <p:spPr>
          <a:xfrm>
            <a:off x="502920" y="896112"/>
            <a:ext cx="502920" cy="502920"/>
          </a:xfrm>
          <a:prstGeom prst="ellipse">
            <a:avLst/>
          </a:prstGeom>
          <a:solidFill>
            <a:srgbClr val="0D9488"/>
          </a:solidFill>
          <a:ln w="12700">
            <a:solidFill>
              <a:srgbClr val="0D9488"/>
            </a:solidFill>
            <a:prstDash val="solid"/>
          </a:ln>
        </p:spPr>
        <p:txBody>
          <a:bodyPr/>
          <a:lstStyle/>
          <a:p>
            <a:endParaRPr lang="en-US"/>
          </a:p>
        </p:txBody>
      </p:sp>
      <p:sp>
        <p:nvSpPr>
          <p:cNvPr id="9" name="Text 7"/>
          <p:cNvSpPr/>
          <p:nvPr/>
        </p:nvSpPr>
        <p:spPr>
          <a:xfrm>
            <a:off x="502920" y="896112"/>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P1</a:t>
            </a:r>
            <a:endParaRPr lang="en-US" sz="1000" dirty="0"/>
          </a:p>
        </p:txBody>
      </p:sp>
      <p:sp>
        <p:nvSpPr>
          <p:cNvPr id="10" name="Text 8"/>
          <p:cNvSpPr/>
          <p:nvPr/>
        </p:nvSpPr>
        <p:spPr>
          <a:xfrm>
            <a:off x="1115568" y="877824"/>
            <a:ext cx="6400800" cy="384048"/>
          </a:xfrm>
          <a:prstGeom prst="rect">
            <a:avLst/>
          </a:prstGeom>
          <a:noFill/>
          <a:ln/>
        </p:spPr>
        <p:txBody>
          <a:bodyPr wrap="square" lIns="0" tIns="0" rIns="0" bIns="0" rtlCol="0" anchor="ctr"/>
          <a:lstStyle/>
          <a:p>
            <a:pPr marL="0" indent="0">
              <a:buNone/>
            </a:pPr>
            <a:r>
              <a:rPr lang="en-US" sz="1500" b="1" dirty="0">
                <a:solidFill>
                  <a:srgbClr val="1B2A4A"/>
                </a:solidFill>
                <a:latin typeface="Trebuchet MS" pitchFamily="34" charset="0"/>
                <a:ea typeface="Trebuchet MS" pitchFamily="34" charset="-122"/>
                <a:cs typeface="Trebuchet MS" pitchFamily="34" charset="-120"/>
              </a:rPr>
              <a:t>Be Specific and Detailed</a:t>
            </a:r>
            <a:endParaRPr lang="en-US" sz="1500" dirty="0"/>
          </a:p>
        </p:txBody>
      </p:sp>
      <p:sp>
        <p:nvSpPr>
          <p:cNvPr id="11" name="Text 9"/>
          <p:cNvSpPr/>
          <p:nvPr/>
        </p:nvSpPr>
        <p:spPr>
          <a:xfrm>
            <a:off x="1115568" y="1261872"/>
            <a:ext cx="6400800" cy="292608"/>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The more context you provide, the less the AI has to guess.</a:t>
            </a:r>
            <a:endParaRPr lang="en-US" sz="1150" dirty="0"/>
          </a:p>
        </p:txBody>
      </p:sp>
      <p:sp>
        <p:nvSpPr>
          <p:cNvPr id="12" name="Text 10"/>
          <p:cNvSpPr/>
          <p:nvPr/>
        </p:nvSpPr>
        <p:spPr>
          <a:xfrm>
            <a:off x="1115568" y="1554480"/>
            <a:ext cx="7223760" cy="384048"/>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  "Summarize this policy"  →  ✅  "Summarize this IT acceptable use policy in plain language for a non-technical audience. Highlight the 3 most important restrictions employees need to know."</a:t>
            </a:r>
            <a:endParaRPr lang="en-US" sz="1050" dirty="0"/>
          </a:p>
        </p:txBody>
      </p:sp>
      <p:sp>
        <p:nvSpPr>
          <p:cNvPr id="13" name="Shape 11"/>
          <p:cNvSpPr/>
          <p:nvPr/>
        </p:nvSpPr>
        <p:spPr>
          <a:xfrm>
            <a:off x="365760" y="2103120"/>
            <a:ext cx="8412480" cy="1207008"/>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14" name="Shape 12"/>
          <p:cNvSpPr/>
          <p:nvPr/>
        </p:nvSpPr>
        <p:spPr>
          <a:xfrm>
            <a:off x="365760" y="2103120"/>
            <a:ext cx="64008" cy="1207008"/>
          </a:xfrm>
          <a:prstGeom prst="rect">
            <a:avLst/>
          </a:prstGeom>
          <a:solidFill>
            <a:srgbClr val="F97316"/>
          </a:solidFill>
          <a:ln w="12700">
            <a:solidFill>
              <a:srgbClr val="F97316"/>
            </a:solidFill>
            <a:prstDash val="solid"/>
          </a:ln>
        </p:spPr>
        <p:txBody>
          <a:bodyPr/>
          <a:lstStyle/>
          <a:p>
            <a:endParaRPr lang="en-US"/>
          </a:p>
        </p:txBody>
      </p:sp>
      <p:sp>
        <p:nvSpPr>
          <p:cNvPr id="15" name="Shape 13"/>
          <p:cNvSpPr/>
          <p:nvPr/>
        </p:nvSpPr>
        <p:spPr>
          <a:xfrm>
            <a:off x="502920" y="2194560"/>
            <a:ext cx="502920" cy="502920"/>
          </a:xfrm>
          <a:prstGeom prst="ellipse">
            <a:avLst/>
          </a:prstGeom>
          <a:solidFill>
            <a:srgbClr val="F97316"/>
          </a:solidFill>
          <a:ln w="12700">
            <a:solidFill>
              <a:srgbClr val="F97316"/>
            </a:solidFill>
            <a:prstDash val="solid"/>
          </a:ln>
        </p:spPr>
        <p:txBody>
          <a:bodyPr/>
          <a:lstStyle/>
          <a:p>
            <a:endParaRPr lang="en-US"/>
          </a:p>
        </p:txBody>
      </p:sp>
      <p:sp>
        <p:nvSpPr>
          <p:cNvPr id="16" name="Text 14"/>
          <p:cNvSpPr/>
          <p:nvPr/>
        </p:nvSpPr>
        <p:spPr>
          <a:xfrm>
            <a:off x="502920" y="2194560"/>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P2</a:t>
            </a:r>
            <a:endParaRPr lang="en-US" sz="1000" dirty="0"/>
          </a:p>
        </p:txBody>
      </p:sp>
      <p:sp>
        <p:nvSpPr>
          <p:cNvPr id="17" name="Text 15"/>
          <p:cNvSpPr/>
          <p:nvPr/>
        </p:nvSpPr>
        <p:spPr>
          <a:xfrm>
            <a:off x="1115568" y="2176272"/>
            <a:ext cx="6400800" cy="384048"/>
          </a:xfrm>
          <a:prstGeom prst="rect">
            <a:avLst/>
          </a:prstGeom>
          <a:noFill/>
          <a:ln/>
        </p:spPr>
        <p:txBody>
          <a:bodyPr wrap="square" lIns="0" tIns="0" rIns="0" bIns="0" rtlCol="0" anchor="ctr"/>
          <a:lstStyle/>
          <a:p>
            <a:pPr marL="0" indent="0">
              <a:buNone/>
            </a:pPr>
            <a:r>
              <a:rPr lang="en-US" sz="1500" b="1" dirty="0">
                <a:solidFill>
                  <a:srgbClr val="1B2A4A"/>
                </a:solidFill>
                <a:latin typeface="Trebuchet MS" pitchFamily="34" charset="0"/>
                <a:ea typeface="Trebuchet MS" pitchFamily="34" charset="-122"/>
                <a:cs typeface="Trebuchet MS" pitchFamily="34" charset="-120"/>
              </a:rPr>
              <a:t>Give the AI a Role</a:t>
            </a:r>
            <a:endParaRPr lang="en-US" sz="1500" dirty="0"/>
          </a:p>
        </p:txBody>
      </p:sp>
      <p:sp>
        <p:nvSpPr>
          <p:cNvPr id="18" name="Text 16"/>
          <p:cNvSpPr/>
          <p:nvPr/>
        </p:nvSpPr>
        <p:spPr>
          <a:xfrm>
            <a:off x="1115568" y="2560320"/>
            <a:ext cx="6400800" cy="292608"/>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Role-framing shapes the model's tone, vocabulary, and frame of reference.</a:t>
            </a:r>
            <a:endParaRPr lang="en-US" sz="1150" dirty="0"/>
          </a:p>
        </p:txBody>
      </p:sp>
      <p:sp>
        <p:nvSpPr>
          <p:cNvPr id="19" name="Text 17"/>
          <p:cNvSpPr/>
          <p:nvPr/>
        </p:nvSpPr>
        <p:spPr>
          <a:xfrm>
            <a:off x="1115568" y="2852928"/>
            <a:ext cx="7223760" cy="384048"/>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"You are a senior security engineer reviewing a vendor offering for our SOC ..."</a:t>
            </a:r>
            <a:endParaRPr lang="en-US" sz="1050" dirty="0"/>
          </a:p>
        </p:txBody>
      </p:sp>
      <p:sp>
        <p:nvSpPr>
          <p:cNvPr id="20" name="Shape 18"/>
          <p:cNvSpPr/>
          <p:nvPr/>
        </p:nvSpPr>
        <p:spPr>
          <a:xfrm>
            <a:off x="365760" y="3401568"/>
            <a:ext cx="8412480" cy="1207008"/>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21" name="Shape 19"/>
          <p:cNvSpPr/>
          <p:nvPr/>
        </p:nvSpPr>
        <p:spPr>
          <a:xfrm>
            <a:off x="365760" y="3401568"/>
            <a:ext cx="64008" cy="1207008"/>
          </a:xfrm>
          <a:prstGeom prst="rect">
            <a:avLst/>
          </a:prstGeom>
          <a:solidFill>
            <a:srgbClr val="7C3AED"/>
          </a:solidFill>
          <a:ln w="12700">
            <a:solidFill>
              <a:srgbClr val="7C3AED"/>
            </a:solidFill>
            <a:prstDash val="solid"/>
          </a:ln>
        </p:spPr>
        <p:txBody>
          <a:bodyPr/>
          <a:lstStyle/>
          <a:p>
            <a:endParaRPr lang="en-US"/>
          </a:p>
        </p:txBody>
      </p:sp>
      <p:sp>
        <p:nvSpPr>
          <p:cNvPr id="22" name="Shape 20"/>
          <p:cNvSpPr/>
          <p:nvPr/>
        </p:nvSpPr>
        <p:spPr>
          <a:xfrm>
            <a:off x="502920" y="3493008"/>
            <a:ext cx="502920" cy="502920"/>
          </a:xfrm>
          <a:prstGeom prst="ellipse">
            <a:avLst/>
          </a:prstGeom>
          <a:solidFill>
            <a:srgbClr val="7C3AED"/>
          </a:solidFill>
          <a:ln w="12700">
            <a:solidFill>
              <a:srgbClr val="7C3AED"/>
            </a:solidFill>
            <a:prstDash val="solid"/>
          </a:ln>
        </p:spPr>
        <p:txBody>
          <a:bodyPr/>
          <a:lstStyle/>
          <a:p>
            <a:endParaRPr lang="en-US"/>
          </a:p>
        </p:txBody>
      </p:sp>
      <p:sp>
        <p:nvSpPr>
          <p:cNvPr id="23" name="Text 21"/>
          <p:cNvSpPr/>
          <p:nvPr/>
        </p:nvSpPr>
        <p:spPr>
          <a:xfrm>
            <a:off x="502920" y="3493008"/>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P3</a:t>
            </a:r>
            <a:endParaRPr lang="en-US" sz="1000" dirty="0"/>
          </a:p>
        </p:txBody>
      </p:sp>
      <p:sp>
        <p:nvSpPr>
          <p:cNvPr id="24" name="Text 22"/>
          <p:cNvSpPr/>
          <p:nvPr/>
        </p:nvSpPr>
        <p:spPr>
          <a:xfrm>
            <a:off x="1115568" y="3474720"/>
            <a:ext cx="6400800" cy="384048"/>
          </a:xfrm>
          <a:prstGeom prst="rect">
            <a:avLst/>
          </a:prstGeom>
          <a:noFill/>
          <a:ln/>
        </p:spPr>
        <p:txBody>
          <a:bodyPr wrap="square" lIns="0" tIns="0" rIns="0" bIns="0" rtlCol="0" anchor="ctr"/>
          <a:lstStyle/>
          <a:p>
            <a:pPr marL="0" indent="0">
              <a:buNone/>
            </a:pPr>
            <a:r>
              <a:rPr lang="en-US" sz="1500" b="1" dirty="0">
                <a:solidFill>
                  <a:srgbClr val="1B2A4A"/>
                </a:solidFill>
                <a:latin typeface="Trebuchet MS" pitchFamily="34" charset="0"/>
                <a:ea typeface="Trebuchet MS" pitchFamily="34" charset="-122"/>
                <a:cs typeface="Trebuchet MS" pitchFamily="34" charset="-120"/>
              </a:rPr>
              <a:t>Use Examples — Few-Shot Prompting</a:t>
            </a:r>
            <a:endParaRPr lang="en-US" sz="1500" dirty="0"/>
          </a:p>
        </p:txBody>
      </p:sp>
      <p:sp>
        <p:nvSpPr>
          <p:cNvPr id="25" name="Text 23"/>
          <p:cNvSpPr/>
          <p:nvPr/>
        </p:nvSpPr>
        <p:spPr>
          <a:xfrm>
            <a:off x="1115568" y="3858768"/>
            <a:ext cx="6400800" cy="292608"/>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Show the AI what good looks like before asking it to produce.</a:t>
            </a:r>
            <a:endParaRPr lang="en-US" sz="1150" dirty="0"/>
          </a:p>
        </p:txBody>
      </p:sp>
      <p:sp>
        <p:nvSpPr>
          <p:cNvPr id="26" name="Text 24"/>
          <p:cNvSpPr/>
          <p:nvPr/>
        </p:nvSpPr>
        <p:spPr>
          <a:xfrm>
            <a:off x="1115568" y="4151376"/>
            <a:ext cx="7223760" cy="384048"/>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Show 2 examples of well-formatted security findings → then ask for a third in the same style.</a:t>
            </a:r>
            <a:endParaRPr lang="en-US" sz="1050" dirty="0"/>
          </a:p>
        </p:txBody>
      </p:sp>
      <p:sp>
        <p:nvSpPr>
          <p:cNvPr id="27" name="Text 25"/>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64592"/>
            <a:ext cx="7315200" cy="475488"/>
          </a:xfrm>
          <a:prstGeom prst="rect">
            <a:avLst/>
          </a:prstGeom>
          <a:noFill/>
          <a:ln/>
        </p:spPr>
        <p:txBody>
          <a:bodyPr wrap="square" lIns="0" tIns="0" rIns="0" bIns="0" rtlCol="0" anchor="ctr"/>
          <a:lstStyle/>
          <a:p>
            <a:pPr marL="0" indent="0">
              <a:buNone/>
            </a:pPr>
            <a:r>
              <a:rPr lang="en-US" sz="2700" b="1" dirty="0">
                <a:solidFill>
                  <a:srgbClr val="1B2A4A"/>
                </a:solidFill>
                <a:latin typeface="Trebuchet MS" pitchFamily="34" charset="0"/>
                <a:ea typeface="Trebuchet MS" pitchFamily="34" charset="-122"/>
                <a:cs typeface="Trebuchet MS" pitchFamily="34" charset="-120"/>
              </a:rPr>
              <a:t>5 Principles of Effective Prompting</a:t>
            </a:r>
            <a:endParaRPr lang="en-US" sz="2700" dirty="0"/>
          </a:p>
        </p:txBody>
      </p:sp>
      <p:sp>
        <p:nvSpPr>
          <p:cNvPr id="4" name="Shape 2"/>
          <p:cNvSpPr/>
          <p:nvPr/>
        </p:nvSpPr>
        <p:spPr>
          <a:xfrm>
            <a:off x="7498080" y="201168"/>
            <a:ext cx="1325880" cy="347472"/>
          </a:xfrm>
          <a:prstGeom prst="rect">
            <a:avLst/>
          </a:prstGeom>
          <a:solidFill>
            <a:srgbClr val="F59E0B"/>
          </a:solidFill>
          <a:ln w="12700">
            <a:solidFill>
              <a:srgbClr val="F59E0B"/>
            </a:solidFill>
            <a:prstDash val="solid"/>
          </a:ln>
        </p:spPr>
        <p:txBody>
          <a:bodyPr/>
          <a:lstStyle/>
          <a:p>
            <a:endParaRPr lang="en-US"/>
          </a:p>
        </p:txBody>
      </p:sp>
      <p:sp>
        <p:nvSpPr>
          <p:cNvPr id="5" name="Text 3"/>
          <p:cNvSpPr/>
          <p:nvPr/>
        </p:nvSpPr>
        <p:spPr>
          <a:xfrm>
            <a:off x="7498080" y="201168"/>
            <a:ext cx="13258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Part 2 of 2</a:t>
            </a:r>
            <a:endParaRPr lang="en-US" sz="1000" dirty="0"/>
          </a:p>
        </p:txBody>
      </p:sp>
      <p:sp>
        <p:nvSpPr>
          <p:cNvPr id="6" name="Shape 4"/>
          <p:cNvSpPr/>
          <p:nvPr/>
        </p:nvSpPr>
        <p:spPr>
          <a:xfrm>
            <a:off x="365760" y="804672"/>
            <a:ext cx="8412480" cy="141732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7" name="Shape 5"/>
          <p:cNvSpPr/>
          <p:nvPr/>
        </p:nvSpPr>
        <p:spPr>
          <a:xfrm>
            <a:off x="365760" y="804672"/>
            <a:ext cx="64008" cy="1417320"/>
          </a:xfrm>
          <a:prstGeom prst="rect">
            <a:avLst/>
          </a:prstGeom>
          <a:solidFill>
            <a:srgbClr val="F59E0B"/>
          </a:solidFill>
          <a:ln w="12700">
            <a:solidFill>
              <a:srgbClr val="F59E0B"/>
            </a:solidFill>
            <a:prstDash val="solid"/>
          </a:ln>
        </p:spPr>
        <p:txBody>
          <a:bodyPr/>
          <a:lstStyle/>
          <a:p>
            <a:endParaRPr lang="en-US"/>
          </a:p>
        </p:txBody>
      </p:sp>
      <p:sp>
        <p:nvSpPr>
          <p:cNvPr id="8" name="Shape 6"/>
          <p:cNvSpPr/>
          <p:nvPr/>
        </p:nvSpPr>
        <p:spPr>
          <a:xfrm>
            <a:off x="502920" y="914400"/>
            <a:ext cx="502920" cy="502920"/>
          </a:xfrm>
          <a:prstGeom prst="ellipse">
            <a:avLst/>
          </a:prstGeom>
          <a:solidFill>
            <a:srgbClr val="F59E0B"/>
          </a:solidFill>
          <a:ln w="12700">
            <a:solidFill>
              <a:srgbClr val="F59E0B"/>
            </a:solidFill>
            <a:prstDash val="solid"/>
          </a:ln>
        </p:spPr>
        <p:txBody>
          <a:bodyPr/>
          <a:lstStyle/>
          <a:p>
            <a:endParaRPr lang="en-US"/>
          </a:p>
        </p:txBody>
      </p:sp>
      <p:sp>
        <p:nvSpPr>
          <p:cNvPr id="9" name="Text 7"/>
          <p:cNvSpPr/>
          <p:nvPr/>
        </p:nvSpPr>
        <p:spPr>
          <a:xfrm>
            <a:off x="502920" y="914400"/>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P4</a:t>
            </a:r>
            <a:endParaRPr lang="en-US" sz="1000" dirty="0"/>
          </a:p>
        </p:txBody>
      </p:sp>
      <p:sp>
        <p:nvSpPr>
          <p:cNvPr id="10" name="Text 8"/>
          <p:cNvSpPr/>
          <p:nvPr/>
        </p:nvSpPr>
        <p:spPr>
          <a:xfrm>
            <a:off x="1115568" y="896112"/>
            <a:ext cx="6949440" cy="384048"/>
          </a:xfrm>
          <a:prstGeom prst="rect">
            <a:avLst/>
          </a:prstGeom>
          <a:noFill/>
          <a:ln/>
        </p:spPr>
        <p:txBody>
          <a:bodyPr wrap="square" lIns="0" tIns="0" rIns="0" bIns="0" rtlCol="0" anchor="ctr"/>
          <a:lstStyle/>
          <a:p>
            <a:pPr marL="0" indent="0">
              <a:buNone/>
            </a:pPr>
            <a:r>
              <a:rPr lang="en-US" sz="1500" b="1" dirty="0">
                <a:solidFill>
                  <a:srgbClr val="1B2A4A"/>
                </a:solidFill>
                <a:latin typeface="Trebuchet MS" pitchFamily="34" charset="0"/>
                <a:ea typeface="Trebuchet MS" pitchFamily="34" charset="-122"/>
                <a:cs typeface="Trebuchet MS" pitchFamily="34" charset="-120"/>
              </a:rPr>
              <a:t>Think Step-by-Step (Chain-of-Thought)</a:t>
            </a:r>
            <a:endParaRPr lang="en-US" sz="1500" dirty="0"/>
          </a:p>
        </p:txBody>
      </p:sp>
      <p:sp>
        <p:nvSpPr>
          <p:cNvPr id="11" name="Text 9"/>
          <p:cNvSpPr/>
          <p:nvPr/>
        </p:nvSpPr>
        <p:spPr>
          <a:xfrm>
            <a:off x="1115568" y="1316736"/>
            <a:ext cx="6949440" cy="34747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Asking the AI to reason through a problem before answering dramatically improves accuracy.</a:t>
            </a:r>
            <a:endParaRPr lang="en-US" sz="1200" dirty="0"/>
          </a:p>
        </p:txBody>
      </p:sp>
      <p:sp>
        <p:nvSpPr>
          <p:cNvPr id="12" name="Text 10"/>
          <p:cNvSpPr/>
          <p:nvPr/>
        </p:nvSpPr>
        <p:spPr>
          <a:xfrm>
            <a:off x="1115568" y="1682496"/>
            <a:ext cx="7223760" cy="438912"/>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Magic phrase: "Think through this step by step before giving me your final answer."</a:t>
            </a:r>
            <a:endParaRPr lang="en-US" sz="1050" dirty="0"/>
          </a:p>
        </p:txBody>
      </p:sp>
      <p:sp>
        <p:nvSpPr>
          <p:cNvPr id="13" name="Shape 11"/>
          <p:cNvSpPr/>
          <p:nvPr/>
        </p:nvSpPr>
        <p:spPr>
          <a:xfrm>
            <a:off x="365760" y="2359152"/>
            <a:ext cx="8412480" cy="141732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14" name="Shape 12"/>
          <p:cNvSpPr/>
          <p:nvPr/>
        </p:nvSpPr>
        <p:spPr>
          <a:xfrm>
            <a:off x="365760" y="2359152"/>
            <a:ext cx="64008" cy="1417320"/>
          </a:xfrm>
          <a:prstGeom prst="rect">
            <a:avLst/>
          </a:prstGeom>
          <a:solidFill>
            <a:srgbClr val="16A34A"/>
          </a:solidFill>
          <a:ln w="12700">
            <a:solidFill>
              <a:srgbClr val="16A34A"/>
            </a:solidFill>
            <a:prstDash val="solid"/>
          </a:ln>
        </p:spPr>
        <p:txBody>
          <a:bodyPr/>
          <a:lstStyle/>
          <a:p>
            <a:endParaRPr lang="en-US"/>
          </a:p>
        </p:txBody>
      </p:sp>
      <p:sp>
        <p:nvSpPr>
          <p:cNvPr id="15" name="Shape 13"/>
          <p:cNvSpPr/>
          <p:nvPr/>
        </p:nvSpPr>
        <p:spPr>
          <a:xfrm>
            <a:off x="502920" y="2468880"/>
            <a:ext cx="502920" cy="502920"/>
          </a:xfrm>
          <a:prstGeom prst="ellipse">
            <a:avLst/>
          </a:prstGeom>
          <a:solidFill>
            <a:srgbClr val="16A34A"/>
          </a:solidFill>
          <a:ln w="12700">
            <a:solidFill>
              <a:srgbClr val="16A34A"/>
            </a:solidFill>
            <a:prstDash val="solid"/>
          </a:ln>
        </p:spPr>
        <p:txBody>
          <a:bodyPr/>
          <a:lstStyle/>
          <a:p>
            <a:endParaRPr lang="en-US"/>
          </a:p>
        </p:txBody>
      </p:sp>
      <p:sp>
        <p:nvSpPr>
          <p:cNvPr id="16" name="Text 14"/>
          <p:cNvSpPr/>
          <p:nvPr/>
        </p:nvSpPr>
        <p:spPr>
          <a:xfrm>
            <a:off x="502920" y="2468880"/>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P5</a:t>
            </a:r>
            <a:endParaRPr lang="en-US" sz="1000" dirty="0"/>
          </a:p>
        </p:txBody>
      </p:sp>
      <p:sp>
        <p:nvSpPr>
          <p:cNvPr id="17" name="Text 15"/>
          <p:cNvSpPr/>
          <p:nvPr/>
        </p:nvSpPr>
        <p:spPr>
          <a:xfrm>
            <a:off x="1115568" y="2450592"/>
            <a:ext cx="6949440" cy="384048"/>
          </a:xfrm>
          <a:prstGeom prst="rect">
            <a:avLst/>
          </a:prstGeom>
          <a:noFill/>
          <a:ln/>
        </p:spPr>
        <p:txBody>
          <a:bodyPr wrap="square" lIns="0" tIns="0" rIns="0" bIns="0" rtlCol="0" anchor="ctr"/>
          <a:lstStyle/>
          <a:p>
            <a:pPr marL="0" indent="0">
              <a:buNone/>
            </a:pPr>
            <a:r>
              <a:rPr lang="en-US" sz="1500" b="1" dirty="0">
                <a:solidFill>
                  <a:srgbClr val="1B2A4A"/>
                </a:solidFill>
                <a:latin typeface="Trebuchet MS" pitchFamily="34" charset="0"/>
                <a:ea typeface="Trebuchet MS" pitchFamily="34" charset="-122"/>
                <a:cs typeface="Trebuchet MS" pitchFamily="34" charset="-120"/>
              </a:rPr>
              <a:t>Specify Format and Length</a:t>
            </a:r>
            <a:endParaRPr lang="en-US" sz="1500" dirty="0"/>
          </a:p>
        </p:txBody>
      </p:sp>
      <p:sp>
        <p:nvSpPr>
          <p:cNvPr id="18" name="Text 16"/>
          <p:cNvSpPr/>
          <p:nvPr/>
        </p:nvSpPr>
        <p:spPr>
          <a:xfrm>
            <a:off x="1115568" y="2871216"/>
            <a:ext cx="6949440" cy="34747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AI defaults to essay format unless you tell it otherwise. Be explicit.</a:t>
            </a:r>
            <a:endParaRPr lang="en-US" sz="1200" dirty="0"/>
          </a:p>
        </p:txBody>
      </p:sp>
      <p:sp>
        <p:nvSpPr>
          <p:cNvPr id="19" name="Text 17"/>
          <p:cNvSpPr/>
          <p:nvPr/>
        </p:nvSpPr>
        <p:spPr>
          <a:xfrm>
            <a:off x="1115568" y="3236976"/>
            <a:ext cx="7223760" cy="438912"/>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"Return a table with columns: vendor_name, risk_level, key_findings, recommended_actions" — or — "Limit your response to 200 words."</a:t>
            </a:r>
            <a:endParaRPr lang="en-US" sz="1050" dirty="0"/>
          </a:p>
        </p:txBody>
      </p:sp>
      <p:sp>
        <p:nvSpPr>
          <p:cNvPr id="20" name="Shape 18"/>
          <p:cNvSpPr/>
          <p:nvPr/>
        </p:nvSpPr>
        <p:spPr>
          <a:xfrm>
            <a:off x="365760" y="3822192"/>
            <a:ext cx="8412480" cy="1097280"/>
          </a:xfrm>
          <a:prstGeom prst="rect">
            <a:avLst/>
          </a:prstGeom>
          <a:solidFill>
            <a:srgbClr val="1B2A4A"/>
          </a:solidFill>
          <a:ln w="12700">
            <a:solidFill>
              <a:srgbClr val="1B2A4A"/>
            </a:solidFill>
            <a:prstDash val="solid"/>
          </a:ln>
          <a:effectLst>
            <a:outerShdw blurRad="101600" dist="38100" dir="8100000" algn="bl" rotWithShape="0">
              <a:srgbClr val="000000">
                <a:alpha val="13000"/>
              </a:srgbClr>
            </a:outerShdw>
          </a:effectLst>
        </p:spPr>
        <p:txBody>
          <a:bodyPr/>
          <a:lstStyle/>
          <a:p>
            <a:endParaRPr lang="en-US"/>
          </a:p>
        </p:txBody>
      </p:sp>
      <p:sp>
        <p:nvSpPr>
          <p:cNvPr id="21" name="Shape 19"/>
          <p:cNvSpPr/>
          <p:nvPr/>
        </p:nvSpPr>
        <p:spPr>
          <a:xfrm>
            <a:off x="365760" y="3822192"/>
            <a:ext cx="64008" cy="1097280"/>
          </a:xfrm>
          <a:prstGeom prst="rect">
            <a:avLst/>
          </a:prstGeom>
          <a:solidFill>
            <a:srgbClr val="5EEAD4"/>
          </a:solidFill>
          <a:ln w="12700">
            <a:solidFill>
              <a:srgbClr val="5EEAD4"/>
            </a:solidFill>
            <a:prstDash val="solid"/>
          </a:ln>
        </p:spPr>
        <p:txBody>
          <a:bodyPr/>
          <a:lstStyle/>
          <a:p>
            <a:endParaRPr lang="en-US"/>
          </a:p>
        </p:txBody>
      </p:sp>
      <p:sp>
        <p:nvSpPr>
          <p:cNvPr id="22" name="Text 20"/>
          <p:cNvSpPr/>
          <p:nvPr/>
        </p:nvSpPr>
        <p:spPr>
          <a:xfrm>
            <a:off x="566928" y="3858768"/>
            <a:ext cx="7955280" cy="292608"/>
          </a:xfrm>
          <a:prstGeom prst="rect">
            <a:avLst/>
          </a:prstGeom>
          <a:noFill/>
          <a:ln/>
        </p:spPr>
        <p:txBody>
          <a:bodyPr wrap="square" lIns="0" tIns="0" rIns="0" bIns="0" rtlCol="0" anchor="ctr"/>
          <a:lstStyle/>
          <a:p>
            <a:pPr marL="0" indent="0">
              <a:buNone/>
            </a:pPr>
            <a:r>
              <a:rPr lang="en-US" sz="1200" b="1" dirty="0">
                <a:solidFill>
                  <a:srgbClr val="5EEAD4"/>
                </a:solidFill>
                <a:latin typeface="Trebuchet MS" pitchFamily="34" charset="0"/>
                <a:ea typeface="Trebuchet MS" pitchFamily="34" charset="-122"/>
                <a:cs typeface="Trebuchet MS" pitchFamily="34" charset="-120"/>
              </a:rPr>
              <a:t>The 5 Principles at a Glance</a:t>
            </a:r>
            <a:endParaRPr lang="en-US" sz="1200" dirty="0"/>
          </a:p>
        </p:txBody>
      </p:sp>
      <p:sp>
        <p:nvSpPr>
          <p:cNvPr id="23" name="Text 21"/>
          <p:cNvSpPr/>
          <p:nvPr/>
        </p:nvSpPr>
        <p:spPr>
          <a:xfrm>
            <a:off x="566928" y="4169664"/>
            <a:ext cx="7955280" cy="566928"/>
          </a:xfrm>
          <a:prstGeom prst="rect">
            <a:avLst/>
          </a:prstGeom>
          <a:noFill/>
          <a:ln/>
        </p:spPr>
        <p:txBody>
          <a:bodyPr wrap="square" lIns="0" tIns="0" rIns="0" bIns="0" rtlCol="0" anchor="ctr"/>
          <a:lstStyle/>
          <a:p>
            <a:pPr marL="0" indent="0">
              <a:buNone/>
            </a:pPr>
            <a:r>
              <a:rPr lang="en-US" sz="1200" dirty="0">
                <a:solidFill>
                  <a:srgbClr val="CBD5E0"/>
                </a:solidFill>
                <a:latin typeface="Calibri" pitchFamily="34" charset="0"/>
                <a:ea typeface="Calibri" pitchFamily="34" charset="-122"/>
                <a:cs typeface="Calibri" pitchFamily="34" charset="-120"/>
              </a:rPr>
              <a:t>P1 Be Specific  ·  P2 Give a Role  ·  P3 Use Examples  ·  P4 Think Step-by-Step  ·  P5 Specify Format &amp; Length</a:t>
            </a:r>
            <a:endParaRPr lang="en-US" sz="1200" dirty="0"/>
          </a:p>
        </p:txBody>
      </p:sp>
      <p:sp>
        <p:nvSpPr>
          <p:cNvPr id="24" name="Text 22"/>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64592"/>
            <a:ext cx="8229600" cy="475488"/>
          </a:xfrm>
          <a:prstGeom prst="rect">
            <a:avLst/>
          </a:prstGeom>
          <a:noFill/>
          <a:ln/>
        </p:spPr>
        <p:txBody>
          <a:bodyPr wrap="square" lIns="0" tIns="0" rIns="0" bIns="0" rtlCol="0" anchor="ctr"/>
          <a:lstStyle/>
          <a:p>
            <a:pPr marL="0" indent="0">
              <a:buNone/>
            </a:pPr>
            <a:r>
              <a:rPr lang="en-US" sz="2800" b="1" dirty="0">
                <a:solidFill>
                  <a:srgbClr val="1B2A4A"/>
                </a:solidFill>
                <a:latin typeface="Trebuchet MS" pitchFamily="34" charset="0"/>
                <a:ea typeface="Trebuchet MS" pitchFamily="34" charset="-122"/>
                <a:cs typeface="Trebuchet MS" pitchFamily="34" charset="-120"/>
              </a:rPr>
              <a:t>The Secret Weapon: Iteration</a:t>
            </a:r>
            <a:endParaRPr lang="en-US" sz="2800" dirty="0"/>
          </a:p>
        </p:txBody>
      </p:sp>
      <p:sp>
        <p:nvSpPr>
          <p:cNvPr id="4" name="Text 2"/>
          <p:cNvSpPr/>
          <p:nvPr/>
        </p:nvSpPr>
        <p:spPr>
          <a:xfrm>
            <a:off x="457200" y="667512"/>
            <a:ext cx="8229600" cy="25603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Your first prompt is a draft, not a final product</a:t>
            </a:r>
            <a:endParaRPr lang="en-US" sz="1200" dirty="0"/>
          </a:p>
        </p:txBody>
      </p:sp>
      <p:sp>
        <p:nvSpPr>
          <p:cNvPr id="5" name="Shape 3"/>
          <p:cNvSpPr/>
          <p:nvPr/>
        </p:nvSpPr>
        <p:spPr>
          <a:xfrm>
            <a:off x="457200" y="1069848"/>
            <a:ext cx="1508760" cy="1508760"/>
          </a:xfrm>
          <a:prstGeom prst="ellipse">
            <a:avLst/>
          </a:prstGeom>
          <a:solidFill>
            <a:srgbClr val="0D9488"/>
          </a:solidFill>
          <a:ln w="12700">
            <a:solidFill>
              <a:srgbClr val="0D9488"/>
            </a:solidFill>
            <a:prstDash val="solid"/>
          </a:ln>
          <a:effectLst>
            <a:outerShdw blurRad="101600" dist="38100" dir="8100000" algn="bl" rotWithShape="0">
              <a:srgbClr val="000000">
                <a:alpha val="13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918972" y="1577340"/>
            <a:ext cx="585216" cy="585216"/>
          </a:xfrm>
          <a:prstGeom prst="rect">
            <a:avLst/>
          </a:prstGeom>
        </p:spPr>
      </p:pic>
      <p:sp>
        <p:nvSpPr>
          <p:cNvPr id="7" name="Text 4"/>
          <p:cNvSpPr/>
          <p:nvPr/>
        </p:nvSpPr>
        <p:spPr>
          <a:xfrm>
            <a:off x="365760" y="2670048"/>
            <a:ext cx="1691640" cy="347472"/>
          </a:xfrm>
          <a:prstGeom prst="rect">
            <a:avLst/>
          </a:prstGeom>
          <a:noFill/>
          <a:ln/>
        </p:spPr>
        <p:txBody>
          <a:bodyPr wrap="square" lIns="0" tIns="0" rIns="0" bIns="0" rtlCol="0" anchor="ctr"/>
          <a:lstStyle/>
          <a:p>
            <a:pPr marL="0" indent="0" algn="ctr">
              <a:buNone/>
            </a:pPr>
            <a:r>
              <a:rPr lang="en-US" sz="1400" b="1" dirty="0">
                <a:solidFill>
                  <a:srgbClr val="1B2A4A"/>
                </a:solidFill>
                <a:latin typeface="Trebuchet MS" pitchFamily="34" charset="0"/>
                <a:ea typeface="Trebuchet MS" pitchFamily="34" charset="-122"/>
                <a:cs typeface="Trebuchet MS" pitchFamily="34" charset="-120"/>
              </a:rPr>
              <a:t>Draft</a:t>
            </a:r>
            <a:endParaRPr lang="en-US" sz="1400" dirty="0"/>
          </a:p>
        </p:txBody>
      </p:sp>
      <p:sp>
        <p:nvSpPr>
          <p:cNvPr id="8" name="Shape 5"/>
          <p:cNvSpPr/>
          <p:nvPr/>
        </p:nvSpPr>
        <p:spPr>
          <a:xfrm>
            <a:off x="2039112" y="1778508"/>
            <a:ext cx="667512" cy="0"/>
          </a:xfrm>
          <a:prstGeom prst="line">
            <a:avLst/>
          </a:prstGeom>
          <a:noFill/>
          <a:ln w="25400">
            <a:solidFill>
              <a:srgbClr val="0D9488"/>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2478024" y="1613916"/>
            <a:ext cx="274320" cy="274320"/>
          </a:xfrm>
          <a:prstGeom prst="rect">
            <a:avLst/>
          </a:prstGeom>
        </p:spPr>
      </p:pic>
      <p:sp>
        <p:nvSpPr>
          <p:cNvPr id="10" name="Shape 6"/>
          <p:cNvSpPr/>
          <p:nvPr/>
        </p:nvSpPr>
        <p:spPr>
          <a:xfrm>
            <a:off x="2770632" y="1069848"/>
            <a:ext cx="1508760" cy="1508760"/>
          </a:xfrm>
          <a:prstGeom prst="ellipse">
            <a:avLst/>
          </a:prstGeom>
          <a:solidFill>
            <a:srgbClr val="F59E0B"/>
          </a:solidFill>
          <a:ln w="12700">
            <a:solidFill>
              <a:srgbClr val="F59E0B"/>
            </a:solidFill>
            <a:prstDash val="solid"/>
          </a:ln>
          <a:effectLst>
            <a:outerShdw blurRad="101600" dist="38100" dir="8100000" algn="bl" rotWithShape="0">
              <a:srgbClr val="000000">
                <a:alpha val="13000"/>
              </a:srgbClr>
            </a:outerShdw>
          </a:effectLst>
        </p:spPr>
        <p:txBody>
          <a:bodyPr/>
          <a:lstStyle/>
          <a:p>
            <a:endParaRPr lang="en-US"/>
          </a:p>
        </p:txBody>
      </p:sp>
      <p:pic>
        <p:nvPicPr>
          <p:cNvPr id="11" name="Image 2" descr="preencoded.png"/>
          <p:cNvPicPr>
            <a:picLocks noChangeAspect="1"/>
          </p:cNvPicPr>
          <p:nvPr/>
        </p:nvPicPr>
        <p:blipFill>
          <a:blip r:embed="rId5"/>
          <a:stretch>
            <a:fillRect/>
          </a:stretch>
        </p:blipFill>
        <p:spPr>
          <a:xfrm>
            <a:off x="3232404" y="1577340"/>
            <a:ext cx="585216" cy="585216"/>
          </a:xfrm>
          <a:prstGeom prst="rect">
            <a:avLst/>
          </a:prstGeom>
        </p:spPr>
      </p:pic>
      <p:sp>
        <p:nvSpPr>
          <p:cNvPr id="12" name="Text 7"/>
          <p:cNvSpPr/>
          <p:nvPr/>
        </p:nvSpPr>
        <p:spPr>
          <a:xfrm>
            <a:off x="2679192" y="2670048"/>
            <a:ext cx="1691640" cy="347472"/>
          </a:xfrm>
          <a:prstGeom prst="rect">
            <a:avLst/>
          </a:prstGeom>
          <a:noFill/>
          <a:ln/>
        </p:spPr>
        <p:txBody>
          <a:bodyPr wrap="square" lIns="0" tIns="0" rIns="0" bIns="0" rtlCol="0" anchor="ctr"/>
          <a:lstStyle/>
          <a:p>
            <a:pPr marL="0" indent="0" algn="ctr">
              <a:buNone/>
            </a:pPr>
            <a:r>
              <a:rPr lang="en-US" sz="1400" b="1" dirty="0">
                <a:solidFill>
                  <a:srgbClr val="1B2A4A"/>
                </a:solidFill>
                <a:latin typeface="Trebuchet MS" pitchFamily="34" charset="0"/>
                <a:ea typeface="Trebuchet MS" pitchFamily="34" charset="-122"/>
                <a:cs typeface="Trebuchet MS" pitchFamily="34" charset="-120"/>
              </a:rPr>
              <a:t>Evaluate</a:t>
            </a:r>
            <a:endParaRPr lang="en-US" sz="1400" dirty="0"/>
          </a:p>
        </p:txBody>
      </p:sp>
      <p:sp>
        <p:nvSpPr>
          <p:cNvPr id="13" name="Shape 8"/>
          <p:cNvSpPr/>
          <p:nvPr/>
        </p:nvSpPr>
        <p:spPr>
          <a:xfrm>
            <a:off x="4352544" y="1778508"/>
            <a:ext cx="667512" cy="0"/>
          </a:xfrm>
          <a:prstGeom prst="line">
            <a:avLst/>
          </a:prstGeom>
          <a:noFill/>
          <a:ln w="25400">
            <a:solidFill>
              <a:srgbClr val="0D9488"/>
            </a:solidFill>
            <a:prstDash val="solid"/>
          </a:ln>
        </p:spPr>
        <p:txBody>
          <a:bodyPr/>
          <a:lstStyle/>
          <a:p>
            <a:endParaRPr lang="en-US"/>
          </a:p>
        </p:txBody>
      </p:sp>
      <p:pic>
        <p:nvPicPr>
          <p:cNvPr id="14" name="Image 3" descr="preencoded.png"/>
          <p:cNvPicPr>
            <a:picLocks noChangeAspect="1"/>
          </p:cNvPicPr>
          <p:nvPr/>
        </p:nvPicPr>
        <p:blipFill>
          <a:blip r:embed="rId4"/>
          <a:stretch>
            <a:fillRect/>
          </a:stretch>
        </p:blipFill>
        <p:spPr>
          <a:xfrm>
            <a:off x="4791456" y="1613916"/>
            <a:ext cx="274320" cy="274320"/>
          </a:xfrm>
          <a:prstGeom prst="rect">
            <a:avLst/>
          </a:prstGeom>
        </p:spPr>
      </p:pic>
      <p:sp>
        <p:nvSpPr>
          <p:cNvPr id="15" name="Shape 9"/>
          <p:cNvSpPr/>
          <p:nvPr/>
        </p:nvSpPr>
        <p:spPr>
          <a:xfrm>
            <a:off x="5084064" y="1069848"/>
            <a:ext cx="1508760" cy="1508760"/>
          </a:xfrm>
          <a:prstGeom prst="ellipse">
            <a:avLst/>
          </a:prstGeom>
          <a:solidFill>
            <a:srgbClr val="7C3AED"/>
          </a:solidFill>
          <a:ln w="12700">
            <a:solidFill>
              <a:srgbClr val="7C3AED"/>
            </a:solidFill>
            <a:prstDash val="solid"/>
          </a:ln>
          <a:effectLst>
            <a:outerShdw blurRad="101600" dist="38100" dir="8100000" algn="bl" rotWithShape="0">
              <a:srgbClr val="000000">
                <a:alpha val="13000"/>
              </a:srgbClr>
            </a:outerShdw>
          </a:effectLst>
        </p:spPr>
        <p:txBody>
          <a:bodyPr/>
          <a:lstStyle/>
          <a:p>
            <a:endParaRPr lang="en-US"/>
          </a:p>
        </p:txBody>
      </p:sp>
      <p:pic>
        <p:nvPicPr>
          <p:cNvPr id="16" name="Image 4" descr="preencoded.png"/>
          <p:cNvPicPr>
            <a:picLocks noChangeAspect="1"/>
          </p:cNvPicPr>
          <p:nvPr/>
        </p:nvPicPr>
        <p:blipFill>
          <a:blip r:embed="rId6"/>
          <a:stretch>
            <a:fillRect/>
          </a:stretch>
        </p:blipFill>
        <p:spPr>
          <a:xfrm>
            <a:off x="5545836" y="1577340"/>
            <a:ext cx="585216" cy="585216"/>
          </a:xfrm>
          <a:prstGeom prst="rect">
            <a:avLst/>
          </a:prstGeom>
        </p:spPr>
      </p:pic>
      <p:sp>
        <p:nvSpPr>
          <p:cNvPr id="17" name="Text 10"/>
          <p:cNvSpPr/>
          <p:nvPr/>
        </p:nvSpPr>
        <p:spPr>
          <a:xfrm>
            <a:off x="4992624" y="2670048"/>
            <a:ext cx="1691640" cy="347472"/>
          </a:xfrm>
          <a:prstGeom prst="rect">
            <a:avLst/>
          </a:prstGeom>
          <a:noFill/>
          <a:ln/>
        </p:spPr>
        <p:txBody>
          <a:bodyPr wrap="square" lIns="0" tIns="0" rIns="0" bIns="0" rtlCol="0" anchor="ctr"/>
          <a:lstStyle/>
          <a:p>
            <a:pPr marL="0" indent="0" algn="ctr">
              <a:buNone/>
            </a:pPr>
            <a:r>
              <a:rPr lang="en-US" sz="1400" b="1" dirty="0">
                <a:solidFill>
                  <a:srgbClr val="1B2A4A"/>
                </a:solidFill>
                <a:latin typeface="Trebuchet MS" pitchFamily="34" charset="0"/>
                <a:ea typeface="Trebuchet MS" pitchFamily="34" charset="-122"/>
                <a:cs typeface="Trebuchet MS" pitchFamily="34" charset="-120"/>
              </a:rPr>
              <a:t>Refine</a:t>
            </a:r>
            <a:endParaRPr lang="en-US" sz="1400" dirty="0"/>
          </a:p>
        </p:txBody>
      </p:sp>
      <p:sp>
        <p:nvSpPr>
          <p:cNvPr id="18" name="Shape 11"/>
          <p:cNvSpPr/>
          <p:nvPr/>
        </p:nvSpPr>
        <p:spPr>
          <a:xfrm>
            <a:off x="6665976" y="1778508"/>
            <a:ext cx="667512" cy="0"/>
          </a:xfrm>
          <a:prstGeom prst="line">
            <a:avLst/>
          </a:prstGeom>
          <a:noFill/>
          <a:ln w="25400">
            <a:solidFill>
              <a:srgbClr val="0D9488"/>
            </a:solidFill>
            <a:prstDash val="solid"/>
          </a:ln>
        </p:spPr>
        <p:txBody>
          <a:bodyPr/>
          <a:lstStyle/>
          <a:p>
            <a:endParaRPr lang="en-US"/>
          </a:p>
        </p:txBody>
      </p:sp>
      <p:pic>
        <p:nvPicPr>
          <p:cNvPr id="19" name="Image 5" descr="preencoded.png"/>
          <p:cNvPicPr>
            <a:picLocks noChangeAspect="1"/>
          </p:cNvPicPr>
          <p:nvPr/>
        </p:nvPicPr>
        <p:blipFill>
          <a:blip r:embed="rId4"/>
          <a:stretch>
            <a:fillRect/>
          </a:stretch>
        </p:blipFill>
        <p:spPr>
          <a:xfrm>
            <a:off x="7104888" y="1613916"/>
            <a:ext cx="274320" cy="274320"/>
          </a:xfrm>
          <a:prstGeom prst="rect">
            <a:avLst/>
          </a:prstGeom>
        </p:spPr>
      </p:pic>
      <p:sp>
        <p:nvSpPr>
          <p:cNvPr id="20" name="Shape 12"/>
          <p:cNvSpPr/>
          <p:nvPr/>
        </p:nvSpPr>
        <p:spPr>
          <a:xfrm>
            <a:off x="7397496" y="1069848"/>
            <a:ext cx="1508760" cy="1508760"/>
          </a:xfrm>
          <a:prstGeom prst="ellipse">
            <a:avLst/>
          </a:prstGeom>
          <a:solidFill>
            <a:srgbClr val="16A34A"/>
          </a:solidFill>
          <a:ln w="12700">
            <a:solidFill>
              <a:srgbClr val="16A34A"/>
            </a:solidFill>
            <a:prstDash val="solid"/>
          </a:ln>
          <a:effectLst>
            <a:outerShdw blurRad="101600" dist="38100" dir="8100000" algn="bl" rotWithShape="0">
              <a:srgbClr val="000000">
                <a:alpha val="13000"/>
              </a:srgbClr>
            </a:outerShdw>
          </a:effectLst>
        </p:spPr>
        <p:txBody>
          <a:bodyPr/>
          <a:lstStyle/>
          <a:p>
            <a:endParaRPr lang="en-US"/>
          </a:p>
        </p:txBody>
      </p:sp>
      <p:pic>
        <p:nvPicPr>
          <p:cNvPr id="21" name="Image 6" descr="preencoded.png"/>
          <p:cNvPicPr>
            <a:picLocks noChangeAspect="1"/>
          </p:cNvPicPr>
          <p:nvPr/>
        </p:nvPicPr>
        <p:blipFill>
          <a:blip r:embed="rId7"/>
          <a:stretch>
            <a:fillRect/>
          </a:stretch>
        </p:blipFill>
        <p:spPr>
          <a:xfrm>
            <a:off x="7859268" y="1577340"/>
            <a:ext cx="585216" cy="585216"/>
          </a:xfrm>
          <a:prstGeom prst="rect">
            <a:avLst/>
          </a:prstGeom>
        </p:spPr>
      </p:pic>
      <p:sp>
        <p:nvSpPr>
          <p:cNvPr id="22" name="Text 13"/>
          <p:cNvSpPr/>
          <p:nvPr/>
        </p:nvSpPr>
        <p:spPr>
          <a:xfrm>
            <a:off x="7306056" y="2670048"/>
            <a:ext cx="1691640" cy="347472"/>
          </a:xfrm>
          <a:prstGeom prst="rect">
            <a:avLst/>
          </a:prstGeom>
          <a:noFill/>
          <a:ln/>
        </p:spPr>
        <p:txBody>
          <a:bodyPr wrap="square" lIns="0" tIns="0" rIns="0" bIns="0" rtlCol="0" anchor="ctr"/>
          <a:lstStyle/>
          <a:p>
            <a:pPr marL="0" indent="0" algn="ctr">
              <a:buNone/>
            </a:pPr>
            <a:r>
              <a:rPr lang="en-US" sz="1400" b="1" dirty="0">
                <a:solidFill>
                  <a:srgbClr val="1B2A4A"/>
                </a:solidFill>
                <a:latin typeface="Trebuchet MS" pitchFamily="34" charset="0"/>
                <a:ea typeface="Trebuchet MS" pitchFamily="34" charset="-122"/>
                <a:cs typeface="Trebuchet MS" pitchFamily="34" charset="-120"/>
              </a:rPr>
              <a:t>Ship</a:t>
            </a:r>
            <a:endParaRPr lang="en-US" sz="1400" dirty="0"/>
          </a:p>
        </p:txBody>
      </p:sp>
      <p:sp>
        <p:nvSpPr>
          <p:cNvPr id="23" name="Shape 14"/>
          <p:cNvSpPr/>
          <p:nvPr/>
        </p:nvSpPr>
        <p:spPr>
          <a:xfrm>
            <a:off x="365760" y="2907792"/>
            <a:ext cx="2697480" cy="123444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24" name="Shape 15"/>
          <p:cNvSpPr/>
          <p:nvPr/>
        </p:nvSpPr>
        <p:spPr>
          <a:xfrm>
            <a:off x="365760" y="2907792"/>
            <a:ext cx="2697480" cy="329184"/>
          </a:xfrm>
          <a:prstGeom prst="rect">
            <a:avLst/>
          </a:prstGeom>
          <a:solidFill>
            <a:srgbClr val="0D9488">
              <a:alpha val="85000"/>
            </a:srgbClr>
          </a:solidFill>
          <a:ln w="12700">
            <a:solidFill>
              <a:srgbClr val="0D9488"/>
            </a:solidFill>
            <a:prstDash val="solid"/>
          </a:ln>
        </p:spPr>
        <p:txBody>
          <a:bodyPr/>
          <a:lstStyle/>
          <a:p>
            <a:endParaRPr lang="en-US"/>
          </a:p>
        </p:txBody>
      </p:sp>
      <p:sp>
        <p:nvSpPr>
          <p:cNvPr id="25" name="Text 16"/>
          <p:cNvSpPr/>
          <p:nvPr/>
        </p:nvSpPr>
        <p:spPr>
          <a:xfrm>
            <a:off x="457200" y="2926080"/>
            <a:ext cx="2560320"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Ask assumptions</a:t>
            </a:r>
            <a:endParaRPr lang="en-US" sz="1200" dirty="0"/>
          </a:p>
        </p:txBody>
      </p:sp>
      <p:sp>
        <p:nvSpPr>
          <p:cNvPr id="26" name="Text 17"/>
          <p:cNvSpPr/>
          <p:nvPr/>
        </p:nvSpPr>
        <p:spPr>
          <a:xfrm>
            <a:off x="475488" y="3319272"/>
            <a:ext cx="2514600" cy="713232"/>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"What assumptions did you make in this response?"</a:t>
            </a:r>
            <a:endParaRPr lang="en-US" sz="1100" dirty="0"/>
          </a:p>
        </p:txBody>
      </p:sp>
      <p:sp>
        <p:nvSpPr>
          <p:cNvPr id="27" name="Shape 18"/>
          <p:cNvSpPr/>
          <p:nvPr/>
        </p:nvSpPr>
        <p:spPr>
          <a:xfrm>
            <a:off x="3186684" y="2907792"/>
            <a:ext cx="2697480" cy="123444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28" name="Shape 19"/>
          <p:cNvSpPr/>
          <p:nvPr/>
        </p:nvSpPr>
        <p:spPr>
          <a:xfrm>
            <a:off x="3186684" y="2907792"/>
            <a:ext cx="2697480" cy="329184"/>
          </a:xfrm>
          <a:prstGeom prst="rect">
            <a:avLst/>
          </a:prstGeom>
          <a:solidFill>
            <a:srgbClr val="F97316">
              <a:alpha val="85000"/>
            </a:srgbClr>
          </a:solidFill>
          <a:ln w="12700">
            <a:solidFill>
              <a:srgbClr val="F97316"/>
            </a:solidFill>
            <a:prstDash val="solid"/>
          </a:ln>
        </p:spPr>
        <p:txBody>
          <a:bodyPr/>
          <a:lstStyle/>
          <a:p>
            <a:endParaRPr lang="en-US"/>
          </a:p>
        </p:txBody>
      </p:sp>
      <p:sp>
        <p:nvSpPr>
          <p:cNvPr id="29" name="Text 20"/>
          <p:cNvSpPr/>
          <p:nvPr/>
        </p:nvSpPr>
        <p:spPr>
          <a:xfrm>
            <a:off x="3278124" y="2926080"/>
            <a:ext cx="2560320"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Redirect</a:t>
            </a:r>
            <a:endParaRPr lang="en-US" sz="1200" dirty="0"/>
          </a:p>
        </p:txBody>
      </p:sp>
      <p:sp>
        <p:nvSpPr>
          <p:cNvPr id="30" name="Text 21"/>
          <p:cNvSpPr/>
          <p:nvPr/>
        </p:nvSpPr>
        <p:spPr>
          <a:xfrm>
            <a:off x="3296412" y="3319272"/>
            <a:ext cx="2514600" cy="713232"/>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"That's too technical. Rewrite for a non-technical audience."</a:t>
            </a:r>
            <a:endParaRPr lang="en-US" sz="1100" dirty="0"/>
          </a:p>
        </p:txBody>
      </p:sp>
      <p:sp>
        <p:nvSpPr>
          <p:cNvPr id="31" name="Shape 22"/>
          <p:cNvSpPr/>
          <p:nvPr/>
        </p:nvSpPr>
        <p:spPr>
          <a:xfrm>
            <a:off x="6007608" y="2907792"/>
            <a:ext cx="2697480" cy="123444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32" name="Shape 23"/>
          <p:cNvSpPr/>
          <p:nvPr/>
        </p:nvSpPr>
        <p:spPr>
          <a:xfrm>
            <a:off x="6007608" y="2907792"/>
            <a:ext cx="2697480" cy="329184"/>
          </a:xfrm>
          <a:prstGeom prst="rect">
            <a:avLst/>
          </a:prstGeom>
          <a:solidFill>
            <a:srgbClr val="7C3AED">
              <a:alpha val="85000"/>
            </a:srgbClr>
          </a:solidFill>
          <a:ln w="12700">
            <a:solidFill>
              <a:srgbClr val="7C3AED"/>
            </a:solidFill>
            <a:prstDash val="solid"/>
          </a:ln>
        </p:spPr>
        <p:txBody>
          <a:bodyPr/>
          <a:lstStyle/>
          <a:p>
            <a:endParaRPr lang="en-US"/>
          </a:p>
        </p:txBody>
      </p:sp>
      <p:sp>
        <p:nvSpPr>
          <p:cNvPr id="33" name="Text 24"/>
          <p:cNvSpPr/>
          <p:nvPr/>
        </p:nvSpPr>
        <p:spPr>
          <a:xfrm>
            <a:off x="6099048" y="2926080"/>
            <a:ext cx="2560320"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Escalate</a:t>
            </a:r>
            <a:endParaRPr lang="en-US" sz="1200" dirty="0"/>
          </a:p>
        </p:txBody>
      </p:sp>
      <p:sp>
        <p:nvSpPr>
          <p:cNvPr id="34" name="Text 25"/>
          <p:cNvSpPr/>
          <p:nvPr/>
        </p:nvSpPr>
        <p:spPr>
          <a:xfrm>
            <a:off x="6117336" y="3319272"/>
            <a:ext cx="2514600" cy="713232"/>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"Good — now add FHB security guidance where it's relevant."</a:t>
            </a:r>
            <a:endParaRPr lang="en-US" sz="1100" dirty="0"/>
          </a:p>
        </p:txBody>
      </p:sp>
      <p:sp>
        <p:nvSpPr>
          <p:cNvPr id="35" name="Shape 26"/>
          <p:cNvSpPr/>
          <p:nvPr/>
        </p:nvSpPr>
        <p:spPr>
          <a:xfrm>
            <a:off x="365760" y="4224528"/>
            <a:ext cx="8412480" cy="658368"/>
          </a:xfrm>
          <a:prstGeom prst="rect">
            <a:avLst/>
          </a:prstGeom>
          <a:solidFill>
            <a:srgbClr val="1B2A4A">
              <a:alpha val="92000"/>
            </a:srgbClr>
          </a:solidFill>
          <a:ln w="9525">
            <a:solidFill>
              <a:srgbClr val="0D9488"/>
            </a:solidFill>
            <a:prstDash val="solid"/>
          </a:ln>
        </p:spPr>
        <p:txBody>
          <a:bodyPr/>
          <a:lstStyle/>
          <a:p>
            <a:endParaRPr lang="en-US"/>
          </a:p>
        </p:txBody>
      </p:sp>
      <p:sp>
        <p:nvSpPr>
          <p:cNvPr id="36" name="Text 27"/>
          <p:cNvSpPr/>
          <p:nvPr/>
        </p:nvSpPr>
        <p:spPr>
          <a:xfrm>
            <a:off x="548640" y="4242816"/>
            <a:ext cx="8138160" cy="621792"/>
          </a:xfrm>
          <a:prstGeom prst="rect">
            <a:avLst/>
          </a:prstGeom>
          <a:noFill/>
          <a:ln/>
        </p:spPr>
        <p:txBody>
          <a:bodyPr wrap="square" lIns="0" tIns="0" rIns="0" bIns="0" rtlCol="0" anchor="ctr"/>
          <a:lstStyle/>
          <a:p>
            <a:pPr marL="0" indent="0">
              <a:buNone/>
            </a:pPr>
            <a:r>
              <a:rPr lang="en-US" sz="1150" i="1" dirty="0">
                <a:solidFill>
                  <a:srgbClr val="5EEAD4"/>
                </a:solidFill>
                <a:latin typeface="Calibri" pitchFamily="34" charset="0"/>
                <a:ea typeface="Calibri" pitchFamily="34" charset="-122"/>
                <a:cs typeface="Calibri" pitchFamily="34" charset="-120"/>
              </a:rPr>
              <a:t>"The gap between a mediocre AI output and a great one is almost always found in the iteration."</a:t>
            </a:r>
            <a:r>
              <a:rPr lang="en-US" sz="950" dirty="0">
                <a:solidFill>
                  <a:srgbClr val="94A3B8"/>
                </a:solidFill>
                <a:latin typeface="Calibri" pitchFamily="34" charset="0"/>
                <a:ea typeface="Calibri" pitchFamily="34" charset="-122"/>
                <a:cs typeface="Calibri" pitchFamily="34" charset="-120"/>
              </a:rPr>
              <a:t>  — AI Fluency Foundations</a:t>
            </a:r>
            <a:endParaRPr lang="en-US" sz="1150" dirty="0"/>
          </a:p>
        </p:txBody>
      </p:sp>
      <p:sp>
        <p:nvSpPr>
          <p:cNvPr id="37" name="Text 28"/>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64592"/>
            <a:ext cx="8229600" cy="475488"/>
          </a:xfrm>
          <a:prstGeom prst="rect">
            <a:avLst/>
          </a:prstGeom>
          <a:noFill/>
          <a:ln/>
        </p:spPr>
        <p:txBody>
          <a:bodyPr wrap="square" lIns="0" tIns="0" rIns="0" bIns="0" rtlCol="0" anchor="ctr"/>
          <a:lstStyle/>
          <a:p>
            <a:pPr marL="0" indent="0">
              <a:buNone/>
            </a:pPr>
            <a:r>
              <a:rPr lang="en-US" sz="2800" b="1" dirty="0">
                <a:solidFill>
                  <a:srgbClr val="1B2A4A"/>
                </a:solidFill>
                <a:latin typeface="Trebuchet MS" pitchFamily="34" charset="0"/>
                <a:ea typeface="Trebuchet MS" pitchFamily="34" charset="-122"/>
                <a:cs typeface="Trebuchet MS" pitchFamily="34" charset="-120"/>
              </a:rPr>
              <a:t>Prompt Patterns That Fail</a:t>
            </a:r>
            <a:endParaRPr lang="en-US" sz="2800" dirty="0"/>
          </a:p>
        </p:txBody>
      </p:sp>
      <p:sp>
        <p:nvSpPr>
          <p:cNvPr id="4" name="Text 2"/>
          <p:cNvSpPr/>
          <p:nvPr/>
        </p:nvSpPr>
        <p:spPr>
          <a:xfrm>
            <a:off x="457200" y="667512"/>
            <a:ext cx="8229600" cy="25603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Recognizing these in your own work is the first step</a:t>
            </a:r>
            <a:endParaRPr lang="en-US" sz="1200" dirty="0"/>
          </a:p>
        </p:txBody>
      </p:sp>
      <p:sp>
        <p:nvSpPr>
          <p:cNvPr id="5" name="Shape 3"/>
          <p:cNvSpPr/>
          <p:nvPr/>
        </p:nvSpPr>
        <p:spPr>
          <a:xfrm>
            <a:off x="365760" y="1078992"/>
            <a:ext cx="3977640" cy="1664208"/>
          </a:xfrm>
          <a:prstGeom prst="rect">
            <a:avLst/>
          </a:prstGeom>
          <a:solidFill>
            <a:srgbClr val="FFFFFF"/>
          </a:solidFill>
          <a:ln w="12700">
            <a:solidFill>
              <a:srgbClr val="FECACA"/>
            </a:solidFill>
            <a:prstDash val="solid"/>
          </a:ln>
          <a:effectLst>
            <a:outerShdw blurRad="152400" dist="50800" dir="8100000" algn="bl" rotWithShape="0">
              <a:srgbClr val="000000">
                <a:alpha val="10000"/>
              </a:srgbClr>
            </a:outerShdw>
          </a:effectLst>
        </p:spPr>
        <p:txBody>
          <a:bodyPr/>
          <a:lstStyle/>
          <a:p>
            <a:endParaRPr lang="en-US"/>
          </a:p>
        </p:txBody>
      </p:sp>
      <p:sp>
        <p:nvSpPr>
          <p:cNvPr id="6" name="Shape 4"/>
          <p:cNvSpPr/>
          <p:nvPr/>
        </p:nvSpPr>
        <p:spPr>
          <a:xfrm>
            <a:off x="365760" y="1078992"/>
            <a:ext cx="3977640" cy="384048"/>
          </a:xfrm>
          <a:prstGeom prst="rect">
            <a:avLst/>
          </a:prstGeom>
          <a:solidFill>
            <a:srgbClr val="FEF2F2"/>
          </a:solidFill>
          <a:ln w="6350">
            <a:solidFill>
              <a:srgbClr val="FECACA"/>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75488" y="1152144"/>
            <a:ext cx="274320" cy="274320"/>
          </a:xfrm>
          <a:prstGeom prst="rect">
            <a:avLst/>
          </a:prstGeom>
        </p:spPr>
      </p:pic>
      <p:sp>
        <p:nvSpPr>
          <p:cNvPr id="8" name="Text 5"/>
          <p:cNvSpPr/>
          <p:nvPr/>
        </p:nvSpPr>
        <p:spPr>
          <a:xfrm>
            <a:off x="841248" y="1133856"/>
            <a:ext cx="3383280" cy="329184"/>
          </a:xfrm>
          <a:prstGeom prst="rect">
            <a:avLst/>
          </a:prstGeom>
          <a:noFill/>
          <a:ln/>
        </p:spPr>
        <p:txBody>
          <a:bodyPr wrap="square" lIns="0" tIns="0" rIns="0" bIns="0" rtlCol="0" anchor="ctr"/>
          <a:lstStyle/>
          <a:p>
            <a:pPr marL="0" indent="0">
              <a:buNone/>
            </a:pPr>
            <a:r>
              <a:rPr lang="en-US" sz="1300" b="1" dirty="0">
                <a:solidFill>
                  <a:srgbClr val="F97316"/>
                </a:solidFill>
                <a:latin typeface="Trebuchet MS" pitchFamily="34" charset="0"/>
                <a:ea typeface="Trebuchet MS" pitchFamily="34" charset="-122"/>
                <a:cs typeface="Trebuchet MS" pitchFamily="34" charset="-120"/>
              </a:rPr>
              <a:t>Prompt Stuffing</a:t>
            </a:r>
            <a:endParaRPr lang="en-US" sz="1300" dirty="0"/>
          </a:p>
        </p:txBody>
      </p:sp>
      <p:sp>
        <p:nvSpPr>
          <p:cNvPr id="9" name="Text 6"/>
          <p:cNvSpPr/>
          <p:nvPr/>
        </p:nvSpPr>
        <p:spPr>
          <a:xfrm>
            <a:off x="502920" y="1554480"/>
            <a:ext cx="3749040" cy="59436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"Draft a risk summary, create an incident response checklist, compare these two vendors, and write an email to the CISO."</a:t>
            </a:r>
            <a:endParaRPr lang="en-US" sz="1050" dirty="0"/>
          </a:p>
        </p:txBody>
      </p:sp>
      <p:sp>
        <p:nvSpPr>
          <p:cNvPr id="10" name="Shape 7"/>
          <p:cNvSpPr/>
          <p:nvPr/>
        </p:nvSpPr>
        <p:spPr>
          <a:xfrm>
            <a:off x="475488" y="2194560"/>
            <a:ext cx="3749040" cy="420624"/>
          </a:xfrm>
          <a:prstGeom prst="rect">
            <a:avLst/>
          </a:prstGeom>
          <a:solidFill>
            <a:srgbClr val="FFF7ED"/>
          </a:solidFill>
          <a:ln w="6350">
            <a:solidFill>
              <a:srgbClr val="FED7AA"/>
            </a:solidFill>
            <a:prstDash val="solid"/>
          </a:ln>
        </p:spPr>
        <p:txBody>
          <a:bodyPr/>
          <a:lstStyle/>
          <a:p>
            <a:endParaRPr lang="en-US"/>
          </a:p>
        </p:txBody>
      </p:sp>
      <p:sp>
        <p:nvSpPr>
          <p:cNvPr id="11" name="Text 8"/>
          <p:cNvSpPr/>
          <p:nvPr/>
        </p:nvSpPr>
        <p:spPr>
          <a:xfrm>
            <a:off x="548640" y="2212848"/>
            <a:ext cx="3630168" cy="384048"/>
          </a:xfrm>
          <a:prstGeom prst="rect">
            <a:avLst/>
          </a:prstGeom>
          <a:noFill/>
          <a:ln/>
        </p:spPr>
        <p:txBody>
          <a:bodyPr wrap="square" lIns="0" tIns="0" rIns="0" bIns="0" rtlCol="0" anchor="ctr"/>
          <a:lstStyle/>
          <a:p>
            <a:pPr marL="0" indent="0">
              <a:buNone/>
            </a:pPr>
            <a:r>
              <a:rPr lang="en-US" sz="1050" b="1" dirty="0">
                <a:solidFill>
                  <a:srgbClr val="F97316"/>
                </a:solidFill>
                <a:latin typeface="Calibri" pitchFamily="34" charset="0"/>
                <a:ea typeface="Calibri" pitchFamily="34" charset="-122"/>
                <a:cs typeface="Calibri" pitchFamily="34" charset="-120"/>
              </a:rPr>
              <a:t>Why it fails: </a:t>
            </a:r>
            <a:r>
              <a:rPr lang="en-US" sz="1050" dirty="0">
                <a:solidFill>
                  <a:srgbClr val="1E293B"/>
                </a:solidFill>
                <a:latin typeface="Calibri" pitchFamily="34" charset="0"/>
                <a:ea typeface="Calibri" pitchFamily="34" charset="-122"/>
                <a:cs typeface="Calibri" pitchFamily="34" charset="-120"/>
              </a:rPr>
              <a:t>AI picks the easiest parts and ignores or conflates the rest.</a:t>
            </a:r>
            <a:endParaRPr lang="en-US" sz="1050" dirty="0"/>
          </a:p>
        </p:txBody>
      </p:sp>
      <p:sp>
        <p:nvSpPr>
          <p:cNvPr id="12" name="Shape 9"/>
          <p:cNvSpPr/>
          <p:nvPr/>
        </p:nvSpPr>
        <p:spPr>
          <a:xfrm>
            <a:off x="4617720" y="1078992"/>
            <a:ext cx="3977640" cy="1664208"/>
          </a:xfrm>
          <a:prstGeom prst="rect">
            <a:avLst/>
          </a:prstGeom>
          <a:solidFill>
            <a:srgbClr val="FFFFFF"/>
          </a:solidFill>
          <a:ln w="12700">
            <a:solidFill>
              <a:srgbClr val="FECACA"/>
            </a:solidFill>
            <a:prstDash val="solid"/>
          </a:ln>
          <a:effectLst>
            <a:outerShdw blurRad="152400" dist="50800" dir="8100000" algn="bl" rotWithShape="0">
              <a:srgbClr val="000000">
                <a:alpha val="10000"/>
              </a:srgbClr>
            </a:outerShdw>
          </a:effectLst>
        </p:spPr>
        <p:txBody>
          <a:bodyPr/>
          <a:lstStyle/>
          <a:p>
            <a:endParaRPr lang="en-US"/>
          </a:p>
        </p:txBody>
      </p:sp>
      <p:sp>
        <p:nvSpPr>
          <p:cNvPr id="13" name="Shape 10"/>
          <p:cNvSpPr/>
          <p:nvPr/>
        </p:nvSpPr>
        <p:spPr>
          <a:xfrm>
            <a:off x="4617720" y="1078992"/>
            <a:ext cx="3977640" cy="384048"/>
          </a:xfrm>
          <a:prstGeom prst="rect">
            <a:avLst/>
          </a:prstGeom>
          <a:solidFill>
            <a:srgbClr val="FEF2F2"/>
          </a:solidFill>
          <a:ln w="6350">
            <a:solidFill>
              <a:srgbClr val="FECACA"/>
            </a:solidFill>
            <a:prstDash val="solid"/>
          </a:ln>
        </p:spPr>
        <p:txBody>
          <a:bodyPr/>
          <a:lstStyle/>
          <a:p>
            <a:endParaRPr lang="en-US"/>
          </a:p>
        </p:txBody>
      </p:sp>
      <p:pic>
        <p:nvPicPr>
          <p:cNvPr id="14" name="Image 1" descr="preencoded.png"/>
          <p:cNvPicPr>
            <a:picLocks noChangeAspect="1"/>
          </p:cNvPicPr>
          <p:nvPr/>
        </p:nvPicPr>
        <p:blipFill>
          <a:blip r:embed="rId3"/>
          <a:stretch>
            <a:fillRect/>
          </a:stretch>
        </p:blipFill>
        <p:spPr>
          <a:xfrm>
            <a:off x="4727448" y="1152144"/>
            <a:ext cx="274320" cy="274320"/>
          </a:xfrm>
          <a:prstGeom prst="rect">
            <a:avLst/>
          </a:prstGeom>
        </p:spPr>
      </p:pic>
      <p:sp>
        <p:nvSpPr>
          <p:cNvPr id="15" name="Text 11"/>
          <p:cNvSpPr/>
          <p:nvPr/>
        </p:nvSpPr>
        <p:spPr>
          <a:xfrm>
            <a:off x="5093208" y="1133856"/>
            <a:ext cx="3383280" cy="329184"/>
          </a:xfrm>
          <a:prstGeom prst="rect">
            <a:avLst/>
          </a:prstGeom>
          <a:noFill/>
          <a:ln/>
        </p:spPr>
        <p:txBody>
          <a:bodyPr wrap="square" lIns="0" tIns="0" rIns="0" bIns="0" rtlCol="0" anchor="ctr"/>
          <a:lstStyle/>
          <a:p>
            <a:pPr marL="0" indent="0">
              <a:buNone/>
            </a:pPr>
            <a:r>
              <a:rPr lang="en-US" sz="1300" b="1" dirty="0">
                <a:solidFill>
                  <a:srgbClr val="F97316"/>
                </a:solidFill>
                <a:latin typeface="Trebuchet MS" pitchFamily="34" charset="0"/>
                <a:ea typeface="Trebuchet MS" pitchFamily="34" charset="-122"/>
                <a:cs typeface="Trebuchet MS" pitchFamily="34" charset="-120"/>
              </a:rPr>
              <a:t>Vague Instructions</a:t>
            </a:r>
            <a:endParaRPr lang="en-US" sz="1300" dirty="0"/>
          </a:p>
        </p:txBody>
      </p:sp>
      <p:sp>
        <p:nvSpPr>
          <p:cNvPr id="16" name="Text 12"/>
          <p:cNvSpPr/>
          <p:nvPr/>
        </p:nvSpPr>
        <p:spPr>
          <a:xfrm>
            <a:off x="4754880" y="1554480"/>
            <a:ext cx="3749040" cy="59436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"Improve this." / "Make it better." / "Fix the issues."</a:t>
            </a:r>
            <a:endParaRPr lang="en-US" sz="1050" dirty="0"/>
          </a:p>
        </p:txBody>
      </p:sp>
      <p:sp>
        <p:nvSpPr>
          <p:cNvPr id="17" name="Shape 13"/>
          <p:cNvSpPr/>
          <p:nvPr/>
        </p:nvSpPr>
        <p:spPr>
          <a:xfrm>
            <a:off x="4727448" y="2194560"/>
            <a:ext cx="3749040" cy="420624"/>
          </a:xfrm>
          <a:prstGeom prst="rect">
            <a:avLst/>
          </a:prstGeom>
          <a:solidFill>
            <a:srgbClr val="FFF7ED"/>
          </a:solidFill>
          <a:ln w="6350">
            <a:solidFill>
              <a:srgbClr val="FED7AA"/>
            </a:solidFill>
            <a:prstDash val="solid"/>
          </a:ln>
        </p:spPr>
        <p:txBody>
          <a:bodyPr/>
          <a:lstStyle/>
          <a:p>
            <a:endParaRPr lang="en-US"/>
          </a:p>
        </p:txBody>
      </p:sp>
      <p:sp>
        <p:nvSpPr>
          <p:cNvPr id="18" name="Text 14"/>
          <p:cNvSpPr/>
          <p:nvPr/>
        </p:nvSpPr>
        <p:spPr>
          <a:xfrm>
            <a:off x="4800600" y="2212848"/>
            <a:ext cx="3630168" cy="384048"/>
          </a:xfrm>
          <a:prstGeom prst="rect">
            <a:avLst/>
          </a:prstGeom>
          <a:noFill/>
          <a:ln/>
        </p:spPr>
        <p:txBody>
          <a:bodyPr wrap="square" lIns="0" tIns="0" rIns="0" bIns="0" rtlCol="0" anchor="ctr"/>
          <a:lstStyle/>
          <a:p>
            <a:pPr marL="0" indent="0">
              <a:buNone/>
            </a:pPr>
            <a:r>
              <a:rPr lang="en-US" sz="1050" b="1" dirty="0">
                <a:solidFill>
                  <a:srgbClr val="F97316"/>
                </a:solidFill>
                <a:latin typeface="Calibri" pitchFamily="34" charset="0"/>
                <a:ea typeface="Calibri" pitchFamily="34" charset="-122"/>
                <a:cs typeface="Calibri" pitchFamily="34" charset="-120"/>
              </a:rPr>
              <a:t>Why it fails: </a:t>
            </a:r>
            <a:r>
              <a:rPr lang="en-US" sz="1050" dirty="0">
                <a:solidFill>
                  <a:srgbClr val="1E293B"/>
                </a:solidFill>
                <a:latin typeface="Calibri" pitchFamily="34" charset="0"/>
                <a:ea typeface="Calibri" pitchFamily="34" charset="-122"/>
                <a:cs typeface="Calibri" pitchFamily="34" charset="-120"/>
              </a:rPr>
              <a:t>AI doesn't know your standard for 'better' — it guesses generically.</a:t>
            </a:r>
            <a:endParaRPr lang="en-US" sz="1050" dirty="0"/>
          </a:p>
        </p:txBody>
      </p:sp>
      <p:sp>
        <p:nvSpPr>
          <p:cNvPr id="19" name="Shape 15"/>
          <p:cNvSpPr/>
          <p:nvPr/>
        </p:nvSpPr>
        <p:spPr>
          <a:xfrm>
            <a:off x="365760" y="2944368"/>
            <a:ext cx="3977640" cy="1664208"/>
          </a:xfrm>
          <a:prstGeom prst="rect">
            <a:avLst/>
          </a:prstGeom>
          <a:solidFill>
            <a:srgbClr val="FFFFFF"/>
          </a:solidFill>
          <a:ln w="12700">
            <a:solidFill>
              <a:srgbClr val="FECACA"/>
            </a:solidFill>
            <a:prstDash val="solid"/>
          </a:ln>
          <a:effectLst>
            <a:outerShdw blurRad="152400" dist="50800" dir="8100000" algn="bl" rotWithShape="0">
              <a:srgbClr val="000000">
                <a:alpha val="10000"/>
              </a:srgbClr>
            </a:outerShdw>
          </a:effectLst>
        </p:spPr>
        <p:txBody>
          <a:bodyPr/>
          <a:lstStyle/>
          <a:p>
            <a:endParaRPr lang="en-US"/>
          </a:p>
        </p:txBody>
      </p:sp>
      <p:sp>
        <p:nvSpPr>
          <p:cNvPr id="20" name="Shape 16"/>
          <p:cNvSpPr/>
          <p:nvPr/>
        </p:nvSpPr>
        <p:spPr>
          <a:xfrm>
            <a:off x="365760" y="2944368"/>
            <a:ext cx="3977640" cy="384048"/>
          </a:xfrm>
          <a:prstGeom prst="rect">
            <a:avLst/>
          </a:prstGeom>
          <a:solidFill>
            <a:srgbClr val="FEF2F2"/>
          </a:solidFill>
          <a:ln w="6350">
            <a:solidFill>
              <a:srgbClr val="FECACA"/>
            </a:solidFill>
            <a:prstDash val="solid"/>
          </a:ln>
        </p:spPr>
        <p:txBody>
          <a:bodyPr/>
          <a:lstStyle/>
          <a:p>
            <a:endParaRPr lang="en-US"/>
          </a:p>
        </p:txBody>
      </p:sp>
      <p:pic>
        <p:nvPicPr>
          <p:cNvPr id="21" name="Image 2" descr="preencoded.png"/>
          <p:cNvPicPr>
            <a:picLocks noChangeAspect="1"/>
          </p:cNvPicPr>
          <p:nvPr/>
        </p:nvPicPr>
        <p:blipFill>
          <a:blip r:embed="rId3"/>
          <a:stretch>
            <a:fillRect/>
          </a:stretch>
        </p:blipFill>
        <p:spPr>
          <a:xfrm>
            <a:off x="475488" y="3017520"/>
            <a:ext cx="274320" cy="274320"/>
          </a:xfrm>
          <a:prstGeom prst="rect">
            <a:avLst/>
          </a:prstGeom>
        </p:spPr>
      </p:pic>
      <p:sp>
        <p:nvSpPr>
          <p:cNvPr id="22" name="Text 17"/>
          <p:cNvSpPr/>
          <p:nvPr/>
        </p:nvSpPr>
        <p:spPr>
          <a:xfrm>
            <a:off x="841248" y="2999232"/>
            <a:ext cx="3383280" cy="329184"/>
          </a:xfrm>
          <a:prstGeom prst="rect">
            <a:avLst/>
          </a:prstGeom>
          <a:noFill/>
          <a:ln/>
        </p:spPr>
        <p:txBody>
          <a:bodyPr wrap="square" lIns="0" tIns="0" rIns="0" bIns="0" rtlCol="0" anchor="ctr"/>
          <a:lstStyle/>
          <a:p>
            <a:pPr marL="0" indent="0">
              <a:buNone/>
            </a:pPr>
            <a:r>
              <a:rPr lang="en-US" sz="1300" b="1" dirty="0">
                <a:solidFill>
                  <a:srgbClr val="F97316"/>
                </a:solidFill>
                <a:latin typeface="Trebuchet MS" pitchFamily="34" charset="0"/>
                <a:ea typeface="Trebuchet MS" pitchFamily="34" charset="-122"/>
                <a:cs typeface="Trebuchet MS" pitchFamily="34" charset="-120"/>
              </a:rPr>
              <a:t>No Format Specification</a:t>
            </a:r>
            <a:endParaRPr lang="en-US" sz="1300" dirty="0"/>
          </a:p>
        </p:txBody>
      </p:sp>
      <p:sp>
        <p:nvSpPr>
          <p:cNvPr id="23" name="Text 18"/>
          <p:cNvSpPr/>
          <p:nvPr/>
        </p:nvSpPr>
        <p:spPr>
          <a:xfrm>
            <a:off x="502920" y="3419856"/>
            <a:ext cx="3749040" cy="59436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"Analyze these vendor risks."</a:t>
            </a:r>
            <a:endParaRPr lang="en-US" sz="1050" dirty="0"/>
          </a:p>
        </p:txBody>
      </p:sp>
      <p:sp>
        <p:nvSpPr>
          <p:cNvPr id="24" name="Shape 19"/>
          <p:cNvSpPr/>
          <p:nvPr/>
        </p:nvSpPr>
        <p:spPr>
          <a:xfrm>
            <a:off x="475488" y="4059936"/>
            <a:ext cx="3749040" cy="420624"/>
          </a:xfrm>
          <a:prstGeom prst="rect">
            <a:avLst/>
          </a:prstGeom>
          <a:solidFill>
            <a:srgbClr val="FFF7ED"/>
          </a:solidFill>
          <a:ln w="6350">
            <a:solidFill>
              <a:srgbClr val="FED7AA"/>
            </a:solidFill>
            <a:prstDash val="solid"/>
          </a:ln>
        </p:spPr>
        <p:txBody>
          <a:bodyPr/>
          <a:lstStyle/>
          <a:p>
            <a:endParaRPr lang="en-US"/>
          </a:p>
        </p:txBody>
      </p:sp>
      <p:sp>
        <p:nvSpPr>
          <p:cNvPr id="25" name="Text 20"/>
          <p:cNvSpPr/>
          <p:nvPr/>
        </p:nvSpPr>
        <p:spPr>
          <a:xfrm>
            <a:off x="548640" y="4078224"/>
            <a:ext cx="3630168" cy="384048"/>
          </a:xfrm>
          <a:prstGeom prst="rect">
            <a:avLst/>
          </a:prstGeom>
          <a:noFill/>
          <a:ln/>
        </p:spPr>
        <p:txBody>
          <a:bodyPr wrap="square" lIns="0" tIns="0" rIns="0" bIns="0" rtlCol="0" anchor="ctr"/>
          <a:lstStyle/>
          <a:p>
            <a:pPr marL="0" indent="0">
              <a:buNone/>
            </a:pPr>
            <a:r>
              <a:rPr lang="en-US" sz="1050" b="1" dirty="0">
                <a:solidFill>
                  <a:srgbClr val="F97316"/>
                </a:solidFill>
                <a:latin typeface="Calibri" pitchFamily="34" charset="0"/>
                <a:ea typeface="Calibri" pitchFamily="34" charset="-122"/>
                <a:cs typeface="Calibri" pitchFamily="34" charset="-120"/>
              </a:rPr>
              <a:t>Why it fails: </a:t>
            </a:r>
            <a:r>
              <a:rPr lang="en-US" sz="1050" dirty="0">
                <a:solidFill>
                  <a:srgbClr val="1E293B"/>
                </a:solidFill>
                <a:latin typeface="Calibri" pitchFamily="34" charset="0"/>
                <a:ea typeface="Calibri" pitchFamily="34" charset="-122"/>
                <a:cs typeface="Calibri" pitchFamily="34" charset="-120"/>
              </a:rPr>
              <a:t>You get a 500-word essay when you needed a 5-row comparison table.</a:t>
            </a:r>
            <a:endParaRPr lang="en-US" sz="1050" dirty="0"/>
          </a:p>
        </p:txBody>
      </p:sp>
      <p:sp>
        <p:nvSpPr>
          <p:cNvPr id="26" name="Shape 21"/>
          <p:cNvSpPr/>
          <p:nvPr/>
        </p:nvSpPr>
        <p:spPr>
          <a:xfrm>
            <a:off x="4617720" y="2944368"/>
            <a:ext cx="3977640" cy="1664208"/>
          </a:xfrm>
          <a:prstGeom prst="rect">
            <a:avLst/>
          </a:prstGeom>
          <a:solidFill>
            <a:srgbClr val="FFFFFF"/>
          </a:solidFill>
          <a:ln w="12700">
            <a:solidFill>
              <a:srgbClr val="FECACA"/>
            </a:solidFill>
            <a:prstDash val="solid"/>
          </a:ln>
          <a:effectLst>
            <a:outerShdw blurRad="152400" dist="50800" dir="8100000" algn="bl" rotWithShape="0">
              <a:srgbClr val="000000">
                <a:alpha val="10000"/>
              </a:srgbClr>
            </a:outerShdw>
          </a:effectLst>
        </p:spPr>
        <p:txBody>
          <a:bodyPr/>
          <a:lstStyle/>
          <a:p>
            <a:endParaRPr lang="en-US"/>
          </a:p>
        </p:txBody>
      </p:sp>
      <p:sp>
        <p:nvSpPr>
          <p:cNvPr id="27" name="Shape 22"/>
          <p:cNvSpPr/>
          <p:nvPr/>
        </p:nvSpPr>
        <p:spPr>
          <a:xfrm>
            <a:off x="4617720" y="2944368"/>
            <a:ext cx="3977640" cy="384048"/>
          </a:xfrm>
          <a:prstGeom prst="rect">
            <a:avLst/>
          </a:prstGeom>
          <a:solidFill>
            <a:srgbClr val="FEF2F2"/>
          </a:solidFill>
          <a:ln w="6350">
            <a:solidFill>
              <a:srgbClr val="FECACA"/>
            </a:solidFill>
            <a:prstDash val="solid"/>
          </a:ln>
        </p:spPr>
        <p:txBody>
          <a:bodyPr/>
          <a:lstStyle/>
          <a:p>
            <a:endParaRPr lang="en-US"/>
          </a:p>
        </p:txBody>
      </p:sp>
      <p:pic>
        <p:nvPicPr>
          <p:cNvPr id="28" name="Image 3" descr="preencoded.png"/>
          <p:cNvPicPr>
            <a:picLocks noChangeAspect="1"/>
          </p:cNvPicPr>
          <p:nvPr/>
        </p:nvPicPr>
        <p:blipFill>
          <a:blip r:embed="rId3"/>
          <a:stretch>
            <a:fillRect/>
          </a:stretch>
        </p:blipFill>
        <p:spPr>
          <a:xfrm>
            <a:off x="4727448" y="3017520"/>
            <a:ext cx="274320" cy="274320"/>
          </a:xfrm>
          <a:prstGeom prst="rect">
            <a:avLst/>
          </a:prstGeom>
        </p:spPr>
      </p:pic>
      <p:sp>
        <p:nvSpPr>
          <p:cNvPr id="29" name="Text 23"/>
          <p:cNvSpPr/>
          <p:nvPr/>
        </p:nvSpPr>
        <p:spPr>
          <a:xfrm>
            <a:off x="5093208" y="2999232"/>
            <a:ext cx="3383280" cy="329184"/>
          </a:xfrm>
          <a:prstGeom prst="rect">
            <a:avLst/>
          </a:prstGeom>
          <a:noFill/>
          <a:ln/>
        </p:spPr>
        <p:txBody>
          <a:bodyPr wrap="square" lIns="0" tIns="0" rIns="0" bIns="0" rtlCol="0" anchor="ctr"/>
          <a:lstStyle/>
          <a:p>
            <a:pPr marL="0" indent="0">
              <a:buNone/>
            </a:pPr>
            <a:r>
              <a:rPr lang="en-US" sz="1300" b="1" dirty="0">
                <a:solidFill>
                  <a:srgbClr val="F97316"/>
                </a:solidFill>
                <a:latin typeface="Trebuchet MS" pitchFamily="34" charset="0"/>
                <a:ea typeface="Trebuchet MS" pitchFamily="34" charset="-122"/>
                <a:cs typeface="Trebuchet MS" pitchFamily="34" charset="-120"/>
              </a:rPr>
              <a:t>Expectation Collapse</a:t>
            </a:r>
            <a:endParaRPr lang="en-US" sz="1300" dirty="0"/>
          </a:p>
        </p:txBody>
      </p:sp>
      <p:sp>
        <p:nvSpPr>
          <p:cNvPr id="30" name="Text 24"/>
          <p:cNvSpPr/>
          <p:nvPr/>
        </p:nvSpPr>
        <p:spPr>
          <a:xfrm>
            <a:off x="4754880" y="3419856"/>
            <a:ext cx="3749040" cy="59436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"Just figure it out."</a:t>
            </a:r>
            <a:endParaRPr lang="en-US" sz="1050" dirty="0"/>
          </a:p>
        </p:txBody>
      </p:sp>
      <p:sp>
        <p:nvSpPr>
          <p:cNvPr id="31" name="Shape 25"/>
          <p:cNvSpPr/>
          <p:nvPr/>
        </p:nvSpPr>
        <p:spPr>
          <a:xfrm>
            <a:off x="4727448" y="4059936"/>
            <a:ext cx="3749040" cy="420624"/>
          </a:xfrm>
          <a:prstGeom prst="rect">
            <a:avLst/>
          </a:prstGeom>
          <a:solidFill>
            <a:srgbClr val="FFF7ED"/>
          </a:solidFill>
          <a:ln w="6350">
            <a:solidFill>
              <a:srgbClr val="FED7AA"/>
            </a:solidFill>
            <a:prstDash val="solid"/>
          </a:ln>
        </p:spPr>
        <p:txBody>
          <a:bodyPr/>
          <a:lstStyle/>
          <a:p>
            <a:endParaRPr lang="en-US"/>
          </a:p>
        </p:txBody>
      </p:sp>
      <p:sp>
        <p:nvSpPr>
          <p:cNvPr id="32" name="Text 26"/>
          <p:cNvSpPr/>
          <p:nvPr/>
        </p:nvSpPr>
        <p:spPr>
          <a:xfrm>
            <a:off x="4800600" y="4078224"/>
            <a:ext cx="3630168" cy="384048"/>
          </a:xfrm>
          <a:prstGeom prst="rect">
            <a:avLst/>
          </a:prstGeom>
          <a:noFill/>
          <a:ln/>
        </p:spPr>
        <p:txBody>
          <a:bodyPr wrap="square" lIns="0" tIns="0" rIns="0" bIns="0" rtlCol="0" anchor="ctr"/>
          <a:lstStyle/>
          <a:p>
            <a:pPr marL="0" indent="0">
              <a:buNone/>
            </a:pPr>
            <a:r>
              <a:rPr lang="en-US" sz="1050" b="1" dirty="0">
                <a:solidFill>
                  <a:srgbClr val="F97316"/>
                </a:solidFill>
                <a:latin typeface="Calibri" pitchFamily="34" charset="0"/>
                <a:ea typeface="Calibri" pitchFamily="34" charset="-122"/>
                <a:cs typeface="Calibri" pitchFamily="34" charset="-120"/>
              </a:rPr>
              <a:t>Why it fails: </a:t>
            </a:r>
            <a:r>
              <a:rPr lang="en-US" sz="1050" dirty="0">
                <a:solidFill>
                  <a:srgbClr val="1E293B"/>
                </a:solidFill>
                <a:latin typeface="Calibri" pitchFamily="34" charset="0"/>
                <a:ea typeface="Calibri" pitchFamily="34" charset="-122"/>
                <a:cs typeface="Calibri" pitchFamily="34" charset="-120"/>
              </a:rPr>
              <a:t>AI has no access to your org context, risk appetite, or regulatory requirements.</a:t>
            </a:r>
            <a:endParaRPr lang="en-US" sz="1050" dirty="0"/>
          </a:p>
        </p:txBody>
      </p:sp>
      <p:sp>
        <p:nvSpPr>
          <p:cNvPr id="33" name="Text 27"/>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64592"/>
            <a:ext cx="8229600" cy="475488"/>
          </a:xfrm>
          <a:prstGeom prst="rect">
            <a:avLst/>
          </a:prstGeom>
          <a:noFill/>
          <a:ln/>
        </p:spPr>
        <p:txBody>
          <a:bodyPr wrap="square" lIns="0" tIns="0" rIns="0" bIns="0" rtlCol="0" anchor="ctr"/>
          <a:lstStyle/>
          <a:p>
            <a:pPr marL="0" indent="0">
              <a:buNone/>
            </a:pPr>
            <a:r>
              <a:rPr lang="en-US" sz="2700" b="1" dirty="0">
                <a:solidFill>
                  <a:srgbClr val="1B2A4A"/>
                </a:solidFill>
                <a:latin typeface="Trebuchet MS" pitchFamily="34" charset="0"/>
                <a:ea typeface="Trebuchet MS" pitchFamily="34" charset="-122"/>
                <a:cs typeface="Trebuchet MS" pitchFamily="34" charset="-120"/>
              </a:rPr>
              <a:t>Zero-Shot vs. Few-Shot Prompting</a:t>
            </a:r>
            <a:endParaRPr lang="en-US" sz="2700" dirty="0"/>
          </a:p>
        </p:txBody>
      </p:sp>
      <p:sp>
        <p:nvSpPr>
          <p:cNvPr id="4" name="Text 2"/>
          <p:cNvSpPr/>
          <p:nvPr/>
        </p:nvSpPr>
        <p:spPr>
          <a:xfrm>
            <a:off x="457200" y="667512"/>
            <a:ext cx="8229600" cy="25603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Choosing the right approach based on task type and output consistency required</a:t>
            </a:r>
            <a:endParaRPr lang="en-US" sz="1200" dirty="0"/>
          </a:p>
        </p:txBody>
      </p:sp>
      <p:sp>
        <p:nvSpPr>
          <p:cNvPr id="5" name="Shape 3"/>
          <p:cNvSpPr/>
          <p:nvPr/>
        </p:nvSpPr>
        <p:spPr>
          <a:xfrm>
            <a:off x="365760" y="1024128"/>
            <a:ext cx="3931920" cy="301752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6" name="Shape 4"/>
          <p:cNvSpPr/>
          <p:nvPr/>
        </p:nvSpPr>
        <p:spPr>
          <a:xfrm>
            <a:off x="365760" y="1024128"/>
            <a:ext cx="3931920" cy="475488"/>
          </a:xfrm>
          <a:prstGeom prst="rect">
            <a:avLst/>
          </a:prstGeom>
          <a:solidFill>
            <a:srgbClr val="0D9488"/>
          </a:solidFill>
          <a:ln w="12700">
            <a:solidFill>
              <a:srgbClr val="0D948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3657600" y="1069848"/>
            <a:ext cx="320040" cy="320040"/>
          </a:xfrm>
          <a:prstGeom prst="rect">
            <a:avLst/>
          </a:prstGeom>
        </p:spPr>
      </p:pic>
      <p:sp>
        <p:nvSpPr>
          <p:cNvPr id="8" name="Text 5"/>
          <p:cNvSpPr/>
          <p:nvPr/>
        </p:nvSpPr>
        <p:spPr>
          <a:xfrm>
            <a:off x="502920" y="1060704"/>
            <a:ext cx="3200400" cy="402336"/>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Zero-Shot</a:t>
            </a:r>
            <a:endParaRPr lang="en-US" sz="1600" dirty="0"/>
          </a:p>
        </p:txBody>
      </p:sp>
      <p:sp>
        <p:nvSpPr>
          <p:cNvPr id="9" name="Text 6"/>
          <p:cNvSpPr/>
          <p:nvPr/>
        </p:nvSpPr>
        <p:spPr>
          <a:xfrm>
            <a:off x="502920" y="1600200"/>
            <a:ext cx="365760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Give the AI an instruction and let it respond cold — no examples provided.</a:t>
            </a:r>
            <a:endParaRPr lang="en-US" sz="1200" dirty="0"/>
          </a:p>
        </p:txBody>
      </p:sp>
      <p:sp>
        <p:nvSpPr>
          <p:cNvPr id="10" name="Shape 7"/>
          <p:cNvSpPr/>
          <p:nvPr/>
        </p:nvSpPr>
        <p:spPr>
          <a:xfrm>
            <a:off x="502920" y="2176272"/>
            <a:ext cx="3657600" cy="292608"/>
          </a:xfrm>
          <a:prstGeom prst="rect">
            <a:avLst/>
          </a:prstGeom>
          <a:solidFill>
            <a:srgbClr val="EFF6FF"/>
          </a:solidFill>
          <a:ln w="6350">
            <a:solidFill>
              <a:srgbClr val="BFDBFE"/>
            </a:solidFill>
            <a:prstDash val="solid"/>
          </a:ln>
        </p:spPr>
        <p:txBody>
          <a:bodyPr/>
          <a:lstStyle/>
          <a:p>
            <a:endParaRPr lang="en-US"/>
          </a:p>
        </p:txBody>
      </p:sp>
      <p:sp>
        <p:nvSpPr>
          <p:cNvPr id="11" name="Text 8"/>
          <p:cNvSpPr/>
          <p:nvPr/>
        </p:nvSpPr>
        <p:spPr>
          <a:xfrm>
            <a:off x="594360" y="2194560"/>
            <a:ext cx="3474720" cy="256032"/>
          </a:xfrm>
          <a:prstGeom prst="rect">
            <a:avLst/>
          </a:prstGeom>
          <a:noFill/>
          <a:ln/>
        </p:spPr>
        <p:txBody>
          <a:bodyPr wrap="square" lIns="0" tIns="0" rIns="0" bIns="0" rtlCol="0" anchor="ctr"/>
          <a:lstStyle/>
          <a:p>
            <a:pPr marL="0" indent="0">
              <a:buNone/>
            </a:pPr>
            <a:r>
              <a:rPr lang="en-US" sz="1100" b="1" dirty="0">
                <a:solidFill>
                  <a:srgbClr val="1D4ED8"/>
                </a:solidFill>
                <a:latin typeface="Calibri" pitchFamily="34" charset="0"/>
                <a:ea typeface="Calibri" pitchFamily="34" charset="-122"/>
                <a:cs typeface="Calibri" pitchFamily="34" charset="-120"/>
              </a:rPr>
              <a:t>Best for:</a:t>
            </a:r>
            <a:endParaRPr lang="en-US" sz="1100" dirty="0"/>
          </a:p>
        </p:txBody>
      </p:sp>
      <p:sp>
        <p:nvSpPr>
          <p:cNvPr id="12" name="Text 9"/>
          <p:cNvSpPr/>
          <p:nvPr/>
        </p:nvSpPr>
        <p:spPr>
          <a:xfrm>
            <a:off x="594360" y="2514600"/>
            <a:ext cx="3566160" cy="50292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General tasks, open-ended drafting, brainstorming</a:t>
            </a:r>
            <a:endParaRPr lang="en-US" sz="1150" dirty="0"/>
          </a:p>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When the AI's default style is acceptable</a:t>
            </a:r>
            <a:endParaRPr lang="en-US" sz="1150" dirty="0"/>
          </a:p>
        </p:txBody>
      </p:sp>
      <p:sp>
        <p:nvSpPr>
          <p:cNvPr id="13" name="Shape 10"/>
          <p:cNvSpPr/>
          <p:nvPr/>
        </p:nvSpPr>
        <p:spPr>
          <a:xfrm>
            <a:off x="502920" y="3090672"/>
            <a:ext cx="3657600" cy="292608"/>
          </a:xfrm>
          <a:prstGeom prst="rect">
            <a:avLst/>
          </a:prstGeom>
          <a:solidFill>
            <a:srgbClr val="FEF2F2"/>
          </a:solidFill>
          <a:ln w="6350">
            <a:solidFill>
              <a:srgbClr val="FECACA"/>
            </a:solidFill>
            <a:prstDash val="solid"/>
          </a:ln>
        </p:spPr>
        <p:txBody>
          <a:bodyPr/>
          <a:lstStyle/>
          <a:p>
            <a:endParaRPr lang="en-US"/>
          </a:p>
        </p:txBody>
      </p:sp>
      <p:sp>
        <p:nvSpPr>
          <p:cNvPr id="14" name="Text 11"/>
          <p:cNvSpPr/>
          <p:nvPr/>
        </p:nvSpPr>
        <p:spPr>
          <a:xfrm>
            <a:off x="594360" y="3108960"/>
            <a:ext cx="3474720" cy="256032"/>
          </a:xfrm>
          <a:prstGeom prst="rect">
            <a:avLst/>
          </a:prstGeom>
          <a:noFill/>
          <a:ln/>
        </p:spPr>
        <p:txBody>
          <a:bodyPr wrap="square" lIns="0" tIns="0" rIns="0" bIns="0" rtlCol="0" anchor="ctr"/>
          <a:lstStyle/>
          <a:p>
            <a:pPr marL="0" indent="0">
              <a:buNone/>
            </a:pPr>
            <a:r>
              <a:rPr lang="en-US" sz="1100" i="1" dirty="0">
                <a:solidFill>
                  <a:srgbClr val="DC2626"/>
                </a:solidFill>
                <a:latin typeface="Calibri" pitchFamily="34" charset="0"/>
                <a:ea typeface="Calibri" pitchFamily="34" charset="-122"/>
                <a:cs typeface="Calibri" pitchFamily="34" charset="-120"/>
              </a:rPr>
              <a:t>Risk: AI defaults to generic patterns</a:t>
            </a:r>
            <a:endParaRPr lang="en-US" sz="1100" dirty="0"/>
          </a:p>
        </p:txBody>
      </p:sp>
      <p:sp>
        <p:nvSpPr>
          <p:cNvPr id="15" name="Shape 12"/>
          <p:cNvSpPr/>
          <p:nvPr/>
        </p:nvSpPr>
        <p:spPr>
          <a:xfrm>
            <a:off x="4846320" y="1024128"/>
            <a:ext cx="3931920" cy="301752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16" name="Shape 13"/>
          <p:cNvSpPr/>
          <p:nvPr/>
        </p:nvSpPr>
        <p:spPr>
          <a:xfrm>
            <a:off x="4846320" y="1024128"/>
            <a:ext cx="3931920" cy="475488"/>
          </a:xfrm>
          <a:prstGeom prst="rect">
            <a:avLst/>
          </a:prstGeom>
          <a:solidFill>
            <a:srgbClr val="7C3AED"/>
          </a:solidFill>
          <a:ln w="12700">
            <a:solidFill>
              <a:srgbClr val="7C3AED"/>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8138160" y="1069848"/>
            <a:ext cx="365760" cy="365760"/>
          </a:xfrm>
          <a:prstGeom prst="rect">
            <a:avLst/>
          </a:prstGeom>
        </p:spPr>
      </p:pic>
      <p:sp>
        <p:nvSpPr>
          <p:cNvPr id="18" name="Text 14"/>
          <p:cNvSpPr/>
          <p:nvPr/>
        </p:nvSpPr>
        <p:spPr>
          <a:xfrm>
            <a:off x="4983480" y="1060704"/>
            <a:ext cx="3200400" cy="402336"/>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Few-Shot</a:t>
            </a:r>
            <a:endParaRPr lang="en-US" sz="1600" dirty="0"/>
          </a:p>
        </p:txBody>
      </p:sp>
      <p:sp>
        <p:nvSpPr>
          <p:cNvPr id="19" name="Text 15"/>
          <p:cNvSpPr/>
          <p:nvPr/>
        </p:nvSpPr>
        <p:spPr>
          <a:xfrm>
            <a:off x="4983480" y="1600200"/>
            <a:ext cx="365760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Provide 2–3 examples of ideal output before asking for new output.</a:t>
            </a:r>
            <a:endParaRPr lang="en-US" sz="1200" dirty="0"/>
          </a:p>
        </p:txBody>
      </p:sp>
      <p:sp>
        <p:nvSpPr>
          <p:cNvPr id="20" name="Shape 16"/>
          <p:cNvSpPr/>
          <p:nvPr/>
        </p:nvSpPr>
        <p:spPr>
          <a:xfrm>
            <a:off x="4983480" y="2176272"/>
            <a:ext cx="3657600" cy="292608"/>
          </a:xfrm>
          <a:prstGeom prst="rect">
            <a:avLst/>
          </a:prstGeom>
          <a:solidFill>
            <a:srgbClr val="F5F3FF"/>
          </a:solidFill>
          <a:ln w="6350">
            <a:solidFill>
              <a:srgbClr val="DDD6FE"/>
            </a:solidFill>
            <a:prstDash val="solid"/>
          </a:ln>
        </p:spPr>
        <p:txBody>
          <a:bodyPr/>
          <a:lstStyle/>
          <a:p>
            <a:endParaRPr lang="en-US"/>
          </a:p>
        </p:txBody>
      </p:sp>
      <p:sp>
        <p:nvSpPr>
          <p:cNvPr id="21" name="Text 17"/>
          <p:cNvSpPr/>
          <p:nvPr/>
        </p:nvSpPr>
        <p:spPr>
          <a:xfrm>
            <a:off x="5074920" y="2194560"/>
            <a:ext cx="3474720" cy="256032"/>
          </a:xfrm>
          <a:prstGeom prst="rect">
            <a:avLst/>
          </a:prstGeom>
          <a:noFill/>
          <a:ln/>
        </p:spPr>
        <p:txBody>
          <a:bodyPr wrap="square" lIns="0" tIns="0" rIns="0" bIns="0"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Best for:</a:t>
            </a:r>
            <a:endParaRPr lang="en-US" sz="1100" dirty="0"/>
          </a:p>
        </p:txBody>
      </p:sp>
      <p:sp>
        <p:nvSpPr>
          <p:cNvPr id="22" name="Text 18"/>
          <p:cNvSpPr/>
          <p:nvPr/>
        </p:nvSpPr>
        <p:spPr>
          <a:xfrm>
            <a:off x="5074920" y="2514600"/>
            <a:ext cx="3566160" cy="50292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Consistent formats, style matching, classification</a:t>
            </a:r>
            <a:endParaRPr lang="en-US" sz="1150" dirty="0"/>
          </a:p>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Recurring tasks where you have approved examples</a:t>
            </a:r>
            <a:endParaRPr lang="en-US" sz="1150" dirty="0"/>
          </a:p>
        </p:txBody>
      </p:sp>
      <p:sp>
        <p:nvSpPr>
          <p:cNvPr id="23" name="Shape 19"/>
          <p:cNvSpPr/>
          <p:nvPr/>
        </p:nvSpPr>
        <p:spPr>
          <a:xfrm>
            <a:off x="4983480" y="3090672"/>
            <a:ext cx="3657600" cy="292608"/>
          </a:xfrm>
          <a:prstGeom prst="rect">
            <a:avLst/>
          </a:prstGeom>
          <a:solidFill>
            <a:srgbClr val="FFFBEB"/>
          </a:solidFill>
          <a:ln w="6350">
            <a:solidFill>
              <a:srgbClr val="FDE68A"/>
            </a:solidFill>
            <a:prstDash val="solid"/>
          </a:ln>
        </p:spPr>
        <p:txBody>
          <a:bodyPr/>
          <a:lstStyle/>
          <a:p>
            <a:endParaRPr lang="en-US"/>
          </a:p>
        </p:txBody>
      </p:sp>
      <p:sp>
        <p:nvSpPr>
          <p:cNvPr id="24" name="Text 20"/>
          <p:cNvSpPr/>
          <p:nvPr/>
        </p:nvSpPr>
        <p:spPr>
          <a:xfrm>
            <a:off x="5074920" y="3108960"/>
            <a:ext cx="3474720" cy="256032"/>
          </a:xfrm>
          <a:prstGeom prst="rect">
            <a:avLst/>
          </a:prstGeom>
          <a:noFill/>
          <a:ln/>
        </p:spPr>
        <p:txBody>
          <a:bodyPr wrap="square" lIns="0" tIns="0" rIns="0" bIns="0" rtlCol="0" anchor="ctr"/>
          <a:lstStyle/>
          <a:p>
            <a:pPr marL="0" indent="0">
              <a:buNone/>
            </a:pPr>
            <a:r>
              <a:rPr lang="en-US" sz="1100" i="1" dirty="0">
                <a:solidFill>
                  <a:srgbClr val="F59E0B"/>
                </a:solidFill>
                <a:latin typeface="Calibri" pitchFamily="34" charset="0"/>
                <a:ea typeface="Calibri" pitchFamily="34" charset="-122"/>
                <a:cs typeface="Calibri" pitchFamily="34" charset="-120"/>
              </a:rPr>
              <a:t>Investment: setup time pays off on recurring tasks</a:t>
            </a:r>
            <a:endParaRPr lang="en-US" sz="1100" dirty="0"/>
          </a:p>
        </p:txBody>
      </p:sp>
      <p:sp>
        <p:nvSpPr>
          <p:cNvPr id="25" name="Shape 21"/>
          <p:cNvSpPr/>
          <p:nvPr/>
        </p:nvSpPr>
        <p:spPr>
          <a:xfrm>
            <a:off x="365760" y="4160520"/>
            <a:ext cx="8412480" cy="749808"/>
          </a:xfrm>
          <a:prstGeom prst="rect">
            <a:avLst/>
          </a:prstGeom>
          <a:solidFill>
            <a:srgbClr val="1B2A4A"/>
          </a:solidFill>
          <a:ln w="12700">
            <a:solidFill>
              <a:srgbClr val="1B2A4A"/>
            </a:solidFill>
            <a:prstDash val="solid"/>
          </a:ln>
          <a:effectLst>
            <a:outerShdw blurRad="101600" dist="38100" dir="8100000" algn="bl" rotWithShape="0">
              <a:srgbClr val="000000">
                <a:alpha val="13000"/>
              </a:srgbClr>
            </a:outerShdw>
          </a:effectLst>
        </p:spPr>
        <p:txBody>
          <a:bodyPr/>
          <a:lstStyle/>
          <a:p>
            <a:endParaRPr lang="en-US"/>
          </a:p>
        </p:txBody>
      </p:sp>
      <p:sp>
        <p:nvSpPr>
          <p:cNvPr id="26" name="Shape 22"/>
          <p:cNvSpPr/>
          <p:nvPr/>
        </p:nvSpPr>
        <p:spPr>
          <a:xfrm>
            <a:off x="365760" y="4160520"/>
            <a:ext cx="64008" cy="749808"/>
          </a:xfrm>
          <a:prstGeom prst="rect">
            <a:avLst/>
          </a:prstGeom>
          <a:solidFill>
            <a:srgbClr val="7C3AED"/>
          </a:solidFill>
          <a:ln w="12700">
            <a:solidFill>
              <a:srgbClr val="7C3AED"/>
            </a:solidFill>
            <a:prstDash val="solid"/>
          </a:ln>
        </p:spPr>
        <p:txBody>
          <a:bodyPr/>
          <a:lstStyle/>
          <a:p>
            <a:endParaRPr lang="en-US"/>
          </a:p>
        </p:txBody>
      </p:sp>
      <p:sp>
        <p:nvSpPr>
          <p:cNvPr id="27" name="Text 23"/>
          <p:cNvSpPr/>
          <p:nvPr/>
        </p:nvSpPr>
        <p:spPr>
          <a:xfrm>
            <a:off x="548640" y="4178808"/>
            <a:ext cx="8138160" cy="713232"/>
          </a:xfrm>
          <a:prstGeom prst="rect">
            <a:avLst/>
          </a:prstGeom>
          <a:noFill/>
          <a:ln/>
        </p:spPr>
        <p:txBody>
          <a:bodyPr wrap="square" lIns="0" tIns="0" rIns="0" bIns="0" rtlCol="0" anchor="ctr"/>
          <a:lstStyle/>
          <a:p>
            <a:pPr marL="0" indent="0">
              <a:buNone/>
            </a:pPr>
            <a:r>
              <a:rPr lang="en-US" sz="1050" b="1" dirty="0">
                <a:solidFill>
                  <a:srgbClr val="5EEAD4"/>
                </a:solidFill>
                <a:latin typeface="Calibri" pitchFamily="34" charset="0"/>
                <a:ea typeface="Calibri" pitchFamily="34" charset="-122"/>
                <a:cs typeface="Calibri" pitchFamily="34" charset="-120"/>
              </a:rPr>
              <a:t>Zero-shot: </a:t>
            </a:r>
            <a:r>
              <a:rPr lang="en-US" sz="1050" i="1" dirty="0">
                <a:solidFill>
                  <a:srgbClr val="BBBBBB"/>
                </a:solidFill>
                <a:latin typeface="Calibri" pitchFamily="34" charset="0"/>
                <a:ea typeface="Calibri" pitchFamily="34" charset="-122"/>
                <a:cs typeface="Calibri" pitchFamily="34" charset="-120"/>
              </a:rPr>
              <a:t>"Draft a vendor risk summary."  </a:t>
            </a:r>
            <a:r>
              <a:rPr lang="en-US" sz="1050" dirty="0">
                <a:solidFill>
                  <a:srgbClr val="94A3B8"/>
                </a:solidFill>
                <a:latin typeface="Calibri" pitchFamily="34" charset="0"/>
                <a:ea typeface="Calibri" pitchFamily="34" charset="-122"/>
                <a:cs typeface="Calibri" pitchFamily="34" charset="-120"/>
              </a:rPr>
              <a:t>→  Generic output
</a:t>
            </a:r>
            <a:r>
              <a:rPr lang="en-US" sz="1050" b="1" dirty="0">
                <a:solidFill>
                  <a:srgbClr val="C4B5FD"/>
                </a:solidFill>
                <a:latin typeface="Calibri" pitchFamily="34" charset="0"/>
                <a:ea typeface="Calibri" pitchFamily="34" charset="-122"/>
                <a:cs typeface="Calibri" pitchFamily="34" charset="-120"/>
              </a:rPr>
              <a:t>Few-shot: </a:t>
            </a:r>
            <a:r>
              <a:rPr lang="en-US" sz="1050" i="1" dirty="0">
                <a:solidFill>
                  <a:srgbClr val="BBBBBB"/>
                </a:solidFill>
                <a:latin typeface="Calibri" pitchFamily="34" charset="0"/>
                <a:ea typeface="Calibri" pitchFamily="34" charset="-122"/>
                <a:cs typeface="Calibri" pitchFamily="34" charset="-120"/>
              </a:rPr>
              <a:t>"Here are two approved summaries: [Ex1], [Ex2]. Now draft one for this vendor: [info]"  </a:t>
            </a:r>
            <a:r>
              <a:rPr lang="en-US" sz="1050" dirty="0">
                <a:solidFill>
                  <a:srgbClr val="5EEAD4"/>
                </a:solidFill>
                <a:latin typeface="Calibri" pitchFamily="34" charset="0"/>
                <a:ea typeface="Calibri" pitchFamily="34" charset="-122"/>
                <a:cs typeface="Calibri" pitchFamily="34" charset="-120"/>
              </a:rPr>
              <a:t>→  On-format output</a:t>
            </a:r>
            <a:endParaRPr lang="en-US" sz="1050" dirty="0"/>
          </a:p>
        </p:txBody>
      </p:sp>
      <p:sp>
        <p:nvSpPr>
          <p:cNvPr id="28" name="Text 24"/>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64592"/>
            <a:ext cx="8229600" cy="475488"/>
          </a:xfrm>
          <a:prstGeom prst="rect">
            <a:avLst/>
          </a:prstGeom>
          <a:noFill/>
          <a:ln/>
        </p:spPr>
        <p:txBody>
          <a:bodyPr wrap="square" lIns="0" tIns="0" rIns="0" bIns="0" rtlCol="0" anchor="ctr"/>
          <a:lstStyle/>
          <a:p>
            <a:pPr marL="0" indent="0">
              <a:buNone/>
            </a:pPr>
            <a:r>
              <a:rPr lang="en-US" sz="2700" b="1" dirty="0">
                <a:solidFill>
                  <a:srgbClr val="1B2A4A"/>
                </a:solidFill>
                <a:latin typeface="Trebuchet MS" pitchFamily="34" charset="0"/>
                <a:ea typeface="Trebuchet MS" pitchFamily="34" charset="-122"/>
                <a:cs typeface="Trebuchet MS" pitchFamily="34" charset="-120"/>
              </a:rPr>
              <a:t>Structured Outputs &amp; System Prompts</a:t>
            </a:r>
            <a:endParaRPr lang="en-US" sz="2700" dirty="0"/>
          </a:p>
        </p:txBody>
      </p:sp>
      <p:sp>
        <p:nvSpPr>
          <p:cNvPr id="4" name="Text 2"/>
          <p:cNvSpPr/>
          <p:nvPr/>
        </p:nvSpPr>
        <p:spPr>
          <a:xfrm>
            <a:off x="457200" y="667512"/>
            <a:ext cx="8229600" cy="25603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Format your outputs for how they'll be used — and set the stage before the conversation begins</a:t>
            </a:r>
            <a:endParaRPr lang="en-US" sz="1200" dirty="0"/>
          </a:p>
        </p:txBody>
      </p:sp>
      <p:sp>
        <p:nvSpPr>
          <p:cNvPr id="5" name="Shape 3"/>
          <p:cNvSpPr/>
          <p:nvPr/>
        </p:nvSpPr>
        <p:spPr>
          <a:xfrm>
            <a:off x="365760" y="1024128"/>
            <a:ext cx="3931920" cy="384048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6" name="Shape 4"/>
          <p:cNvSpPr/>
          <p:nvPr/>
        </p:nvSpPr>
        <p:spPr>
          <a:xfrm>
            <a:off x="365760" y="1024128"/>
            <a:ext cx="3931920" cy="384048"/>
          </a:xfrm>
          <a:prstGeom prst="rect">
            <a:avLst/>
          </a:prstGeom>
          <a:solidFill>
            <a:srgbClr val="0D9488"/>
          </a:solidFill>
          <a:ln w="12700">
            <a:solidFill>
              <a:srgbClr val="0D948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3657600" y="1069848"/>
            <a:ext cx="292608" cy="292608"/>
          </a:xfrm>
          <a:prstGeom prst="rect">
            <a:avLst/>
          </a:prstGeom>
        </p:spPr>
      </p:pic>
      <p:sp>
        <p:nvSpPr>
          <p:cNvPr id="8" name="Text 5"/>
          <p:cNvSpPr/>
          <p:nvPr/>
        </p:nvSpPr>
        <p:spPr>
          <a:xfrm>
            <a:off x="502920" y="1051560"/>
            <a:ext cx="3200400" cy="347472"/>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When to Use Which Format</a:t>
            </a:r>
            <a:endParaRPr lang="en-US" sz="1400" dirty="0"/>
          </a:p>
        </p:txBody>
      </p:sp>
      <p:sp>
        <p:nvSpPr>
          <p:cNvPr id="9" name="Shape 6"/>
          <p:cNvSpPr/>
          <p:nvPr/>
        </p:nvSpPr>
        <p:spPr>
          <a:xfrm>
            <a:off x="502920" y="1517904"/>
            <a:ext cx="164592" cy="420624"/>
          </a:xfrm>
          <a:prstGeom prst="rect">
            <a:avLst/>
          </a:prstGeom>
          <a:solidFill>
            <a:srgbClr val="0D9488"/>
          </a:solidFill>
          <a:ln w="12700">
            <a:solidFill>
              <a:srgbClr val="0D9488"/>
            </a:solidFill>
            <a:prstDash val="solid"/>
          </a:ln>
        </p:spPr>
        <p:txBody>
          <a:bodyPr/>
          <a:lstStyle/>
          <a:p>
            <a:endParaRPr lang="en-US"/>
          </a:p>
        </p:txBody>
      </p:sp>
      <p:sp>
        <p:nvSpPr>
          <p:cNvPr id="10" name="Text 7"/>
          <p:cNvSpPr/>
          <p:nvPr/>
        </p:nvSpPr>
        <p:spPr>
          <a:xfrm>
            <a:off x="777240" y="1536192"/>
            <a:ext cx="1188720" cy="384048"/>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JSON</a:t>
            </a:r>
            <a:endParaRPr lang="en-US" sz="1100" dirty="0"/>
          </a:p>
        </p:txBody>
      </p:sp>
      <p:sp>
        <p:nvSpPr>
          <p:cNvPr id="11" name="Text 8"/>
          <p:cNvSpPr/>
          <p:nvPr/>
        </p:nvSpPr>
        <p:spPr>
          <a:xfrm>
            <a:off x="2029968" y="1536192"/>
            <a:ext cx="2103120" cy="384048"/>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Downstream processing / ticket systems</a:t>
            </a:r>
            <a:endParaRPr lang="en-US" sz="1050" dirty="0"/>
          </a:p>
        </p:txBody>
      </p:sp>
      <p:sp>
        <p:nvSpPr>
          <p:cNvPr id="12" name="Shape 9"/>
          <p:cNvSpPr/>
          <p:nvPr/>
        </p:nvSpPr>
        <p:spPr>
          <a:xfrm>
            <a:off x="502920" y="2020824"/>
            <a:ext cx="164592" cy="420624"/>
          </a:xfrm>
          <a:prstGeom prst="rect">
            <a:avLst/>
          </a:prstGeom>
          <a:solidFill>
            <a:srgbClr val="7C3AED"/>
          </a:solidFill>
          <a:ln w="12700">
            <a:solidFill>
              <a:srgbClr val="7C3AED"/>
            </a:solidFill>
            <a:prstDash val="solid"/>
          </a:ln>
        </p:spPr>
        <p:txBody>
          <a:bodyPr/>
          <a:lstStyle/>
          <a:p>
            <a:endParaRPr lang="en-US"/>
          </a:p>
        </p:txBody>
      </p:sp>
      <p:sp>
        <p:nvSpPr>
          <p:cNvPr id="13" name="Text 10"/>
          <p:cNvSpPr/>
          <p:nvPr/>
        </p:nvSpPr>
        <p:spPr>
          <a:xfrm>
            <a:off x="777240" y="2039112"/>
            <a:ext cx="1188720" cy="384048"/>
          </a:xfrm>
          <a:prstGeom prst="rect">
            <a:avLst/>
          </a:prstGeom>
          <a:noFill/>
          <a:ln/>
        </p:spPr>
        <p:txBody>
          <a:bodyPr wrap="square" lIns="0" tIns="0" rIns="0" bIns="0"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Tables</a:t>
            </a:r>
            <a:endParaRPr lang="en-US" sz="1100" dirty="0"/>
          </a:p>
        </p:txBody>
      </p:sp>
      <p:sp>
        <p:nvSpPr>
          <p:cNvPr id="14" name="Text 11"/>
          <p:cNvSpPr/>
          <p:nvPr/>
        </p:nvSpPr>
        <p:spPr>
          <a:xfrm>
            <a:off x="2029968" y="2039112"/>
            <a:ext cx="2103120" cy="384048"/>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Comparison, ranking, side-by-side analysis</a:t>
            </a:r>
            <a:endParaRPr lang="en-US" sz="1050" dirty="0"/>
          </a:p>
        </p:txBody>
      </p:sp>
      <p:sp>
        <p:nvSpPr>
          <p:cNvPr id="15" name="Shape 12"/>
          <p:cNvSpPr/>
          <p:nvPr/>
        </p:nvSpPr>
        <p:spPr>
          <a:xfrm>
            <a:off x="502920" y="2523744"/>
            <a:ext cx="164592" cy="420624"/>
          </a:xfrm>
          <a:prstGeom prst="rect">
            <a:avLst/>
          </a:prstGeom>
          <a:solidFill>
            <a:srgbClr val="F59E0B"/>
          </a:solidFill>
          <a:ln w="12700">
            <a:solidFill>
              <a:srgbClr val="F59E0B"/>
            </a:solidFill>
            <a:prstDash val="solid"/>
          </a:ln>
        </p:spPr>
        <p:txBody>
          <a:bodyPr/>
          <a:lstStyle/>
          <a:p>
            <a:endParaRPr lang="en-US"/>
          </a:p>
        </p:txBody>
      </p:sp>
      <p:sp>
        <p:nvSpPr>
          <p:cNvPr id="16" name="Text 13"/>
          <p:cNvSpPr/>
          <p:nvPr/>
        </p:nvSpPr>
        <p:spPr>
          <a:xfrm>
            <a:off x="777240" y="2542032"/>
            <a:ext cx="1188720" cy="384048"/>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Numbered lists</a:t>
            </a:r>
            <a:endParaRPr lang="en-US" sz="1100" dirty="0"/>
          </a:p>
        </p:txBody>
      </p:sp>
      <p:sp>
        <p:nvSpPr>
          <p:cNvPr id="17" name="Text 14"/>
          <p:cNvSpPr/>
          <p:nvPr/>
        </p:nvSpPr>
        <p:spPr>
          <a:xfrm>
            <a:off x="2029968" y="2542032"/>
            <a:ext cx="2103120" cy="384048"/>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Procedures, steps, instructions</a:t>
            </a:r>
            <a:endParaRPr lang="en-US" sz="1050" dirty="0"/>
          </a:p>
        </p:txBody>
      </p:sp>
      <p:sp>
        <p:nvSpPr>
          <p:cNvPr id="18" name="Shape 15"/>
          <p:cNvSpPr/>
          <p:nvPr/>
        </p:nvSpPr>
        <p:spPr>
          <a:xfrm>
            <a:off x="502920" y="3026664"/>
            <a:ext cx="164592" cy="420624"/>
          </a:xfrm>
          <a:prstGeom prst="rect">
            <a:avLst/>
          </a:prstGeom>
          <a:solidFill>
            <a:srgbClr val="F97316"/>
          </a:solidFill>
          <a:ln w="12700">
            <a:solidFill>
              <a:srgbClr val="F97316"/>
            </a:solidFill>
            <a:prstDash val="solid"/>
          </a:ln>
        </p:spPr>
        <p:txBody>
          <a:bodyPr/>
          <a:lstStyle/>
          <a:p>
            <a:endParaRPr lang="en-US"/>
          </a:p>
        </p:txBody>
      </p:sp>
      <p:sp>
        <p:nvSpPr>
          <p:cNvPr id="19" name="Text 16"/>
          <p:cNvSpPr/>
          <p:nvPr/>
        </p:nvSpPr>
        <p:spPr>
          <a:xfrm>
            <a:off x="777240" y="3044952"/>
            <a:ext cx="1188720" cy="384048"/>
          </a:xfrm>
          <a:prstGeom prst="rect">
            <a:avLst/>
          </a:prstGeom>
          <a:noFill/>
          <a:ln/>
        </p:spPr>
        <p:txBody>
          <a:bodyPr wrap="square" lIns="0" tIns="0" rIns="0" bIns="0" rtlCol="0" anchor="ctr"/>
          <a:lstStyle/>
          <a:p>
            <a:pPr marL="0" indent="0">
              <a:buNone/>
            </a:pPr>
            <a:r>
              <a:rPr lang="en-US" sz="1100" b="1" dirty="0">
                <a:solidFill>
                  <a:srgbClr val="F97316"/>
                </a:solidFill>
                <a:latin typeface="Calibri" pitchFamily="34" charset="0"/>
                <a:ea typeface="Calibri" pitchFamily="34" charset="-122"/>
                <a:cs typeface="Calibri" pitchFamily="34" charset="-120"/>
              </a:rPr>
              <a:t>Prose</a:t>
            </a:r>
            <a:endParaRPr lang="en-US" sz="1100" dirty="0"/>
          </a:p>
        </p:txBody>
      </p:sp>
      <p:sp>
        <p:nvSpPr>
          <p:cNvPr id="20" name="Text 17"/>
          <p:cNvSpPr/>
          <p:nvPr/>
        </p:nvSpPr>
        <p:spPr>
          <a:xfrm>
            <a:off x="2029968" y="3044952"/>
            <a:ext cx="2103120" cy="384048"/>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Stakeholder communications, narratives</a:t>
            </a:r>
            <a:endParaRPr lang="en-US" sz="1050" dirty="0"/>
          </a:p>
        </p:txBody>
      </p:sp>
      <p:sp>
        <p:nvSpPr>
          <p:cNvPr id="21" name="Shape 18"/>
          <p:cNvSpPr/>
          <p:nvPr/>
        </p:nvSpPr>
        <p:spPr>
          <a:xfrm>
            <a:off x="502920" y="3529584"/>
            <a:ext cx="164592" cy="420624"/>
          </a:xfrm>
          <a:prstGeom prst="rect">
            <a:avLst/>
          </a:prstGeom>
          <a:solidFill>
            <a:srgbClr val="16A34A"/>
          </a:solidFill>
          <a:ln w="12700">
            <a:solidFill>
              <a:srgbClr val="16A34A"/>
            </a:solidFill>
            <a:prstDash val="solid"/>
          </a:ln>
        </p:spPr>
        <p:txBody>
          <a:bodyPr/>
          <a:lstStyle/>
          <a:p>
            <a:endParaRPr lang="en-US"/>
          </a:p>
        </p:txBody>
      </p:sp>
      <p:sp>
        <p:nvSpPr>
          <p:cNvPr id="22" name="Text 19"/>
          <p:cNvSpPr/>
          <p:nvPr/>
        </p:nvSpPr>
        <p:spPr>
          <a:xfrm>
            <a:off x="777240" y="3547872"/>
            <a:ext cx="1188720" cy="384048"/>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Checklists</a:t>
            </a:r>
            <a:endParaRPr lang="en-US" sz="1100" dirty="0"/>
          </a:p>
        </p:txBody>
      </p:sp>
      <p:sp>
        <p:nvSpPr>
          <p:cNvPr id="23" name="Text 20"/>
          <p:cNvSpPr/>
          <p:nvPr/>
        </p:nvSpPr>
        <p:spPr>
          <a:xfrm>
            <a:off x="2029968" y="3547872"/>
            <a:ext cx="2103120" cy="384048"/>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Review, compliance, audit workflows</a:t>
            </a:r>
            <a:endParaRPr lang="en-US" sz="1050" dirty="0"/>
          </a:p>
        </p:txBody>
      </p:sp>
      <p:sp>
        <p:nvSpPr>
          <p:cNvPr id="24" name="Shape 21"/>
          <p:cNvSpPr/>
          <p:nvPr/>
        </p:nvSpPr>
        <p:spPr>
          <a:xfrm>
            <a:off x="4663440" y="1024128"/>
            <a:ext cx="4114800" cy="3840480"/>
          </a:xfrm>
          <a:prstGeom prst="rect">
            <a:avLst/>
          </a:prstGeom>
          <a:solidFill>
            <a:srgbClr val="F1F5F9"/>
          </a:solidFill>
          <a:ln w="1270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25" name="Shape 22"/>
          <p:cNvSpPr/>
          <p:nvPr/>
        </p:nvSpPr>
        <p:spPr>
          <a:xfrm>
            <a:off x="4663440" y="1024128"/>
            <a:ext cx="64008" cy="3840480"/>
          </a:xfrm>
          <a:prstGeom prst="rect">
            <a:avLst/>
          </a:prstGeom>
          <a:solidFill>
            <a:srgbClr val="F59E0B"/>
          </a:solidFill>
          <a:ln w="12700">
            <a:solidFill>
              <a:srgbClr val="F59E0B"/>
            </a:solidFill>
            <a:prstDash val="solid"/>
          </a:ln>
        </p:spPr>
        <p:txBody>
          <a:bodyPr/>
          <a:lstStyle/>
          <a:p>
            <a:endParaRPr lang="en-US"/>
          </a:p>
        </p:txBody>
      </p:sp>
      <p:sp>
        <p:nvSpPr>
          <p:cNvPr id="26" name="Text 23"/>
          <p:cNvSpPr/>
          <p:nvPr/>
        </p:nvSpPr>
        <p:spPr>
          <a:xfrm>
            <a:off x="4846320" y="1078992"/>
            <a:ext cx="3749040" cy="365760"/>
          </a:xfrm>
          <a:prstGeom prst="rect">
            <a:avLst/>
          </a:prstGeom>
          <a:noFill/>
          <a:ln/>
        </p:spPr>
        <p:txBody>
          <a:bodyPr wrap="square" lIns="0" tIns="0" rIns="0" bIns="0" rtlCol="0" anchor="ctr"/>
          <a:lstStyle/>
          <a:p>
            <a:pPr marL="0" indent="0">
              <a:buNone/>
            </a:pPr>
            <a:r>
              <a:rPr lang="en-US" sz="1500" b="1" dirty="0">
                <a:solidFill>
                  <a:srgbClr val="F59E0B"/>
                </a:solidFill>
                <a:latin typeface="Trebuchet MS" pitchFamily="34" charset="0"/>
                <a:ea typeface="Trebuchet MS" pitchFamily="34" charset="-122"/>
                <a:cs typeface="Trebuchet MS" pitchFamily="34" charset="-120"/>
              </a:rPr>
              <a:t>System Prompts</a:t>
            </a:r>
            <a:endParaRPr lang="en-US" sz="1500" dirty="0"/>
          </a:p>
        </p:txBody>
      </p:sp>
      <p:sp>
        <p:nvSpPr>
          <p:cNvPr id="27" name="Text 24"/>
          <p:cNvSpPr/>
          <p:nvPr/>
        </p:nvSpPr>
        <p:spPr>
          <a:xfrm>
            <a:off x="4846320" y="1490472"/>
            <a:ext cx="3703320" cy="68580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 persistent instruction that shapes every response in a session — like giving an employee a detailed job description before they start.</a:t>
            </a:r>
            <a:endParaRPr lang="en-US" sz="1150" dirty="0"/>
          </a:p>
        </p:txBody>
      </p:sp>
      <p:sp>
        <p:nvSpPr>
          <p:cNvPr id="28" name="Shape 25"/>
          <p:cNvSpPr/>
          <p:nvPr/>
        </p:nvSpPr>
        <p:spPr>
          <a:xfrm>
            <a:off x="4800600" y="2267712"/>
            <a:ext cx="3840480" cy="2395728"/>
          </a:xfrm>
          <a:prstGeom prst="rect">
            <a:avLst/>
          </a:prstGeom>
          <a:solidFill>
            <a:srgbClr val="FFFFFF"/>
          </a:solidFill>
          <a:ln w="9525">
            <a:solidFill>
              <a:srgbClr val="0D9488"/>
            </a:solidFill>
            <a:prstDash val="solid"/>
          </a:ln>
        </p:spPr>
        <p:txBody>
          <a:bodyPr/>
          <a:lstStyle/>
          <a:p>
            <a:endParaRPr lang="en-US" dirty="0"/>
          </a:p>
        </p:txBody>
      </p:sp>
      <p:pic>
        <p:nvPicPr>
          <p:cNvPr id="29" name="Image 1" descr="preencoded.png"/>
          <p:cNvPicPr>
            <a:picLocks noChangeAspect="1"/>
          </p:cNvPicPr>
          <p:nvPr/>
        </p:nvPicPr>
        <p:blipFill>
          <a:blip r:embed="rId4"/>
          <a:stretch>
            <a:fillRect/>
          </a:stretch>
        </p:blipFill>
        <p:spPr>
          <a:xfrm>
            <a:off x="4892040" y="2331720"/>
            <a:ext cx="256032" cy="256032"/>
          </a:xfrm>
          <a:prstGeom prst="rect">
            <a:avLst/>
          </a:prstGeom>
        </p:spPr>
      </p:pic>
      <p:sp>
        <p:nvSpPr>
          <p:cNvPr id="30" name="Text 26"/>
          <p:cNvSpPr/>
          <p:nvPr/>
        </p:nvSpPr>
        <p:spPr>
          <a:xfrm>
            <a:off x="5230368" y="2340864"/>
            <a:ext cx="3200400" cy="237744"/>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Example FHB System Prompt</a:t>
            </a:r>
            <a:endParaRPr lang="en-US" sz="1000" dirty="0"/>
          </a:p>
        </p:txBody>
      </p:sp>
      <p:sp>
        <p:nvSpPr>
          <p:cNvPr id="31" name="Text 27"/>
          <p:cNvSpPr/>
          <p:nvPr/>
        </p:nvSpPr>
        <p:spPr>
          <a:xfrm>
            <a:off x="4892040" y="2651760"/>
            <a:ext cx="3657600" cy="1920240"/>
          </a:xfrm>
          <a:prstGeom prst="rect">
            <a:avLst/>
          </a:prstGeom>
          <a:noFill/>
          <a:ln/>
        </p:spPr>
        <p:txBody>
          <a:bodyPr wrap="square" lIns="0" tIns="0" rIns="0" bIns="0" rtlCol="0" anchor="ctr"/>
          <a:lstStyle/>
          <a:p>
            <a:pPr marL="0" indent="0">
              <a:buNone/>
            </a:pPr>
            <a:r>
              <a:rPr lang="en-US" sz="1200" i="1" dirty="0">
                <a:solidFill>
                  <a:srgbClr val="475569"/>
                </a:solidFill>
                <a:latin typeface="Calibri" pitchFamily="34" charset="0"/>
                <a:ea typeface="Calibri" pitchFamily="34" charset="-122"/>
                <a:cs typeface="Calibri" pitchFamily="34" charset="-120"/>
              </a:rPr>
              <a:t>"You are a cybersecurity analyst at First Hawaiian Bank, a federally regulated financial institution. All outputs must comply with relevant banking regulations. When uncertain about regulatory specifics, say so explicitly. Always recommend verification with legal or compliance before any output is used in official documents."</a:t>
            </a:r>
            <a:endParaRPr lang="en-US" sz="1200" dirty="0"/>
          </a:p>
        </p:txBody>
      </p:sp>
      <p:sp>
        <p:nvSpPr>
          <p:cNvPr id="32" name="Text 28"/>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64592"/>
            <a:ext cx="8229600" cy="475488"/>
          </a:xfrm>
          <a:prstGeom prst="rect">
            <a:avLst/>
          </a:prstGeom>
          <a:noFill/>
          <a:ln/>
        </p:spPr>
        <p:txBody>
          <a:bodyPr wrap="square" lIns="0" tIns="0" rIns="0" bIns="0" rtlCol="0" anchor="ctr"/>
          <a:lstStyle/>
          <a:p>
            <a:pPr marL="0" indent="0">
              <a:buNone/>
            </a:pPr>
            <a:r>
              <a:rPr lang="en-US" sz="2700" b="1" dirty="0">
                <a:solidFill>
                  <a:srgbClr val="1B2A4A"/>
                </a:solidFill>
                <a:latin typeface="Trebuchet MS" pitchFamily="34" charset="0"/>
                <a:ea typeface="Trebuchet MS" pitchFamily="34" charset="-122"/>
                <a:cs typeface="Trebuchet MS" pitchFamily="34" charset="-120"/>
              </a:rPr>
              <a:t>Building Reusable Prompt Templates</a:t>
            </a:r>
            <a:endParaRPr lang="en-US" sz="2700" dirty="0"/>
          </a:p>
        </p:txBody>
      </p:sp>
      <p:sp>
        <p:nvSpPr>
          <p:cNvPr id="4" name="Text 2"/>
          <p:cNvSpPr/>
          <p:nvPr/>
        </p:nvSpPr>
        <p:spPr>
          <a:xfrm>
            <a:off x="457200" y="667512"/>
            <a:ext cx="8229600" cy="25603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Convert one-time effort into recurring team value</a:t>
            </a:r>
            <a:endParaRPr lang="en-US" sz="1200" dirty="0"/>
          </a:p>
        </p:txBody>
      </p:sp>
      <p:sp>
        <p:nvSpPr>
          <p:cNvPr id="5" name="Shape 3"/>
          <p:cNvSpPr/>
          <p:nvPr/>
        </p:nvSpPr>
        <p:spPr>
          <a:xfrm>
            <a:off x="365760" y="1024128"/>
            <a:ext cx="8412480" cy="566928"/>
          </a:xfrm>
          <a:prstGeom prst="rect">
            <a:avLst/>
          </a:prstGeom>
          <a:solidFill>
            <a:srgbClr val="1B2A4A"/>
          </a:solidFill>
          <a:ln w="12700">
            <a:solidFill>
              <a:srgbClr val="1B2A4A"/>
            </a:solidFill>
            <a:prstDash val="solid"/>
          </a:ln>
        </p:spPr>
        <p:txBody>
          <a:bodyPr/>
          <a:lstStyle/>
          <a:p>
            <a:endParaRPr lang="en-US"/>
          </a:p>
        </p:txBody>
      </p:sp>
      <p:sp>
        <p:nvSpPr>
          <p:cNvPr id="6" name="Shape 4"/>
          <p:cNvSpPr/>
          <p:nvPr/>
        </p:nvSpPr>
        <p:spPr>
          <a:xfrm>
            <a:off x="457200" y="1078992"/>
            <a:ext cx="1444752" cy="402336"/>
          </a:xfrm>
          <a:prstGeom prst="rect">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457200" y="1078992"/>
            <a:ext cx="1444752"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Role</a:t>
            </a:r>
            <a:endParaRPr lang="en-US" sz="1200" dirty="0"/>
          </a:p>
        </p:txBody>
      </p:sp>
      <p:sp>
        <p:nvSpPr>
          <p:cNvPr id="8" name="Text 6"/>
          <p:cNvSpPr/>
          <p:nvPr/>
        </p:nvSpPr>
        <p:spPr>
          <a:xfrm>
            <a:off x="1920240" y="1115568"/>
            <a:ext cx="164592" cy="329184"/>
          </a:xfrm>
          <a:prstGeom prst="rect">
            <a:avLst/>
          </a:prstGeom>
          <a:noFill/>
          <a:ln/>
        </p:spPr>
        <p:txBody>
          <a:bodyPr wrap="square" lIns="0" tIns="0" rIns="0" bIns="0" rtlCol="0" anchor="ctr"/>
          <a:lstStyle/>
          <a:p>
            <a:pPr marL="0" indent="0" algn="ctr">
              <a:buNone/>
            </a:pPr>
            <a:r>
              <a:rPr lang="en-US" sz="1400" b="1" dirty="0">
                <a:solidFill>
                  <a:srgbClr val="5EEAD4"/>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2103120" y="1078992"/>
            <a:ext cx="1444752" cy="402336"/>
          </a:xfrm>
          <a:prstGeom prst="rect">
            <a:avLst/>
          </a:prstGeom>
          <a:solidFill>
            <a:srgbClr val="F97316"/>
          </a:solidFill>
          <a:ln w="12700">
            <a:solidFill>
              <a:srgbClr val="F97316"/>
            </a:solidFill>
            <a:prstDash val="solid"/>
          </a:ln>
        </p:spPr>
        <p:txBody>
          <a:bodyPr/>
          <a:lstStyle/>
          <a:p>
            <a:endParaRPr lang="en-US"/>
          </a:p>
        </p:txBody>
      </p:sp>
      <p:sp>
        <p:nvSpPr>
          <p:cNvPr id="10" name="Text 8"/>
          <p:cNvSpPr/>
          <p:nvPr/>
        </p:nvSpPr>
        <p:spPr>
          <a:xfrm>
            <a:off x="2103120" y="1078992"/>
            <a:ext cx="1444752"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Context</a:t>
            </a:r>
            <a:endParaRPr lang="en-US" sz="1200" dirty="0"/>
          </a:p>
        </p:txBody>
      </p:sp>
      <p:sp>
        <p:nvSpPr>
          <p:cNvPr id="11" name="Text 9"/>
          <p:cNvSpPr/>
          <p:nvPr/>
        </p:nvSpPr>
        <p:spPr>
          <a:xfrm>
            <a:off x="3566160" y="1115568"/>
            <a:ext cx="164592" cy="329184"/>
          </a:xfrm>
          <a:prstGeom prst="rect">
            <a:avLst/>
          </a:prstGeom>
          <a:noFill/>
          <a:ln/>
        </p:spPr>
        <p:txBody>
          <a:bodyPr wrap="square" lIns="0" tIns="0" rIns="0" bIns="0" rtlCol="0" anchor="ctr"/>
          <a:lstStyle/>
          <a:p>
            <a:pPr marL="0" indent="0" algn="ctr">
              <a:buNone/>
            </a:pPr>
            <a:r>
              <a:rPr lang="en-US" sz="1400" b="1" dirty="0">
                <a:solidFill>
                  <a:srgbClr val="5EEAD4"/>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3749040" y="1078992"/>
            <a:ext cx="1444752" cy="402336"/>
          </a:xfrm>
          <a:prstGeom prst="rect">
            <a:avLst/>
          </a:prstGeom>
          <a:solidFill>
            <a:srgbClr val="7C3AED"/>
          </a:solidFill>
          <a:ln w="12700">
            <a:solidFill>
              <a:srgbClr val="7C3AED"/>
            </a:solidFill>
            <a:prstDash val="solid"/>
          </a:ln>
        </p:spPr>
        <p:txBody>
          <a:bodyPr/>
          <a:lstStyle/>
          <a:p>
            <a:endParaRPr lang="en-US"/>
          </a:p>
        </p:txBody>
      </p:sp>
      <p:sp>
        <p:nvSpPr>
          <p:cNvPr id="13" name="Text 11"/>
          <p:cNvSpPr/>
          <p:nvPr/>
        </p:nvSpPr>
        <p:spPr>
          <a:xfrm>
            <a:off x="3749040" y="1078992"/>
            <a:ext cx="1444752"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Task</a:t>
            </a:r>
            <a:endParaRPr lang="en-US" sz="1200" dirty="0"/>
          </a:p>
        </p:txBody>
      </p:sp>
      <p:sp>
        <p:nvSpPr>
          <p:cNvPr id="14" name="Text 12"/>
          <p:cNvSpPr/>
          <p:nvPr/>
        </p:nvSpPr>
        <p:spPr>
          <a:xfrm>
            <a:off x="5212080" y="1115568"/>
            <a:ext cx="164592" cy="329184"/>
          </a:xfrm>
          <a:prstGeom prst="rect">
            <a:avLst/>
          </a:prstGeom>
          <a:noFill/>
          <a:ln/>
        </p:spPr>
        <p:txBody>
          <a:bodyPr wrap="square" lIns="0" tIns="0" rIns="0" bIns="0" rtlCol="0" anchor="ctr"/>
          <a:lstStyle/>
          <a:p>
            <a:pPr marL="0" indent="0" algn="ctr">
              <a:buNone/>
            </a:pPr>
            <a:r>
              <a:rPr lang="en-US" sz="1400" b="1" dirty="0">
                <a:solidFill>
                  <a:srgbClr val="5EEAD4"/>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5394960" y="1078992"/>
            <a:ext cx="1444752" cy="402336"/>
          </a:xfrm>
          <a:prstGeom prst="rect">
            <a:avLst/>
          </a:prstGeom>
          <a:solidFill>
            <a:srgbClr val="F59E0B"/>
          </a:solidFill>
          <a:ln w="12700">
            <a:solidFill>
              <a:srgbClr val="F59E0B"/>
            </a:solidFill>
            <a:prstDash val="solid"/>
          </a:ln>
        </p:spPr>
        <p:txBody>
          <a:bodyPr/>
          <a:lstStyle/>
          <a:p>
            <a:endParaRPr lang="en-US"/>
          </a:p>
        </p:txBody>
      </p:sp>
      <p:sp>
        <p:nvSpPr>
          <p:cNvPr id="16" name="Text 14"/>
          <p:cNvSpPr/>
          <p:nvPr/>
        </p:nvSpPr>
        <p:spPr>
          <a:xfrm>
            <a:off x="5394960" y="1078992"/>
            <a:ext cx="1444752"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Format</a:t>
            </a:r>
            <a:endParaRPr lang="en-US" sz="1200" dirty="0"/>
          </a:p>
        </p:txBody>
      </p:sp>
      <p:sp>
        <p:nvSpPr>
          <p:cNvPr id="17" name="Text 15"/>
          <p:cNvSpPr/>
          <p:nvPr/>
        </p:nvSpPr>
        <p:spPr>
          <a:xfrm>
            <a:off x="6858000" y="1115568"/>
            <a:ext cx="164592" cy="329184"/>
          </a:xfrm>
          <a:prstGeom prst="rect">
            <a:avLst/>
          </a:prstGeom>
          <a:noFill/>
          <a:ln/>
        </p:spPr>
        <p:txBody>
          <a:bodyPr wrap="square" lIns="0" tIns="0" rIns="0" bIns="0" rtlCol="0" anchor="ctr"/>
          <a:lstStyle/>
          <a:p>
            <a:pPr marL="0" indent="0" algn="ctr">
              <a:buNone/>
            </a:pPr>
            <a:r>
              <a:rPr lang="en-US" sz="1400" b="1" dirty="0">
                <a:solidFill>
                  <a:srgbClr val="5EEAD4"/>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7040880" y="1078992"/>
            <a:ext cx="1444752" cy="402336"/>
          </a:xfrm>
          <a:prstGeom prst="rect">
            <a:avLst/>
          </a:prstGeom>
          <a:solidFill>
            <a:srgbClr val="16A34A"/>
          </a:solidFill>
          <a:ln w="12700">
            <a:solidFill>
              <a:srgbClr val="16A34A"/>
            </a:solidFill>
            <a:prstDash val="solid"/>
          </a:ln>
        </p:spPr>
        <p:txBody>
          <a:bodyPr/>
          <a:lstStyle/>
          <a:p>
            <a:endParaRPr lang="en-US"/>
          </a:p>
        </p:txBody>
      </p:sp>
      <p:sp>
        <p:nvSpPr>
          <p:cNvPr id="19" name="Text 17"/>
          <p:cNvSpPr/>
          <p:nvPr/>
        </p:nvSpPr>
        <p:spPr>
          <a:xfrm>
            <a:off x="7040880" y="1078992"/>
            <a:ext cx="1444752"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Constraints</a:t>
            </a:r>
            <a:endParaRPr lang="en-US" sz="1200" dirty="0"/>
          </a:p>
        </p:txBody>
      </p:sp>
      <p:sp>
        <p:nvSpPr>
          <p:cNvPr id="20" name="Shape 18"/>
          <p:cNvSpPr/>
          <p:nvPr/>
        </p:nvSpPr>
        <p:spPr>
          <a:xfrm>
            <a:off x="365760" y="1783080"/>
            <a:ext cx="8412480" cy="512064"/>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21" name="Shape 19"/>
          <p:cNvSpPr/>
          <p:nvPr/>
        </p:nvSpPr>
        <p:spPr>
          <a:xfrm>
            <a:off x="365760" y="1783080"/>
            <a:ext cx="73152" cy="512064"/>
          </a:xfrm>
          <a:prstGeom prst="rect">
            <a:avLst/>
          </a:prstGeom>
          <a:solidFill>
            <a:srgbClr val="0D9488"/>
          </a:solidFill>
          <a:ln w="12700">
            <a:solidFill>
              <a:srgbClr val="0D9488"/>
            </a:solidFill>
            <a:prstDash val="solid"/>
          </a:ln>
        </p:spPr>
        <p:txBody>
          <a:bodyPr/>
          <a:lstStyle/>
          <a:p>
            <a:endParaRPr lang="en-US"/>
          </a:p>
        </p:txBody>
      </p:sp>
      <p:sp>
        <p:nvSpPr>
          <p:cNvPr id="22" name="Shape 20"/>
          <p:cNvSpPr/>
          <p:nvPr/>
        </p:nvSpPr>
        <p:spPr>
          <a:xfrm>
            <a:off x="548640" y="1874520"/>
            <a:ext cx="329184" cy="329184"/>
          </a:xfrm>
          <a:prstGeom prst="ellipse">
            <a:avLst/>
          </a:prstGeom>
          <a:solidFill>
            <a:srgbClr val="0D9488">
              <a:alpha val="80000"/>
            </a:srgbClr>
          </a:solidFill>
          <a:ln w="12700">
            <a:solidFill>
              <a:srgbClr val="0D9488"/>
            </a:solidFill>
            <a:prstDash val="solid"/>
          </a:ln>
        </p:spPr>
        <p:txBody>
          <a:bodyPr/>
          <a:lstStyle/>
          <a:p>
            <a:endParaRPr lang="en-US"/>
          </a:p>
        </p:txBody>
      </p:sp>
      <p:sp>
        <p:nvSpPr>
          <p:cNvPr id="23" name="Text 21"/>
          <p:cNvSpPr/>
          <p:nvPr/>
        </p:nvSpPr>
        <p:spPr>
          <a:xfrm>
            <a:off x="1005840" y="1837944"/>
            <a:ext cx="3474720" cy="402336"/>
          </a:xfrm>
          <a:prstGeom prst="rect">
            <a:avLst/>
          </a:prstGeom>
          <a:noFill/>
          <a:ln/>
        </p:spPr>
        <p:txBody>
          <a:bodyPr wrap="square" lIns="0" tIns="0" rIns="0" bIns="0" rtlCol="0" anchor="ctr"/>
          <a:lstStyle/>
          <a:p>
            <a:pPr marL="0" indent="0">
              <a:buNone/>
            </a:pPr>
            <a:r>
              <a:rPr lang="en-US" sz="1200" b="1" dirty="0">
                <a:solidFill>
                  <a:srgbClr val="1B2A4A"/>
                </a:solidFill>
                <a:latin typeface="Trebuchet MS" pitchFamily="34" charset="0"/>
                <a:ea typeface="Trebuchet MS" pitchFamily="34" charset="-122"/>
                <a:cs typeface="Trebuchet MS" pitchFamily="34" charset="-120"/>
              </a:rPr>
              <a:t>Vendor Risk Summary</a:t>
            </a:r>
            <a:endParaRPr lang="en-US" sz="1200" dirty="0"/>
          </a:p>
        </p:txBody>
      </p:sp>
      <p:sp>
        <p:nvSpPr>
          <p:cNvPr id="24" name="Text 22"/>
          <p:cNvSpPr/>
          <p:nvPr/>
        </p:nvSpPr>
        <p:spPr>
          <a:xfrm>
            <a:off x="4663440" y="1837944"/>
            <a:ext cx="3931920" cy="402336"/>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Initial security assessment from provided docs</a:t>
            </a:r>
            <a:endParaRPr lang="en-US" sz="1150" dirty="0"/>
          </a:p>
        </p:txBody>
      </p:sp>
      <p:sp>
        <p:nvSpPr>
          <p:cNvPr id="25" name="Shape 23"/>
          <p:cNvSpPr/>
          <p:nvPr/>
        </p:nvSpPr>
        <p:spPr>
          <a:xfrm>
            <a:off x="365760" y="2350008"/>
            <a:ext cx="8412480" cy="512064"/>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26" name="Shape 24"/>
          <p:cNvSpPr/>
          <p:nvPr/>
        </p:nvSpPr>
        <p:spPr>
          <a:xfrm>
            <a:off x="365760" y="2350008"/>
            <a:ext cx="73152" cy="512064"/>
          </a:xfrm>
          <a:prstGeom prst="rect">
            <a:avLst/>
          </a:prstGeom>
          <a:solidFill>
            <a:srgbClr val="F97316"/>
          </a:solidFill>
          <a:ln w="12700">
            <a:solidFill>
              <a:srgbClr val="F97316"/>
            </a:solidFill>
            <a:prstDash val="solid"/>
          </a:ln>
        </p:spPr>
        <p:txBody>
          <a:bodyPr/>
          <a:lstStyle/>
          <a:p>
            <a:endParaRPr lang="en-US"/>
          </a:p>
        </p:txBody>
      </p:sp>
      <p:sp>
        <p:nvSpPr>
          <p:cNvPr id="27" name="Shape 25"/>
          <p:cNvSpPr/>
          <p:nvPr/>
        </p:nvSpPr>
        <p:spPr>
          <a:xfrm>
            <a:off x="548640" y="2441448"/>
            <a:ext cx="329184" cy="329184"/>
          </a:xfrm>
          <a:prstGeom prst="ellipse">
            <a:avLst/>
          </a:prstGeom>
          <a:solidFill>
            <a:srgbClr val="F97316">
              <a:alpha val="80000"/>
            </a:srgbClr>
          </a:solidFill>
          <a:ln w="12700">
            <a:solidFill>
              <a:srgbClr val="F97316"/>
            </a:solidFill>
            <a:prstDash val="solid"/>
          </a:ln>
        </p:spPr>
        <p:txBody>
          <a:bodyPr/>
          <a:lstStyle/>
          <a:p>
            <a:endParaRPr lang="en-US"/>
          </a:p>
        </p:txBody>
      </p:sp>
      <p:sp>
        <p:nvSpPr>
          <p:cNvPr id="28" name="Text 26"/>
          <p:cNvSpPr/>
          <p:nvPr/>
        </p:nvSpPr>
        <p:spPr>
          <a:xfrm>
            <a:off x="1005840" y="2404872"/>
            <a:ext cx="3474720" cy="402336"/>
          </a:xfrm>
          <a:prstGeom prst="rect">
            <a:avLst/>
          </a:prstGeom>
          <a:noFill/>
          <a:ln/>
        </p:spPr>
        <p:txBody>
          <a:bodyPr wrap="square" lIns="0" tIns="0" rIns="0" bIns="0" rtlCol="0" anchor="ctr"/>
          <a:lstStyle/>
          <a:p>
            <a:pPr marL="0" indent="0">
              <a:buNone/>
            </a:pPr>
            <a:r>
              <a:rPr lang="en-US" sz="1200" b="1" dirty="0">
                <a:solidFill>
                  <a:srgbClr val="1B2A4A"/>
                </a:solidFill>
                <a:latin typeface="Trebuchet MS" pitchFamily="34" charset="0"/>
                <a:ea typeface="Trebuchet MS" pitchFamily="34" charset="-122"/>
                <a:cs typeface="Trebuchet MS" pitchFamily="34" charset="-120"/>
              </a:rPr>
              <a:t>Policy Gap Analysis</a:t>
            </a:r>
            <a:endParaRPr lang="en-US" sz="1200" dirty="0"/>
          </a:p>
        </p:txBody>
      </p:sp>
      <p:sp>
        <p:nvSpPr>
          <p:cNvPr id="29" name="Text 27"/>
          <p:cNvSpPr/>
          <p:nvPr/>
        </p:nvSpPr>
        <p:spPr>
          <a:xfrm>
            <a:off x="4663440" y="2404872"/>
            <a:ext cx="3931920" cy="402336"/>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Compare existing policy to new regulatory guidance</a:t>
            </a:r>
            <a:endParaRPr lang="en-US" sz="1150" dirty="0"/>
          </a:p>
        </p:txBody>
      </p:sp>
      <p:sp>
        <p:nvSpPr>
          <p:cNvPr id="30" name="Shape 28"/>
          <p:cNvSpPr/>
          <p:nvPr/>
        </p:nvSpPr>
        <p:spPr>
          <a:xfrm>
            <a:off x="365760" y="2916936"/>
            <a:ext cx="8412480" cy="512064"/>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31" name="Shape 29"/>
          <p:cNvSpPr/>
          <p:nvPr/>
        </p:nvSpPr>
        <p:spPr>
          <a:xfrm>
            <a:off x="365760" y="2916936"/>
            <a:ext cx="73152" cy="512064"/>
          </a:xfrm>
          <a:prstGeom prst="rect">
            <a:avLst/>
          </a:prstGeom>
          <a:solidFill>
            <a:srgbClr val="7C3AED"/>
          </a:solidFill>
          <a:ln w="12700">
            <a:solidFill>
              <a:srgbClr val="7C3AED"/>
            </a:solidFill>
            <a:prstDash val="solid"/>
          </a:ln>
        </p:spPr>
        <p:txBody>
          <a:bodyPr/>
          <a:lstStyle/>
          <a:p>
            <a:endParaRPr lang="en-US"/>
          </a:p>
        </p:txBody>
      </p:sp>
      <p:sp>
        <p:nvSpPr>
          <p:cNvPr id="32" name="Shape 30"/>
          <p:cNvSpPr/>
          <p:nvPr/>
        </p:nvSpPr>
        <p:spPr>
          <a:xfrm>
            <a:off x="548640" y="3008376"/>
            <a:ext cx="329184" cy="329184"/>
          </a:xfrm>
          <a:prstGeom prst="ellipse">
            <a:avLst/>
          </a:prstGeom>
          <a:solidFill>
            <a:srgbClr val="7C3AED">
              <a:alpha val="80000"/>
            </a:srgbClr>
          </a:solidFill>
          <a:ln w="12700">
            <a:solidFill>
              <a:srgbClr val="7C3AED"/>
            </a:solidFill>
            <a:prstDash val="solid"/>
          </a:ln>
        </p:spPr>
        <p:txBody>
          <a:bodyPr/>
          <a:lstStyle/>
          <a:p>
            <a:endParaRPr lang="en-US"/>
          </a:p>
        </p:txBody>
      </p:sp>
      <p:sp>
        <p:nvSpPr>
          <p:cNvPr id="33" name="Text 31"/>
          <p:cNvSpPr/>
          <p:nvPr/>
        </p:nvSpPr>
        <p:spPr>
          <a:xfrm>
            <a:off x="1005840" y="2971800"/>
            <a:ext cx="3474720" cy="402336"/>
          </a:xfrm>
          <a:prstGeom prst="rect">
            <a:avLst/>
          </a:prstGeom>
          <a:noFill/>
          <a:ln/>
        </p:spPr>
        <p:txBody>
          <a:bodyPr wrap="square" lIns="0" tIns="0" rIns="0" bIns="0" rtlCol="0" anchor="ctr"/>
          <a:lstStyle/>
          <a:p>
            <a:pPr marL="0" indent="0">
              <a:buNone/>
            </a:pPr>
            <a:r>
              <a:rPr lang="en-US" sz="1200" b="1" dirty="0">
                <a:solidFill>
                  <a:srgbClr val="1B2A4A"/>
                </a:solidFill>
                <a:latin typeface="Trebuchet MS" pitchFamily="34" charset="0"/>
                <a:ea typeface="Trebuchet MS" pitchFamily="34" charset="-122"/>
                <a:cs typeface="Trebuchet MS" pitchFamily="34" charset="-120"/>
              </a:rPr>
              <a:t>Security Incident Brief</a:t>
            </a:r>
            <a:endParaRPr lang="en-US" sz="1200" dirty="0"/>
          </a:p>
        </p:txBody>
      </p:sp>
      <p:sp>
        <p:nvSpPr>
          <p:cNvPr id="34" name="Text 32"/>
          <p:cNvSpPr/>
          <p:nvPr/>
        </p:nvSpPr>
        <p:spPr>
          <a:xfrm>
            <a:off x="4663440" y="2971800"/>
            <a:ext cx="3931920" cy="402336"/>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Summarize an alert or incident for leadership</a:t>
            </a:r>
            <a:endParaRPr lang="en-US" sz="1150" dirty="0"/>
          </a:p>
        </p:txBody>
      </p:sp>
      <p:sp>
        <p:nvSpPr>
          <p:cNvPr id="35" name="Shape 33"/>
          <p:cNvSpPr/>
          <p:nvPr/>
        </p:nvSpPr>
        <p:spPr>
          <a:xfrm>
            <a:off x="365760" y="3483864"/>
            <a:ext cx="8412480" cy="512064"/>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36" name="Shape 34"/>
          <p:cNvSpPr/>
          <p:nvPr/>
        </p:nvSpPr>
        <p:spPr>
          <a:xfrm>
            <a:off x="365760" y="3483864"/>
            <a:ext cx="73152" cy="512064"/>
          </a:xfrm>
          <a:prstGeom prst="rect">
            <a:avLst/>
          </a:prstGeom>
          <a:solidFill>
            <a:srgbClr val="F59E0B"/>
          </a:solidFill>
          <a:ln w="12700">
            <a:solidFill>
              <a:srgbClr val="F59E0B"/>
            </a:solidFill>
            <a:prstDash val="solid"/>
          </a:ln>
        </p:spPr>
        <p:txBody>
          <a:bodyPr/>
          <a:lstStyle/>
          <a:p>
            <a:endParaRPr lang="en-US"/>
          </a:p>
        </p:txBody>
      </p:sp>
      <p:sp>
        <p:nvSpPr>
          <p:cNvPr id="37" name="Shape 35"/>
          <p:cNvSpPr/>
          <p:nvPr/>
        </p:nvSpPr>
        <p:spPr>
          <a:xfrm>
            <a:off x="548640" y="3575304"/>
            <a:ext cx="329184" cy="329184"/>
          </a:xfrm>
          <a:prstGeom prst="ellipse">
            <a:avLst/>
          </a:prstGeom>
          <a:solidFill>
            <a:srgbClr val="F59E0B">
              <a:alpha val="80000"/>
            </a:srgbClr>
          </a:solidFill>
          <a:ln w="12700">
            <a:solidFill>
              <a:srgbClr val="F59E0B"/>
            </a:solidFill>
            <a:prstDash val="solid"/>
          </a:ln>
        </p:spPr>
        <p:txBody>
          <a:bodyPr/>
          <a:lstStyle/>
          <a:p>
            <a:endParaRPr lang="en-US"/>
          </a:p>
        </p:txBody>
      </p:sp>
      <p:sp>
        <p:nvSpPr>
          <p:cNvPr id="38" name="Text 36"/>
          <p:cNvSpPr/>
          <p:nvPr/>
        </p:nvSpPr>
        <p:spPr>
          <a:xfrm>
            <a:off x="1005840" y="3538728"/>
            <a:ext cx="3474720" cy="402336"/>
          </a:xfrm>
          <a:prstGeom prst="rect">
            <a:avLst/>
          </a:prstGeom>
          <a:noFill/>
          <a:ln/>
        </p:spPr>
        <p:txBody>
          <a:bodyPr wrap="square" lIns="0" tIns="0" rIns="0" bIns="0" rtlCol="0" anchor="ctr"/>
          <a:lstStyle/>
          <a:p>
            <a:pPr marL="0" indent="0">
              <a:buNone/>
            </a:pPr>
            <a:r>
              <a:rPr lang="en-US" sz="1200" b="1" dirty="0">
                <a:solidFill>
                  <a:srgbClr val="1B2A4A"/>
                </a:solidFill>
                <a:latin typeface="Trebuchet MS" pitchFamily="34" charset="0"/>
                <a:ea typeface="Trebuchet MS" pitchFamily="34" charset="-122"/>
                <a:cs typeface="Trebuchet MS" pitchFamily="34" charset="-120"/>
              </a:rPr>
              <a:t>Regulatory Research</a:t>
            </a:r>
            <a:endParaRPr lang="en-US" sz="1200" dirty="0"/>
          </a:p>
        </p:txBody>
      </p:sp>
      <p:sp>
        <p:nvSpPr>
          <p:cNvPr id="39" name="Text 37"/>
          <p:cNvSpPr/>
          <p:nvPr/>
        </p:nvSpPr>
        <p:spPr>
          <a:xfrm>
            <a:off x="4663440" y="3538728"/>
            <a:ext cx="3931920" cy="402336"/>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Research a specific regulatory topic with citations</a:t>
            </a:r>
            <a:endParaRPr lang="en-US" sz="1150" dirty="0"/>
          </a:p>
        </p:txBody>
      </p:sp>
      <p:sp>
        <p:nvSpPr>
          <p:cNvPr id="40" name="Shape 38"/>
          <p:cNvSpPr/>
          <p:nvPr/>
        </p:nvSpPr>
        <p:spPr>
          <a:xfrm>
            <a:off x="365760" y="4050792"/>
            <a:ext cx="8412480" cy="512064"/>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41" name="Shape 39"/>
          <p:cNvSpPr/>
          <p:nvPr/>
        </p:nvSpPr>
        <p:spPr>
          <a:xfrm>
            <a:off x="365760" y="4050792"/>
            <a:ext cx="73152" cy="512064"/>
          </a:xfrm>
          <a:prstGeom prst="rect">
            <a:avLst/>
          </a:prstGeom>
          <a:solidFill>
            <a:srgbClr val="16A34A"/>
          </a:solidFill>
          <a:ln w="12700">
            <a:solidFill>
              <a:srgbClr val="16A34A"/>
            </a:solidFill>
            <a:prstDash val="solid"/>
          </a:ln>
        </p:spPr>
        <p:txBody>
          <a:bodyPr/>
          <a:lstStyle/>
          <a:p>
            <a:endParaRPr lang="en-US"/>
          </a:p>
        </p:txBody>
      </p:sp>
      <p:sp>
        <p:nvSpPr>
          <p:cNvPr id="42" name="Shape 40"/>
          <p:cNvSpPr/>
          <p:nvPr/>
        </p:nvSpPr>
        <p:spPr>
          <a:xfrm>
            <a:off x="548640" y="4142232"/>
            <a:ext cx="329184" cy="329184"/>
          </a:xfrm>
          <a:prstGeom prst="ellipse">
            <a:avLst/>
          </a:prstGeom>
          <a:solidFill>
            <a:srgbClr val="16A34A">
              <a:alpha val="80000"/>
            </a:srgbClr>
          </a:solidFill>
          <a:ln w="12700">
            <a:solidFill>
              <a:srgbClr val="16A34A"/>
            </a:solidFill>
            <a:prstDash val="solid"/>
          </a:ln>
        </p:spPr>
        <p:txBody>
          <a:bodyPr/>
          <a:lstStyle/>
          <a:p>
            <a:endParaRPr lang="en-US"/>
          </a:p>
        </p:txBody>
      </p:sp>
      <p:sp>
        <p:nvSpPr>
          <p:cNvPr id="43" name="Text 41"/>
          <p:cNvSpPr/>
          <p:nvPr/>
        </p:nvSpPr>
        <p:spPr>
          <a:xfrm>
            <a:off x="1005840" y="4105656"/>
            <a:ext cx="3474720" cy="402336"/>
          </a:xfrm>
          <a:prstGeom prst="rect">
            <a:avLst/>
          </a:prstGeom>
          <a:noFill/>
          <a:ln/>
        </p:spPr>
        <p:txBody>
          <a:bodyPr wrap="square" lIns="0" tIns="0" rIns="0" bIns="0" rtlCol="0" anchor="ctr"/>
          <a:lstStyle/>
          <a:p>
            <a:pPr marL="0" indent="0">
              <a:buNone/>
            </a:pPr>
            <a:r>
              <a:rPr lang="en-US" sz="1200" b="1" dirty="0">
                <a:solidFill>
                  <a:srgbClr val="1B2A4A"/>
                </a:solidFill>
                <a:latin typeface="Trebuchet MS" pitchFamily="34" charset="0"/>
                <a:ea typeface="Trebuchet MS" pitchFamily="34" charset="-122"/>
                <a:cs typeface="Trebuchet MS" pitchFamily="34" charset="-120"/>
              </a:rPr>
              <a:t>Meeting Notes → Action Items</a:t>
            </a:r>
            <a:endParaRPr lang="en-US" sz="1200" dirty="0"/>
          </a:p>
        </p:txBody>
      </p:sp>
      <p:sp>
        <p:nvSpPr>
          <p:cNvPr id="44" name="Text 42"/>
          <p:cNvSpPr/>
          <p:nvPr/>
        </p:nvSpPr>
        <p:spPr>
          <a:xfrm>
            <a:off x="4663440" y="4105656"/>
            <a:ext cx="3931920" cy="402336"/>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Convert raw meeting notes to structured follow-ups</a:t>
            </a:r>
            <a:endParaRPr lang="en-US" sz="1150" dirty="0"/>
          </a:p>
        </p:txBody>
      </p:sp>
      <p:sp>
        <p:nvSpPr>
          <p:cNvPr id="45" name="Shape 43"/>
          <p:cNvSpPr/>
          <p:nvPr/>
        </p:nvSpPr>
        <p:spPr>
          <a:xfrm>
            <a:off x="365760" y="4645152"/>
            <a:ext cx="8412480" cy="347472"/>
          </a:xfrm>
          <a:prstGeom prst="rect">
            <a:avLst/>
          </a:prstGeom>
          <a:solidFill>
            <a:srgbClr val="0D9488">
              <a:alpha val="12000"/>
            </a:srgbClr>
          </a:solidFill>
          <a:ln w="9525">
            <a:solidFill>
              <a:srgbClr val="0D9488">
                <a:alpha val="50000"/>
              </a:srgbClr>
            </a:solidFill>
            <a:prstDash val="solid"/>
          </a:ln>
        </p:spPr>
        <p:txBody>
          <a:bodyPr/>
          <a:lstStyle/>
          <a:p>
            <a:endParaRPr lang="en-US"/>
          </a:p>
        </p:txBody>
      </p:sp>
      <p:pic>
        <p:nvPicPr>
          <p:cNvPr id="46" name="Image 0" descr="preencoded.png"/>
          <p:cNvPicPr>
            <a:picLocks noChangeAspect="1"/>
          </p:cNvPicPr>
          <p:nvPr/>
        </p:nvPicPr>
        <p:blipFill>
          <a:blip r:embed="rId3"/>
          <a:stretch>
            <a:fillRect/>
          </a:stretch>
        </p:blipFill>
        <p:spPr>
          <a:xfrm>
            <a:off x="502920" y="4690872"/>
            <a:ext cx="228600" cy="228600"/>
          </a:xfrm>
          <a:prstGeom prst="rect">
            <a:avLst/>
          </a:prstGeom>
        </p:spPr>
      </p:pic>
      <p:sp>
        <p:nvSpPr>
          <p:cNvPr id="47" name="Text 44"/>
          <p:cNvSpPr/>
          <p:nvPr/>
        </p:nvSpPr>
        <p:spPr>
          <a:xfrm>
            <a:off x="822960" y="4663440"/>
            <a:ext cx="7772400" cy="310896"/>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A team prompt library is the equivalent of an internal playbook — build and share yours.</a:t>
            </a:r>
            <a:endParaRPr lang="en-US" sz="1150" dirty="0"/>
          </a:p>
        </p:txBody>
      </p:sp>
      <p:sp>
        <p:nvSpPr>
          <p:cNvPr id="48" name="Text 45"/>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bg>
      <p:bgPr>
        <a:solidFill>
          <a:srgbClr val="F97316"/>
        </a:solidFill>
        <a:effectLst/>
      </p:bgPr>
    </p:bg>
    <p:spTree>
      <p:nvGrpSpPr>
        <p:cNvPr id="1" name=""/>
        <p:cNvGrpSpPr/>
        <p:nvPr/>
      </p:nvGrpSpPr>
      <p:grpSpPr>
        <a:xfrm>
          <a:off x="0" y="0"/>
          <a:ext cx="0" cy="0"/>
          <a:chOff x="0" y="0"/>
          <a:chExt cx="0" cy="0"/>
        </a:xfrm>
      </p:grpSpPr>
      <p:sp>
        <p:nvSpPr>
          <p:cNvPr id="2" name="Shape 0"/>
          <p:cNvSpPr/>
          <p:nvPr/>
        </p:nvSpPr>
        <p:spPr>
          <a:xfrm>
            <a:off x="6217920" y="-1097280"/>
            <a:ext cx="4572000" cy="4572000"/>
          </a:xfrm>
          <a:prstGeom prst="ellipse">
            <a:avLst/>
          </a:prstGeom>
          <a:solidFill>
            <a:srgbClr val="D95F0A">
              <a:alpha val="50000"/>
            </a:srgbClr>
          </a:solidFill>
          <a:ln w="12700">
            <a:solidFill>
              <a:srgbClr val="D95F0A">
                <a:alpha val="60000"/>
              </a:srgbClr>
            </a:solidFill>
            <a:prstDash val="solid"/>
          </a:ln>
        </p:spPr>
        <p:txBody>
          <a:bodyPr/>
          <a:lstStyle/>
          <a:p>
            <a:endParaRPr lang="en-US"/>
          </a:p>
        </p:txBody>
      </p:sp>
      <p:sp>
        <p:nvSpPr>
          <p:cNvPr id="3" name="Shape 1"/>
          <p:cNvSpPr/>
          <p:nvPr/>
        </p:nvSpPr>
        <p:spPr>
          <a:xfrm>
            <a:off x="7132320" y="2560320"/>
            <a:ext cx="3200400" cy="3200400"/>
          </a:xfrm>
          <a:prstGeom prst="ellipse">
            <a:avLst/>
          </a:prstGeom>
          <a:solidFill>
            <a:srgbClr val="B44D08">
              <a:alpha val="60000"/>
            </a:srgbClr>
          </a:solidFill>
          <a:ln w="12700">
            <a:solidFill>
              <a:srgbClr val="B44D08">
                <a:alpha val="70000"/>
              </a:srgbClr>
            </a:solidFill>
            <a:prstDash val="solid"/>
          </a:ln>
        </p:spPr>
        <p:txBody>
          <a:bodyPr/>
          <a:lstStyle/>
          <a:p>
            <a:endParaRPr lang="en-US"/>
          </a:p>
        </p:txBody>
      </p:sp>
      <p:sp>
        <p:nvSpPr>
          <p:cNvPr id="4" name="Text 2"/>
          <p:cNvSpPr/>
          <p:nvPr/>
        </p:nvSpPr>
        <p:spPr>
          <a:xfrm>
            <a:off x="548640" y="1097280"/>
            <a:ext cx="3657600" cy="365760"/>
          </a:xfrm>
          <a:prstGeom prst="rect">
            <a:avLst/>
          </a:prstGeom>
          <a:noFill/>
          <a:ln/>
        </p:spPr>
        <p:txBody>
          <a:bodyPr wrap="square" lIns="0" tIns="0" rIns="0" bIns="0" rtlCol="0" anchor="ctr"/>
          <a:lstStyle/>
          <a:p>
            <a:pPr marL="0" indent="0">
              <a:buNone/>
            </a:pPr>
            <a:r>
              <a:rPr lang="en-US" sz="1300" b="1" kern="0" spc="500" dirty="0">
                <a:solidFill>
                  <a:srgbClr val="FFFFFF"/>
                </a:solidFill>
                <a:latin typeface="Calibri" pitchFamily="34" charset="0"/>
                <a:ea typeface="Calibri" pitchFamily="34" charset="-122"/>
                <a:cs typeface="Calibri" pitchFamily="34" charset="-120"/>
              </a:rPr>
              <a:t>PART 2</a:t>
            </a:r>
            <a:endParaRPr lang="en-US" sz="1300" dirty="0"/>
          </a:p>
        </p:txBody>
      </p:sp>
      <p:sp>
        <p:nvSpPr>
          <p:cNvPr id="5" name="Text 3"/>
          <p:cNvSpPr/>
          <p:nvPr/>
        </p:nvSpPr>
        <p:spPr>
          <a:xfrm>
            <a:off x="548640" y="1508760"/>
            <a:ext cx="6400800" cy="1828800"/>
          </a:xfrm>
          <a:prstGeom prst="rect">
            <a:avLst/>
          </a:prstGeom>
          <a:noFill/>
          <a:ln/>
        </p:spPr>
        <p:txBody>
          <a:bodyPr wrap="square" lIns="0" tIns="0" rIns="0" bIns="0" rtlCol="0" anchor="ctr"/>
          <a:lstStyle/>
          <a:p>
            <a:pPr marL="0" indent="0">
              <a:buNone/>
            </a:pPr>
            <a:r>
              <a:rPr lang="en-US" sz="5200" b="1" dirty="0">
                <a:solidFill>
                  <a:srgbClr val="FFFFFF"/>
                </a:solidFill>
                <a:latin typeface="Trebuchet MS" pitchFamily="34" charset="0"/>
                <a:ea typeface="Trebuchet MS" pitchFamily="34" charset="-122"/>
                <a:cs typeface="Trebuchet MS" pitchFamily="34" charset="-120"/>
              </a:rPr>
              <a:t>Trust But</a:t>
            </a:r>
            <a:endParaRPr lang="en-US" sz="5200" dirty="0"/>
          </a:p>
          <a:p>
            <a:pPr marL="0" indent="0">
              <a:buNone/>
            </a:pPr>
            <a:r>
              <a:rPr lang="en-US" sz="5200" b="1" dirty="0">
                <a:solidFill>
                  <a:srgbClr val="FFFFFF"/>
                </a:solidFill>
                <a:latin typeface="Trebuchet MS" pitchFamily="34" charset="0"/>
                <a:ea typeface="Trebuchet MS" pitchFamily="34" charset="-122"/>
                <a:cs typeface="Trebuchet MS" pitchFamily="34" charset="-120"/>
              </a:rPr>
              <a:t>Verify</a:t>
            </a:r>
            <a:endParaRPr lang="en-US" sz="5200" dirty="0"/>
          </a:p>
        </p:txBody>
      </p:sp>
      <p:sp>
        <p:nvSpPr>
          <p:cNvPr id="6" name="Text 4"/>
          <p:cNvSpPr/>
          <p:nvPr/>
        </p:nvSpPr>
        <p:spPr>
          <a:xfrm>
            <a:off x="548640" y="3401568"/>
            <a:ext cx="6400800" cy="41148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When to rely on AI output — and when to push back</a:t>
            </a:r>
            <a:endParaRPr lang="en-US" sz="1600" dirty="0"/>
          </a:p>
        </p:txBody>
      </p:sp>
      <p:pic>
        <p:nvPicPr>
          <p:cNvPr id="7" name="Image 0" descr="preencoded.png"/>
          <p:cNvPicPr>
            <a:picLocks noChangeAspect="1"/>
          </p:cNvPicPr>
          <p:nvPr/>
        </p:nvPicPr>
        <p:blipFill>
          <a:blip r:embed="rId3"/>
          <a:stretch>
            <a:fillRect/>
          </a:stretch>
        </p:blipFill>
        <p:spPr>
          <a:xfrm>
            <a:off x="502920" y="3977640"/>
            <a:ext cx="502920" cy="502920"/>
          </a:xfrm>
          <a:prstGeom prst="rect">
            <a:avLst/>
          </a:prstGeom>
        </p:spPr>
      </p:pic>
      <p:sp>
        <p:nvSpPr>
          <p:cNvPr id="8" name="Text 5"/>
          <p:cNvSpPr/>
          <p:nvPr/>
        </p:nvSpPr>
        <p:spPr>
          <a:xfrm>
            <a:off x="1115568" y="4096512"/>
            <a:ext cx="2286000" cy="2743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Slides 14–21</a:t>
            </a:r>
            <a:endParaRPr lang="en-US" sz="1200" dirty="0"/>
          </a:p>
        </p:txBody>
      </p:sp>
      <p:sp>
        <p:nvSpPr>
          <p:cNvPr id="9" name="Text 6"/>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5EEAD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64592"/>
            <a:ext cx="8229600" cy="475488"/>
          </a:xfrm>
          <a:prstGeom prst="rect">
            <a:avLst/>
          </a:prstGeom>
          <a:noFill/>
          <a:ln/>
        </p:spPr>
        <p:txBody>
          <a:bodyPr wrap="square" lIns="0" tIns="0" rIns="0" bIns="0" rtlCol="0" anchor="ctr"/>
          <a:lstStyle/>
          <a:p>
            <a:pPr marL="0" indent="0">
              <a:buNone/>
            </a:pPr>
            <a:r>
              <a:rPr lang="en-US" sz="2800" b="1" dirty="0">
                <a:solidFill>
                  <a:srgbClr val="1B2A4A"/>
                </a:solidFill>
                <a:latin typeface="Trebuchet MS" pitchFamily="34" charset="0"/>
                <a:ea typeface="Trebuchet MS" pitchFamily="34" charset="-122"/>
                <a:cs typeface="Trebuchet MS" pitchFamily="34" charset="-120"/>
              </a:rPr>
              <a:t>The Trust Spectrum</a:t>
            </a:r>
            <a:endParaRPr lang="en-US" sz="2800" dirty="0"/>
          </a:p>
        </p:txBody>
      </p:sp>
      <p:sp>
        <p:nvSpPr>
          <p:cNvPr id="4" name="Text 2"/>
          <p:cNvSpPr/>
          <p:nvPr/>
        </p:nvSpPr>
        <p:spPr>
          <a:xfrm>
            <a:off x="457200" y="667512"/>
            <a:ext cx="8229600" cy="25603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AI output exists on a reliability spectrum — your job is to know where your task sits</a:t>
            </a:r>
            <a:endParaRPr lang="en-US" sz="1200" dirty="0"/>
          </a:p>
        </p:txBody>
      </p:sp>
      <p:sp>
        <p:nvSpPr>
          <p:cNvPr id="5" name="Shape 3"/>
          <p:cNvSpPr/>
          <p:nvPr/>
        </p:nvSpPr>
        <p:spPr>
          <a:xfrm>
            <a:off x="457200" y="1024128"/>
            <a:ext cx="2560320" cy="1481328"/>
          </a:xfrm>
          <a:prstGeom prst="rect">
            <a:avLst/>
          </a:prstGeom>
          <a:solidFill>
            <a:srgbClr val="16A34A"/>
          </a:solidFill>
          <a:ln w="12700">
            <a:solidFill>
              <a:srgbClr val="16A34A"/>
            </a:solidFill>
            <a:prstDash val="solid"/>
          </a:ln>
          <a:effectLst>
            <a:outerShdw blurRad="101600" dist="38100" dir="8100000" algn="bl" rotWithShape="0">
              <a:srgbClr val="000000">
                <a:alpha val="13000"/>
              </a:srgbClr>
            </a:outerShdw>
          </a:effectLst>
        </p:spPr>
        <p:txBody>
          <a:bodyPr/>
          <a:lstStyle/>
          <a:p>
            <a:endParaRPr lang="en-US"/>
          </a:p>
        </p:txBody>
      </p:sp>
      <p:sp>
        <p:nvSpPr>
          <p:cNvPr id="6" name="Shape 4"/>
          <p:cNvSpPr/>
          <p:nvPr/>
        </p:nvSpPr>
        <p:spPr>
          <a:xfrm>
            <a:off x="3246120" y="1024128"/>
            <a:ext cx="2560320" cy="1481328"/>
          </a:xfrm>
          <a:prstGeom prst="rect">
            <a:avLst/>
          </a:prstGeom>
          <a:solidFill>
            <a:srgbClr val="F59E0B"/>
          </a:solidFill>
          <a:ln w="12700">
            <a:solidFill>
              <a:srgbClr val="F59E0B"/>
            </a:solidFill>
            <a:prstDash val="solid"/>
          </a:ln>
          <a:effectLst>
            <a:outerShdw blurRad="101600" dist="38100" dir="8100000" algn="bl" rotWithShape="0">
              <a:srgbClr val="000000">
                <a:alpha val="13000"/>
              </a:srgbClr>
            </a:outerShdw>
          </a:effectLst>
        </p:spPr>
        <p:txBody>
          <a:bodyPr/>
          <a:lstStyle/>
          <a:p>
            <a:endParaRPr lang="en-US"/>
          </a:p>
        </p:txBody>
      </p:sp>
      <p:sp>
        <p:nvSpPr>
          <p:cNvPr id="7" name="Shape 5"/>
          <p:cNvSpPr/>
          <p:nvPr/>
        </p:nvSpPr>
        <p:spPr>
          <a:xfrm>
            <a:off x="6035040" y="1024128"/>
            <a:ext cx="2651760" cy="1481328"/>
          </a:xfrm>
          <a:prstGeom prst="rect">
            <a:avLst/>
          </a:prstGeom>
          <a:solidFill>
            <a:srgbClr val="F97316"/>
          </a:solidFill>
          <a:ln w="12700">
            <a:solidFill>
              <a:srgbClr val="F97316"/>
            </a:solidFill>
            <a:prstDash val="solid"/>
          </a:ln>
          <a:effectLst>
            <a:outerShdw blurRad="101600" dist="38100" dir="8100000" algn="bl" rotWithShape="0">
              <a:srgbClr val="000000">
                <a:alpha val="13000"/>
              </a:srgbClr>
            </a:outerShdw>
          </a:effectLst>
        </p:spPr>
        <p:txBody>
          <a:bodyPr/>
          <a:lstStyle/>
          <a:p>
            <a:endParaRPr lang="en-US"/>
          </a:p>
        </p:txBody>
      </p:sp>
      <p:sp>
        <p:nvSpPr>
          <p:cNvPr id="8" name="Text 6"/>
          <p:cNvSpPr/>
          <p:nvPr/>
        </p:nvSpPr>
        <p:spPr>
          <a:xfrm>
            <a:off x="566928" y="1060704"/>
            <a:ext cx="2377440" cy="658368"/>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Drafting</a:t>
            </a:r>
            <a:endParaRPr lang="en-US" sz="1500" dirty="0"/>
          </a:p>
          <a:p>
            <a:pPr marL="0" indent="0">
              <a:buNone/>
            </a:pPr>
            <a:r>
              <a:rPr lang="en-US" sz="1500" b="1" dirty="0">
                <a:solidFill>
                  <a:srgbClr val="FFFFFF"/>
                </a:solidFill>
                <a:latin typeface="Trebuchet MS" pitchFamily="34" charset="0"/>
                <a:ea typeface="Trebuchet MS" pitchFamily="34" charset="-122"/>
                <a:cs typeface="Trebuchet MS" pitchFamily="34" charset="-120"/>
              </a:rPr>
              <a:t>Assistant</a:t>
            </a:r>
            <a:endParaRPr lang="en-US" sz="1500" dirty="0"/>
          </a:p>
        </p:txBody>
      </p:sp>
      <p:sp>
        <p:nvSpPr>
          <p:cNvPr id="9" name="Text 7"/>
          <p:cNvSpPr/>
          <p:nvPr/>
        </p:nvSpPr>
        <p:spPr>
          <a:xfrm>
            <a:off x="566928" y="1719072"/>
            <a:ext cx="2377440" cy="713232"/>
          </a:xfrm>
          <a:prstGeom prst="rect">
            <a:avLst/>
          </a:prstGeom>
          <a:noFill/>
          <a:ln/>
        </p:spPr>
        <p:txBody>
          <a:bodyPr wrap="square" lIns="0" tIns="0" rIns="0" bIns="0"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AI is a starting point.</a:t>
            </a:r>
            <a:endParaRPr lang="en-US" sz="1050" dirty="0"/>
          </a:p>
          <a:p>
            <a:pPr marL="0" indent="0">
              <a:buNone/>
            </a:pPr>
            <a:r>
              <a:rPr lang="en-US" sz="1050" i="1" dirty="0">
                <a:solidFill>
                  <a:srgbClr val="FFFFFF"/>
                </a:solidFill>
                <a:latin typeface="Calibri" pitchFamily="34" charset="0"/>
                <a:ea typeface="Calibri" pitchFamily="34" charset="-122"/>
                <a:cs typeface="Calibri" pitchFamily="34" charset="-120"/>
              </a:rPr>
              <a:t>You write the final version.</a:t>
            </a:r>
            <a:endParaRPr lang="en-US" sz="1050" dirty="0"/>
          </a:p>
        </p:txBody>
      </p:sp>
      <p:sp>
        <p:nvSpPr>
          <p:cNvPr id="10" name="Text 8"/>
          <p:cNvSpPr/>
          <p:nvPr/>
        </p:nvSpPr>
        <p:spPr>
          <a:xfrm>
            <a:off x="3355848" y="1060704"/>
            <a:ext cx="2377440" cy="658368"/>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Research</a:t>
            </a:r>
            <a:endParaRPr lang="en-US" sz="1500" dirty="0"/>
          </a:p>
          <a:p>
            <a:pPr marL="0" indent="0">
              <a:buNone/>
            </a:pPr>
            <a:r>
              <a:rPr lang="en-US" sz="1500" b="1" dirty="0">
                <a:solidFill>
                  <a:srgbClr val="FFFFFF"/>
                </a:solidFill>
                <a:latin typeface="Trebuchet MS" pitchFamily="34" charset="0"/>
                <a:ea typeface="Trebuchet MS" pitchFamily="34" charset="-122"/>
                <a:cs typeface="Trebuchet MS" pitchFamily="34" charset="-120"/>
              </a:rPr>
              <a:t>Accelerator</a:t>
            </a:r>
            <a:endParaRPr lang="en-US" sz="1500" dirty="0"/>
          </a:p>
        </p:txBody>
      </p:sp>
      <p:sp>
        <p:nvSpPr>
          <p:cNvPr id="11" name="Text 9"/>
          <p:cNvSpPr/>
          <p:nvPr/>
        </p:nvSpPr>
        <p:spPr>
          <a:xfrm>
            <a:off x="3355848" y="1719072"/>
            <a:ext cx="2377440" cy="713232"/>
          </a:xfrm>
          <a:prstGeom prst="rect">
            <a:avLst/>
          </a:prstGeom>
          <a:noFill/>
          <a:ln/>
        </p:spPr>
        <p:txBody>
          <a:bodyPr wrap="square" lIns="0" tIns="0" rIns="0" bIns="0"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AI surfaces options &amp; info.</a:t>
            </a:r>
            <a:endParaRPr lang="en-US" sz="1050" dirty="0"/>
          </a:p>
          <a:p>
            <a:pPr marL="0" indent="0">
              <a:buNone/>
            </a:pPr>
            <a:r>
              <a:rPr lang="en-US" sz="1050" i="1" dirty="0">
                <a:solidFill>
                  <a:srgbClr val="FFFFFF"/>
                </a:solidFill>
                <a:latin typeface="Calibri" pitchFamily="34" charset="0"/>
                <a:ea typeface="Calibri" pitchFamily="34" charset="-122"/>
                <a:cs typeface="Calibri" pitchFamily="34" charset="-120"/>
              </a:rPr>
              <a:t>You verify and select.</a:t>
            </a:r>
            <a:endParaRPr lang="en-US" sz="1050" dirty="0"/>
          </a:p>
        </p:txBody>
      </p:sp>
      <p:sp>
        <p:nvSpPr>
          <p:cNvPr id="12" name="Text 10"/>
          <p:cNvSpPr/>
          <p:nvPr/>
        </p:nvSpPr>
        <p:spPr>
          <a:xfrm>
            <a:off x="6144768" y="1060704"/>
            <a:ext cx="2468880" cy="658368"/>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Subject-Matter</a:t>
            </a:r>
            <a:endParaRPr lang="en-US" sz="1500" dirty="0"/>
          </a:p>
          <a:p>
            <a:pPr marL="0" indent="0">
              <a:buNone/>
            </a:pPr>
            <a:r>
              <a:rPr lang="en-US" sz="1500" b="1" dirty="0">
                <a:solidFill>
                  <a:srgbClr val="FFFFFF"/>
                </a:solidFill>
                <a:latin typeface="Trebuchet MS" pitchFamily="34" charset="0"/>
                <a:ea typeface="Trebuchet MS" pitchFamily="34" charset="-122"/>
                <a:cs typeface="Trebuchet MS" pitchFamily="34" charset="-120"/>
              </a:rPr>
              <a:t>Authority</a:t>
            </a:r>
            <a:endParaRPr lang="en-US" sz="1500" dirty="0"/>
          </a:p>
        </p:txBody>
      </p:sp>
      <p:sp>
        <p:nvSpPr>
          <p:cNvPr id="13" name="Text 11"/>
          <p:cNvSpPr/>
          <p:nvPr/>
        </p:nvSpPr>
        <p:spPr>
          <a:xfrm>
            <a:off x="6144768" y="1719072"/>
            <a:ext cx="2468880" cy="713232"/>
          </a:xfrm>
          <a:prstGeom prst="rect">
            <a:avLst/>
          </a:prstGeom>
          <a:noFill/>
          <a:ln/>
        </p:spPr>
        <p:txBody>
          <a:bodyPr wrap="square" lIns="0" tIns="0" rIns="0" bIns="0"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AI is the final answer.</a:t>
            </a:r>
            <a:endParaRPr lang="en-US" sz="1050" dirty="0"/>
          </a:p>
          <a:p>
            <a:pPr marL="0" indent="0">
              <a:buNone/>
            </a:pPr>
            <a:r>
              <a:rPr lang="en-US" sz="1050" i="1" dirty="0">
                <a:solidFill>
                  <a:srgbClr val="FFFFFF"/>
                </a:solidFill>
                <a:latin typeface="Calibri" pitchFamily="34" charset="0"/>
                <a:ea typeface="Calibri" pitchFamily="34" charset="-122"/>
                <a:cs typeface="Calibri" pitchFamily="34" charset="-120"/>
              </a:rPr>
              <a:t>Very few tasks — low-stakes only.</a:t>
            </a:r>
            <a:endParaRPr lang="en-US" sz="1050" dirty="0"/>
          </a:p>
        </p:txBody>
      </p:sp>
      <p:sp>
        <p:nvSpPr>
          <p:cNvPr id="14" name="Shape 12"/>
          <p:cNvSpPr/>
          <p:nvPr/>
        </p:nvSpPr>
        <p:spPr>
          <a:xfrm>
            <a:off x="457200" y="2505456"/>
            <a:ext cx="2560320" cy="0"/>
          </a:xfrm>
          <a:prstGeom prst="rect">
            <a:avLst/>
          </a:prstGeom>
          <a:noFill/>
          <a:ln w="6350">
            <a:solidFill>
              <a:srgbClr val="FFFFFF"/>
            </a:solidFill>
            <a:prstDash val="solid"/>
          </a:ln>
        </p:spPr>
        <p:txBody>
          <a:bodyPr/>
          <a:lstStyle/>
          <a:p>
            <a:endParaRPr lang="en-US"/>
          </a:p>
        </p:txBody>
      </p:sp>
      <p:sp>
        <p:nvSpPr>
          <p:cNvPr id="15" name="Shape 13"/>
          <p:cNvSpPr/>
          <p:nvPr/>
        </p:nvSpPr>
        <p:spPr>
          <a:xfrm>
            <a:off x="3246120" y="2505456"/>
            <a:ext cx="2560320" cy="0"/>
          </a:xfrm>
          <a:prstGeom prst="rect">
            <a:avLst/>
          </a:prstGeom>
          <a:noFill/>
          <a:ln w="6350">
            <a:solidFill>
              <a:srgbClr val="FFFFFF"/>
            </a:solidFill>
            <a:prstDash val="solid"/>
          </a:ln>
        </p:spPr>
        <p:txBody>
          <a:bodyPr/>
          <a:lstStyle/>
          <a:p>
            <a:endParaRPr lang="en-US"/>
          </a:p>
        </p:txBody>
      </p:sp>
      <p:sp>
        <p:nvSpPr>
          <p:cNvPr id="16" name="Shape 14"/>
          <p:cNvSpPr/>
          <p:nvPr/>
        </p:nvSpPr>
        <p:spPr>
          <a:xfrm>
            <a:off x="6035040" y="2505456"/>
            <a:ext cx="2651760" cy="0"/>
          </a:xfrm>
          <a:prstGeom prst="rect">
            <a:avLst/>
          </a:prstGeom>
          <a:noFill/>
          <a:ln w="6350">
            <a:solidFill>
              <a:srgbClr val="FFFFFF"/>
            </a:solidFill>
            <a:prstDash val="solid"/>
          </a:ln>
        </p:spPr>
        <p:txBody>
          <a:bodyPr/>
          <a:lstStyle/>
          <a:p>
            <a:endParaRPr lang="en-US"/>
          </a:p>
        </p:txBody>
      </p:sp>
      <p:sp>
        <p:nvSpPr>
          <p:cNvPr id="17" name="Shape 15"/>
          <p:cNvSpPr/>
          <p:nvPr/>
        </p:nvSpPr>
        <p:spPr>
          <a:xfrm>
            <a:off x="365760" y="2651760"/>
            <a:ext cx="8412480" cy="685800"/>
          </a:xfrm>
          <a:prstGeom prst="rect">
            <a:avLst/>
          </a:prstGeom>
          <a:solidFill>
            <a:srgbClr val="1B2A4A"/>
          </a:solidFill>
          <a:ln w="12700">
            <a:solidFill>
              <a:srgbClr val="1B2A4A"/>
            </a:solidFill>
            <a:prstDash val="solid"/>
          </a:ln>
          <a:effectLst>
            <a:outerShdw blurRad="101600" dist="38100" dir="8100000" algn="bl" rotWithShape="0">
              <a:srgbClr val="000000">
                <a:alpha val="13000"/>
              </a:srgbClr>
            </a:outerShdw>
          </a:effectLst>
        </p:spPr>
        <p:txBody>
          <a:bodyPr/>
          <a:lstStyle/>
          <a:p>
            <a:endParaRPr lang="en-US"/>
          </a:p>
        </p:txBody>
      </p:sp>
      <p:sp>
        <p:nvSpPr>
          <p:cNvPr id="18" name="Shape 16"/>
          <p:cNvSpPr/>
          <p:nvPr/>
        </p:nvSpPr>
        <p:spPr>
          <a:xfrm>
            <a:off x="365760" y="2651760"/>
            <a:ext cx="64008" cy="685800"/>
          </a:xfrm>
          <a:prstGeom prst="rect">
            <a:avLst/>
          </a:prstGeom>
          <a:solidFill>
            <a:srgbClr val="F59E0B"/>
          </a:solidFill>
          <a:ln w="12700">
            <a:solidFill>
              <a:srgbClr val="F59E0B"/>
            </a:solidFill>
            <a:prstDash val="solid"/>
          </a:ln>
        </p:spPr>
        <p:txBody>
          <a:bodyPr/>
          <a:lstStyle/>
          <a:p>
            <a:endParaRPr lang="en-US"/>
          </a:p>
        </p:txBody>
      </p:sp>
      <p:sp>
        <p:nvSpPr>
          <p:cNvPr id="19" name="Text 17"/>
          <p:cNvSpPr/>
          <p:nvPr/>
        </p:nvSpPr>
        <p:spPr>
          <a:xfrm>
            <a:off x="548640" y="2697480"/>
            <a:ext cx="8138160" cy="320040"/>
          </a:xfrm>
          <a:prstGeom prst="rect">
            <a:avLst/>
          </a:prstGeom>
          <a:noFill/>
          <a:ln/>
        </p:spPr>
        <p:txBody>
          <a:bodyPr wrap="square" lIns="0" tIns="0" rIns="0" bIns="0" rtlCol="0" anchor="ctr"/>
          <a:lstStyle/>
          <a:p>
            <a:pPr marL="0" indent="0">
              <a:buNone/>
            </a:pPr>
            <a:r>
              <a:rPr lang="en-US" sz="1300" b="1" dirty="0">
                <a:solidFill>
                  <a:srgbClr val="F59E0B"/>
                </a:solidFill>
                <a:latin typeface="Trebuchet MS" pitchFamily="34" charset="0"/>
                <a:ea typeface="Trebuchet MS" pitchFamily="34" charset="-122"/>
                <a:cs typeface="Trebuchet MS" pitchFamily="34" charset="-120"/>
              </a:rPr>
              <a:t>Key question to ask: </a:t>
            </a:r>
            <a:r>
              <a:rPr lang="en-US" sz="1300" i="1" dirty="0">
                <a:solidFill>
                  <a:srgbClr val="FFFFFF"/>
                </a:solidFill>
                <a:latin typeface="Trebuchet MS" pitchFamily="34" charset="0"/>
                <a:ea typeface="Trebuchet MS" pitchFamily="34" charset="-122"/>
                <a:cs typeface="Trebuchet MS" pitchFamily="34" charset="-120"/>
              </a:rPr>
              <a:t>"What is the cost of being wrong here?"</a:t>
            </a:r>
            <a:endParaRPr lang="en-US" sz="1300" dirty="0"/>
          </a:p>
        </p:txBody>
      </p:sp>
      <p:sp>
        <p:nvSpPr>
          <p:cNvPr id="20" name="Text 18"/>
          <p:cNvSpPr/>
          <p:nvPr/>
        </p:nvSpPr>
        <p:spPr>
          <a:xfrm>
            <a:off x="548640" y="3017520"/>
            <a:ext cx="8138160" cy="256032"/>
          </a:xfrm>
          <a:prstGeom prst="rect">
            <a:avLst/>
          </a:prstGeom>
          <a:noFill/>
          <a:ln/>
        </p:spPr>
        <p:txBody>
          <a:bodyPr wrap="square" lIns="0" tIns="0" rIns="0" bIns="0" rtlCol="0" anchor="ctr"/>
          <a:lstStyle/>
          <a:p>
            <a:pPr marL="0" indent="0">
              <a:buNone/>
            </a:pPr>
            <a:r>
              <a:rPr lang="en-US" sz="1150" dirty="0">
                <a:solidFill>
                  <a:srgbClr val="CBD5E0"/>
                </a:solidFill>
                <a:latin typeface="Calibri" pitchFamily="34" charset="0"/>
                <a:ea typeface="Calibri" pitchFamily="34" charset="-122"/>
                <a:cs typeface="Calibri" pitchFamily="34" charset="-120"/>
              </a:rPr>
              <a:t>Low cost → trust more, verify less    |    High cost → trust less, verify more</a:t>
            </a:r>
            <a:endParaRPr lang="en-US" sz="1150" dirty="0"/>
          </a:p>
        </p:txBody>
      </p:sp>
      <p:sp>
        <p:nvSpPr>
          <p:cNvPr id="21" name="Shape 19"/>
          <p:cNvSpPr/>
          <p:nvPr/>
        </p:nvSpPr>
        <p:spPr>
          <a:xfrm>
            <a:off x="365760" y="3429000"/>
            <a:ext cx="8412480" cy="50292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pic>
        <p:nvPicPr>
          <p:cNvPr id="22" name="Image 0" descr="preencoded.png"/>
          <p:cNvPicPr>
            <a:picLocks noChangeAspect="1"/>
          </p:cNvPicPr>
          <p:nvPr/>
        </p:nvPicPr>
        <p:blipFill>
          <a:blip r:embed="rId3"/>
          <a:stretch>
            <a:fillRect/>
          </a:stretch>
        </p:blipFill>
        <p:spPr>
          <a:xfrm>
            <a:off x="475488" y="3520440"/>
            <a:ext cx="292608" cy="292608"/>
          </a:xfrm>
          <a:prstGeom prst="rect">
            <a:avLst/>
          </a:prstGeom>
        </p:spPr>
      </p:pic>
      <p:sp>
        <p:nvSpPr>
          <p:cNvPr id="23" name="Text 20"/>
          <p:cNvSpPr/>
          <p:nvPr/>
        </p:nvSpPr>
        <p:spPr>
          <a:xfrm>
            <a:off x="896112" y="3483864"/>
            <a:ext cx="4114800" cy="402336"/>
          </a:xfrm>
          <a:prstGeom prst="rect">
            <a:avLst/>
          </a:prstGeom>
          <a:noFill/>
          <a:ln/>
        </p:spPr>
        <p:txBody>
          <a:bodyPr wrap="square" lIns="0" tIns="0" rIns="0" bIns="0" rtlCol="0" anchor="ctr"/>
          <a:lstStyle/>
          <a:p>
            <a:pPr marL="0" indent="0">
              <a:buNone/>
            </a:pPr>
            <a:r>
              <a:rPr lang="en-US" sz="1200" b="1" dirty="0">
                <a:solidFill>
                  <a:srgbClr val="1B2A4A"/>
                </a:solidFill>
                <a:latin typeface="Trebuchet MS" pitchFamily="34" charset="0"/>
                <a:ea typeface="Trebuchet MS" pitchFamily="34" charset="-122"/>
                <a:cs typeface="Trebuchet MS" pitchFamily="34" charset="-120"/>
              </a:rPr>
              <a:t>FHB: Regulatory / Legal / Customer-facing</a:t>
            </a:r>
            <a:endParaRPr lang="en-US" sz="1200" dirty="0"/>
          </a:p>
        </p:txBody>
      </p:sp>
      <p:sp>
        <p:nvSpPr>
          <p:cNvPr id="24" name="Text 21"/>
          <p:cNvSpPr/>
          <p:nvPr/>
        </p:nvSpPr>
        <p:spPr>
          <a:xfrm>
            <a:off x="5120640" y="3483864"/>
            <a:ext cx="3566160" cy="402336"/>
          </a:xfrm>
          <a:prstGeom prst="rect">
            <a:avLst/>
          </a:prstGeom>
          <a:noFill/>
          <a:ln/>
        </p:spPr>
        <p:txBody>
          <a:bodyPr wrap="square" lIns="0" tIns="0" rIns="0" bIns="0"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Treat AI as Drafting Assistant at best — always verify</a:t>
            </a:r>
            <a:endParaRPr lang="en-US" sz="1150" dirty="0"/>
          </a:p>
        </p:txBody>
      </p:sp>
      <p:sp>
        <p:nvSpPr>
          <p:cNvPr id="25" name="Shape 22"/>
          <p:cNvSpPr/>
          <p:nvPr/>
        </p:nvSpPr>
        <p:spPr>
          <a:xfrm>
            <a:off x="365760" y="3995928"/>
            <a:ext cx="8412480" cy="50292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pic>
        <p:nvPicPr>
          <p:cNvPr id="26" name="Image 1" descr="preencoded.png"/>
          <p:cNvPicPr>
            <a:picLocks noChangeAspect="1"/>
          </p:cNvPicPr>
          <p:nvPr/>
        </p:nvPicPr>
        <p:blipFill>
          <a:blip r:embed="rId4"/>
          <a:stretch>
            <a:fillRect/>
          </a:stretch>
        </p:blipFill>
        <p:spPr>
          <a:xfrm>
            <a:off x="475488" y="4087368"/>
            <a:ext cx="292608" cy="292608"/>
          </a:xfrm>
          <a:prstGeom prst="rect">
            <a:avLst/>
          </a:prstGeom>
        </p:spPr>
      </p:pic>
      <p:sp>
        <p:nvSpPr>
          <p:cNvPr id="27" name="Text 23"/>
          <p:cNvSpPr/>
          <p:nvPr/>
        </p:nvSpPr>
        <p:spPr>
          <a:xfrm>
            <a:off x="896112" y="4050792"/>
            <a:ext cx="4114800" cy="402336"/>
          </a:xfrm>
          <a:prstGeom prst="rect">
            <a:avLst/>
          </a:prstGeom>
          <a:noFill/>
          <a:ln/>
        </p:spPr>
        <p:txBody>
          <a:bodyPr wrap="square" lIns="0" tIns="0" rIns="0" bIns="0" rtlCol="0" anchor="ctr"/>
          <a:lstStyle/>
          <a:p>
            <a:pPr marL="0" indent="0">
              <a:buNone/>
            </a:pPr>
            <a:r>
              <a:rPr lang="en-US" sz="1200" b="1" dirty="0">
                <a:solidFill>
                  <a:srgbClr val="1B2A4A"/>
                </a:solidFill>
                <a:latin typeface="Trebuchet MS" pitchFamily="34" charset="0"/>
                <a:ea typeface="Trebuchet MS" pitchFamily="34" charset="-122"/>
                <a:cs typeface="Trebuchet MS" pitchFamily="34" charset="-120"/>
              </a:rPr>
              <a:t>FHB: Internal Research &amp; Synthesis</a:t>
            </a:r>
            <a:endParaRPr lang="en-US" sz="1200" dirty="0"/>
          </a:p>
        </p:txBody>
      </p:sp>
      <p:sp>
        <p:nvSpPr>
          <p:cNvPr id="28" name="Text 24"/>
          <p:cNvSpPr/>
          <p:nvPr/>
        </p:nvSpPr>
        <p:spPr>
          <a:xfrm>
            <a:off x="5120640" y="4050792"/>
            <a:ext cx="3566160" cy="402336"/>
          </a:xfrm>
          <a:prstGeom prst="rect">
            <a:avLst/>
          </a:prstGeom>
          <a:noFill/>
          <a:ln/>
        </p:spPr>
        <p:txBody>
          <a:bodyPr wrap="square" lIns="0" tIns="0" rIns="0" bIns="0"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Can treat as Research Accelerator — verify key claims</a:t>
            </a:r>
            <a:endParaRPr lang="en-US" sz="1150" dirty="0"/>
          </a:p>
        </p:txBody>
      </p:sp>
      <p:sp>
        <p:nvSpPr>
          <p:cNvPr id="29" name="Text 25"/>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txBody>
          <a:bodyPr/>
          <a:lstStyle/>
          <a:p>
            <a:endParaRPr lang="en-US"/>
          </a:p>
        </p:txBody>
      </p:sp>
      <p:sp>
        <p:nvSpPr>
          <p:cNvPr id="3" name="Shape 1"/>
          <p:cNvSpPr/>
          <p:nvPr/>
        </p:nvSpPr>
        <p:spPr>
          <a:xfrm>
            <a:off x="365760" y="164592"/>
            <a:ext cx="1645920" cy="310896"/>
          </a:xfrm>
          <a:prstGeom prst="rect">
            <a:avLst/>
          </a:prstGeom>
          <a:solidFill>
            <a:srgbClr val="F97316"/>
          </a:solidFill>
          <a:ln w="12700">
            <a:solidFill>
              <a:srgbClr val="F97316"/>
            </a:solidFill>
            <a:prstDash val="solid"/>
          </a:ln>
        </p:spPr>
        <p:txBody>
          <a:bodyPr/>
          <a:lstStyle/>
          <a:p>
            <a:endParaRPr lang="en-US"/>
          </a:p>
        </p:txBody>
      </p:sp>
      <p:sp>
        <p:nvSpPr>
          <p:cNvPr id="4" name="Text 2"/>
          <p:cNvSpPr/>
          <p:nvPr/>
        </p:nvSpPr>
        <p:spPr>
          <a:xfrm>
            <a:off x="365760" y="164592"/>
            <a:ext cx="1645920" cy="310896"/>
          </a:xfrm>
          <a:prstGeom prst="rect">
            <a:avLst/>
          </a:prstGeom>
          <a:noFill/>
          <a:ln/>
        </p:spPr>
        <p:txBody>
          <a:bodyPr wrap="square" lIns="0" tIns="0" rIns="0" bIns="0" rtlCol="0" anchor="ctr"/>
          <a:lstStyle/>
          <a:p>
            <a:pPr marL="0" indent="0" algn="ctr">
              <a:buNone/>
            </a:pPr>
            <a:r>
              <a:rPr lang="en-US" sz="900" b="1" kern="0" spc="150" dirty="0">
                <a:solidFill>
                  <a:srgbClr val="FFFFFF"/>
                </a:solidFill>
                <a:latin typeface="Calibri" pitchFamily="34" charset="0"/>
                <a:ea typeface="Calibri" pitchFamily="34" charset="-122"/>
                <a:cs typeface="Calibri" pitchFamily="34" charset="-120"/>
              </a:rPr>
              <a:t>FAILURE MODE #1</a:t>
            </a:r>
            <a:endParaRPr lang="en-US" sz="900" dirty="0"/>
          </a:p>
        </p:txBody>
      </p:sp>
      <p:sp>
        <p:nvSpPr>
          <p:cNvPr id="5" name="Text 3"/>
          <p:cNvSpPr/>
          <p:nvPr/>
        </p:nvSpPr>
        <p:spPr>
          <a:xfrm>
            <a:off x="365760" y="537076"/>
            <a:ext cx="8229600" cy="594360"/>
          </a:xfrm>
          <a:prstGeom prst="rect">
            <a:avLst/>
          </a:prstGeom>
          <a:noFill/>
          <a:ln/>
        </p:spPr>
        <p:txBody>
          <a:bodyPr wrap="square" lIns="0" tIns="0" rIns="0" bIns="0" rtlCol="0" anchor="ctr"/>
          <a:lstStyle/>
          <a:p>
            <a:pPr marL="0" indent="0">
              <a:buNone/>
            </a:pPr>
            <a:r>
              <a:rPr lang="en-US" sz="3800" b="1" dirty="0">
                <a:solidFill>
                  <a:srgbClr val="1B2A4A"/>
                </a:solidFill>
                <a:latin typeface="Trebuchet MS" pitchFamily="34" charset="0"/>
                <a:ea typeface="Trebuchet MS" pitchFamily="34" charset="-122"/>
                <a:cs typeface="Trebuchet MS" pitchFamily="34" charset="-120"/>
              </a:rPr>
              <a:t>Hallucination</a:t>
            </a:r>
            <a:endParaRPr lang="en-US" sz="3800" dirty="0"/>
          </a:p>
        </p:txBody>
      </p:sp>
      <p:sp>
        <p:nvSpPr>
          <p:cNvPr id="6" name="Text 4"/>
          <p:cNvSpPr/>
          <p:nvPr/>
        </p:nvSpPr>
        <p:spPr>
          <a:xfrm>
            <a:off x="365760" y="1115568"/>
            <a:ext cx="4572000" cy="347472"/>
          </a:xfrm>
          <a:prstGeom prst="rect">
            <a:avLst/>
          </a:prstGeom>
          <a:noFill/>
          <a:ln/>
        </p:spPr>
        <p:txBody>
          <a:bodyPr wrap="square" lIns="0" tIns="0" rIns="0" bIns="0" rtlCol="0" anchor="ctr"/>
          <a:lstStyle/>
          <a:p>
            <a:pPr marL="0" indent="0">
              <a:buNone/>
            </a:pPr>
            <a:r>
              <a:rPr lang="en-US" sz="1600" i="1" dirty="0">
                <a:solidFill>
                  <a:srgbClr val="F97316"/>
                </a:solidFill>
                <a:latin typeface="Calibri" pitchFamily="34" charset="0"/>
                <a:ea typeface="Calibri" pitchFamily="34" charset="-122"/>
                <a:cs typeface="Calibri" pitchFamily="34" charset="-120"/>
              </a:rPr>
              <a:t>Confident. Fluent. Wrong.</a:t>
            </a:r>
            <a:endParaRPr lang="en-US" sz="1600" dirty="0"/>
          </a:p>
        </p:txBody>
      </p:sp>
      <p:sp>
        <p:nvSpPr>
          <p:cNvPr id="7" name="Shape 5"/>
          <p:cNvSpPr/>
          <p:nvPr/>
        </p:nvSpPr>
        <p:spPr>
          <a:xfrm>
            <a:off x="365760" y="1572768"/>
            <a:ext cx="4069080" cy="1261872"/>
          </a:xfrm>
          <a:prstGeom prst="rect">
            <a:avLst/>
          </a:prstGeom>
          <a:solidFill>
            <a:srgbClr val="FFFFFF"/>
          </a:solidFill>
          <a:ln w="12700">
            <a:solidFill>
              <a:srgbClr val="F97316"/>
            </a:solidFill>
            <a:prstDash val="solid"/>
          </a:ln>
          <a:effectLst>
            <a:outerShdw blurRad="101600" dist="38100" dir="8100000" algn="bl" rotWithShape="0">
              <a:srgbClr val="000000">
                <a:alpha val="13000"/>
              </a:srgbClr>
            </a:outerShdw>
          </a:effectLst>
        </p:spPr>
        <p:txBody>
          <a:bodyPr/>
          <a:lstStyle/>
          <a:p>
            <a:endParaRPr lang="en-US"/>
          </a:p>
        </p:txBody>
      </p:sp>
      <p:sp>
        <p:nvSpPr>
          <p:cNvPr id="8" name="Shape 6"/>
          <p:cNvSpPr/>
          <p:nvPr/>
        </p:nvSpPr>
        <p:spPr>
          <a:xfrm>
            <a:off x="365760" y="1572768"/>
            <a:ext cx="64008" cy="1261872"/>
          </a:xfrm>
          <a:prstGeom prst="rect">
            <a:avLst/>
          </a:prstGeom>
          <a:solidFill>
            <a:srgbClr val="F97316"/>
          </a:solidFill>
          <a:ln w="12700">
            <a:solidFill>
              <a:srgbClr val="F97316"/>
            </a:solidFill>
            <a:prstDash val="solid"/>
          </a:ln>
        </p:spPr>
        <p:txBody>
          <a:bodyPr/>
          <a:lstStyle/>
          <a:p>
            <a:endParaRPr lang="en-US"/>
          </a:p>
        </p:txBody>
      </p:sp>
      <p:sp>
        <p:nvSpPr>
          <p:cNvPr id="9" name="Text 7"/>
          <p:cNvSpPr/>
          <p:nvPr/>
        </p:nvSpPr>
        <p:spPr>
          <a:xfrm>
            <a:off x="548640" y="1609344"/>
            <a:ext cx="3657600" cy="320040"/>
          </a:xfrm>
          <a:prstGeom prst="rect">
            <a:avLst/>
          </a:prstGeom>
          <a:noFill/>
          <a:ln/>
        </p:spPr>
        <p:txBody>
          <a:bodyPr wrap="square" lIns="0" tIns="0" rIns="0" bIns="0" rtlCol="0" anchor="ctr"/>
          <a:lstStyle/>
          <a:p>
            <a:pPr marL="0" indent="0">
              <a:buNone/>
            </a:pPr>
            <a:r>
              <a:rPr lang="en-US" sz="1200" b="1" dirty="0">
                <a:solidFill>
                  <a:srgbClr val="F97316"/>
                </a:solidFill>
                <a:latin typeface="Trebuchet MS" pitchFamily="34" charset="0"/>
                <a:ea typeface="Trebuchet MS" pitchFamily="34" charset="-122"/>
                <a:cs typeface="Trebuchet MS" pitchFamily="34" charset="-120"/>
              </a:rPr>
              <a:t>Definition</a:t>
            </a:r>
            <a:endParaRPr lang="en-US" sz="1200" dirty="0"/>
          </a:p>
        </p:txBody>
      </p:sp>
      <p:sp>
        <p:nvSpPr>
          <p:cNvPr id="10" name="Text 8"/>
          <p:cNvSpPr/>
          <p:nvPr/>
        </p:nvSpPr>
        <p:spPr>
          <a:xfrm>
            <a:off x="548640" y="1938528"/>
            <a:ext cx="3657600" cy="822960"/>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An LLM generating confident, fluent, but factually incorrect or entirely fabricated content — with no warning or uncertainty signal.</a:t>
            </a:r>
            <a:endParaRPr lang="en-US" sz="1150" dirty="0"/>
          </a:p>
        </p:txBody>
      </p:sp>
      <p:sp>
        <p:nvSpPr>
          <p:cNvPr id="11" name="Shape 9"/>
          <p:cNvSpPr/>
          <p:nvPr/>
        </p:nvSpPr>
        <p:spPr>
          <a:xfrm>
            <a:off x="4709160" y="1572768"/>
            <a:ext cx="4069080" cy="1261872"/>
          </a:xfrm>
          <a:prstGeom prst="rect">
            <a:avLst/>
          </a:prstGeom>
          <a:solidFill>
            <a:srgbClr val="FFFFFF"/>
          </a:solidFill>
          <a:ln w="12700">
            <a:solidFill>
              <a:srgbClr val="F59E0B"/>
            </a:solidFill>
            <a:prstDash val="solid"/>
          </a:ln>
          <a:effectLst>
            <a:outerShdw blurRad="101600" dist="38100" dir="8100000" algn="bl" rotWithShape="0">
              <a:srgbClr val="000000">
                <a:alpha val="13000"/>
              </a:srgbClr>
            </a:outerShdw>
          </a:effectLst>
        </p:spPr>
        <p:txBody>
          <a:bodyPr/>
          <a:lstStyle/>
          <a:p>
            <a:endParaRPr lang="en-US"/>
          </a:p>
        </p:txBody>
      </p:sp>
      <p:sp>
        <p:nvSpPr>
          <p:cNvPr id="12" name="Shape 10"/>
          <p:cNvSpPr/>
          <p:nvPr/>
        </p:nvSpPr>
        <p:spPr>
          <a:xfrm>
            <a:off x="4709160" y="1572768"/>
            <a:ext cx="64008" cy="1261872"/>
          </a:xfrm>
          <a:prstGeom prst="rect">
            <a:avLst/>
          </a:prstGeom>
          <a:solidFill>
            <a:srgbClr val="F59E0B"/>
          </a:solidFill>
          <a:ln w="12700">
            <a:solidFill>
              <a:srgbClr val="F59E0B"/>
            </a:solidFill>
            <a:prstDash val="solid"/>
          </a:ln>
        </p:spPr>
        <p:txBody>
          <a:bodyPr/>
          <a:lstStyle/>
          <a:p>
            <a:endParaRPr lang="en-US"/>
          </a:p>
        </p:txBody>
      </p:sp>
      <p:sp>
        <p:nvSpPr>
          <p:cNvPr id="13" name="Text 11"/>
          <p:cNvSpPr/>
          <p:nvPr/>
        </p:nvSpPr>
        <p:spPr>
          <a:xfrm>
            <a:off x="4892040" y="1609344"/>
            <a:ext cx="3657600" cy="320040"/>
          </a:xfrm>
          <a:prstGeom prst="rect">
            <a:avLst/>
          </a:prstGeom>
          <a:noFill/>
          <a:ln/>
        </p:spPr>
        <p:txBody>
          <a:bodyPr wrap="square" lIns="0" tIns="0" rIns="0" bIns="0" rtlCol="0" anchor="ctr"/>
          <a:lstStyle/>
          <a:p>
            <a:pPr marL="0" indent="0">
              <a:buNone/>
            </a:pPr>
            <a:r>
              <a:rPr lang="en-US" sz="1200" b="1" dirty="0">
                <a:solidFill>
                  <a:srgbClr val="F59E0B"/>
                </a:solidFill>
                <a:latin typeface="Trebuchet MS" pitchFamily="34" charset="0"/>
                <a:ea typeface="Trebuchet MS" pitchFamily="34" charset="-122"/>
                <a:cs typeface="Trebuchet MS" pitchFamily="34" charset="-120"/>
              </a:rPr>
              <a:t>Why It Happens</a:t>
            </a:r>
            <a:endParaRPr lang="en-US" sz="1200" dirty="0"/>
          </a:p>
        </p:txBody>
      </p:sp>
      <p:sp>
        <p:nvSpPr>
          <p:cNvPr id="14" name="Text 12"/>
          <p:cNvSpPr/>
          <p:nvPr/>
        </p:nvSpPr>
        <p:spPr>
          <a:xfrm>
            <a:off x="4892040" y="1938528"/>
            <a:ext cx="3749040" cy="8229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LLMs are pattern-matching engines, not fact databases.</a:t>
            </a:r>
            <a:endParaRPr lang="en-US" sz="1100" dirty="0"/>
          </a:p>
          <a:p>
            <a:pPr marL="0" indent="0">
              <a:buNone/>
            </a:pPr>
            <a:r>
              <a:rPr lang="en-US" sz="1100" dirty="0">
                <a:solidFill>
                  <a:srgbClr val="475569"/>
                </a:solidFill>
                <a:latin typeface="Calibri" pitchFamily="34" charset="0"/>
                <a:ea typeface="Calibri" pitchFamily="34" charset="-122"/>
                <a:cs typeface="Calibri" pitchFamily="34" charset="-120"/>
              </a:rPr>
              <a:t>They have no confidence score — they don't 'know' when they're wrong.</a:t>
            </a:r>
            <a:r>
              <a:rPr lang="en-US" sz="1100" dirty="0"/>
              <a:t> </a:t>
            </a:r>
            <a:r>
              <a:rPr lang="en-US" sz="1100" dirty="0">
                <a:solidFill>
                  <a:srgbClr val="475569"/>
                </a:solidFill>
                <a:latin typeface="Calibri" pitchFamily="34" charset="0"/>
                <a:ea typeface="Calibri" pitchFamily="34" charset="-122"/>
                <a:cs typeface="Calibri" pitchFamily="34" charset="-120"/>
              </a:rPr>
              <a:t>When uncertain, they extrapolate rather than stopping.</a:t>
            </a:r>
            <a:endParaRPr lang="en-US" sz="1100" dirty="0"/>
          </a:p>
        </p:txBody>
      </p:sp>
      <p:sp>
        <p:nvSpPr>
          <p:cNvPr id="15" name="Text 13"/>
          <p:cNvSpPr/>
          <p:nvPr/>
        </p:nvSpPr>
        <p:spPr>
          <a:xfrm>
            <a:off x="365760" y="2944368"/>
            <a:ext cx="8229600" cy="320040"/>
          </a:xfrm>
          <a:prstGeom prst="rect">
            <a:avLst/>
          </a:prstGeom>
          <a:noFill/>
          <a:ln/>
        </p:spPr>
        <p:txBody>
          <a:bodyPr wrap="square" lIns="0" tIns="0" rIns="0" bIns="0" rtlCol="0" anchor="ctr"/>
          <a:lstStyle/>
          <a:p>
            <a:pPr marL="0" indent="0">
              <a:buNone/>
            </a:pPr>
            <a:r>
              <a:rPr lang="en-US" sz="1300" b="1" dirty="0">
                <a:solidFill>
                  <a:srgbClr val="0D9488"/>
                </a:solidFill>
                <a:latin typeface="Trebuchet MS" pitchFamily="34" charset="0"/>
                <a:ea typeface="Trebuchet MS" pitchFamily="34" charset="-122"/>
                <a:cs typeface="Trebuchet MS" pitchFamily="34" charset="-120"/>
              </a:rPr>
              <a:t>Four Types of Hallucination</a:t>
            </a:r>
            <a:endParaRPr lang="en-US" sz="1300" dirty="0"/>
          </a:p>
        </p:txBody>
      </p:sp>
      <p:sp>
        <p:nvSpPr>
          <p:cNvPr id="16" name="Shape 14"/>
          <p:cNvSpPr/>
          <p:nvPr/>
        </p:nvSpPr>
        <p:spPr>
          <a:xfrm>
            <a:off x="365760" y="3337560"/>
            <a:ext cx="1920240" cy="1234440"/>
          </a:xfrm>
          <a:prstGeom prst="rect">
            <a:avLst/>
          </a:prstGeom>
          <a:solidFill>
            <a:srgbClr val="FFFFFF"/>
          </a:solidFill>
          <a:ln w="6350">
            <a:solidFill>
              <a:srgbClr val="374151"/>
            </a:solidFill>
            <a:prstDash val="solid"/>
          </a:ln>
        </p:spPr>
        <p:txBody>
          <a:bodyPr/>
          <a:lstStyle/>
          <a:p>
            <a:endParaRPr lang="en-US"/>
          </a:p>
        </p:txBody>
      </p:sp>
      <p:sp>
        <p:nvSpPr>
          <p:cNvPr id="17" name="Shape 15"/>
          <p:cNvSpPr/>
          <p:nvPr/>
        </p:nvSpPr>
        <p:spPr>
          <a:xfrm>
            <a:off x="365760" y="3337560"/>
            <a:ext cx="1920240" cy="54864"/>
          </a:xfrm>
          <a:prstGeom prst="rect">
            <a:avLst/>
          </a:prstGeom>
          <a:solidFill>
            <a:srgbClr val="F97316"/>
          </a:solidFill>
          <a:ln w="12700">
            <a:solidFill>
              <a:srgbClr val="F97316"/>
            </a:solidFill>
            <a:prstDash val="solid"/>
          </a:ln>
        </p:spPr>
        <p:txBody>
          <a:bodyPr/>
          <a:lstStyle/>
          <a:p>
            <a:endParaRPr lang="en-US"/>
          </a:p>
        </p:txBody>
      </p:sp>
      <p:sp>
        <p:nvSpPr>
          <p:cNvPr id="18" name="Text 16"/>
          <p:cNvSpPr/>
          <p:nvPr/>
        </p:nvSpPr>
        <p:spPr>
          <a:xfrm>
            <a:off x="457200" y="3447288"/>
            <a:ext cx="1755648" cy="475488"/>
          </a:xfrm>
          <a:prstGeom prst="rect">
            <a:avLst/>
          </a:prstGeom>
          <a:noFill/>
          <a:ln/>
        </p:spPr>
        <p:txBody>
          <a:bodyPr wrap="square" lIns="0" tIns="0" rIns="0" bIns="0" rtlCol="0" anchor="ctr"/>
          <a:lstStyle/>
          <a:p>
            <a:pPr marL="0" indent="0">
              <a:buNone/>
            </a:pPr>
            <a:r>
              <a:rPr lang="en-US" sz="1150" b="1" dirty="0">
                <a:solidFill>
                  <a:srgbClr val="1B2A4A"/>
                </a:solidFill>
                <a:latin typeface="Trebuchet MS" pitchFamily="34" charset="0"/>
                <a:ea typeface="Trebuchet MS" pitchFamily="34" charset="-122"/>
                <a:cs typeface="Trebuchet MS" pitchFamily="34" charset="-120"/>
              </a:rPr>
              <a:t>Factual inaccuracies</a:t>
            </a:r>
            <a:endParaRPr lang="en-US" sz="1150" dirty="0"/>
          </a:p>
        </p:txBody>
      </p:sp>
      <p:sp>
        <p:nvSpPr>
          <p:cNvPr id="19" name="Text 17"/>
          <p:cNvSpPr/>
          <p:nvPr/>
        </p:nvSpPr>
        <p:spPr>
          <a:xfrm>
            <a:off x="457200" y="3959352"/>
            <a:ext cx="1755648" cy="530352"/>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Wrong facts stated with full confidence</a:t>
            </a:r>
            <a:endParaRPr lang="en-US" sz="1050" dirty="0"/>
          </a:p>
        </p:txBody>
      </p:sp>
      <p:sp>
        <p:nvSpPr>
          <p:cNvPr id="20" name="Shape 18"/>
          <p:cNvSpPr/>
          <p:nvPr/>
        </p:nvSpPr>
        <p:spPr>
          <a:xfrm>
            <a:off x="2441448" y="3337560"/>
            <a:ext cx="1920240" cy="1234440"/>
          </a:xfrm>
          <a:prstGeom prst="rect">
            <a:avLst/>
          </a:prstGeom>
          <a:solidFill>
            <a:srgbClr val="FFFFFF"/>
          </a:solidFill>
          <a:ln w="6350">
            <a:solidFill>
              <a:srgbClr val="374151"/>
            </a:solidFill>
            <a:prstDash val="solid"/>
          </a:ln>
        </p:spPr>
        <p:txBody>
          <a:bodyPr/>
          <a:lstStyle/>
          <a:p>
            <a:endParaRPr lang="en-US"/>
          </a:p>
        </p:txBody>
      </p:sp>
      <p:sp>
        <p:nvSpPr>
          <p:cNvPr id="21" name="Shape 19"/>
          <p:cNvSpPr/>
          <p:nvPr/>
        </p:nvSpPr>
        <p:spPr>
          <a:xfrm>
            <a:off x="2441448" y="3337560"/>
            <a:ext cx="1920240" cy="54864"/>
          </a:xfrm>
          <a:prstGeom prst="rect">
            <a:avLst/>
          </a:prstGeom>
          <a:solidFill>
            <a:srgbClr val="F97316"/>
          </a:solidFill>
          <a:ln w="12700">
            <a:solidFill>
              <a:srgbClr val="F97316"/>
            </a:solidFill>
            <a:prstDash val="solid"/>
          </a:ln>
        </p:spPr>
        <p:txBody>
          <a:bodyPr/>
          <a:lstStyle/>
          <a:p>
            <a:endParaRPr lang="en-US"/>
          </a:p>
        </p:txBody>
      </p:sp>
      <p:sp>
        <p:nvSpPr>
          <p:cNvPr id="22" name="Text 20"/>
          <p:cNvSpPr/>
          <p:nvPr/>
        </p:nvSpPr>
        <p:spPr>
          <a:xfrm>
            <a:off x="2532888" y="3447288"/>
            <a:ext cx="1755648" cy="475488"/>
          </a:xfrm>
          <a:prstGeom prst="rect">
            <a:avLst/>
          </a:prstGeom>
          <a:noFill/>
          <a:ln/>
        </p:spPr>
        <p:txBody>
          <a:bodyPr wrap="square" lIns="0" tIns="0" rIns="0" bIns="0" rtlCol="0" anchor="ctr"/>
          <a:lstStyle/>
          <a:p>
            <a:pPr marL="0" indent="0">
              <a:buNone/>
            </a:pPr>
            <a:r>
              <a:rPr lang="en-US" sz="1150" b="1" dirty="0">
                <a:solidFill>
                  <a:srgbClr val="1B2A4A"/>
                </a:solidFill>
                <a:latin typeface="Trebuchet MS" pitchFamily="34" charset="0"/>
                <a:ea typeface="Trebuchet MS" pitchFamily="34" charset="-122"/>
                <a:cs typeface="Trebuchet MS" pitchFamily="34" charset="-120"/>
              </a:rPr>
              <a:t>Fabricated sources</a:t>
            </a:r>
            <a:endParaRPr lang="en-US" sz="1150" dirty="0"/>
          </a:p>
        </p:txBody>
      </p:sp>
      <p:sp>
        <p:nvSpPr>
          <p:cNvPr id="23" name="Text 21"/>
          <p:cNvSpPr/>
          <p:nvPr/>
        </p:nvSpPr>
        <p:spPr>
          <a:xfrm>
            <a:off x="2532888" y="3959352"/>
            <a:ext cx="1755648" cy="530352"/>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Citations, case law, stats that don't exist</a:t>
            </a:r>
            <a:endParaRPr lang="en-US" sz="1050" dirty="0"/>
          </a:p>
        </p:txBody>
      </p:sp>
      <p:sp>
        <p:nvSpPr>
          <p:cNvPr id="24" name="Shape 22"/>
          <p:cNvSpPr/>
          <p:nvPr/>
        </p:nvSpPr>
        <p:spPr>
          <a:xfrm>
            <a:off x="4517136" y="3337560"/>
            <a:ext cx="1920240" cy="1234440"/>
          </a:xfrm>
          <a:prstGeom prst="rect">
            <a:avLst/>
          </a:prstGeom>
          <a:solidFill>
            <a:srgbClr val="FFFFFF"/>
          </a:solidFill>
          <a:ln w="6350">
            <a:solidFill>
              <a:srgbClr val="374151"/>
            </a:solidFill>
            <a:prstDash val="solid"/>
          </a:ln>
        </p:spPr>
        <p:txBody>
          <a:bodyPr/>
          <a:lstStyle/>
          <a:p>
            <a:endParaRPr lang="en-US"/>
          </a:p>
        </p:txBody>
      </p:sp>
      <p:sp>
        <p:nvSpPr>
          <p:cNvPr id="25" name="Shape 23"/>
          <p:cNvSpPr/>
          <p:nvPr/>
        </p:nvSpPr>
        <p:spPr>
          <a:xfrm>
            <a:off x="4517136" y="3337560"/>
            <a:ext cx="1920240" cy="54864"/>
          </a:xfrm>
          <a:prstGeom prst="rect">
            <a:avLst/>
          </a:prstGeom>
          <a:solidFill>
            <a:srgbClr val="F97316"/>
          </a:solidFill>
          <a:ln w="12700">
            <a:solidFill>
              <a:srgbClr val="F97316"/>
            </a:solidFill>
            <a:prstDash val="solid"/>
          </a:ln>
        </p:spPr>
        <p:txBody>
          <a:bodyPr/>
          <a:lstStyle/>
          <a:p>
            <a:endParaRPr lang="en-US"/>
          </a:p>
        </p:txBody>
      </p:sp>
      <p:sp>
        <p:nvSpPr>
          <p:cNvPr id="26" name="Text 24"/>
          <p:cNvSpPr/>
          <p:nvPr/>
        </p:nvSpPr>
        <p:spPr>
          <a:xfrm>
            <a:off x="4608576" y="3447288"/>
            <a:ext cx="1755648" cy="475488"/>
          </a:xfrm>
          <a:prstGeom prst="rect">
            <a:avLst/>
          </a:prstGeom>
          <a:noFill/>
          <a:ln/>
        </p:spPr>
        <p:txBody>
          <a:bodyPr wrap="square" lIns="0" tIns="0" rIns="0" bIns="0" rtlCol="0" anchor="ctr"/>
          <a:lstStyle/>
          <a:p>
            <a:pPr marL="0" indent="0">
              <a:buNone/>
            </a:pPr>
            <a:r>
              <a:rPr lang="en-US" sz="1150" b="1" dirty="0">
                <a:solidFill>
                  <a:srgbClr val="1B2A4A"/>
                </a:solidFill>
                <a:latin typeface="Trebuchet MS" pitchFamily="34" charset="0"/>
                <a:ea typeface="Trebuchet MS" pitchFamily="34" charset="-122"/>
                <a:cs typeface="Trebuchet MS" pitchFamily="34" charset="-120"/>
              </a:rPr>
              <a:t>Misrepresented capabilities</a:t>
            </a:r>
            <a:endParaRPr lang="en-US" sz="1150" dirty="0"/>
          </a:p>
        </p:txBody>
      </p:sp>
      <p:sp>
        <p:nvSpPr>
          <p:cNvPr id="27" name="Text 25"/>
          <p:cNvSpPr/>
          <p:nvPr/>
        </p:nvSpPr>
        <p:spPr>
          <a:xfrm>
            <a:off x="4608576" y="3959352"/>
            <a:ext cx="1755648" cy="530352"/>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Claiming to know things it doesn't</a:t>
            </a:r>
            <a:endParaRPr lang="en-US" sz="1050" dirty="0"/>
          </a:p>
        </p:txBody>
      </p:sp>
      <p:sp>
        <p:nvSpPr>
          <p:cNvPr id="28" name="Shape 26"/>
          <p:cNvSpPr/>
          <p:nvPr/>
        </p:nvSpPr>
        <p:spPr>
          <a:xfrm>
            <a:off x="6592824" y="3337560"/>
            <a:ext cx="1920240" cy="1234440"/>
          </a:xfrm>
          <a:prstGeom prst="rect">
            <a:avLst/>
          </a:prstGeom>
          <a:solidFill>
            <a:srgbClr val="FFFFFF"/>
          </a:solidFill>
          <a:ln w="6350">
            <a:solidFill>
              <a:srgbClr val="374151"/>
            </a:solidFill>
            <a:prstDash val="solid"/>
          </a:ln>
        </p:spPr>
        <p:txBody>
          <a:bodyPr/>
          <a:lstStyle/>
          <a:p>
            <a:endParaRPr lang="en-US"/>
          </a:p>
        </p:txBody>
      </p:sp>
      <p:sp>
        <p:nvSpPr>
          <p:cNvPr id="29" name="Shape 27"/>
          <p:cNvSpPr/>
          <p:nvPr/>
        </p:nvSpPr>
        <p:spPr>
          <a:xfrm>
            <a:off x="6592824" y="3337560"/>
            <a:ext cx="1920240" cy="54864"/>
          </a:xfrm>
          <a:prstGeom prst="rect">
            <a:avLst/>
          </a:prstGeom>
          <a:solidFill>
            <a:srgbClr val="F97316"/>
          </a:solidFill>
          <a:ln w="12700">
            <a:solidFill>
              <a:srgbClr val="F97316"/>
            </a:solidFill>
            <a:prstDash val="solid"/>
          </a:ln>
        </p:spPr>
        <p:txBody>
          <a:bodyPr/>
          <a:lstStyle/>
          <a:p>
            <a:endParaRPr lang="en-US"/>
          </a:p>
        </p:txBody>
      </p:sp>
      <p:sp>
        <p:nvSpPr>
          <p:cNvPr id="30" name="Text 28"/>
          <p:cNvSpPr/>
          <p:nvPr/>
        </p:nvSpPr>
        <p:spPr>
          <a:xfrm>
            <a:off x="6684264" y="3447288"/>
            <a:ext cx="1755648" cy="475488"/>
          </a:xfrm>
          <a:prstGeom prst="rect">
            <a:avLst/>
          </a:prstGeom>
          <a:noFill/>
          <a:ln/>
        </p:spPr>
        <p:txBody>
          <a:bodyPr wrap="square" lIns="0" tIns="0" rIns="0" bIns="0" rtlCol="0" anchor="ctr"/>
          <a:lstStyle/>
          <a:p>
            <a:pPr marL="0" indent="0">
              <a:buNone/>
            </a:pPr>
            <a:r>
              <a:rPr lang="en-US" sz="1150" b="1" dirty="0">
                <a:solidFill>
                  <a:srgbClr val="1B2A4A"/>
                </a:solidFill>
                <a:latin typeface="Trebuchet MS" pitchFamily="34" charset="0"/>
                <a:ea typeface="Trebuchet MS" pitchFamily="34" charset="-122"/>
                <a:cs typeface="Trebuchet MS" pitchFamily="34" charset="-120"/>
              </a:rPr>
              <a:t>Contradictory statements</a:t>
            </a:r>
            <a:endParaRPr lang="en-US" sz="1150" dirty="0"/>
          </a:p>
        </p:txBody>
      </p:sp>
      <p:sp>
        <p:nvSpPr>
          <p:cNvPr id="31" name="Text 29"/>
          <p:cNvSpPr/>
          <p:nvPr/>
        </p:nvSpPr>
        <p:spPr>
          <a:xfrm>
            <a:off x="6684264" y="3959352"/>
            <a:ext cx="1755648" cy="530352"/>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Contradicting itself within one response</a:t>
            </a:r>
            <a:endParaRPr lang="en-US" sz="1050" dirty="0"/>
          </a:p>
        </p:txBody>
      </p:sp>
      <p:sp>
        <p:nvSpPr>
          <p:cNvPr id="32" name="Text 30"/>
          <p:cNvSpPr/>
          <p:nvPr/>
        </p:nvSpPr>
        <p:spPr>
          <a:xfrm>
            <a:off x="365760" y="4663440"/>
            <a:ext cx="8412480" cy="292608"/>
          </a:xfrm>
          <a:prstGeom prst="rect">
            <a:avLst/>
          </a:prstGeom>
          <a:noFill/>
          <a:ln/>
        </p:spPr>
        <p:txBody>
          <a:bodyPr wrap="square" lIns="0" tIns="0" rIns="0" bIns="0" rtlCol="0" anchor="ctr"/>
          <a:lstStyle/>
          <a:p>
            <a:pPr marL="0" indent="0">
              <a:buNone/>
            </a:pPr>
            <a:r>
              <a:rPr lang="en-US" sz="1050" b="1" i="1" dirty="0">
                <a:solidFill>
                  <a:srgbClr val="F59E0B"/>
                </a:solidFill>
                <a:latin typeface="Calibri" pitchFamily="34" charset="0"/>
                <a:ea typeface="Calibri" pitchFamily="34" charset="-122"/>
                <a:cs typeface="Calibri" pitchFamily="34" charset="-120"/>
              </a:rPr>
              <a:t>This is not a bug being fixed — it's how LLMs work. Your job is to know when to look hard.</a:t>
            </a:r>
            <a:endParaRPr lang="en-US" sz="1050" dirty="0"/>
          </a:p>
        </p:txBody>
      </p:sp>
      <p:sp>
        <p:nvSpPr>
          <p:cNvPr id="33" name="Text 31"/>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0D948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7316"/>
          </a:solidFill>
          <a:ln w="12700">
            <a:solidFill>
              <a:srgbClr val="F97316"/>
            </a:solidFill>
            <a:prstDash val="solid"/>
          </a:ln>
        </p:spPr>
        <p:txBody>
          <a:bodyPr/>
          <a:lstStyle/>
          <a:p>
            <a:endParaRPr lang="en-US"/>
          </a:p>
        </p:txBody>
      </p:sp>
      <p:sp>
        <p:nvSpPr>
          <p:cNvPr id="3" name="Text 1"/>
          <p:cNvSpPr/>
          <p:nvPr/>
        </p:nvSpPr>
        <p:spPr>
          <a:xfrm>
            <a:off x="365760" y="164592"/>
            <a:ext cx="8229600" cy="475488"/>
          </a:xfrm>
          <a:prstGeom prst="rect">
            <a:avLst/>
          </a:prstGeom>
          <a:noFill/>
          <a:ln/>
        </p:spPr>
        <p:txBody>
          <a:bodyPr wrap="square" lIns="0" tIns="0" rIns="0" bIns="0" rtlCol="0" anchor="ctr"/>
          <a:lstStyle/>
          <a:p>
            <a:pPr marL="0" indent="0">
              <a:buNone/>
            </a:pPr>
            <a:r>
              <a:rPr lang="en-US" sz="2600" b="1" dirty="0">
                <a:solidFill>
                  <a:srgbClr val="1B2A4A"/>
                </a:solidFill>
                <a:latin typeface="Trebuchet MS" pitchFamily="34" charset="0"/>
                <a:ea typeface="Trebuchet MS" pitchFamily="34" charset="-122"/>
                <a:cs typeface="Trebuchet MS" pitchFamily="34" charset="-120"/>
              </a:rPr>
              <a:t>When Hallucination Has Consequences</a:t>
            </a:r>
            <a:endParaRPr lang="en-US" sz="2600" dirty="0"/>
          </a:p>
        </p:txBody>
      </p:sp>
      <p:sp>
        <p:nvSpPr>
          <p:cNvPr id="4" name="Text 2"/>
          <p:cNvSpPr/>
          <p:nvPr/>
        </p:nvSpPr>
        <p:spPr>
          <a:xfrm>
            <a:off x="365760" y="658368"/>
            <a:ext cx="8229600" cy="237744"/>
          </a:xfrm>
          <a:prstGeom prst="rect">
            <a:avLst/>
          </a:prstGeom>
          <a:noFill/>
          <a:ln/>
        </p:spPr>
        <p:txBody>
          <a:bodyPr wrap="square" lIns="0" tIns="0" rIns="0" bIns="0" rtlCol="0" anchor="ctr"/>
          <a:lstStyle/>
          <a:p>
            <a:pPr marL="0" indent="0">
              <a:buNone/>
            </a:pPr>
            <a:r>
              <a:rPr lang="en-US" sz="1200" i="1" dirty="0">
                <a:solidFill>
                  <a:srgbClr val="F97316"/>
                </a:solidFill>
                <a:latin typeface="Calibri" pitchFamily="34" charset="0"/>
                <a:ea typeface="Calibri" pitchFamily="34" charset="-122"/>
                <a:cs typeface="Calibri" pitchFamily="34" charset="-120"/>
              </a:rPr>
              <a:t>Three real incidents — three warnings for regulated industries</a:t>
            </a:r>
            <a:endParaRPr lang="en-US" sz="1200" dirty="0"/>
          </a:p>
        </p:txBody>
      </p:sp>
      <p:sp>
        <p:nvSpPr>
          <p:cNvPr id="5" name="Shape 3"/>
          <p:cNvSpPr/>
          <p:nvPr/>
        </p:nvSpPr>
        <p:spPr>
          <a:xfrm>
            <a:off x="365760" y="1005840"/>
            <a:ext cx="2606040" cy="3337560"/>
          </a:xfrm>
          <a:prstGeom prst="rect">
            <a:avLst/>
          </a:prstGeom>
          <a:solidFill>
            <a:srgbClr val="FFFFFF"/>
          </a:solidFill>
          <a:ln w="6350">
            <a:solidFill>
              <a:srgbClr val="374151"/>
            </a:solidFill>
            <a:prstDash val="solid"/>
          </a:ln>
          <a:effectLst>
            <a:outerShdw blurRad="152400" dist="50800" dir="8100000" algn="bl" rotWithShape="0">
              <a:srgbClr val="000000">
                <a:alpha val="10000"/>
              </a:srgbClr>
            </a:outerShdw>
          </a:effectLst>
        </p:spPr>
        <p:txBody>
          <a:bodyPr/>
          <a:lstStyle/>
          <a:p>
            <a:endParaRPr lang="en-US"/>
          </a:p>
        </p:txBody>
      </p:sp>
      <p:sp>
        <p:nvSpPr>
          <p:cNvPr id="6" name="Shape 4"/>
          <p:cNvSpPr/>
          <p:nvPr/>
        </p:nvSpPr>
        <p:spPr>
          <a:xfrm>
            <a:off x="365760" y="1005840"/>
            <a:ext cx="2606040" cy="502920"/>
          </a:xfrm>
          <a:prstGeom prst="rect">
            <a:avLst/>
          </a:prstGeom>
          <a:solidFill>
            <a:srgbClr val="F97316">
              <a:alpha val="80000"/>
            </a:srgbClr>
          </a:solidFill>
          <a:ln w="12700">
            <a:solidFill>
              <a:srgbClr val="F97316">
                <a:alpha val="60000"/>
              </a:srgbClr>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75488" y="1097280"/>
            <a:ext cx="320040" cy="320040"/>
          </a:xfrm>
          <a:prstGeom prst="rect">
            <a:avLst/>
          </a:prstGeom>
        </p:spPr>
      </p:pic>
      <p:sp>
        <p:nvSpPr>
          <p:cNvPr id="8" name="Shape 5"/>
          <p:cNvSpPr/>
          <p:nvPr/>
        </p:nvSpPr>
        <p:spPr>
          <a:xfrm>
            <a:off x="2331720" y="1097280"/>
            <a:ext cx="548640" cy="274320"/>
          </a:xfrm>
          <a:prstGeom prst="rect">
            <a:avLst/>
          </a:prstGeom>
          <a:solidFill>
            <a:srgbClr val="F97316"/>
          </a:solidFill>
          <a:ln w="12700">
            <a:solidFill>
              <a:srgbClr val="F97316"/>
            </a:solidFill>
            <a:prstDash val="solid"/>
          </a:ln>
        </p:spPr>
        <p:txBody>
          <a:bodyPr/>
          <a:lstStyle/>
          <a:p>
            <a:endParaRPr lang="en-US"/>
          </a:p>
        </p:txBody>
      </p:sp>
      <p:sp>
        <p:nvSpPr>
          <p:cNvPr id="9" name="Text 6"/>
          <p:cNvSpPr/>
          <p:nvPr/>
        </p:nvSpPr>
        <p:spPr>
          <a:xfrm>
            <a:off x="2331720" y="1097280"/>
            <a:ext cx="5486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2023</a:t>
            </a:r>
            <a:endParaRPr lang="en-US" sz="900" dirty="0"/>
          </a:p>
        </p:txBody>
      </p:sp>
      <p:sp>
        <p:nvSpPr>
          <p:cNvPr id="10" name="Text 7"/>
          <p:cNvSpPr/>
          <p:nvPr/>
        </p:nvSpPr>
        <p:spPr>
          <a:xfrm>
            <a:off x="868680" y="1078992"/>
            <a:ext cx="1828800" cy="34747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Fabricated Legal Citations</a:t>
            </a:r>
            <a:endParaRPr lang="en-US" sz="1200" dirty="0"/>
          </a:p>
        </p:txBody>
      </p:sp>
      <p:sp>
        <p:nvSpPr>
          <p:cNvPr id="11" name="Text 8"/>
          <p:cNvSpPr/>
          <p:nvPr/>
        </p:nvSpPr>
        <p:spPr>
          <a:xfrm>
            <a:off x="475488" y="1600200"/>
            <a:ext cx="2404872" cy="192024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Two lawyers submitted a federal court brief with six completely fictitious case citations generated by ChatGPT. The citations looked real and were formatted correctly — they were not. The court fined the lawyers for negligent oversight.</a:t>
            </a:r>
            <a:endParaRPr lang="en-US" sz="1200" dirty="0"/>
          </a:p>
        </p:txBody>
      </p:sp>
      <p:sp>
        <p:nvSpPr>
          <p:cNvPr id="12" name="Shape 9"/>
          <p:cNvSpPr/>
          <p:nvPr/>
        </p:nvSpPr>
        <p:spPr>
          <a:xfrm>
            <a:off x="475488" y="3639312"/>
            <a:ext cx="2404872" cy="566928"/>
          </a:xfrm>
          <a:prstGeom prst="rect">
            <a:avLst/>
          </a:prstGeom>
          <a:solidFill>
            <a:srgbClr val="FFFFFF"/>
          </a:solidFill>
          <a:ln w="6350">
            <a:solidFill>
              <a:srgbClr val="F59E0B"/>
            </a:solidFill>
            <a:prstDash val="solid"/>
          </a:ln>
        </p:spPr>
        <p:txBody>
          <a:bodyPr/>
          <a:lstStyle/>
          <a:p>
            <a:endParaRPr lang="en-US"/>
          </a:p>
        </p:txBody>
      </p:sp>
      <p:sp>
        <p:nvSpPr>
          <p:cNvPr id="13" name="Text 10"/>
          <p:cNvSpPr/>
          <p:nvPr/>
        </p:nvSpPr>
        <p:spPr>
          <a:xfrm>
            <a:off x="548640" y="3675888"/>
            <a:ext cx="2286000" cy="502920"/>
          </a:xfrm>
          <a:prstGeom prst="rect">
            <a:avLst/>
          </a:prstGeom>
          <a:noFill/>
          <a:ln/>
        </p:spPr>
        <p:txBody>
          <a:bodyPr wrap="square" lIns="0" tIns="0" rIns="0" bIns="0" rtlCol="0" anchor="ctr"/>
          <a:lstStyle/>
          <a:p>
            <a:pPr marL="0" indent="0">
              <a:buNone/>
            </a:pPr>
            <a:r>
              <a:rPr lang="en-US" sz="1000" i="1" dirty="0">
                <a:solidFill>
                  <a:srgbClr val="F59E0B"/>
                </a:solidFill>
                <a:latin typeface="Calibri" pitchFamily="34" charset="0"/>
                <a:ea typeface="Calibri" pitchFamily="34" charset="-122"/>
                <a:cs typeface="Calibri" pitchFamily="34" charset="-120"/>
              </a:rPr>
              <a:t>The confidence of the output is no indicator of its accuracy.</a:t>
            </a:r>
            <a:endParaRPr lang="en-US" sz="1000" dirty="0"/>
          </a:p>
        </p:txBody>
      </p:sp>
      <p:sp>
        <p:nvSpPr>
          <p:cNvPr id="14" name="Shape 11"/>
          <p:cNvSpPr/>
          <p:nvPr/>
        </p:nvSpPr>
        <p:spPr>
          <a:xfrm>
            <a:off x="3172968" y="1005840"/>
            <a:ext cx="2606040" cy="3337560"/>
          </a:xfrm>
          <a:prstGeom prst="rect">
            <a:avLst/>
          </a:prstGeom>
          <a:solidFill>
            <a:srgbClr val="FFFFFF"/>
          </a:solidFill>
          <a:ln w="6350">
            <a:solidFill>
              <a:srgbClr val="374151"/>
            </a:solidFill>
            <a:prstDash val="solid"/>
          </a:ln>
          <a:effectLst>
            <a:outerShdw blurRad="152400" dist="50800" dir="8100000" algn="bl" rotWithShape="0">
              <a:srgbClr val="000000">
                <a:alpha val="10000"/>
              </a:srgbClr>
            </a:outerShdw>
          </a:effectLst>
        </p:spPr>
        <p:txBody>
          <a:bodyPr/>
          <a:lstStyle/>
          <a:p>
            <a:endParaRPr lang="en-US"/>
          </a:p>
        </p:txBody>
      </p:sp>
      <p:sp>
        <p:nvSpPr>
          <p:cNvPr id="15" name="Shape 12"/>
          <p:cNvSpPr/>
          <p:nvPr/>
        </p:nvSpPr>
        <p:spPr>
          <a:xfrm>
            <a:off x="3172968" y="1005840"/>
            <a:ext cx="2606040" cy="502920"/>
          </a:xfrm>
          <a:prstGeom prst="rect">
            <a:avLst/>
          </a:prstGeom>
          <a:solidFill>
            <a:srgbClr val="F97316">
              <a:alpha val="80000"/>
            </a:srgbClr>
          </a:solidFill>
          <a:ln w="12700">
            <a:solidFill>
              <a:srgbClr val="F97316">
                <a:alpha val="60000"/>
              </a:srgbClr>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3282696" y="1097280"/>
            <a:ext cx="320040" cy="320040"/>
          </a:xfrm>
          <a:prstGeom prst="rect">
            <a:avLst/>
          </a:prstGeom>
        </p:spPr>
      </p:pic>
      <p:sp>
        <p:nvSpPr>
          <p:cNvPr id="17" name="Shape 13"/>
          <p:cNvSpPr/>
          <p:nvPr/>
        </p:nvSpPr>
        <p:spPr>
          <a:xfrm>
            <a:off x="5138928" y="1097280"/>
            <a:ext cx="548640" cy="274320"/>
          </a:xfrm>
          <a:prstGeom prst="rect">
            <a:avLst/>
          </a:prstGeom>
          <a:solidFill>
            <a:srgbClr val="F97316"/>
          </a:solidFill>
          <a:ln w="12700">
            <a:solidFill>
              <a:srgbClr val="F97316"/>
            </a:solidFill>
            <a:prstDash val="solid"/>
          </a:ln>
        </p:spPr>
        <p:txBody>
          <a:bodyPr/>
          <a:lstStyle/>
          <a:p>
            <a:endParaRPr lang="en-US"/>
          </a:p>
        </p:txBody>
      </p:sp>
      <p:sp>
        <p:nvSpPr>
          <p:cNvPr id="18" name="Text 14"/>
          <p:cNvSpPr/>
          <p:nvPr/>
        </p:nvSpPr>
        <p:spPr>
          <a:xfrm>
            <a:off x="5138928" y="1097280"/>
            <a:ext cx="5486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2024</a:t>
            </a:r>
            <a:endParaRPr lang="en-US" sz="900" dirty="0"/>
          </a:p>
        </p:txBody>
      </p:sp>
      <p:sp>
        <p:nvSpPr>
          <p:cNvPr id="19" name="Text 15"/>
          <p:cNvSpPr/>
          <p:nvPr/>
        </p:nvSpPr>
        <p:spPr>
          <a:xfrm>
            <a:off x="3675888" y="1078992"/>
            <a:ext cx="1828800" cy="34747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Air Canada Chatbot</a:t>
            </a:r>
            <a:endParaRPr lang="en-US" sz="1200" dirty="0"/>
          </a:p>
        </p:txBody>
      </p:sp>
      <p:sp>
        <p:nvSpPr>
          <p:cNvPr id="20" name="Text 16"/>
          <p:cNvSpPr/>
          <p:nvPr/>
        </p:nvSpPr>
        <p:spPr>
          <a:xfrm>
            <a:off x="3282696" y="1600200"/>
            <a:ext cx="2404872" cy="1920240"/>
          </a:xfrm>
          <a:prstGeom prst="rect">
            <a:avLst/>
          </a:prstGeom>
          <a:noFill/>
          <a:ln/>
        </p:spPr>
        <p:txBody>
          <a:bodyPr wrap="square" lIns="0" tIns="0" rIns="0" bIns="0" rtlCol="0" anchor="ctr"/>
          <a:lstStyle/>
          <a:p>
            <a:pPr marL="0" indent="0">
              <a:buNone/>
            </a:pPr>
            <a:endParaRPr lang="en-US" sz="1200" dirty="0">
              <a:solidFill>
                <a:srgbClr val="475569"/>
              </a:solidFill>
              <a:latin typeface="Calibri" pitchFamily="34" charset="0"/>
              <a:ea typeface="Calibri" pitchFamily="34" charset="-122"/>
              <a:cs typeface="Calibri" pitchFamily="34" charset="-120"/>
            </a:endParaRPr>
          </a:p>
          <a:p>
            <a:pPr marL="0" indent="0">
              <a:buNone/>
            </a:pPr>
            <a:r>
              <a:rPr lang="en-US" sz="1200" dirty="0">
                <a:solidFill>
                  <a:srgbClr val="475569"/>
                </a:solidFill>
                <a:latin typeface="Calibri" pitchFamily="34" charset="0"/>
                <a:ea typeface="Calibri" pitchFamily="34" charset="-122"/>
                <a:cs typeface="Calibri" pitchFamily="34" charset="-120"/>
              </a:rPr>
              <a:t>Air Canada was ordered to honor incorrect bereavement fare information its AI chatbot provided. The airline argued the chatbot was a 'separate legal entity.' The court: 'illogical and irresponsible.' Air Canada paid — companies cannot disclaim AI outputs.</a:t>
            </a:r>
            <a:endParaRPr lang="en-US" sz="1200" dirty="0"/>
          </a:p>
        </p:txBody>
      </p:sp>
      <p:sp>
        <p:nvSpPr>
          <p:cNvPr id="21" name="Shape 17"/>
          <p:cNvSpPr/>
          <p:nvPr/>
        </p:nvSpPr>
        <p:spPr>
          <a:xfrm>
            <a:off x="3282696" y="3639312"/>
            <a:ext cx="2404872" cy="566928"/>
          </a:xfrm>
          <a:prstGeom prst="rect">
            <a:avLst/>
          </a:prstGeom>
          <a:solidFill>
            <a:srgbClr val="FFFFFF"/>
          </a:solidFill>
          <a:ln w="6350">
            <a:solidFill>
              <a:srgbClr val="F59E0B"/>
            </a:solidFill>
            <a:prstDash val="solid"/>
          </a:ln>
        </p:spPr>
        <p:txBody>
          <a:bodyPr/>
          <a:lstStyle/>
          <a:p>
            <a:endParaRPr lang="en-US"/>
          </a:p>
        </p:txBody>
      </p:sp>
      <p:sp>
        <p:nvSpPr>
          <p:cNvPr id="22" name="Text 18"/>
          <p:cNvSpPr/>
          <p:nvPr/>
        </p:nvSpPr>
        <p:spPr>
          <a:xfrm>
            <a:off x="3355848" y="3675888"/>
            <a:ext cx="2286000" cy="502920"/>
          </a:xfrm>
          <a:prstGeom prst="rect">
            <a:avLst/>
          </a:prstGeom>
          <a:noFill/>
          <a:ln/>
        </p:spPr>
        <p:txBody>
          <a:bodyPr wrap="square" lIns="0" tIns="0" rIns="0" bIns="0" rtlCol="0" anchor="ctr"/>
          <a:lstStyle/>
          <a:p>
            <a:pPr marL="0" indent="0">
              <a:buNone/>
            </a:pPr>
            <a:r>
              <a:rPr lang="en-US" sz="1000" i="1" dirty="0">
                <a:solidFill>
                  <a:srgbClr val="F59E0B"/>
                </a:solidFill>
                <a:latin typeface="Calibri" pitchFamily="34" charset="0"/>
                <a:ea typeface="Calibri" pitchFamily="34" charset="-122"/>
                <a:cs typeface="Calibri" pitchFamily="34" charset="-120"/>
              </a:rPr>
              <a:t>Companies are legally liable for what their AI says.</a:t>
            </a:r>
            <a:endParaRPr lang="en-US" sz="1000" dirty="0"/>
          </a:p>
        </p:txBody>
      </p:sp>
      <p:sp>
        <p:nvSpPr>
          <p:cNvPr id="23" name="Shape 19"/>
          <p:cNvSpPr/>
          <p:nvPr/>
        </p:nvSpPr>
        <p:spPr>
          <a:xfrm>
            <a:off x="5980176" y="1005840"/>
            <a:ext cx="2606040" cy="3337560"/>
          </a:xfrm>
          <a:prstGeom prst="rect">
            <a:avLst/>
          </a:prstGeom>
          <a:solidFill>
            <a:srgbClr val="FFFFFF"/>
          </a:solidFill>
          <a:ln w="6350">
            <a:solidFill>
              <a:srgbClr val="374151"/>
            </a:solidFill>
            <a:prstDash val="solid"/>
          </a:ln>
          <a:effectLst>
            <a:outerShdw blurRad="152400" dist="50800" dir="8100000" algn="bl" rotWithShape="0">
              <a:srgbClr val="000000">
                <a:alpha val="10000"/>
              </a:srgbClr>
            </a:outerShdw>
          </a:effectLst>
        </p:spPr>
        <p:txBody>
          <a:bodyPr/>
          <a:lstStyle/>
          <a:p>
            <a:endParaRPr lang="en-US"/>
          </a:p>
        </p:txBody>
      </p:sp>
      <p:sp>
        <p:nvSpPr>
          <p:cNvPr id="24" name="Shape 20"/>
          <p:cNvSpPr/>
          <p:nvPr/>
        </p:nvSpPr>
        <p:spPr>
          <a:xfrm>
            <a:off x="5980176" y="1005840"/>
            <a:ext cx="2606040" cy="502920"/>
          </a:xfrm>
          <a:prstGeom prst="rect">
            <a:avLst/>
          </a:prstGeom>
          <a:solidFill>
            <a:srgbClr val="F97316">
              <a:alpha val="80000"/>
            </a:srgbClr>
          </a:solidFill>
          <a:ln w="12700">
            <a:solidFill>
              <a:srgbClr val="F97316">
                <a:alpha val="60000"/>
              </a:srgbClr>
            </a:solidFill>
            <a:prstDash val="solid"/>
          </a:ln>
        </p:spPr>
        <p:txBody>
          <a:bodyPr/>
          <a:lstStyle/>
          <a:p>
            <a:endParaRPr lang="en-US"/>
          </a:p>
        </p:txBody>
      </p:sp>
      <p:pic>
        <p:nvPicPr>
          <p:cNvPr id="25" name="Image 2" descr="preencoded.png"/>
          <p:cNvPicPr>
            <a:picLocks noChangeAspect="1"/>
          </p:cNvPicPr>
          <p:nvPr/>
        </p:nvPicPr>
        <p:blipFill>
          <a:blip r:embed="rId5"/>
          <a:stretch>
            <a:fillRect/>
          </a:stretch>
        </p:blipFill>
        <p:spPr>
          <a:xfrm>
            <a:off x="6089904" y="1097280"/>
            <a:ext cx="320040" cy="320040"/>
          </a:xfrm>
          <a:prstGeom prst="rect">
            <a:avLst/>
          </a:prstGeom>
        </p:spPr>
      </p:pic>
      <p:sp>
        <p:nvSpPr>
          <p:cNvPr id="26" name="Shape 21"/>
          <p:cNvSpPr/>
          <p:nvPr/>
        </p:nvSpPr>
        <p:spPr>
          <a:xfrm>
            <a:off x="7946136" y="1097280"/>
            <a:ext cx="548640" cy="274320"/>
          </a:xfrm>
          <a:prstGeom prst="rect">
            <a:avLst/>
          </a:prstGeom>
          <a:solidFill>
            <a:srgbClr val="F97316"/>
          </a:solidFill>
          <a:ln w="12700">
            <a:solidFill>
              <a:srgbClr val="F97316"/>
            </a:solidFill>
            <a:prstDash val="solid"/>
          </a:ln>
        </p:spPr>
        <p:txBody>
          <a:bodyPr/>
          <a:lstStyle/>
          <a:p>
            <a:endParaRPr lang="en-US"/>
          </a:p>
        </p:txBody>
      </p:sp>
      <p:sp>
        <p:nvSpPr>
          <p:cNvPr id="27" name="Text 22"/>
          <p:cNvSpPr/>
          <p:nvPr/>
        </p:nvSpPr>
        <p:spPr>
          <a:xfrm>
            <a:off x="7946136" y="1097280"/>
            <a:ext cx="5486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2023</a:t>
            </a:r>
            <a:endParaRPr lang="en-US" sz="900" dirty="0"/>
          </a:p>
        </p:txBody>
      </p:sp>
      <p:sp>
        <p:nvSpPr>
          <p:cNvPr id="28" name="Text 23"/>
          <p:cNvSpPr/>
          <p:nvPr/>
        </p:nvSpPr>
        <p:spPr>
          <a:xfrm>
            <a:off x="6483096" y="1078992"/>
            <a:ext cx="1828800" cy="34747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Defamatory Mayor</a:t>
            </a:r>
            <a:endParaRPr lang="en-US" sz="1200" dirty="0"/>
          </a:p>
        </p:txBody>
      </p:sp>
      <p:sp>
        <p:nvSpPr>
          <p:cNvPr id="29" name="Text 24"/>
          <p:cNvSpPr/>
          <p:nvPr/>
        </p:nvSpPr>
        <p:spPr>
          <a:xfrm>
            <a:off x="6089904" y="1600200"/>
            <a:ext cx="2404872" cy="192024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An Australian mayor threatened to sue OpenAI after ChatGPT falsely claimed he had served jail time in a bribery scandal. The model conflated unrelated data. The fabrication caused significant reputational damage before correction.</a:t>
            </a:r>
            <a:endParaRPr lang="en-US" sz="1200" dirty="0"/>
          </a:p>
        </p:txBody>
      </p:sp>
      <p:sp>
        <p:nvSpPr>
          <p:cNvPr id="30" name="Shape 25"/>
          <p:cNvSpPr/>
          <p:nvPr/>
        </p:nvSpPr>
        <p:spPr>
          <a:xfrm>
            <a:off x="6089904" y="3639312"/>
            <a:ext cx="2404872" cy="566928"/>
          </a:xfrm>
          <a:prstGeom prst="rect">
            <a:avLst/>
          </a:prstGeom>
          <a:solidFill>
            <a:srgbClr val="FFFFFF"/>
          </a:solidFill>
          <a:ln w="6350">
            <a:solidFill>
              <a:srgbClr val="F59E0B"/>
            </a:solidFill>
            <a:prstDash val="solid"/>
          </a:ln>
        </p:spPr>
        <p:txBody>
          <a:bodyPr/>
          <a:lstStyle/>
          <a:p>
            <a:endParaRPr lang="en-US"/>
          </a:p>
        </p:txBody>
      </p:sp>
      <p:sp>
        <p:nvSpPr>
          <p:cNvPr id="31" name="Text 26"/>
          <p:cNvSpPr/>
          <p:nvPr/>
        </p:nvSpPr>
        <p:spPr>
          <a:xfrm>
            <a:off x="6163056" y="3675888"/>
            <a:ext cx="2286000" cy="502920"/>
          </a:xfrm>
          <a:prstGeom prst="rect">
            <a:avLst/>
          </a:prstGeom>
          <a:noFill/>
          <a:ln/>
        </p:spPr>
        <p:txBody>
          <a:bodyPr wrap="square" lIns="0" tIns="0" rIns="0" bIns="0" rtlCol="0" anchor="ctr"/>
          <a:lstStyle/>
          <a:p>
            <a:pPr marL="0" indent="0">
              <a:buNone/>
            </a:pPr>
            <a:r>
              <a:rPr lang="en-US" sz="1000" i="1" dirty="0">
                <a:solidFill>
                  <a:srgbClr val="F59E0B"/>
                </a:solidFill>
                <a:latin typeface="Calibri" pitchFamily="34" charset="0"/>
                <a:ea typeface="Calibri" pitchFamily="34" charset="-122"/>
                <a:cs typeface="Calibri" pitchFamily="34" charset="-120"/>
              </a:rPr>
              <a:t>AI fabrications about real people cause real harm.</a:t>
            </a:r>
            <a:endParaRPr lang="en-US" sz="1000" dirty="0"/>
          </a:p>
        </p:txBody>
      </p:sp>
      <p:sp>
        <p:nvSpPr>
          <p:cNvPr id="32" name="Shape 27"/>
          <p:cNvSpPr/>
          <p:nvPr/>
        </p:nvSpPr>
        <p:spPr>
          <a:xfrm>
            <a:off x="365760" y="4462272"/>
            <a:ext cx="8412480" cy="438912"/>
          </a:xfrm>
          <a:prstGeom prst="rect">
            <a:avLst/>
          </a:prstGeom>
          <a:solidFill>
            <a:srgbClr val="F97316">
              <a:alpha val="15000"/>
            </a:srgbClr>
          </a:solidFill>
          <a:ln w="12700">
            <a:solidFill>
              <a:srgbClr val="F97316">
                <a:alpha val="50000"/>
              </a:srgbClr>
            </a:solidFill>
            <a:prstDash val="solid"/>
          </a:ln>
        </p:spPr>
        <p:txBody>
          <a:bodyPr/>
          <a:lstStyle/>
          <a:p>
            <a:endParaRPr lang="en-US"/>
          </a:p>
        </p:txBody>
      </p:sp>
      <p:sp>
        <p:nvSpPr>
          <p:cNvPr id="33" name="Text 28"/>
          <p:cNvSpPr/>
          <p:nvPr/>
        </p:nvSpPr>
        <p:spPr>
          <a:xfrm>
            <a:off x="548640" y="4498848"/>
            <a:ext cx="8046720" cy="365760"/>
          </a:xfrm>
          <a:prstGeom prst="rect">
            <a:avLst/>
          </a:prstGeom>
          <a:noFill/>
          <a:ln/>
        </p:spPr>
        <p:txBody>
          <a:bodyPr wrap="square" lIns="0" tIns="0" rIns="0" bIns="0" rtlCol="0" anchor="ctr"/>
          <a:lstStyle/>
          <a:p>
            <a:pPr marL="0" indent="0">
              <a:buNone/>
            </a:pPr>
            <a:r>
              <a:rPr lang="en-US" sz="1200" b="1" dirty="0">
                <a:solidFill>
                  <a:srgbClr val="F97316"/>
                </a:solidFill>
                <a:latin typeface="Trebuchet MS" pitchFamily="34" charset="0"/>
                <a:ea typeface="Trebuchet MS" pitchFamily="34" charset="-122"/>
                <a:cs typeface="Trebuchet MS" pitchFamily="34" charset="-120"/>
              </a:rPr>
              <a:t>Common lesson: Never trust, always verify. Confident output is not accurate output.</a:t>
            </a:r>
            <a:endParaRPr lang="en-US" sz="1200" dirty="0"/>
          </a:p>
        </p:txBody>
      </p:sp>
      <p:sp>
        <p:nvSpPr>
          <p:cNvPr id="34" name="Text 29"/>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0D948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Shape 1"/>
          <p:cNvSpPr/>
          <p:nvPr/>
        </p:nvSpPr>
        <p:spPr>
          <a:xfrm>
            <a:off x="365760" y="164592"/>
            <a:ext cx="1691640" cy="310896"/>
          </a:xfrm>
          <a:prstGeom prst="rect">
            <a:avLst/>
          </a:prstGeom>
          <a:solidFill>
            <a:srgbClr val="7C3AED"/>
          </a:solidFill>
          <a:ln w="12700">
            <a:solidFill>
              <a:srgbClr val="7C3AED"/>
            </a:solidFill>
            <a:prstDash val="solid"/>
          </a:ln>
        </p:spPr>
        <p:txBody>
          <a:bodyPr/>
          <a:lstStyle/>
          <a:p>
            <a:endParaRPr lang="en-US"/>
          </a:p>
        </p:txBody>
      </p:sp>
      <p:sp>
        <p:nvSpPr>
          <p:cNvPr id="4" name="Text 2"/>
          <p:cNvSpPr/>
          <p:nvPr/>
        </p:nvSpPr>
        <p:spPr>
          <a:xfrm>
            <a:off x="365760" y="164592"/>
            <a:ext cx="1691640" cy="310896"/>
          </a:xfrm>
          <a:prstGeom prst="rect">
            <a:avLst/>
          </a:prstGeom>
          <a:noFill/>
          <a:ln/>
        </p:spPr>
        <p:txBody>
          <a:bodyPr wrap="square" lIns="0" tIns="0" rIns="0" bIns="0" rtlCol="0" anchor="ctr"/>
          <a:lstStyle/>
          <a:p>
            <a:pPr marL="0" indent="0" algn="ctr">
              <a:buNone/>
            </a:pPr>
            <a:r>
              <a:rPr lang="en-US" sz="900" b="1" kern="0" spc="150" dirty="0">
                <a:solidFill>
                  <a:srgbClr val="FFFFFF"/>
                </a:solidFill>
                <a:latin typeface="Calibri" pitchFamily="34" charset="0"/>
                <a:ea typeface="Calibri" pitchFamily="34" charset="-122"/>
                <a:cs typeface="Calibri" pitchFamily="34" charset="-120"/>
              </a:rPr>
              <a:t>FAILURE MODE #2</a:t>
            </a:r>
            <a:endParaRPr lang="en-US" sz="900" dirty="0"/>
          </a:p>
        </p:txBody>
      </p:sp>
      <p:sp>
        <p:nvSpPr>
          <p:cNvPr id="5" name="Text 3"/>
          <p:cNvSpPr/>
          <p:nvPr/>
        </p:nvSpPr>
        <p:spPr>
          <a:xfrm>
            <a:off x="2194560" y="137160"/>
            <a:ext cx="6400800" cy="475488"/>
          </a:xfrm>
          <a:prstGeom prst="rect">
            <a:avLst/>
          </a:prstGeom>
          <a:noFill/>
          <a:ln/>
        </p:spPr>
        <p:txBody>
          <a:bodyPr wrap="square" lIns="0" tIns="0" rIns="0" bIns="0" rtlCol="0" anchor="ctr"/>
          <a:lstStyle/>
          <a:p>
            <a:pPr marL="0" indent="0">
              <a:buNone/>
            </a:pPr>
            <a:r>
              <a:rPr lang="en-US" sz="2800" b="1" dirty="0">
                <a:solidFill>
                  <a:srgbClr val="1B2A4A"/>
                </a:solidFill>
                <a:latin typeface="Trebuchet MS" pitchFamily="34" charset="0"/>
                <a:ea typeface="Trebuchet MS" pitchFamily="34" charset="-122"/>
                <a:cs typeface="Trebuchet MS" pitchFamily="34" charset="-120"/>
              </a:rPr>
              <a:t>Sycophancy</a:t>
            </a:r>
            <a:endParaRPr lang="en-US" sz="2800" dirty="0"/>
          </a:p>
        </p:txBody>
      </p:sp>
      <p:sp>
        <p:nvSpPr>
          <p:cNvPr id="6" name="Text 4"/>
          <p:cNvSpPr/>
          <p:nvPr/>
        </p:nvSpPr>
        <p:spPr>
          <a:xfrm>
            <a:off x="365760" y="667512"/>
            <a:ext cx="8412480" cy="25603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The AI that always tells you what you want to hear — even when you're wrong</a:t>
            </a:r>
            <a:endParaRPr lang="en-US" sz="1200" dirty="0"/>
          </a:p>
        </p:txBody>
      </p:sp>
      <p:sp>
        <p:nvSpPr>
          <p:cNvPr id="7" name="Shape 5"/>
          <p:cNvSpPr/>
          <p:nvPr/>
        </p:nvSpPr>
        <p:spPr>
          <a:xfrm>
            <a:off x="365760" y="1024128"/>
            <a:ext cx="3931920" cy="342900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8" name="Shape 6"/>
          <p:cNvSpPr/>
          <p:nvPr/>
        </p:nvSpPr>
        <p:spPr>
          <a:xfrm>
            <a:off x="365760" y="1024128"/>
            <a:ext cx="3931920" cy="384048"/>
          </a:xfrm>
          <a:prstGeom prst="rect">
            <a:avLst/>
          </a:prstGeom>
          <a:solidFill>
            <a:srgbClr val="7C3AED"/>
          </a:solidFill>
          <a:ln w="12700">
            <a:solidFill>
              <a:srgbClr val="7C3AED"/>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3657600" y="1069848"/>
            <a:ext cx="292608" cy="292608"/>
          </a:xfrm>
          <a:prstGeom prst="rect">
            <a:avLst/>
          </a:prstGeom>
        </p:spPr>
      </p:pic>
      <p:sp>
        <p:nvSpPr>
          <p:cNvPr id="10" name="Text 7"/>
          <p:cNvSpPr/>
          <p:nvPr/>
        </p:nvSpPr>
        <p:spPr>
          <a:xfrm>
            <a:off x="502920" y="1060704"/>
            <a:ext cx="3200400" cy="347472"/>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How It Shows Up</a:t>
            </a:r>
            <a:endParaRPr lang="en-US" sz="1400" dirty="0"/>
          </a:p>
        </p:txBody>
      </p:sp>
      <p:sp>
        <p:nvSpPr>
          <p:cNvPr id="11" name="Shape 8"/>
          <p:cNvSpPr/>
          <p:nvPr/>
        </p:nvSpPr>
        <p:spPr>
          <a:xfrm>
            <a:off x="502920" y="1508760"/>
            <a:ext cx="3611880" cy="877824"/>
          </a:xfrm>
          <a:prstGeom prst="rect">
            <a:avLst/>
          </a:prstGeom>
          <a:solidFill>
            <a:srgbClr val="F8FAFC"/>
          </a:solidFill>
          <a:ln w="6350">
            <a:solidFill>
              <a:srgbClr val="E2E8F0"/>
            </a:solidFill>
            <a:prstDash val="solid"/>
          </a:ln>
        </p:spPr>
        <p:txBody>
          <a:bodyPr/>
          <a:lstStyle/>
          <a:p>
            <a:endParaRPr lang="en-US"/>
          </a:p>
        </p:txBody>
      </p:sp>
      <p:sp>
        <p:nvSpPr>
          <p:cNvPr id="12" name="Text 9"/>
          <p:cNvSpPr/>
          <p:nvPr/>
        </p:nvSpPr>
        <p:spPr>
          <a:xfrm>
            <a:off x="621792" y="1563624"/>
            <a:ext cx="3383280" cy="292608"/>
          </a:xfrm>
          <a:prstGeom prst="rect">
            <a:avLst/>
          </a:prstGeom>
          <a:noFill/>
          <a:ln/>
        </p:spPr>
        <p:txBody>
          <a:bodyPr wrap="square" lIns="0" tIns="0" rIns="0" bIns="0" rtlCol="0" anchor="ctr"/>
          <a:lstStyle/>
          <a:p>
            <a:pPr marL="0" indent="0">
              <a:buNone/>
            </a:pPr>
            <a:r>
              <a:rPr lang="en-US" sz="1100" b="1" dirty="0">
                <a:solidFill>
                  <a:srgbClr val="1B2A4A"/>
                </a:solidFill>
                <a:latin typeface="Trebuchet MS" pitchFamily="34" charset="0"/>
                <a:ea typeface="Trebuchet MS" pitchFamily="34" charset="-122"/>
                <a:cs typeface="Trebuchet MS" pitchFamily="34" charset="-120"/>
              </a:rPr>
              <a:t>Ask AI to review your draft</a:t>
            </a:r>
            <a:endParaRPr lang="en-US" sz="1100" dirty="0"/>
          </a:p>
        </p:txBody>
      </p:sp>
      <p:sp>
        <p:nvSpPr>
          <p:cNvPr id="13" name="Text 10"/>
          <p:cNvSpPr/>
          <p:nvPr/>
        </p:nvSpPr>
        <p:spPr>
          <a:xfrm>
            <a:off x="621792" y="1892808"/>
            <a:ext cx="3383280" cy="411480"/>
          </a:xfrm>
          <a:prstGeom prst="rect">
            <a:avLst/>
          </a:prstGeom>
          <a:noFill/>
          <a:ln/>
        </p:spPr>
        <p:txBody>
          <a:bodyPr wrap="square" lIns="0" tIns="0" rIns="0" bIns="0" rtlCol="0" anchor="ctr"/>
          <a:lstStyle/>
          <a:p>
            <a:pPr marL="0" indent="0">
              <a:buNone/>
            </a:pPr>
            <a:r>
              <a:rPr lang="en-US" sz="1100" i="1" dirty="0">
                <a:solidFill>
                  <a:srgbClr val="DC2626"/>
                </a:solidFill>
                <a:latin typeface="Calibri" pitchFamily="34" charset="0"/>
                <a:ea typeface="Calibri" pitchFamily="34" charset="-122"/>
                <a:cs typeface="Calibri" pitchFamily="34" charset="-120"/>
              </a:rPr>
              <a:t>→ It praises the draft with minor suggestions</a:t>
            </a:r>
            <a:endParaRPr lang="en-US" sz="1100" dirty="0"/>
          </a:p>
        </p:txBody>
      </p:sp>
      <p:sp>
        <p:nvSpPr>
          <p:cNvPr id="14" name="Shape 11"/>
          <p:cNvSpPr/>
          <p:nvPr/>
        </p:nvSpPr>
        <p:spPr>
          <a:xfrm>
            <a:off x="502920" y="2459736"/>
            <a:ext cx="3611880" cy="877824"/>
          </a:xfrm>
          <a:prstGeom prst="rect">
            <a:avLst/>
          </a:prstGeom>
          <a:solidFill>
            <a:srgbClr val="F8FAFC"/>
          </a:solidFill>
          <a:ln w="6350">
            <a:solidFill>
              <a:srgbClr val="E2E8F0"/>
            </a:solidFill>
            <a:prstDash val="solid"/>
          </a:ln>
        </p:spPr>
        <p:txBody>
          <a:bodyPr/>
          <a:lstStyle/>
          <a:p>
            <a:endParaRPr lang="en-US"/>
          </a:p>
        </p:txBody>
      </p:sp>
      <p:sp>
        <p:nvSpPr>
          <p:cNvPr id="15" name="Text 12"/>
          <p:cNvSpPr/>
          <p:nvPr/>
        </p:nvSpPr>
        <p:spPr>
          <a:xfrm>
            <a:off x="621792" y="2514600"/>
            <a:ext cx="3383280" cy="292608"/>
          </a:xfrm>
          <a:prstGeom prst="rect">
            <a:avLst/>
          </a:prstGeom>
          <a:noFill/>
          <a:ln/>
        </p:spPr>
        <p:txBody>
          <a:bodyPr wrap="square" lIns="0" tIns="0" rIns="0" bIns="0" rtlCol="0" anchor="ctr"/>
          <a:lstStyle/>
          <a:p>
            <a:pPr marL="0" indent="0">
              <a:buNone/>
            </a:pPr>
            <a:r>
              <a:rPr lang="en-US" sz="1100" b="1" dirty="0">
                <a:solidFill>
                  <a:srgbClr val="1B2A4A"/>
                </a:solidFill>
                <a:latin typeface="Trebuchet MS" pitchFamily="34" charset="0"/>
                <a:ea typeface="Trebuchet MS" pitchFamily="34" charset="-122"/>
                <a:cs typeface="Trebuchet MS" pitchFamily="34" charset="-120"/>
              </a:rPr>
              <a:t>Tell AI your risk conclusion</a:t>
            </a:r>
            <a:endParaRPr lang="en-US" sz="1100" dirty="0"/>
          </a:p>
        </p:txBody>
      </p:sp>
      <p:sp>
        <p:nvSpPr>
          <p:cNvPr id="16" name="Text 13"/>
          <p:cNvSpPr/>
          <p:nvPr/>
        </p:nvSpPr>
        <p:spPr>
          <a:xfrm>
            <a:off x="621792" y="2843784"/>
            <a:ext cx="3383280" cy="411480"/>
          </a:xfrm>
          <a:prstGeom prst="rect">
            <a:avLst/>
          </a:prstGeom>
          <a:noFill/>
          <a:ln/>
        </p:spPr>
        <p:txBody>
          <a:bodyPr wrap="square" lIns="0" tIns="0" rIns="0" bIns="0" rtlCol="0" anchor="ctr"/>
          <a:lstStyle/>
          <a:p>
            <a:pPr marL="0" indent="0">
              <a:buNone/>
            </a:pPr>
            <a:r>
              <a:rPr lang="en-US" sz="1100" i="1" dirty="0">
                <a:solidFill>
                  <a:srgbClr val="DC2626"/>
                </a:solidFill>
                <a:latin typeface="Calibri" pitchFamily="34" charset="0"/>
                <a:ea typeface="Calibri" pitchFamily="34" charset="-122"/>
                <a:cs typeface="Calibri" pitchFamily="34" charset="-120"/>
              </a:rPr>
              <a:t>→ It confirms your conclusion, even if wrong</a:t>
            </a:r>
            <a:endParaRPr lang="en-US" sz="1100" dirty="0"/>
          </a:p>
        </p:txBody>
      </p:sp>
      <p:sp>
        <p:nvSpPr>
          <p:cNvPr id="17" name="Shape 14"/>
          <p:cNvSpPr/>
          <p:nvPr/>
        </p:nvSpPr>
        <p:spPr>
          <a:xfrm>
            <a:off x="502920" y="3410712"/>
            <a:ext cx="3611880" cy="877824"/>
          </a:xfrm>
          <a:prstGeom prst="rect">
            <a:avLst/>
          </a:prstGeom>
          <a:solidFill>
            <a:srgbClr val="F8FAFC"/>
          </a:solidFill>
          <a:ln w="6350">
            <a:solidFill>
              <a:srgbClr val="E2E8F0"/>
            </a:solidFill>
            <a:prstDash val="solid"/>
          </a:ln>
        </p:spPr>
        <p:txBody>
          <a:bodyPr/>
          <a:lstStyle/>
          <a:p>
            <a:endParaRPr lang="en-US"/>
          </a:p>
        </p:txBody>
      </p:sp>
      <p:sp>
        <p:nvSpPr>
          <p:cNvPr id="18" name="Text 15"/>
          <p:cNvSpPr/>
          <p:nvPr/>
        </p:nvSpPr>
        <p:spPr>
          <a:xfrm>
            <a:off x="621792" y="3465576"/>
            <a:ext cx="3383280" cy="292608"/>
          </a:xfrm>
          <a:prstGeom prst="rect">
            <a:avLst/>
          </a:prstGeom>
          <a:noFill/>
          <a:ln/>
        </p:spPr>
        <p:txBody>
          <a:bodyPr wrap="square" lIns="0" tIns="0" rIns="0" bIns="0" rtlCol="0" anchor="ctr"/>
          <a:lstStyle/>
          <a:p>
            <a:pPr marL="0" indent="0">
              <a:buNone/>
            </a:pPr>
            <a:r>
              <a:rPr lang="en-US" sz="1100" b="1" dirty="0">
                <a:solidFill>
                  <a:srgbClr val="1B2A4A"/>
                </a:solidFill>
                <a:latin typeface="Trebuchet MS" pitchFamily="34" charset="0"/>
                <a:ea typeface="Trebuchet MS" pitchFamily="34" charset="-122"/>
                <a:cs typeface="Trebuchet MS" pitchFamily="34" charset="-120"/>
              </a:rPr>
              <a:t>Push back on AI's answer</a:t>
            </a:r>
            <a:endParaRPr lang="en-US" sz="1100" dirty="0"/>
          </a:p>
        </p:txBody>
      </p:sp>
      <p:sp>
        <p:nvSpPr>
          <p:cNvPr id="19" name="Text 16"/>
          <p:cNvSpPr/>
          <p:nvPr/>
        </p:nvSpPr>
        <p:spPr>
          <a:xfrm>
            <a:off x="621792" y="3794760"/>
            <a:ext cx="3383280" cy="411480"/>
          </a:xfrm>
          <a:prstGeom prst="rect">
            <a:avLst/>
          </a:prstGeom>
          <a:noFill/>
          <a:ln/>
        </p:spPr>
        <p:txBody>
          <a:bodyPr wrap="square" lIns="0" tIns="0" rIns="0" bIns="0" rtlCol="0" anchor="ctr"/>
          <a:lstStyle/>
          <a:p>
            <a:pPr marL="0" indent="0">
              <a:buNone/>
            </a:pPr>
            <a:r>
              <a:rPr lang="en-US" sz="1100" i="1" dirty="0">
                <a:solidFill>
                  <a:srgbClr val="DC2626"/>
                </a:solidFill>
                <a:latin typeface="Calibri" pitchFamily="34" charset="0"/>
                <a:ea typeface="Calibri" pitchFamily="34" charset="-122"/>
                <a:cs typeface="Calibri" pitchFamily="34" charset="-120"/>
              </a:rPr>
              <a:t>→ It immediately caves and agrees with you</a:t>
            </a:r>
            <a:endParaRPr lang="en-US" sz="1100" dirty="0"/>
          </a:p>
        </p:txBody>
      </p:sp>
      <p:sp>
        <p:nvSpPr>
          <p:cNvPr id="20" name="Shape 17"/>
          <p:cNvSpPr/>
          <p:nvPr/>
        </p:nvSpPr>
        <p:spPr>
          <a:xfrm>
            <a:off x="4663440" y="1024128"/>
            <a:ext cx="4114800" cy="150876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21" name="Shape 18"/>
          <p:cNvSpPr/>
          <p:nvPr/>
        </p:nvSpPr>
        <p:spPr>
          <a:xfrm>
            <a:off x="4663440" y="1024128"/>
            <a:ext cx="64008" cy="1508760"/>
          </a:xfrm>
          <a:prstGeom prst="rect">
            <a:avLst/>
          </a:prstGeom>
          <a:solidFill>
            <a:srgbClr val="F59E0B"/>
          </a:solidFill>
          <a:ln w="12700">
            <a:solidFill>
              <a:srgbClr val="F59E0B"/>
            </a:solidFill>
            <a:prstDash val="solid"/>
          </a:ln>
        </p:spPr>
        <p:txBody>
          <a:bodyPr/>
          <a:lstStyle/>
          <a:p>
            <a:endParaRPr lang="en-US"/>
          </a:p>
        </p:txBody>
      </p:sp>
      <p:sp>
        <p:nvSpPr>
          <p:cNvPr id="22" name="Text 19"/>
          <p:cNvSpPr/>
          <p:nvPr/>
        </p:nvSpPr>
        <p:spPr>
          <a:xfrm>
            <a:off x="4846320" y="1078992"/>
            <a:ext cx="3657600" cy="320040"/>
          </a:xfrm>
          <a:prstGeom prst="rect">
            <a:avLst/>
          </a:prstGeom>
          <a:noFill/>
          <a:ln/>
        </p:spPr>
        <p:txBody>
          <a:bodyPr wrap="square" lIns="0" tIns="0" rIns="0" bIns="0" rtlCol="0" anchor="ctr"/>
          <a:lstStyle/>
          <a:p>
            <a:pPr marL="0" indent="0">
              <a:buNone/>
            </a:pPr>
            <a:r>
              <a:rPr lang="en-US" sz="1300" b="1" dirty="0">
                <a:solidFill>
                  <a:srgbClr val="1B2A4A"/>
                </a:solidFill>
                <a:latin typeface="Trebuchet MS" pitchFamily="34" charset="0"/>
                <a:ea typeface="Trebuchet MS" pitchFamily="34" charset="-122"/>
                <a:cs typeface="Trebuchet MS" pitchFamily="34" charset="-120"/>
              </a:rPr>
              <a:t>Why It Happens</a:t>
            </a:r>
            <a:endParaRPr lang="en-US" sz="1300" dirty="0"/>
          </a:p>
        </p:txBody>
      </p:sp>
      <p:sp>
        <p:nvSpPr>
          <p:cNvPr id="23" name="Text 20"/>
          <p:cNvSpPr/>
          <p:nvPr/>
        </p:nvSpPr>
        <p:spPr>
          <a:xfrm>
            <a:off x="4846320" y="1417320"/>
            <a:ext cx="3749040" cy="100584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LLMs are trained on human feedback. Humans rate agreeable responses higher. The model learned to please — not to be right.</a:t>
            </a:r>
            <a:endParaRPr lang="en-US" sz="1150" dirty="0"/>
          </a:p>
        </p:txBody>
      </p:sp>
      <p:sp>
        <p:nvSpPr>
          <p:cNvPr id="24" name="Shape 21"/>
          <p:cNvSpPr/>
          <p:nvPr/>
        </p:nvSpPr>
        <p:spPr>
          <a:xfrm>
            <a:off x="4663440" y="2651760"/>
            <a:ext cx="4114800" cy="1828800"/>
          </a:xfrm>
          <a:prstGeom prst="rect">
            <a:avLst/>
          </a:prstGeom>
          <a:solidFill>
            <a:srgbClr val="FFFFFF"/>
          </a:solidFill>
          <a:ln w="12700">
            <a:solidFill>
              <a:srgbClr val="0D9488"/>
            </a:solidFill>
            <a:prstDash val="solid"/>
          </a:ln>
          <a:effectLst>
            <a:outerShdw blurRad="152400" dist="50800" dir="8100000" algn="bl" rotWithShape="0">
              <a:srgbClr val="000000">
                <a:alpha val="10000"/>
              </a:srgbClr>
            </a:outerShdw>
          </a:effectLst>
        </p:spPr>
        <p:txBody>
          <a:bodyPr/>
          <a:lstStyle/>
          <a:p>
            <a:endParaRPr lang="en-US"/>
          </a:p>
        </p:txBody>
      </p:sp>
      <p:sp>
        <p:nvSpPr>
          <p:cNvPr id="25" name="Shape 22"/>
          <p:cNvSpPr/>
          <p:nvPr/>
        </p:nvSpPr>
        <p:spPr>
          <a:xfrm>
            <a:off x="4663440" y="2651760"/>
            <a:ext cx="64008" cy="1828800"/>
          </a:xfrm>
          <a:prstGeom prst="rect">
            <a:avLst/>
          </a:prstGeom>
          <a:solidFill>
            <a:srgbClr val="0D9488"/>
          </a:solidFill>
          <a:ln w="12700">
            <a:solidFill>
              <a:srgbClr val="0D9488"/>
            </a:solidFill>
            <a:prstDash val="solid"/>
          </a:ln>
        </p:spPr>
        <p:txBody>
          <a:bodyPr/>
          <a:lstStyle/>
          <a:p>
            <a:endParaRPr lang="en-US"/>
          </a:p>
        </p:txBody>
      </p:sp>
      <p:pic>
        <p:nvPicPr>
          <p:cNvPr id="26" name="Image 1" descr="preencoded.png"/>
          <p:cNvPicPr>
            <a:picLocks noChangeAspect="1"/>
          </p:cNvPicPr>
          <p:nvPr/>
        </p:nvPicPr>
        <p:blipFill>
          <a:blip r:embed="rId4"/>
          <a:stretch>
            <a:fillRect/>
          </a:stretch>
        </p:blipFill>
        <p:spPr>
          <a:xfrm>
            <a:off x="8229600" y="2706624"/>
            <a:ext cx="347472" cy="347472"/>
          </a:xfrm>
          <a:prstGeom prst="rect">
            <a:avLst/>
          </a:prstGeom>
        </p:spPr>
      </p:pic>
      <p:sp>
        <p:nvSpPr>
          <p:cNvPr id="27" name="Text 23"/>
          <p:cNvSpPr/>
          <p:nvPr/>
        </p:nvSpPr>
        <p:spPr>
          <a:xfrm>
            <a:off x="4846320" y="2697480"/>
            <a:ext cx="3200400" cy="320040"/>
          </a:xfrm>
          <a:prstGeom prst="rect">
            <a:avLst/>
          </a:prstGeom>
          <a:noFill/>
          <a:ln/>
        </p:spPr>
        <p:txBody>
          <a:bodyPr wrap="square" lIns="0" tIns="0" rIns="0" bIns="0" rtlCol="0" anchor="ctr"/>
          <a:lstStyle/>
          <a:p>
            <a:pPr marL="0" indent="0">
              <a:buNone/>
            </a:pPr>
            <a:r>
              <a:rPr lang="en-US" sz="1300" b="1" dirty="0">
                <a:solidFill>
                  <a:srgbClr val="0D9488"/>
                </a:solidFill>
                <a:latin typeface="Trebuchet MS" pitchFamily="34" charset="0"/>
                <a:ea typeface="Trebuchet MS" pitchFamily="34" charset="-122"/>
                <a:cs typeface="Trebuchet MS" pitchFamily="34" charset="-120"/>
              </a:rPr>
              <a:t>The Countermeasure</a:t>
            </a:r>
            <a:endParaRPr lang="en-US" sz="1300" dirty="0"/>
          </a:p>
        </p:txBody>
      </p:sp>
      <p:sp>
        <p:nvSpPr>
          <p:cNvPr id="28" name="Text 24"/>
          <p:cNvSpPr/>
          <p:nvPr/>
        </p:nvSpPr>
        <p:spPr>
          <a:xfrm>
            <a:off x="4846320" y="3063240"/>
            <a:ext cx="3749040" cy="475488"/>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Actively prompt for adversarial review. The AI won't push back unless you ask it to.</a:t>
            </a:r>
            <a:endParaRPr lang="en-US" sz="1150" dirty="0"/>
          </a:p>
        </p:txBody>
      </p:sp>
      <p:sp>
        <p:nvSpPr>
          <p:cNvPr id="29" name="Shape 25"/>
          <p:cNvSpPr/>
          <p:nvPr/>
        </p:nvSpPr>
        <p:spPr>
          <a:xfrm>
            <a:off x="4800600" y="3611880"/>
            <a:ext cx="3840480" cy="713232"/>
          </a:xfrm>
          <a:prstGeom prst="rect">
            <a:avLst/>
          </a:prstGeom>
          <a:solidFill>
            <a:srgbClr val="FFFFFF"/>
          </a:solidFill>
          <a:ln w="9525">
            <a:solidFill>
              <a:srgbClr val="0D9488"/>
            </a:solidFill>
            <a:prstDash val="solid"/>
          </a:ln>
        </p:spPr>
        <p:txBody>
          <a:bodyPr/>
          <a:lstStyle/>
          <a:p>
            <a:endParaRPr lang="en-US"/>
          </a:p>
        </p:txBody>
      </p:sp>
      <p:sp>
        <p:nvSpPr>
          <p:cNvPr id="30" name="Text 26"/>
          <p:cNvSpPr/>
          <p:nvPr/>
        </p:nvSpPr>
        <p:spPr>
          <a:xfrm>
            <a:off x="4919472" y="3639312"/>
            <a:ext cx="3657600" cy="658368"/>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"What's wrong with this analysis?  What am I missing?  Where would a regulator push back?"</a:t>
            </a:r>
            <a:endParaRPr lang="en-US" sz="1100" dirty="0"/>
          </a:p>
        </p:txBody>
      </p:sp>
      <p:sp>
        <p:nvSpPr>
          <p:cNvPr id="31" name="Text 27"/>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Shape 1"/>
          <p:cNvSpPr/>
          <p:nvPr/>
        </p:nvSpPr>
        <p:spPr>
          <a:xfrm>
            <a:off x="365760" y="164592"/>
            <a:ext cx="1691640" cy="310896"/>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365760" y="164592"/>
            <a:ext cx="1691640" cy="310896"/>
          </a:xfrm>
          <a:prstGeom prst="rect">
            <a:avLst/>
          </a:prstGeom>
          <a:noFill/>
          <a:ln/>
        </p:spPr>
        <p:txBody>
          <a:bodyPr wrap="square" lIns="0" tIns="0" rIns="0" bIns="0" rtlCol="0" anchor="ctr"/>
          <a:lstStyle/>
          <a:p>
            <a:pPr marL="0" indent="0" algn="ctr">
              <a:buNone/>
            </a:pPr>
            <a:r>
              <a:rPr lang="en-US" sz="900" b="1" kern="0" spc="150" dirty="0">
                <a:solidFill>
                  <a:srgbClr val="FFFFFF"/>
                </a:solidFill>
                <a:latin typeface="Calibri" pitchFamily="34" charset="0"/>
                <a:ea typeface="Calibri" pitchFamily="34" charset="-122"/>
                <a:cs typeface="Calibri" pitchFamily="34" charset="-120"/>
              </a:rPr>
              <a:t>FAILURE MODE #3</a:t>
            </a:r>
            <a:endParaRPr lang="en-US" sz="900" dirty="0"/>
          </a:p>
        </p:txBody>
      </p:sp>
      <p:sp>
        <p:nvSpPr>
          <p:cNvPr id="5" name="Text 3"/>
          <p:cNvSpPr/>
          <p:nvPr/>
        </p:nvSpPr>
        <p:spPr>
          <a:xfrm>
            <a:off x="2194560" y="137160"/>
            <a:ext cx="6583680" cy="475488"/>
          </a:xfrm>
          <a:prstGeom prst="rect">
            <a:avLst/>
          </a:prstGeom>
          <a:noFill/>
          <a:ln/>
        </p:spPr>
        <p:txBody>
          <a:bodyPr wrap="square" lIns="0" tIns="0" rIns="0" bIns="0" rtlCol="0" anchor="ctr"/>
          <a:lstStyle/>
          <a:p>
            <a:pPr marL="0" indent="0">
              <a:buNone/>
            </a:pPr>
            <a:r>
              <a:rPr lang="en-US" sz="2400" b="1" dirty="0">
                <a:solidFill>
                  <a:srgbClr val="1B2A4A"/>
                </a:solidFill>
                <a:latin typeface="Trebuchet MS" pitchFamily="34" charset="0"/>
                <a:ea typeface="Trebuchet MS" pitchFamily="34" charset="-122"/>
                <a:cs typeface="Trebuchet MS" pitchFamily="34" charset="-120"/>
              </a:rPr>
              <a:t>Outdated Knowledge &amp; Subtle Errors</a:t>
            </a:r>
            <a:endParaRPr lang="en-US" sz="2400" dirty="0"/>
          </a:p>
        </p:txBody>
      </p:sp>
      <p:sp>
        <p:nvSpPr>
          <p:cNvPr id="6" name="Text 4"/>
          <p:cNvSpPr/>
          <p:nvPr/>
        </p:nvSpPr>
        <p:spPr>
          <a:xfrm>
            <a:off x="365760" y="667512"/>
            <a:ext cx="8229600" cy="25603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Obvious errors get caught. Subtle errors get published.</a:t>
            </a:r>
            <a:endParaRPr lang="en-US" sz="1200" dirty="0"/>
          </a:p>
        </p:txBody>
      </p:sp>
      <p:sp>
        <p:nvSpPr>
          <p:cNvPr id="7" name="Shape 5"/>
          <p:cNvSpPr/>
          <p:nvPr/>
        </p:nvSpPr>
        <p:spPr>
          <a:xfrm>
            <a:off x="365760" y="1024128"/>
            <a:ext cx="3931920" cy="201168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8" name="Shape 6"/>
          <p:cNvSpPr/>
          <p:nvPr/>
        </p:nvSpPr>
        <p:spPr>
          <a:xfrm>
            <a:off x="365760" y="1024128"/>
            <a:ext cx="3931920" cy="384048"/>
          </a:xfrm>
          <a:prstGeom prst="rect">
            <a:avLst/>
          </a:prstGeom>
          <a:solidFill>
            <a:srgbClr val="F59E0B"/>
          </a:solidFill>
          <a:ln w="12700">
            <a:solidFill>
              <a:srgbClr val="F59E0B"/>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3657600" y="1069848"/>
            <a:ext cx="292608" cy="292608"/>
          </a:xfrm>
          <a:prstGeom prst="rect">
            <a:avLst/>
          </a:prstGeom>
        </p:spPr>
      </p:pic>
      <p:sp>
        <p:nvSpPr>
          <p:cNvPr id="10" name="Text 7"/>
          <p:cNvSpPr/>
          <p:nvPr/>
        </p:nvSpPr>
        <p:spPr>
          <a:xfrm>
            <a:off x="502920" y="1060704"/>
            <a:ext cx="3200400" cy="347472"/>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Knowledge Cutoff</a:t>
            </a:r>
            <a:endParaRPr lang="en-US" sz="1400" dirty="0"/>
          </a:p>
        </p:txBody>
      </p:sp>
      <p:sp>
        <p:nvSpPr>
          <p:cNvPr id="11" name="Text 8"/>
          <p:cNvSpPr/>
          <p:nvPr/>
        </p:nvSpPr>
        <p:spPr>
          <a:xfrm>
            <a:off x="502920" y="1490472"/>
            <a:ext cx="365760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Most LLMs have a training cutoff — they don't know about recent regulatory guidance, new court decisions, or updated standards.</a:t>
            </a:r>
            <a:endParaRPr lang="en-US" sz="1150" dirty="0"/>
          </a:p>
        </p:txBody>
      </p:sp>
      <p:sp>
        <p:nvSpPr>
          <p:cNvPr id="12" name="Text 9"/>
          <p:cNvSpPr/>
          <p:nvPr/>
        </p:nvSpPr>
        <p:spPr>
          <a:xfrm>
            <a:off x="594360" y="2148840"/>
            <a:ext cx="3566160" cy="640080"/>
          </a:xfrm>
          <a:prstGeom prst="rect">
            <a:avLst/>
          </a:prstGeom>
          <a:noFill/>
          <a:ln/>
        </p:spPr>
        <p:txBody>
          <a:bodyPr wrap="square" lIns="0" tIns="0" rIns="0" bIns="0" rtlCol="0" anchor="ctr"/>
          <a:lstStyle/>
          <a:p>
            <a:pPr marL="342900" indent="-342900">
              <a:buSzPct val="100000"/>
              <a:buChar char="•"/>
            </a:pPr>
            <a:r>
              <a:rPr lang="en-US" sz="1100" i="1" dirty="0">
                <a:solidFill>
                  <a:srgbClr val="DC2626"/>
                </a:solidFill>
                <a:latin typeface="Calibri" pitchFamily="34" charset="0"/>
                <a:ea typeface="Calibri" pitchFamily="34" charset="-122"/>
                <a:cs typeface="Calibri" pitchFamily="34" charset="-120"/>
              </a:rPr>
              <a:t>A model asked about OCC guidance may cite something superseded.</a:t>
            </a:r>
            <a:endParaRPr lang="en-US" sz="1100" dirty="0"/>
          </a:p>
          <a:p>
            <a:pPr marL="342900" indent="-342900">
              <a:buSzPct val="100000"/>
              <a:buChar char="•"/>
            </a:pPr>
            <a:r>
              <a:rPr lang="en-US" sz="1100" i="1" dirty="0">
                <a:solidFill>
                  <a:srgbClr val="DC2626"/>
                </a:solidFill>
                <a:latin typeface="Calibri" pitchFamily="34" charset="0"/>
                <a:ea typeface="Calibri" pitchFamily="34" charset="-122"/>
                <a:cs typeface="Calibri" pitchFamily="34" charset="-120"/>
              </a:rPr>
              <a:t>A model asked about threat TTPs may not be aware of new types of attack.</a:t>
            </a:r>
            <a:endParaRPr lang="en-US" sz="1100" dirty="0"/>
          </a:p>
        </p:txBody>
      </p:sp>
      <p:sp>
        <p:nvSpPr>
          <p:cNvPr id="13" name="Shape 10"/>
          <p:cNvSpPr/>
          <p:nvPr/>
        </p:nvSpPr>
        <p:spPr>
          <a:xfrm>
            <a:off x="4663440" y="1024128"/>
            <a:ext cx="4114800" cy="201168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14" name="Shape 11"/>
          <p:cNvSpPr/>
          <p:nvPr/>
        </p:nvSpPr>
        <p:spPr>
          <a:xfrm>
            <a:off x="4663440" y="1024128"/>
            <a:ext cx="4114800" cy="384048"/>
          </a:xfrm>
          <a:prstGeom prst="rect">
            <a:avLst/>
          </a:prstGeom>
          <a:solidFill>
            <a:srgbClr val="F97316"/>
          </a:solidFill>
          <a:ln w="12700">
            <a:solidFill>
              <a:srgbClr val="F97316"/>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8138160" y="1069848"/>
            <a:ext cx="292608" cy="292608"/>
          </a:xfrm>
          <a:prstGeom prst="rect">
            <a:avLst/>
          </a:prstGeom>
        </p:spPr>
      </p:pic>
      <p:sp>
        <p:nvSpPr>
          <p:cNvPr id="16" name="Text 12"/>
          <p:cNvSpPr/>
          <p:nvPr/>
        </p:nvSpPr>
        <p:spPr>
          <a:xfrm>
            <a:off x="4800600" y="1060704"/>
            <a:ext cx="3337560" cy="347472"/>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Subtle Errors — The Dangerous Category</a:t>
            </a:r>
            <a:endParaRPr lang="en-US" sz="1300" dirty="0"/>
          </a:p>
        </p:txBody>
      </p:sp>
      <p:sp>
        <p:nvSpPr>
          <p:cNvPr id="17" name="Shape 13"/>
          <p:cNvSpPr/>
          <p:nvPr/>
        </p:nvSpPr>
        <p:spPr>
          <a:xfrm>
            <a:off x="4736592" y="1490472"/>
            <a:ext cx="201168" cy="256032"/>
          </a:xfrm>
          <a:prstGeom prst="rect">
            <a:avLst/>
          </a:prstGeom>
          <a:solidFill>
            <a:srgbClr val="F97316"/>
          </a:solidFill>
          <a:ln w="12700">
            <a:solidFill>
              <a:srgbClr val="F97316"/>
            </a:solidFill>
            <a:prstDash val="solid"/>
          </a:ln>
        </p:spPr>
        <p:txBody>
          <a:bodyPr/>
          <a:lstStyle/>
          <a:p>
            <a:endParaRPr lang="en-US"/>
          </a:p>
        </p:txBody>
      </p:sp>
      <p:sp>
        <p:nvSpPr>
          <p:cNvPr id="18" name="Text 14"/>
          <p:cNvSpPr/>
          <p:nvPr/>
        </p:nvSpPr>
        <p:spPr>
          <a:xfrm>
            <a:off x="5029200" y="1490472"/>
            <a:ext cx="365760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Citing an older version of a regulation</a:t>
            </a:r>
            <a:endParaRPr lang="en-US" sz="1100" dirty="0"/>
          </a:p>
        </p:txBody>
      </p:sp>
      <p:sp>
        <p:nvSpPr>
          <p:cNvPr id="19" name="Shape 15"/>
          <p:cNvSpPr/>
          <p:nvPr/>
        </p:nvSpPr>
        <p:spPr>
          <a:xfrm>
            <a:off x="4736592" y="1819656"/>
            <a:ext cx="201168" cy="256032"/>
          </a:xfrm>
          <a:prstGeom prst="rect">
            <a:avLst/>
          </a:prstGeom>
          <a:solidFill>
            <a:srgbClr val="F97316"/>
          </a:solidFill>
          <a:ln w="12700">
            <a:solidFill>
              <a:srgbClr val="F97316"/>
            </a:solidFill>
            <a:prstDash val="solid"/>
          </a:ln>
        </p:spPr>
        <p:txBody>
          <a:bodyPr/>
          <a:lstStyle/>
          <a:p>
            <a:endParaRPr lang="en-US"/>
          </a:p>
        </p:txBody>
      </p:sp>
      <p:sp>
        <p:nvSpPr>
          <p:cNvPr id="20" name="Text 16"/>
          <p:cNvSpPr/>
          <p:nvPr/>
        </p:nvSpPr>
        <p:spPr>
          <a:xfrm>
            <a:off x="5029200" y="1819656"/>
            <a:ext cx="365760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Wrong dollar threshold ($5,000 vs. $10,000 SAR)</a:t>
            </a:r>
            <a:endParaRPr lang="en-US" sz="1100" dirty="0"/>
          </a:p>
        </p:txBody>
      </p:sp>
      <p:sp>
        <p:nvSpPr>
          <p:cNvPr id="21" name="Shape 17"/>
          <p:cNvSpPr/>
          <p:nvPr/>
        </p:nvSpPr>
        <p:spPr>
          <a:xfrm>
            <a:off x="4736592" y="2148840"/>
            <a:ext cx="201168" cy="256032"/>
          </a:xfrm>
          <a:prstGeom prst="rect">
            <a:avLst/>
          </a:prstGeom>
          <a:solidFill>
            <a:srgbClr val="F97316"/>
          </a:solidFill>
          <a:ln w="12700">
            <a:solidFill>
              <a:srgbClr val="F97316"/>
            </a:solidFill>
            <a:prstDash val="solid"/>
          </a:ln>
        </p:spPr>
        <p:txBody>
          <a:bodyPr/>
          <a:lstStyle/>
          <a:p>
            <a:endParaRPr lang="en-US"/>
          </a:p>
        </p:txBody>
      </p:sp>
      <p:sp>
        <p:nvSpPr>
          <p:cNvPr id="22" name="Text 18"/>
          <p:cNvSpPr/>
          <p:nvPr/>
        </p:nvSpPr>
        <p:spPr>
          <a:xfrm>
            <a:off x="5029200" y="2148840"/>
            <a:ext cx="365760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Conflating two similar regulatory frameworks</a:t>
            </a:r>
            <a:endParaRPr lang="en-US" sz="1100" dirty="0"/>
          </a:p>
        </p:txBody>
      </p:sp>
      <p:sp>
        <p:nvSpPr>
          <p:cNvPr id="23" name="Shape 19"/>
          <p:cNvSpPr/>
          <p:nvPr/>
        </p:nvSpPr>
        <p:spPr>
          <a:xfrm>
            <a:off x="4736592" y="2478024"/>
            <a:ext cx="201168" cy="256032"/>
          </a:xfrm>
          <a:prstGeom prst="rect">
            <a:avLst/>
          </a:prstGeom>
          <a:solidFill>
            <a:srgbClr val="F97316"/>
          </a:solidFill>
          <a:ln w="12700">
            <a:solidFill>
              <a:srgbClr val="F97316"/>
            </a:solidFill>
            <a:prstDash val="solid"/>
          </a:ln>
        </p:spPr>
        <p:txBody>
          <a:bodyPr/>
          <a:lstStyle/>
          <a:p>
            <a:endParaRPr lang="en-US"/>
          </a:p>
        </p:txBody>
      </p:sp>
      <p:sp>
        <p:nvSpPr>
          <p:cNvPr id="24" name="Text 20"/>
          <p:cNvSpPr/>
          <p:nvPr/>
        </p:nvSpPr>
        <p:spPr>
          <a:xfrm>
            <a:off x="5029200" y="2478024"/>
            <a:ext cx="365760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Hallucinating a specific deadline or effective date</a:t>
            </a:r>
            <a:endParaRPr lang="en-US" sz="1100" dirty="0"/>
          </a:p>
        </p:txBody>
      </p:sp>
      <p:sp>
        <p:nvSpPr>
          <p:cNvPr id="25" name="Text 21"/>
          <p:cNvSpPr/>
          <p:nvPr/>
        </p:nvSpPr>
        <p:spPr>
          <a:xfrm>
            <a:off x="4800600" y="2807208"/>
            <a:ext cx="3749040" cy="182880"/>
          </a:xfrm>
          <a:prstGeom prst="rect">
            <a:avLst/>
          </a:prstGeom>
          <a:noFill/>
          <a:ln/>
        </p:spPr>
        <p:txBody>
          <a:bodyPr wrap="square" lIns="0" tIns="0" rIns="0" bIns="0" rtlCol="0" anchor="ctr"/>
          <a:lstStyle/>
          <a:p>
            <a:pPr marL="0" indent="0">
              <a:buNone/>
            </a:pPr>
            <a:r>
              <a:rPr lang="en-US" sz="1050" i="1" dirty="0">
                <a:solidFill>
                  <a:srgbClr val="DC2626"/>
                </a:solidFill>
                <a:latin typeface="Calibri" pitchFamily="34" charset="0"/>
                <a:ea typeface="Calibri" pitchFamily="34" charset="-122"/>
                <a:cs typeface="Calibri" pitchFamily="34" charset="-120"/>
              </a:rPr>
              <a:t>These errors look plausible. They pass casual review. They surface later.</a:t>
            </a:r>
            <a:endParaRPr lang="en-US" sz="1050" dirty="0"/>
          </a:p>
        </p:txBody>
      </p:sp>
      <p:sp>
        <p:nvSpPr>
          <p:cNvPr id="26" name="Shape 22"/>
          <p:cNvSpPr/>
          <p:nvPr/>
        </p:nvSpPr>
        <p:spPr>
          <a:xfrm>
            <a:off x="365760" y="3154680"/>
            <a:ext cx="8412480" cy="621792"/>
          </a:xfrm>
          <a:prstGeom prst="rect">
            <a:avLst/>
          </a:prstGeom>
          <a:solidFill>
            <a:srgbClr val="F1F5F9"/>
          </a:solidFill>
          <a:ln w="12700">
            <a:solidFill>
              <a:srgbClr val="E2E8F0"/>
            </a:solidFill>
            <a:prstDash val="solid"/>
          </a:ln>
          <a:effectLst>
            <a:outerShdw blurRad="101600" dist="38100" dir="8100000" algn="bl" rotWithShape="0">
              <a:srgbClr val="000000">
                <a:alpha val="13000"/>
              </a:srgbClr>
            </a:outerShdw>
          </a:effectLst>
        </p:spPr>
        <p:txBody>
          <a:bodyPr/>
          <a:lstStyle/>
          <a:p>
            <a:endParaRPr lang="en-US"/>
          </a:p>
        </p:txBody>
      </p:sp>
      <p:sp>
        <p:nvSpPr>
          <p:cNvPr id="27" name="Shape 23"/>
          <p:cNvSpPr/>
          <p:nvPr/>
        </p:nvSpPr>
        <p:spPr>
          <a:xfrm>
            <a:off x="365760" y="3154680"/>
            <a:ext cx="64008" cy="621792"/>
          </a:xfrm>
          <a:prstGeom prst="rect">
            <a:avLst/>
          </a:prstGeom>
          <a:solidFill>
            <a:srgbClr val="F97316"/>
          </a:solidFill>
          <a:ln w="12700">
            <a:solidFill>
              <a:srgbClr val="F97316"/>
            </a:solidFill>
            <a:prstDash val="solid"/>
          </a:ln>
        </p:spPr>
        <p:txBody>
          <a:bodyPr/>
          <a:lstStyle/>
          <a:p>
            <a:endParaRPr lang="en-US"/>
          </a:p>
        </p:txBody>
      </p:sp>
      <p:sp>
        <p:nvSpPr>
          <p:cNvPr id="28" name="Text 24"/>
          <p:cNvSpPr/>
          <p:nvPr/>
        </p:nvSpPr>
        <p:spPr>
          <a:xfrm>
            <a:off x="548640" y="3200400"/>
            <a:ext cx="8138160" cy="548640"/>
          </a:xfrm>
          <a:prstGeom prst="rect">
            <a:avLst/>
          </a:prstGeom>
          <a:noFill/>
          <a:ln/>
        </p:spPr>
        <p:txBody>
          <a:bodyPr wrap="square" lIns="0" tIns="0" rIns="0" bIns="0" rtlCol="0" anchor="ctr"/>
          <a:lstStyle/>
          <a:p>
            <a:pPr marL="0" indent="0">
              <a:buNone/>
            </a:pPr>
            <a:r>
              <a:rPr lang="en-US" sz="1200" b="1" dirty="0">
                <a:solidFill>
                  <a:srgbClr val="F97316"/>
                </a:solidFill>
                <a:latin typeface="Calibri" pitchFamily="34" charset="0"/>
                <a:ea typeface="Calibri" pitchFamily="34" charset="-122"/>
                <a:cs typeface="Calibri" pitchFamily="34" charset="-120"/>
              </a:rPr>
              <a:t>Why subtle is worse than obvious:  </a:t>
            </a:r>
            <a:r>
              <a:rPr lang="en-US" sz="1200" dirty="0">
                <a:solidFill>
                  <a:srgbClr val="1E293B"/>
                </a:solidFill>
                <a:latin typeface="Calibri" pitchFamily="34" charset="0"/>
                <a:ea typeface="Calibri" pitchFamily="34" charset="-122"/>
                <a:cs typeface="Calibri" pitchFamily="34" charset="-120"/>
              </a:rPr>
              <a:t>Obvious errors get caught. Subtle errors get published — and in banking, precision is the standard.</a:t>
            </a:r>
            <a:endParaRPr lang="en-US" sz="1200" dirty="0"/>
          </a:p>
        </p:txBody>
      </p:sp>
      <p:sp>
        <p:nvSpPr>
          <p:cNvPr id="29" name="Text 25"/>
          <p:cNvSpPr/>
          <p:nvPr/>
        </p:nvSpPr>
        <p:spPr>
          <a:xfrm>
            <a:off x="365760" y="3886200"/>
            <a:ext cx="8412480" cy="32004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In banking, AI errors in regulated contexts don't just embarrass — they can trigger regulatory findings.</a:t>
            </a:r>
            <a:endParaRPr lang="en-US" sz="1200" dirty="0"/>
          </a:p>
        </p:txBody>
      </p:sp>
      <p:sp>
        <p:nvSpPr>
          <p:cNvPr id="30" name="Shape 26"/>
          <p:cNvSpPr/>
          <p:nvPr/>
        </p:nvSpPr>
        <p:spPr>
          <a:xfrm>
            <a:off x="365760" y="4297680"/>
            <a:ext cx="8412480" cy="566928"/>
          </a:xfrm>
          <a:prstGeom prst="rect">
            <a:avLst/>
          </a:prstGeom>
          <a:solidFill>
            <a:srgbClr val="FFFBEB"/>
          </a:solidFill>
          <a:ln w="9525">
            <a:solidFill>
              <a:srgbClr val="FDE68A"/>
            </a:solidFill>
            <a:prstDash val="solid"/>
          </a:ln>
        </p:spPr>
        <p:txBody>
          <a:bodyPr/>
          <a:lstStyle/>
          <a:p>
            <a:endParaRPr lang="en-US"/>
          </a:p>
        </p:txBody>
      </p:sp>
      <p:sp>
        <p:nvSpPr>
          <p:cNvPr id="31" name="Text 27"/>
          <p:cNvSpPr/>
          <p:nvPr/>
        </p:nvSpPr>
        <p:spPr>
          <a:xfrm>
            <a:off x="548640" y="4343400"/>
            <a:ext cx="8138160" cy="475488"/>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Always verify regulatory citations, thresholds, effective dates, and specific dollar amounts against primary sources.</a:t>
            </a:r>
            <a:endParaRPr lang="en-US" sz="1150" dirty="0"/>
          </a:p>
        </p:txBody>
      </p:sp>
      <p:sp>
        <p:nvSpPr>
          <p:cNvPr id="32" name="Text 28"/>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64592"/>
            <a:ext cx="8229600" cy="475488"/>
          </a:xfrm>
          <a:prstGeom prst="rect">
            <a:avLst/>
          </a:prstGeom>
          <a:noFill/>
          <a:ln/>
        </p:spPr>
        <p:txBody>
          <a:bodyPr wrap="square" lIns="0" tIns="0" rIns="0" bIns="0" rtlCol="0" anchor="ctr"/>
          <a:lstStyle/>
          <a:p>
            <a:pPr marL="0" indent="0">
              <a:buNone/>
            </a:pPr>
            <a:r>
              <a:rPr lang="en-US" sz="2800" b="1" dirty="0">
                <a:solidFill>
                  <a:srgbClr val="1B2A4A"/>
                </a:solidFill>
                <a:latin typeface="Trebuchet MS" pitchFamily="34" charset="0"/>
                <a:ea typeface="Trebuchet MS" pitchFamily="34" charset="-122"/>
                <a:cs typeface="Trebuchet MS" pitchFamily="34" charset="-120"/>
              </a:rPr>
              <a:t>Verification Strategies</a:t>
            </a:r>
            <a:endParaRPr lang="en-US" sz="2800" dirty="0"/>
          </a:p>
        </p:txBody>
      </p:sp>
      <p:sp>
        <p:nvSpPr>
          <p:cNvPr id="4" name="Text 2"/>
          <p:cNvSpPr/>
          <p:nvPr/>
        </p:nvSpPr>
        <p:spPr>
          <a:xfrm>
            <a:off x="457200" y="667512"/>
            <a:ext cx="8229600" cy="25603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A practical toolkit — not just a philosophy</a:t>
            </a:r>
            <a:endParaRPr lang="en-US" sz="1200" dirty="0"/>
          </a:p>
        </p:txBody>
      </p:sp>
      <p:sp>
        <p:nvSpPr>
          <p:cNvPr id="5" name="Shape 3"/>
          <p:cNvSpPr/>
          <p:nvPr/>
        </p:nvSpPr>
        <p:spPr>
          <a:xfrm>
            <a:off x="365760" y="1024128"/>
            <a:ext cx="8412480" cy="749808"/>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6" name="Shape 4"/>
          <p:cNvSpPr/>
          <p:nvPr/>
        </p:nvSpPr>
        <p:spPr>
          <a:xfrm>
            <a:off x="365760" y="1024128"/>
            <a:ext cx="73152" cy="749808"/>
          </a:xfrm>
          <a:prstGeom prst="rect">
            <a:avLst/>
          </a:prstGeom>
          <a:solidFill>
            <a:srgbClr val="0D9488"/>
          </a:solidFill>
          <a:ln w="12700">
            <a:solidFill>
              <a:srgbClr val="0D9488"/>
            </a:solidFill>
            <a:prstDash val="solid"/>
          </a:ln>
        </p:spPr>
        <p:txBody>
          <a:bodyPr/>
          <a:lstStyle/>
          <a:p>
            <a:endParaRPr lang="en-US"/>
          </a:p>
        </p:txBody>
      </p:sp>
      <p:sp>
        <p:nvSpPr>
          <p:cNvPr id="7" name="Shape 5"/>
          <p:cNvSpPr/>
          <p:nvPr/>
        </p:nvSpPr>
        <p:spPr>
          <a:xfrm>
            <a:off x="548640" y="1179576"/>
            <a:ext cx="438912" cy="438912"/>
          </a:xfrm>
          <a:prstGeom prst="ellipse">
            <a:avLst/>
          </a:prstGeom>
          <a:solidFill>
            <a:srgbClr val="0D9488"/>
          </a:solidFill>
          <a:ln w="12700">
            <a:solidFill>
              <a:srgbClr val="0D9488"/>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621792" y="1225296"/>
            <a:ext cx="292608" cy="292608"/>
          </a:xfrm>
          <a:prstGeom prst="rect">
            <a:avLst/>
          </a:prstGeom>
        </p:spPr>
      </p:pic>
      <p:sp>
        <p:nvSpPr>
          <p:cNvPr id="9" name="Text 6"/>
          <p:cNvSpPr/>
          <p:nvPr/>
        </p:nvSpPr>
        <p:spPr>
          <a:xfrm>
            <a:off x="1115568" y="1097280"/>
            <a:ext cx="2560320" cy="320040"/>
          </a:xfrm>
          <a:prstGeom prst="rect">
            <a:avLst/>
          </a:prstGeom>
          <a:noFill/>
          <a:ln/>
        </p:spPr>
        <p:txBody>
          <a:bodyPr wrap="square" lIns="0" tIns="0" rIns="0" bIns="0" rtlCol="0" anchor="ctr"/>
          <a:lstStyle/>
          <a:p>
            <a:pPr marL="0" indent="0">
              <a:buNone/>
            </a:pPr>
            <a:r>
              <a:rPr lang="en-US" sz="1300" b="1" dirty="0">
                <a:solidFill>
                  <a:srgbClr val="1B2A4A"/>
                </a:solidFill>
                <a:latin typeface="Trebuchet MS" pitchFamily="34" charset="0"/>
                <a:ea typeface="Trebuchet MS" pitchFamily="34" charset="-122"/>
                <a:cs typeface="Trebuchet MS" pitchFamily="34" charset="-120"/>
              </a:rPr>
              <a:t>Cross-Reference</a:t>
            </a:r>
            <a:endParaRPr lang="en-US" sz="1300" dirty="0"/>
          </a:p>
        </p:txBody>
      </p:sp>
      <p:sp>
        <p:nvSpPr>
          <p:cNvPr id="10" name="Text 7"/>
          <p:cNvSpPr/>
          <p:nvPr/>
        </p:nvSpPr>
        <p:spPr>
          <a:xfrm>
            <a:off x="1115568" y="1426464"/>
            <a:ext cx="4389120" cy="27432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Verify AI's claims against authoritative primary sources</a:t>
            </a:r>
            <a:endParaRPr lang="en-US" sz="1100" dirty="0"/>
          </a:p>
        </p:txBody>
      </p:sp>
      <p:sp>
        <p:nvSpPr>
          <p:cNvPr id="11" name="Shape 8"/>
          <p:cNvSpPr/>
          <p:nvPr/>
        </p:nvSpPr>
        <p:spPr>
          <a:xfrm>
            <a:off x="5715000" y="1179576"/>
            <a:ext cx="2926080" cy="438912"/>
          </a:xfrm>
          <a:prstGeom prst="rect">
            <a:avLst/>
          </a:prstGeom>
          <a:solidFill>
            <a:srgbClr val="0D9488">
              <a:alpha val="12000"/>
            </a:srgbClr>
          </a:solidFill>
          <a:ln w="6350">
            <a:solidFill>
              <a:srgbClr val="0D9488">
                <a:alpha val="50000"/>
              </a:srgbClr>
            </a:solidFill>
            <a:prstDash val="solid"/>
          </a:ln>
        </p:spPr>
        <p:txBody>
          <a:bodyPr/>
          <a:lstStyle/>
          <a:p>
            <a:endParaRPr lang="en-US"/>
          </a:p>
        </p:txBody>
      </p:sp>
      <p:sp>
        <p:nvSpPr>
          <p:cNvPr id="12" name="Text 9"/>
          <p:cNvSpPr/>
          <p:nvPr/>
        </p:nvSpPr>
        <p:spPr>
          <a:xfrm>
            <a:off x="5806440" y="1197864"/>
            <a:ext cx="2788920" cy="40233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Best for: Regulatory citations, statistics, dates</a:t>
            </a:r>
            <a:endParaRPr lang="en-US" sz="1000" dirty="0"/>
          </a:p>
        </p:txBody>
      </p:sp>
      <p:sp>
        <p:nvSpPr>
          <p:cNvPr id="13" name="Shape 10"/>
          <p:cNvSpPr/>
          <p:nvPr/>
        </p:nvSpPr>
        <p:spPr>
          <a:xfrm>
            <a:off x="365760" y="1828800"/>
            <a:ext cx="8412480" cy="749808"/>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14" name="Shape 11"/>
          <p:cNvSpPr/>
          <p:nvPr/>
        </p:nvSpPr>
        <p:spPr>
          <a:xfrm>
            <a:off x="365760" y="1828800"/>
            <a:ext cx="73152" cy="749808"/>
          </a:xfrm>
          <a:prstGeom prst="rect">
            <a:avLst/>
          </a:prstGeom>
          <a:solidFill>
            <a:srgbClr val="7C3AED"/>
          </a:solidFill>
          <a:ln w="12700">
            <a:solidFill>
              <a:srgbClr val="7C3AED"/>
            </a:solidFill>
            <a:prstDash val="solid"/>
          </a:ln>
        </p:spPr>
        <p:txBody>
          <a:bodyPr/>
          <a:lstStyle/>
          <a:p>
            <a:endParaRPr lang="en-US"/>
          </a:p>
        </p:txBody>
      </p:sp>
      <p:sp>
        <p:nvSpPr>
          <p:cNvPr id="15" name="Shape 12"/>
          <p:cNvSpPr/>
          <p:nvPr/>
        </p:nvSpPr>
        <p:spPr>
          <a:xfrm>
            <a:off x="548640" y="1984248"/>
            <a:ext cx="438912" cy="438912"/>
          </a:xfrm>
          <a:prstGeom prst="ellipse">
            <a:avLst/>
          </a:prstGeom>
          <a:solidFill>
            <a:srgbClr val="7C3AED"/>
          </a:solidFill>
          <a:ln w="12700">
            <a:solidFill>
              <a:srgbClr val="7C3AED"/>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621792" y="2029968"/>
            <a:ext cx="292608" cy="292608"/>
          </a:xfrm>
          <a:prstGeom prst="rect">
            <a:avLst/>
          </a:prstGeom>
        </p:spPr>
      </p:pic>
      <p:sp>
        <p:nvSpPr>
          <p:cNvPr id="17" name="Text 13"/>
          <p:cNvSpPr/>
          <p:nvPr/>
        </p:nvSpPr>
        <p:spPr>
          <a:xfrm>
            <a:off x="1115568" y="1901952"/>
            <a:ext cx="2560320" cy="320040"/>
          </a:xfrm>
          <a:prstGeom prst="rect">
            <a:avLst/>
          </a:prstGeom>
          <a:noFill/>
          <a:ln/>
        </p:spPr>
        <p:txBody>
          <a:bodyPr wrap="square" lIns="0" tIns="0" rIns="0" bIns="0" rtlCol="0" anchor="ctr"/>
          <a:lstStyle/>
          <a:p>
            <a:pPr marL="0" indent="0">
              <a:buNone/>
            </a:pPr>
            <a:r>
              <a:rPr lang="en-US" sz="1300" b="1" dirty="0">
                <a:solidFill>
                  <a:srgbClr val="1B2A4A"/>
                </a:solidFill>
                <a:latin typeface="Trebuchet MS" pitchFamily="34" charset="0"/>
                <a:ea typeface="Trebuchet MS" pitchFamily="34" charset="-122"/>
                <a:cs typeface="Trebuchet MS" pitchFamily="34" charset="-120"/>
              </a:rPr>
              <a:t>Source Tracing</a:t>
            </a:r>
            <a:endParaRPr lang="en-US" sz="1300" dirty="0"/>
          </a:p>
        </p:txBody>
      </p:sp>
      <p:sp>
        <p:nvSpPr>
          <p:cNvPr id="18" name="Text 14"/>
          <p:cNvSpPr/>
          <p:nvPr/>
        </p:nvSpPr>
        <p:spPr>
          <a:xfrm>
            <a:off x="1115568" y="2231136"/>
            <a:ext cx="4389120" cy="27432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Ask AI to cite its sources — then verify those sources actually exist</a:t>
            </a:r>
            <a:endParaRPr lang="en-US" sz="1100" dirty="0"/>
          </a:p>
        </p:txBody>
      </p:sp>
      <p:sp>
        <p:nvSpPr>
          <p:cNvPr id="19" name="Shape 15"/>
          <p:cNvSpPr/>
          <p:nvPr/>
        </p:nvSpPr>
        <p:spPr>
          <a:xfrm>
            <a:off x="5715000" y="1984248"/>
            <a:ext cx="2926080" cy="438912"/>
          </a:xfrm>
          <a:prstGeom prst="rect">
            <a:avLst/>
          </a:prstGeom>
          <a:solidFill>
            <a:srgbClr val="7C3AED">
              <a:alpha val="12000"/>
            </a:srgbClr>
          </a:solidFill>
          <a:ln w="6350">
            <a:solidFill>
              <a:srgbClr val="7C3AED">
                <a:alpha val="50000"/>
              </a:srgbClr>
            </a:solidFill>
            <a:prstDash val="solid"/>
          </a:ln>
        </p:spPr>
        <p:txBody>
          <a:bodyPr/>
          <a:lstStyle/>
          <a:p>
            <a:endParaRPr lang="en-US"/>
          </a:p>
        </p:txBody>
      </p:sp>
      <p:sp>
        <p:nvSpPr>
          <p:cNvPr id="20" name="Text 16"/>
          <p:cNvSpPr/>
          <p:nvPr/>
        </p:nvSpPr>
        <p:spPr>
          <a:xfrm>
            <a:off x="5806440" y="2002536"/>
            <a:ext cx="2788920" cy="40233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Best for: Research tasks, case law, technical claims</a:t>
            </a:r>
            <a:endParaRPr lang="en-US" sz="1000" dirty="0"/>
          </a:p>
        </p:txBody>
      </p:sp>
      <p:sp>
        <p:nvSpPr>
          <p:cNvPr id="21" name="Shape 17"/>
          <p:cNvSpPr/>
          <p:nvPr/>
        </p:nvSpPr>
        <p:spPr>
          <a:xfrm>
            <a:off x="365760" y="2633472"/>
            <a:ext cx="8412480" cy="749808"/>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22" name="Shape 18"/>
          <p:cNvSpPr/>
          <p:nvPr/>
        </p:nvSpPr>
        <p:spPr>
          <a:xfrm>
            <a:off x="365760" y="2633472"/>
            <a:ext cx="73152" cy="749808"/>
          </a:xfrm>
          <a:prstGeom prst="rect">
            <a:avLst/>
          </a:prstGeom>
          <a:solidFill>
            <a:srgbClr val="F97316"/>
          </a:solidFill>
          <a:ln w="12700">
            <a:solidFill>
              <a:srgbClr val="F97316"/>
            </a:solidFill>
            <a:prstDash val="solid"/>
          </a:ln>
        </p:spPr>
        <p:txBody>
          <a:bodyPr/>
          <a:lstStyle/>
          <a:p>
            <a:endParaRPr lang="en-US"/>
          </a:p>
        </p:txBody>
      </p:sp>
      <p:sp>
        <p:nvSpPr>
          <p:cNvPr id="23" name="Shape 19"/>
          <p:cNvSpPr/>
          <p:nvPr/>
        </p:nvSpPr>
        <p:spPr>
          <a:xfrm>
            <a:off x="548640" y="2788920"/>
            <a:ext cx="438912" cy="438912"/>
          </a:xfrm>
          <a:prstGeom prst="ellipse">
            <a:avLst/>
          </a:prstGeom>
          <a:solidFill>
            <a:srgbClr val="F97316"/>
          </a:solidFill>
          <a:ln w="12700">
            <a:solidFill>
              <a:srgbClr val="F97316"/>
            </a:solidFill>
            <a:prstDash val="solid"/>
          </a:ln>
        </p:spPr>
        <p:txBody>
          <a:bodyPr/>
          <a:lstStyle/>
          <a:p>
            <a:endParaRPr lang="en-US"/>
          </a:p>
        </p:txBody>
      </p:sp>
      <p:pic>
        <p:nvPicPr>
          <p:cNvPr id="24" name="Image 2" descr="preencoded.png"/>
          <p:cNvPicPr>
            <a:picLocks noChangeAspect="1"/>
          </p:cNvPicPr>
          <p:nvPr/>
        </p:nvPicPr>
        <p:blipFill>
          <a:blip r:embed="rId5"/>
          <a:stretch>
            <a:fillRect/>
          </a:stretch>
        </p:blipFill>
        <p:spPr>
          <a:xfrm>
            <a:off x="621792" y="2834640"/>
            <a:ext cx="292608" cy="292608"/>
          </a:xfrm>
          <a:prstGeom prst="rect">
            <a:avLst/>
          </a:prstGeom>
        </p:spPr>
      </p:pic>
      <p:sp>
        <p:nvSpPr>
          <p:cNvPr id="25" name="Text 20"/>
          <p:cNvSpPr/>
          <p:nvPr/>
        </p:nvSpPr>
        <p:spPr>
          <a:xfrm>
            <a:off x="1115568" y="2706624"/>
            <a:ext cx="2560320" cy="320040"/>
          </a:xfrm>
          <a:prstGeom prst="rect">
            <a:avLst/>
          </a:prstGeom>
          <a:noFill/>
          <a:ln/>
        </p:spPr>
        <p:txBody>
          <a:bodyPr wrap="square" lIns="0" tIns="0" rIns="0" bIns="0" rtlCol="0" anchor="ctr"/>
          <a:lstStyle/>
          <a:p>
            <a:pPr marL="0" indent="0">
              <a:buNone/>
            </a:pPr>
            <a:r>
              <a:rPr lang="en-US" sz="1300" b="1" dirty="0">
                <a:solidFill>
                  <a:srgbClr val="1B2A4A"/>
                </a:solidFill>
                <a:latin typeface="Trebuchet MS" pitchFamily="34" charset="0"/>
                <a:ea typeface="Trebuchet MS" pitchFamily="34" charset="-122"/>
                <a:cs typeface="Trebuchet MS" pitchFamily="34" charset="-120"/>
              </a:rPr>
              <a:t>Adversarial Prompting</a:t>
            </a:r>
            <a:endParaRPr lang="en-US" sz="1300" dirty="0"/>
          </a:p>
        </p:txBody>
      </p:sp>
      <p:sp>
        <p:nvSpPr>
          <p:cNvPr id="26" name="Text 21"/>
          <p:cNvSpPr/>
          <p:nvPr/>
        </p:nvSpPr>
        <p:spPr>
          <a:xfrm>
            <a:off x="1115568" y="3035808"/>
            <a:ext cx="4389120" cy="27432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"What's wrong with this output? Where might it be incorrect?"</a:t>
            </a:r>
            <a:endParaRPr lang="en-US" sz="1100" dirty="0"/>
          </a:p>
        </p:txBody>
      </p:sp>
      <p:sp>
        <p:nvSpPr>
          <p:cNvPr id="27" name="Shape 22"/>
          <p:cNvSpPr/>
          <p:nvPr/>
        </p:nvSpPr>
        <p:spPr>
          <a:xfrm>
            <a:off x="5715000" y="2788920"/>
            <a:ext cx="2926080" cy="438912"/>
          </a:xfrm>
          <a:prstGeom prst="rect">
            <a:avLst/>
          </a:prstGeom>
          <a:solidFill>
            <a:srgbClr val="F97316">
              <a:alpha val="12000"/>
            </a:srgbClr>
          </a:solidFill>
          <a:ln w="6350">
            <a:solidFill>
              <a:srgbClr val="F97316">
                <a:alpha val="50000"/>
              </a:srgbClr>
            </a:solidFill>
            <a:prstDash val="solid"/>
          </a:ln>
        </p:spPr>
        <p:txBody>
          <a:bodyPr/>
          <a:lstStyle/>
          <a:p>
            <a:endParaRPr lang="en-US"/>
          </a:p>
        </p:txBody>
      </p:sp>
      <p:sp>
        <p:nvSpPr>
          <p:cNvPr id="28" name="Text 23"/>
          <p:cNvSpPr/>
          <p:nvPr/>
        </p:nvSpPr>
        <p:spPr>
          <a:xfrm>
            <a:off x="5806440" y="2807208"/>
            <a:ext cx="2788920" cy="40233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Best for: Risk assessments, policy reviews, conclusions</a:t>
            </a:r>
            <a:endParaRPr lang="en-US" sz="1000" dirty="0"/>
          </a:p>
        </p:txBody>
      </p:sp>
      <p:sp>
        <p:nvSpPr>
          <p:cNvPr id="29" name="Shape 24"/>
          <p:cNvSpPr/>
          <p:nvPr/>
        </p:nvSpPr>
        <p:spPr>
          <a:xfrm>
            <a:off x="365760" y="3438144"/>
            <a:ext cx="8412480" cy="749808"/>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30" name="Shape 25"/>
          <p:cNvSpPr/>
          <p:nvPr/>
        </p:nvSpPr>
        <p:spPr>
          <a:xfrm>
            <a:off x="365760" y="3438144"/>
            <a:ext cx="73152" cy="749808"/>
          </a:xfrm>
          <a:prstGeom prst="rect">
            <a:avLst/>
          </a:prstGeom>
          <a:solidFill>
            <a:srgbClr val="F59E0B"/>
          </a:solidFill>
          <a:ln w="12700">
            <a:solidFill>
              <a:srgbClr val="F59E0B"/>
            </a:solidFill>
            <a:prstDash val="solid"/>
          </a:ln>
        </p:spPr>
        <p:txBody>
          <a:bodyPr/>
          <a:lstStyle/>
          <a:p>
            <a:endParaRPr lang="en-US"/>
          </a:p>
        </p:txBody>
      </p:sp>
      <p:sp>
        <p:nvSpPr>
          <p:cNvPr id="31" name="Shape 26"/>
          <p:cNvSpPr/>
          <p:nvPr/>
        </p:nvSpPr>
        <p:spPr>
          <a:xfrm>
            <a:off x="548640" y="3593592"/>
            <a:ext cx="438912" cy="438912"/>
          </a:xfrm>
          <a:prstGeom prst="ellipse">
            <a:avLst/>
          </a:prstGeom>
          <a:solidFill>
            <a:srgbClr val="F59E0B"/>
          </a:solidFill>
          <a:ln w="12700">
            <a:solidFill>
              <a:srgbClr val="F59E0B"/>
            </a:solidFill>
            <a:prstDash val="solid"/>
          </a:ln>
        </p:spPr>
        <p:txBody>
          <a:bodyPr/>
          <a:lstStyle/>
          <a:p>
            <a:endParaRPr lang="en-US"/>
          </a:p>
        </p:txBody>
      </p:sp>
      <p:pic>
        <p:nvPicPr>
          <p:cNvPr id="32" name="Image 3" descr="preencoded.png"/>
          <p:cNvPicPr>
            <a:picLocks noChangeAspect="1"/>
          </p:cNvPicPr>
          <p:nvPr/>
        </p:nvPicPr>
        <p:blipFill>
          <a:blip r:embed="rId6"/>
          <a:stretch>
            <a:fillRect/>
          </a:stretch>
        </p:blipFill>
        <p:spPr>
          <a:xfrm>
            <a:off x="621792" y="3639312"/>
            <a:ext cx="292608" cy="292608"/>
          </a:xfrm>
          <a:prstGeom prst="rect">
            <a:avLst/>
          </a:prstGeom>
        </p:spPr>
      </p:pic>
      <p:sp>
        <p:nvSpPr>
          <p:cNvPr id="33" name="Text 27"/>
          <p:cNvSpPr/>
          <p:nvPr/>
        </p:nvSpPr>
        <p:spPr>
          <a:xfrm>
            <a:off x="1115568" y="3511296"/>
            <a:ext cx="2560320" cy="320040"/>
          </a:xfrm>
          <a:prstGeom prst="rect">
            <a:avLst/>
          </a:prstGeom>
          <a:noFill/>
          <a:ln/>
        </p:spPr>
        <p:txBody>
          <a:bodyPr wrap="square" lIns="0" tIns="0" rIns="0" bIns="0" rtlCol="0" anchor="ctr"/>
          <a:lstStyle/>
          <a:p>
            <a:pPr marL="0" indent="0">
              <a:buNone/>
            </a:pPr>
            <a:r>
              <a:rPr lang="en-US" sz="1300" b="1" dirty="0">
                <a:solidFill>
                  <a:srgbClr val="1B2A4A"/>
                </a:solidFill>
                <a:latin typeface="Trebuchet MS" pitchFamily="34" charset="0"/>
                <a:ea typeface="Trebuchet MS" pitchFamily="34" charset="-122"/>
                <a:cs typeface="Trebuchet MS" pitchFamily="34" charset="-120"/>
              </a:rPr>
              <a:t>Peer Review</a:t>
            </a:r>
            <a:endParaRPr lang="en-US" sz="1300" dirty="0"/>
          </a:p>
        </p:txBody>
      </p:sp>
      <p:sp>
        <p:nvSpPr>
          <p:cNvPr id="34" name="Text 28"/>
          <p:cNvSpPr/>
          <p:nvPr/>
        </p:nvSpPr>
        <p:spPr>
          <a:xfrm>
            <a:off x="1115568" y="3840480"/>
            <a:ext cx="4389120" cy="27432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Treat AI output like a junior analyst's first draft — have a human review it</a:t>
            </a:r>
            <a:endParaRPr lang="en-US" sz="1100" dirty="0"/>
          </a:p>
        </p:txBody>
      </p:sp>
      <p:sp>
        <p:nvSpPr>
          <p:cNvPr id="35" name="Shape 29"/>
          <p:cNvSpPr/>
          <p:nvPr/>
        </p:nvSpPr>
        <p:spPr>
          <a:xfrm>
            <a:off x="5715000" y="3593592"/>
            <a:ext cx="2926080" cy="438912"/>
          </a:xfrm>
          <a:prstGeom prst="rect">
            <a:avLst/>
          </a:prstGeom>
          <a:solidFill>
            <a:srgbClr val="F59E0B">
              <a:alpha val="12000"/>
            </a:srgbClr>
          </a:solidFill>
          <a:ln w="6350">
            <a:solidFill>
              <a:srgbClr val="F59E0B">
                <a:alpha val="50000"/>
              </a:srgbClr>
            </a:solidFill>
            <a:prstDash val="solid"/>
          </a:ln>
        </p:spPr>
        <p:txBody>
          <a:bodyPr/>
          <a:lstStyle/>
          <a:p>
            <a:endParaRPr lang="en-US"/>
          </a:p>
        </p:txBody>
      </p:sp>
      <p:sp>
        <p:nvSpPr>
          <p:cNvPr id="36" name="Text 30"/>
          <p:cNvSpPr/>
          <p:nvPr/>
        </p:nvSpPr>
        <p:spPr>
          <a:xfrm>
            <a:off x="5806440" y="3611880"/>
            <a:ext cx="2788920" cy="40233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Best for: High-stakes documents, customer communications</a:t>
            </a:r>
            <a:endParaRPr lang="en-US" sz="1000" dirty="0"/>
          </a:p>
        </p:txBody>
      </p:sp>
      <p:sp>
        <p:nvSpPr>
          <p:cNvPr id="37" name="Shape 31"/>
          <p:cNvSpPr/>
          <p:nvPr/>
        </p:nvSpPr>
        <p:spPr>
          <a:xfrm>
            <a:off x="365760" y="4242816"/>
            <a:ext cx="8412480" cy="749808"/>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38" name="Shape 32"/>
          <p:cNvSpPr/>
          <p:nvPr/>
        </p:nvSpPr>
        <p:spPr>
          <a:xfrm>
            <a:off x="365760" y="4242816"/>
            <a:ext cx="73152" cy="749808"/>
          </a:xfrm>
          <a:prstGeom prst="rect">
            <a:avLst/>
          </a:prstGeom>
          <a:solidFill>
            <a:srgbClr val="16A34A"/>
          </a:solidFill>
          <a:ln w="12700">
            <a:solidFill>
              <a:srgbClr val="16A34A"/>
            </a:solidFill>
            <a:prstDash val="solid"/>
          </a:ln>
        </p:spPr>
        <p:txBody>
          <a:bodyPr/>
          <a:lstStyle/>
          <a:p>
            <a:endParaRPr lang="en-US"/>
          </a:p>
        </p:txBody>
      </p:sp>
      <p:sp>
        <p:nvSpPr>
          <p:cNvPr id="39" name="Shape 33"/>
          <p:cNvSpPr/>
          <p:nvPr/>
        </p:nvSpPr>
        <p:spPr>
          <a:xfrm>
            <a:off x="548640" y="4398264"/>
            <a:ext cx="438912" cy="438912"/>
          </a:xfrm>
          <a:prstGeom prst="ellipse">
            <a:avLst/>
          </a:prstGeom>
          <a:solidFill>
            <a:srgbClr val="16A34A"/>
          </a:solidFill>
          <a:ln w="12700">
            <a:solidFill>
              <a:srgbClr val="16A34A"/>
            </a:solidFill>
            <a:prstDash val="solid"/>
          </a:ln>
        </p:spPr>
        <p:txBody>
          <a:bodyPr/>
          <a:lstStyle/>
          <a:p>
            <a:endParaRPr lang="en-US"/>
          </a:p>
        </p:txBody>
      </p:sp>
      <p:pic>
        <p:nvPicPr>
          <p:cNvPr id="40" name="Image 4" descr="preencoded.png"/>
          <p:cNvPicPr>
            <a:picLocks noChangeAspect="1"/>
          </p:cNvPicPr>
          <p:nvPr/>
        </p:nvPicPr>
        <p:blipFill>
          <a:blip r:embed="rId7"/>
          <a:stretch>
            <a:fillRect/>
          </a:stretch>
        </p:blipFill>
        <p:spPr>
          <a:xfrm>
            <a:off x="621792" y="4443984"/>
            <a:ext cx="292608" cy="292608"/>
          </a:xfrm>
          <a:prstGeom prst="rect">
            <a:avLst/>
          </a:prstGeom>
        </p:spPr>
      </p:pic>
      <p:sp>
        <p:nvSpPr>
          <p:cNvPr id="41" name="Text 34"/>
          <p:cNvSpPr/>
          <p:nvPr/>
        </p:nvSpPr>
        <p:spPr>
          <a:xfrm>
            <a:off x="1115568" y="4315968"/>
            <a:ext cx="2560320" cy="320040"/>
          </a:xfrm>
          <a:prstGeom prst="rect">
            <a:avLst/>
          </a:prstGeom>
          <a:noFill/>
          <a:ln/>
        </p:spPr>
        <p:txBody>
          <a:bodyPr wrap="square" lIns="0" tIns="0" rIns="0" bIns="0" rtlCol="0" anchor="ctr"/>
          <a:lstStyle/>
          <a:p>
            <a:pPr marL="0" indent="0">
              <a:buNone/>
            </a:pPr>
            <a:r>
              <a:rPr lang="en-US" sz="1300" b="1" dirty="0">
                <a:solidFill>
                  <a:srgbClr val="1B2A4A"/>
                </a:solidFill>
                <a:latin typeface="Trebuchet MS" pitchFamily="34" charset="0"/>
                <a:ea typeface="Trebuchet MS" pitchFamily="34" charset="-122"/>
                <a:cs typeface="Trebuchet MS" pitchFamily="34" charset="-120"/>
              </a:rPr>
              <a:t>Fact-Specific Questioning</a:t>
            </a:r>
            <a:endParaRPr lang="en-US" sz="1300" dirty="0"/>
          </a:p>
        </p:txBody>
      </p:sp>
      <p:sp>
        <p:nvSpPr>
          <p:cNvPr id="42" name="Text 35"/>
          <p:cNvSpPr/>
          <p:nvPr/>
        </p:nvSpPr>
        <p:spPr>
          <a:xfrm>
            <a:off x="1115568" y="4645152"/>
            <a:ext cx="4389120" cy="27432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Ask AI to explain its reasoning for specific claims that seem surprising</a:t>
            </a:r>
            <a:endParaRPr lang="en-US" sz="1100" dirty="0"/>
          </a:p>
        </p:txBody>
      </p:sp>
      <p:sp>
        <p:nvSpPr>
          <p:cNvPr id="43" name="Shape 36"/>
          <p:cNvSpPr/>
          <p:nvPr/>
        </p:nvSpPr>
        <p:spPr>
          <a:xfrm>
            <a:off x="5715000" y="4398264"/>
            <a:ext cx="2926080" cy="438912"/>
          </a:xfrm>
          <a:prstGeom prst="rect">
            <a:avLst/>
          </a:prstGeom>
          <a:solidFill>
            <a:srgbClr val="16A34A">
              <a:alpha val="12000"/>
            </a:srgbClr>
          </a:solidFill>
          <a:ln w="6350">
            <a:solidFill>
              <a:srgbClr val="16A34A">
                <a:alpha val="50000"/>
              </a:srgbClr>
            </a:solidFill>
            <a:prstDash val="solid"/>
          </a:ln>
        </p:spPr>
        <p:txBody>
          <a:bodyPr/>
          <a:lstStyle/>
          <a:p>
            <a:endParaRPr lang="en-US"/>
          </a:p>
        </p:txBody>
      </p:sp>
      <p:sp>
        <p:nvSpPr>
          <p:cNvPr id="44" name="Text 37"/>
          <p:cNvSpPr/>
          <p:nvPr/>
        </p:nvSpPr>
        <p:spPr>
          <a:xfrm>
            <a:off x="5806440" y="4416552"/>
            <a:ext cx="2788920" cy="40233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Best for: Any time a conclusion seems convenient or too clean</a:t>
            </a:r>
            <a:endParaRPr lang="en-US" sz="1000" dirty="0"/>
          </a:p>
        </p:txBody>
      </p:sp>
      <p:sp>
        <p:nvSpPr>
          <p:cNvPr id="45" name="Text 38"/>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09728"/>
            <a:ext cx="8229600" cy="530352"/>
          </a:xfrm>
          <a:prstGeom prst="rect">
            <a:avLst/>
          </a:prstGeom>
          <a:noFill/>
          <a:ln/>
        </p:spPr>
        <p:txBody>
          <a:bodyPr wrap="square" lIns="0" tIns="0" rIns="0" bIns="0" rtlCol="0" anchor="ctr"/>
          <a:lstStyle/>
          <a:p>
            <a:pPr marL="0" indent="0">
              <a:buNone/>
            </a:pPr>
            <a:r>
              <a:rPr lang="en-US" sz="1800" b="1" dirty="0">
                <a:solidFill>
                  <a:srgbClr val="1B2A4A"/>
                </a:solidFill>
                <a:latin typeface="Trebuchet MS" pitchFamily="34" charset="0"/>
                <a:ea typeface="Trebuchet MS" pitchFamily="34" charset="-122"/>
                <a:cs typeface="Trebuchet MS" pitchFamily="34" charset="-120"/>
              </a:rPr>
              <a:t>High-Stakes FHB Domains: Where AI Needs Maximum Scrutiny</a:t>
            </a:r>
            <a:endParaRPr lang="en-US" sz="1800" dirty="0"/>
          </a:p>
        </p:txBody>
      </p:sp>
      <p:sp>
        <p:nvSpPr>
          <p:cNvPr id="4" name="Text 2"/>
          <p:cNvSpPr/>
          <p:nvPr/>
        </p:nvSpPr>
        <p:spPr>
          <a:xfrm>
            <a:off x="457200" y="658368"/>
            <a:ext cx="8229600" cy="25603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In each of these areas, the cost of being wrong exceeds the time savings from trusting AI</a:t>
            </a:r>
            <a:endParaRPr lang="en-US" sz="1200" dirty="0"/>
          </a:p>
        </p:txBody>
      </p:sp>
      <p:sp>
        <p:nvSpPr>
          <p:cNvPr id="5" name="Shape 3"/>
          <p:cNvSpPr/>
          <p:nvPr/>
        </p:nvSpPr>
        <p:spPr>
          <a:xfrm>
            <a:off x="365760" y="1024128"/>
            <a:ext cx="8412480" cy="594360"/>
          </a:xfrm>
          <a:prstGeom prst="rect">
            <a:avLst/>
          </a:prstGeom>
          <a:solidFill>
            <a:srgbClr val="FFFFFF"/>
          </a:solidFill>
          <a:ln w="6350">
            <a:solidFill>
              <a:srgbClr val="E2E8F0"/>
            </a:solidFill>
            <a:prstDash val="solid"/>
          </a:ln>
        </p:spPr>
        <p:txBody>
          <a:bodyPr/>
          <a:lstStyle/>
          <a:p>
            <a:endParaRPr lang="en-US"/>
          </a:p>
        </p:txBody>
      </p:sp>
      <p:sp>
        <p:nvSpPr>
          <p:cNvPr id="6" name="Shape 4"/>
          <p:cNvSpPr/>
          <p:nvPr/>
        </p:nvSpPr>
        <p:spPr>
          <a:xfrm>
            <a:off x="365760" y="1024128"/>
            <a:ext cx="54864" cy="594360"/>
          </a:xfrm>
          <a:prstGeom prst="rect">
            <a:avLst/>
          </a:prstGeom>
          <a:solidFill>
            <a:srgbClr val="DC2626"/>
          </a:solidFill>
          <a:ln w="12700">
            <a:solidFill>
              <a:srgbClr val="DC2626"/>
            </a:solidFill>
            <a:prstDash val="solid"/>
          </a:ln>
        </p:spPr>
        <p:txBody>
          <a:bodyPr/>
          <a:lstStyle/>
          <a:p>
            <a:endParaRPr lang="en-US"/>
          </a:p>
        </p:txBody>
      </p:sp>
      <p:sp>
        <p:nvSpPr>
          <p:cNvPr id="7" name="Shape 5"/>
          <p:cNvSpPr/>
          <p:nvPr/>
        </p:nvSpPr>
        <p:spPr>
          <a:xfrm>
            <a:off x="530352" y="1115568"/>
            <a:ext cx="411480" cy="411480"/>
          </a:xfrm>
          <a:prstGeom prst="ellipse">
            <a:avLst/>
          </a:prstGeom>
          <a:solidFill>
            <a:srgbClr val="DC2626">
              <a:alpha val="85000"/>
            </a:srgbClr>
          </a:solidFill>
          <a:ln w="12700">
            <a:solidFill>
              <a:srgbClr val="DC2626">
                <a:alpha val="70000"/>
              </a:srgbClr>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603504" y="1170432"/>
            <a:ext cx="256032" cy="256032"/>
          </a:xfrm>
          <a:prstGeom prst="rect">
            <a:avLst/>
          </a:prstGeom>
        </p:spPr>
      </p:pic>
      <p:sp>
        <p:nvSpPr>
          <p:cNvPr id="9" name="Text 6"/>
          <p:cNvSpPr/>
          <p:nvPr/>
        </p:nvSpPr>
        <p:spPr>
          <a:xfrm>
            <a:off x="1078992" y="1115568"/>
            <a:ext cx="2331720" cy="402336"/>
          </a:xfrm>
          <a:prstGeom prst="rect">
            <a:avLst/>
          </a:prstGeom>
          <a:noFill/>
          <a:ln/>
        </p:spPr>
        <p:txBody>
          <a:bodyPr wrap="square" lIns="0" tIns="0" rIns="0" bIns="0" rtlCol="0" anchor="ctr"/>
          <a:lstStyle/>
          <a:p>
            <a:pPr marL="0" indent="0">
              <a:buNone/>
            </a:pPr>
            <a:r>
              <a:rPr lang="en-US" sz="1200" b="1" dirty="0">
                <a:solidFill>
                  <a:srgbClr val="1B2A4A"/>
                </a:solidFill>
                <a:latin typeface="Trebuchet MS" pitchFamily="34" charset="0"/>
                <a:ea typeface="Trebuchet MS" pitchFamily="34" charset="-122"/>
                <a:cs typeface="Trebuchet MS" pitchFamily="34" charset="-120"/>
              </a:rPr>
              <a:t>Regulatory Compliance</a:t>
            </a:r>
            <a:endParaRPr lang="en-US" sz="1200" dirty="0"/>
          </a:p>
        </p:txBody>
      </p:sp>
      <p:sp>
        <p:nvSpPr>
          <p:cNvPr id="10" name="Text 7"/>
          <p:cNvSpPr/>
          <p:nvPr/>
        </p:nvSpPr>
        <p:spPr>
          <a:xfrm>
            <a:off x="3520440" y="1115568"/>
            <a:ext cx="3017520" cy="402336"/>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Regulations change; AI knowledge is dated</a:t>
            </a:r>
            <a:endParaRPr lang="en-US" sz="1100" dirty="0"/>
          </a:p>
        </p:txBody>
      </p:sp>
      <p:sp>
        <p:nvSpPr>
          <p:cNvPr id="11" name="Text 8"/>
          <p:cNvSpPr/>
          <p:nvPr/>
        </p:nvSpPr>
        <p:spPr>
          <a:xfrm>
            <a:off x="6656832" y="1115568"/>
            <a:ext cx="1993392" cy="402336"/>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Always verify against primary source</a:t>
            </a:r>
            <a:endParaRPr lang="en-US" sz="1050" dirty="0"/>
          </a:p>
        </p:txBody>
      </p:sp>
      <p:sp>
        <p:nvSpPr>
          <p:cNvPr id="12" name="Shape 9"/>
          <p:cNvSpPr/>
          <p:nvPr/>
        </p:nvSpPr>
        <p:spPr>
          <a:xfrm>
            <a:off x="365760" y="1673352"/>
            <a:ext cx="8412480" cy="594360"/>
          </a:xfrm>
          <a:prstGeom prst="rect">
            <a:avLst/>
          </a:prstGeom>
          <a:solidFill>
            <a:srgbClr val="F8FAFC"/>
          </a:solidFill>
          <a:ln w="6350">
            <a:solidFill>
              <a:srgbClr val="E2E8F0"/>
            </a:solidFill>
            <a:prstDash val="solid"/>
          </a:ln>
        </p:spPr>
        <p:txBody>
          <a:bodyPr/>
          <a:lstStyle/>
          <a:p>
            <a:endParaRPr lang="en-US"/>
          </a:p>
        </p:txBody>
      </p:sp>
      <p:sp>
        <p:nvSpPr>
          <p:cNvPr id="13" name="Shape 10"/>
          <p:cNvSpPr/>
          <p:nvPr/>
        </p:nvSpPr>
        <p:spPr>
          <a:xfrm>
            <a:off x="365760" y="1673352"/>
            <a:ext cx="54864" cy="594360"/>
          </a:xfrm>
          <a:prstGeom prst="rect">
            <a:avLst/>
          </a:prstGeom>
          <a:solidFill>
            <a:srgbClr val="DC2626"/>
          </a:solidFill>
          <a:ln w="12700">
            <a:solidFill>
              <a:srgbClr val="DC2626"/>
            </a:solidFill>
            <a:prstDash val="solid"/>
          </a:ln>
        </p:spPr>
        <p:txBody>
          <a:bodyPr/>
          <a:lstStyle/>
          <a:p>
            <a:endParaRPr lang="en-US"/>
          </a:p>
        </p:txBody>
      </p:sp>
      <p:sp>
        <p:nvSpPr>
          <p:cNvPr id="14" name="Shape 11"/>
          <p:cNvSpPr/>
          <p:nvPr/>
        </p:nvSpPr>
        <p:spPr>
          <a:xfrm>
            <a:off x="530352" y="1764792"/>
            <a:ext cx="411480" cy="411480"/>
          </a:xfrm>
          <a:prstGeom prst="ellipse">
            <a:avLst/>
          </a:prstGeom>
          <a:solidFill>
            <a:srgbClr val="DC2626">
              <a:alpha val="85000"/>
            </a:srgbClr>
          </a:solidFill>
          <a:ln w="12700">
            <a:solidFill>
              <a:srgbClr val="DC2626">
                <a:alpha val="70000"/>
              </a:srgbClr>
            </a:solidFill>
            <a:prstDash val="solid"/>
          </a:ln>
        </p:spPr>
        <p:txBody>
          <a:bodyPr/>
          <a:lstStyle/>
          <a:p>
            <a:endParaRPr lang="en-US"/>
          </a:p>
        </p:txBody>
      </p:sp>
      <p:pic>
        <p:nvPicPr>
          <p:cNvPr id="15" name="Image 1" descr="preencoded.png"/>
          <p:cNvPicPr>
            <a:picLocks noChangeAspect="1"/>
          </p:cNvPicPr>
          <p:nvPr/>
        </p:nvPicPr>
        <p:blipFill>
          <a:blip r:embed="rId3"/>
          <a:stretch>
            <a:fillRect/>
          </a:stretch>
        </p:blipFill>
        <p:spPr>
          <a:xfrm>
            <a:off x="603504" y="1819656"/>
            <a:ext cx="256032" cy="256032"/>
          </a:xfrm>
          <a:prstGeom prst="rect">
            <a:avLst/>
          </a:prstGeom>
        </p:spPr>
      </p:pic>
      <p:sp>
        <p:nvSpPr>
          <p:cNvPr id="16" name="Text 12"/>
          <p:cNvSpPr/>
          <p:nvPr/>
        </p:nvSpPr>
        <p:spPr>
          <a:xfrm>
            <a:off x="1078992" y="1764792"/>
            <a:ext cx="2331720" cy="402336"/>
          </a:xfrm>
          <a:prstGeom prst="rect">
            <a:avLst/>
          </a:prstGeom>
          <a:noFill/>
          <a:ln/>
        </p:spPr>
        <p:txBody>
          <a:bodyPr wrap="square" lIns="0" tIns="0" rIns="0" bIns="0" rtlCol="0" anchor="ctr"/>
          <a:lstStyle/>
          <a:p>
            <a:pPr marL="0" indent="0">
              <a:buNone/>
            </a:pPr>
            <a:r>
              <a:rPr lang="en-US" sz="1200" b="1" dirty="0">
                <a:solidFill>
                  <a:srgbClr val="1B2A4A"/>
                </a:solidFill>
                <a:latin typeface="Trebuchet MS" pitchFamily="34" charset="0"/>
                <a:ea typeface="Trebuchet MS" pitchFamily="34" charset="-122"/>
                <a:cs typeface="Trebuchet MS" pitchFamily="34" charset="-120"/>
              </a:rPr>
              <a:t>Legal Interpretation</a:t>
            </a:r>
            <a:endParaRPr lang="en-US" sz="1200" dirty="0"/>
          </a:p>
        </p:txBody>
      </p:sp>
      <p:sp>
        <p:nvSpPr>
          <p:cNvPr id="17" name="Text 13"/>
          <p:cNvSpPr/>
          <p:nvPr/>
        </p:nvSpPr>
        <p:spPr>
          <a:xfrm>
            <a:off x="3520440" y="1764792"/>
            <a:ext cx="3017520" cy="402336"/>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AI can fabricate case law confidently</a:t>
            </a:r>
            <a:endParaRPr lang="en-US" sz="1100" dirty="0"/>
          </a:p>
        </p:txBody>
      </p:sp>
      <p:sp>
        <p:nvSpPr>
          <p:cNvPr id="18" name="Text 14"/>
          <p:cNvSpPr/>
          <p:nvPr/>
        </p:nvSpPr>
        <p:spPr>
          <a:xfrm>
            <a:off x="6656832" y="1764792"/>
            <a:ext cx="1993392" cy="402336"/>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Never use AI citation without checking</a:t>
            </a:r>
            <a:endParaRPr lang="en-US" sz="1050" dirty="0"/>
          </a:p>
        </p:txBody>
      </p:sp>
      <p:sp>
        <p:nvSpPr>
          <p:cNvPr id="19" name="Shape 15"/>
          <p:cNvSpPr/>
          <p:nvPr/>
        </p:nvSpPr>
        <p:spPr>
          <a:xfrm>
            <a:off x="365760" y="2322576"/>
            <a:ext cx="8412480" cy="594360"/>
          </a:xfrm>
          <a:prstGeom prst="rect">
            <a:avLst/>
          </a:prstGeom>
          <a:solidFill>
            <a:srgbClr val="FFFFFF"/>
          </a:solidFill>
          <a:ln w="6350">
            <a:solidFill>
              <a:srgbClr val="E2E8F0"/>
            </a:solidFill>
            <a:prstDash val="solid"/>
          </a:ln>
        </p:spPr>
        <p:txBody>
          <a:bodyPr/>
          <a:lstStyle/>
          <a:p>
            <a:endParaRPr lang="en-US"/>
          </a:p>
        </p:txBody>
      </p:sp>
      <p:sp>
        <p:nvSpPr>
          <p:cNvPr id="20" name="Shape 16"/>
          <p:cNvSpPr/>
          <p:nvPr/>
        </p:nvSpPr>
        <p:spPr>
          <a:xfrm>
            <a:off x="365760" y="2322576"/>
            <a:ext cx="54864" cy="594360"/>
          </a:xfrm>
          <a:prstGeom prst="rect">
            <a:avLst/>
          </a:prstGeom>
          <a:solidFill>
            <a:srgbClr val="DC2626"/>
          </a:solidFill>
          <a:ln w="12700">
            <a:solidFill>
              <a:srgbClr val="DC2626"/>
            </a:solidFill>
            <a:prstDash val="solid"/>
          </a:ln>
        </p:spPr>
        <p:txBody>
          <a:bodyPr/>
          <a:lstStyle/>
          <a:p>
            <a:endParaRPr lang="en-US"/>
          </a:p>
        </p:txBody>
      </p:sp>
      <p:sp>
        <p:nvSpPr>
          <p:cNvPr id="21" name="Shape 17"/>
          <p:cNvSpPr/>
          <p:nvPr/>
        </p:nvSpPr>
        <p:spPr>
          <a:xfrm>
            <a:off x="530352" y="2414016"/>
            <a:ext cx="411480" cy="411480"/>
          </a:xfrm>
          <a:prstGeom prst="ellipse">
            <a:avLst/>
          </a:prstGeom>
          <a:solidFill>
            <a:srgbClr val="DC2626">
              <a:alpha val="85000"/>
            </a:srgbClr>
          </a:solidFill>
          <a:ln w="12700">
            <a:solidFill>
              <a:srgbClr val="DC2626">
                <a:alpha val="70000"/>
              </a:srgbClr>
            </a:solidFill>
            <a:prstDash val="solid"/>
          </a:ln>
        </p:spPr>
        <p:txBody>
          <a:bodyPr/>
          <a:lstStyle/>
          <a:p>
            <a:endParaRPr lang="en-US"/>
          </a:p>
        </p:txBody>
      </p:sp>
      <p:pic>
        <p:nvPicPr>
          <p:cNvPr id="22" name="Image 2" descr="preencoded.png"/>
          <p:cNvPicPr>
            <a:picLocks noChangeAspect="1"/>
          </p:cNvPicPr>
          <p:nvPr/>
        </p:nvPicPr>
        <p:blipFill>
          <a:blip r:embed="rId4"/>
          <a:stretch>
            <a:fillRect/>
          </a:stretch>
        </p:blipFill>
        <p:spPr>
          <a:xfrm>
            <a:off x="603504" y="2468880"/>
            <a:ext cx="256032" cy="256032"/>
          </a:xfrm>
          <a:prstGeom prst="rect">
            <a:avLst/>
          </a:prstGeom>
        </p:spPr>
      </p:pic>
      <p:sp>
        <p:nvSpPr>
          <p:cNvPr id="23" name="Text 18"/>
          <p:cNvSpPr/>
          <p:nvPr/>
        </p:nvSpPr>
        <p:spPr>
          <a:xfrm>
            <a:off x="1078992" y="2414016"/>
            <a:ext cx="2331720" cy="402336"/>
          </a:xfrm>
          <a:prstGeom prst="rect">
            <a:avLst/>
          </a:prstGeom>
          <a:noFill/>
          <a:ln/>
        </p:spPr>
        <p:txBody>
          <a:bodyPr wrap="square" lIns="0" tIns="0" rIns="0" bIns="0" rtlCol="0" anchor="ctr"/>
          <a:lstStyle/>
          <a:p>
            <a:pPr marL="0" indent="0">
              <a:buNone/>
            </a:pPr>
            <a:r>
              <a:rPr lang="en-US" sz="1200" b="1" dirty="0">
                <a:solidFill>
                  <a:srgbClr val="1B2A4A"/>
                </a:solidFill>
                <a:latin typeface="Trebuchet MS" pitchFamily="34" charset="0"/>
                <a:ea typeface="Trebuchet MS" pitchFamily="34" charset="-122"/>
                <a:cs typeface="Trebuchet MS" pitchFamily="34" charset="-120"/>
              </a:rPr>
              <a:t>Customer-Facing Communications</a:t>
            </a:r>
            <a:endParaRPr lang="en-US" sz="1200" dirty="0"/>
          </a:p>
        </p:txBody>
      </p:sp>
      <p:sp>
        <p:nvSpPr>
          <p:cNvPr id="24" name="Text 19"/>
          <p:cNvSpPr/>
          <p:nvPr/>
        </p:nvSpPr>
        <p:spPr>
          <a:xfrm>
            <a:off x="3520440" y="2414016"/>
            <a:ext cx="3017520" cy="402336"/>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Company is legally liable (Air Canada precedent)</a:t>
            </a:r>
            <a:endParaRPr lang="en-US" sz="1100" dirty="0"/>
          </a:p>
        </p:txBody>
      </p:sp>
      <p:sp>
        <p:nvSpPr>
          <p:cNvPr id="25" name="Text 20"/>
          <p:cNvSpPr/>
          <p:nvPr/>
        </p:nvSpPr>
        <p:spPr>
          <a:xfrm>
            <a:off x="6656832" y="2414016"/>
            <a:ext cx="1993392" cy="402336"/>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Human review + approval required</a:t>
            </a:r>
            <a:endParaRPr lang="en-US" sz="1050" dirty="0"/>
          </a:p>
        </p:txBody>
      </p:sp>
      <p:sp>
        <p:nvSpPr>
          <p:cNvPr id="26" name="Shape 21"/>
          <p:cNvSpPr/>
          <p:nvPr/>
        </p:nvSpPr>
        <p:spPr>
          <a:xfrm>
            <a:off x="365760" y="2971800"/>
            <a:ext cx="8412480" cy="594360"/>
          </a:xfrm>
          <a:prstGeom prst="rect">
            <a:avLst/>
          </a:prstGeom>
          <a:solidFill>
            <a:srgbClr val="F8FAFC"/>
          </a:solidFill>
          <a:ln w="6350">
            <a:solidFill>
              <a:srgbClr val="E2E8F0"/>
            </a:solidFill>
            <a:prstDash val="solid"/>
          </a:ln>
        </p:spPr>
        <p:txBody>
          <a:bodyPr/>
          <a:lstStyle/>
          <a:p>
            <a:endParaRPr lang="en-US"/>
          </a:p>
        </p:txBody>
      </p:sp>
      <p:sp>
        <p:nvSpPr>
          <p:cNvPr id="27" name="Shape 22"/>
          <p:cNvSpPr/>
          <p:nvPr/>
        </p:nvSpPr>
        <p:spPr>
          <a:xfrm>
            <a:off x="365760" y="2971800"/>
            <a:ext cx="54864" cy="594360"/>
          </a:xfrm>
          <a:prstGeom prst="rect">
            <a:avLst/>
          </a:prstGeom>
          <a:solidFill>
            <a:srgbClr val="F97316"/>
          </a:solidFill>
          <a:ln w="12700">
            <a:solidFill>
              <a:srgbClr val="F97316"/>
            </a:solidFill>
            <a:prstDash val="solid"/>
          </a:ln>
        </p:spPr>
        <p:txBody>
          <a:bodyPr/>
          <a:lstStyle/>
          <a:p>
            <a:endParaRPr lang="en-US"/>
          </a:p>
        </p:txBody>
      </p:sp>
      <p:sp>
        <p:nvSpPr>
          <p:cNvPr id="28" name="Shape 23"/>
          <p:cNvSpPr/>
          <p:nvPr/>
        </p:nvSpPr>
        <p:spPr>
          <a:xfrm>
            <a:off x="530352" y="3063240"/>
            <a:ext cx="411480" cy="411480"/>
          </a:xfrm>
          <a:prstGeom prst="ellipse">
            <a:avLst/>
          </a:prstGeom>
          <a:solidFill>
            <a:srgbClr val="F97316">
              <a:alpha val="85000"/>
            </a:srgbClr>
          </a:solidFill>
          <a:ln w="12700">
            <a:solidFill>
              <a:srgbClr val="F97316">
                <a:alpha val="70000"/>
              </a:srgbClr>
            </a:solidFill>
            <a:prstDash val="solid"/>
          </a:ln>
        </p:spPr>
        <p:txBody>
          <a:bodyPr/>
          <a:lstStyle/>
          <a:p>
            <a:endParaRPr lang="en-US"/>
          </a:p>
        </p:txBody>
      </p:sp>
      <p:pic>
        <p:nvPicPr>
          <p:cNvPr id="29" name="Image 3" descr="preencoded.png"/>
          <p:cNvPicPr>
            <a:picLocks noChangeAspect="1"/>
          </p:cNvPicPr>
          <p:nvPr/>
        </p:nvPicPr>
        <p:blipFill>
          <a:blip r:embed="rId5"/>
          <a:stretch>
            <a:fillRect/>
          </a:stretch>
        </p:blipFill>
        <p:spPr>
          <a:xfrm>
            <a:off x="603504" y="3118104"/>
            <a:ext cx="256032" cy="256032"/>
          </a:xfrm>
          <a:prstGeom prst="rect">
            <a:avLst/>
          </a:prstGeom>
        </p:spPr>
      </p:pic>
      <p:sp>
        <p:nvSpPr>
          <p:cNvPr id="30" name="Text 24"/>
          <p:cNvSpPr/>
          <p:nvPr/>
        </p:nvSpPr>
        <p:spPr>
          <a:xfrm>
            <a:off x="1078992" y="3063240"/>
            <a:ext cx="2331720" cy="402336"/>
          </a:xfrm>
          <a:prstGeom prst="rect">
            <a:avLst/>
          </a:prstGeom>
          <a:noFill/>
          <a:ln/>
        </p:spPr>
        <p:txBody>
          <a:bodyPr wrap="square" lIns="0" tIns="0" rIns="0" bIns="0" rtlCol="0" anchor="ctr"/>
          <a:lstStyle/>
          <a:p>
            <a:pPr marL="0" indent="0">
              <a:buNone/>
            </a:pPr>
            <a:r>
              <a:rPr lang="en-US" sz="1200" b="1" dirty="0">
                <a:solidFill>
                  <a:srgbClr val="1B2A4A"/>
                </a:solidFill>
                <a:latin typeface="Trebuchet MS" pitchFamily="34" charset="0"/>
                <a:ea typeface="Trebuchet MS" pitchFamily="34" charset="-122"/>
                <a:cs typeface="Trebuchet MS" pitchFamily="34" charset="-120"/>
              </a:rPr>
              <a:t>Incident Response</a:t>
            </a:r>
            <a:endParaRPr lang="en-US" sz="1200" dirty="0"/>
          </a:p>
        </p:txBody>
      </p:sp>
      <p:sp>
        <p:nvSpPr>
          <p:cNvPr id="31" name="Text 25"/>
          <p:cNvSpPr/>
          <p:nvPr/>
        </p:nvSpPr>
        <p:spPr>
          <a:xfrm>
            <a:off x="3520440" y="3063240"/>
            <a:ext cx="3017520" cy="402336"/>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Recommendations may be based on stale threat intel</a:t>
            </a:r>
            <a:endParaRPr lang="en-US" sz="1100" dirty="0"/>
          </a:p>
        </p:txBody>
      </p:sp>
      <p:sp>
        <p:nvSpPr>
          <p:cNvPr id="32" name="Text 26"/>
          <p:cNvSpPr/>
          <p:nvPr/>
        </p:nvSpPr>
        <p:spPr>
          <a:xfrm>
            <a:off x="6656832" y="3063240"/>
            <a:ext cx="1993392" cy="402336"/>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Cross-check with current sources</a:t>
            </a:r>
            <a:endParaRPr lang="en-US" sz="1050" dirty="0"/>
          </a:p>
        </p:txBody>
      </p:sp>
      <p:sp>
        <p:nvSpPr>
          <p:cNvPr id="33" name="Shape 27"/>
          <p:cNvSpPr/>
          <p:nvPr/>
        </p:nvSpPr>
        <p:spPr>
          <a:xfrm>
            <a:off x="365760" y="3621024"/>
            <a:ext cx="8412480" cy="594360"/>
          </a:xfrm>
          <a:prstGeom prst="rect">
            <a:avLst/>
          </a:prstGeom>
          <a:solidFill>
            <a:srgbClr val="FFFFFF"/>
          </a:solidFill>
          <a:ln w="6350">
            <a:solidFill>
              <a:srgbClr val="E2E8F0"/>
            </a:solidFill>
            <a:prstDash val="solid"/>
          </a:ln>
        </p:spPr>
        <p:txBody>
          <a:bodyPr/>
          <a:lstStyle/>
          <a:p>
            <a:endParaRPr lang="en-US"/>
          </a:p>
        </p:txBody>
      </p:sp>
      <p:sp>
        <p:nvSpPr>
          <p:cNvPr id="34" name="Shape 28"/>
          <p:cNvSpPr/>
          <p:nvPr/>
        </p:nvSpPr>
        <p:spPr>
          <a:xfrm>
            <a:off x="365760" y="3621024"/>
            <a:ext cx="54864" cy="594360"/>
          </a:xfrm>
          <a:prstGeom prst="rect">
            <a:avLst/>
          </a:prstGeom>
          <a:solidFill>
            <a:srgbClr val="DC2626"/>
          </a:solidFill>
          <a:ln w="12700">
            <a:solidFill>
              <a:srgbClr val="DC2626"/>
            </a:solidFill>
            <a:prstDash val="solid"/>
          </a:ln>
        </p:spPr>
        <p:txBody>
          <a:bodyPr/>
          <a:lstStyle/>
          <a:p>
            <a:endParaRPr lang="en-US"/>
          </a:p>
        </p:txBody>
      </p:sp>
      <p:sp>
        <p:nvSpPr>
          <p:cNvPr id="35" name="Shape 29"/>
          <p:cNvSpPr/>
          <p:nvPr/>
        </p:nvSpPr>
        <p:spPr>
          <a:xfrm>
            <a:off x="530352" y="3712464"/>
            <a:ext cx="411480" cy="411480"/>
          </a:xfrm>
          <a:prstGeom prst="ellipse">
            <a:avLst/>
          </a:prstGeom>
          <a:solidFill>
            <a:srgbClr val="DC2626">
              <a:alpha val="85000"/>
            </a:srgbClr>
          </a:solidFill>
          <a:ln w="12700">
            <a:solidFill>
              <a:srgbClr val="DC2626">
                <a:alpha val="70000"/>
              </a:srgbClr>
            </a:solidFill>
            <a:prstDash val="solid"/>
          </a:ln>
        </p:spPr>
        <p:txBody>
          <a:bodyPr/>
          <a:lstStyle/>
          <a:p>
            <a:endParaRPr lang="en-US"/>
          </a:p>
        </p:txBody>
      </p:sp>
      <p:pic>
        <p:nvPicPr>
          <p:cNvPr id="36" name="Image 4" descr="preencoded.png"/>
          <p:cNvPicPr>
            <a:picLocks noChangeAspect="1"/>
          </p:cNvPicPr>
          <p:nvPr/>
        </p:nvPicPr>
        <p:blipFill>
          <a:blip r:embed="rId6"/>
          <a:stretch>
            <a:fillRect/>
          </a:stretch>
        </p:blipFill>
        <p:spPr>
          <a:xfrm>
            <a:off x="603504" y="3767328"/>
            <a:ext cx="256032" cy="256032"/>
          </a:xfrm>
          <a:prstGeom prst="rect">
            <a:avLst/>
          </a:prstGeom>
        </p:spPr>
      </p:pic>
      <p:sp>
        <p:nvSpPr>
          <p:cNvPr id="37" name="Text 30"/>
          <p:cNvSpPr/>
          <p:nvPr/>
        </p:nvSpPr>
        <p:spPr>
          <a:xfrm>
            <a:off x="1078992" y="3712464"/>
            <a:ext cx="2331720" cy="402336"/>
          </a:xfrm>
          <a:prstGeom prst="rect">
            <a:avLst/>
          </a:prstGeom>
          <a:noFill/>
          <a:ln/>
        </p:spPr>
        <p:txBody>
          <a:bodyPr wrap="square" lIns="0" tIns="0" rIns="0" bIns="0" rtlCol="0" anchor="ctr"/>
          <a:lstStyle/>
          <a:p>
            <a:pPr marL="0" indent="0">
              <a:buNone/>
            </a:pPr>
            <a:r>
              <a:rPr lang="en-US" sz="1200" b="1" dirty="0">
                <a:solidFill>
                  <a:srgbClr val="1B2A4A"/>
                </a:solidFill>
                <a:latin typeface="Trebuchet MS" pitchFamily="34" charset="0"/>
                <a:ea typeface="Trebuchet MS" pitchFamily="34" charset="-122"/>
                <a:cs typeface="Trebuchet MS" pitchFamily="34" charset="-120"/>
              </a:rPr>
              <a:t>Vendor Risk Conclusions</a:t>
            </a:r>
            <a:endParaRPr lang="en-US" sz="1200" dirty="0"/>
          </a:p>
        </p:txBody>
      </p:sp>
      <p:sp>
        <p:nvSpPr>
          <p:cNvPr id="38" name="Text 31"/>
          <p:cNvSpPr/>
          <p:nvPr/>
        </p:nvSpPr>
        <p:spPr>
          <a:xfrm>
            <a:off x="3520440" y="3712464"/>
            <a:ext cx="3017520" cy="402336"/>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AI validation of AI-assisted work = circular risk</a:t>
            </a:r>
            <a:endParaRPr lang="en-US" sz="1100" dirty="0"/>
          </a:p>
        </p:txBody>
      </p:sp>
      <p:sp>
        <p:nvSpPr>
          <p:cNvPr id="39" name="Text 32"/>
          <p:cNvSpPr/>
          <p:nvPr/>
        </p:nvSpPr>
        <p:spPr>
          <a:xfrm>
            <a:off x="6656832" y="3712464"/>
            <a:ext cx="1993392" cy="402336"/>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Independent human judgment required</a:t>
            </a:r>
            <a:endParaRPr lang="en-US" sz="1050" dirty="0"/>
          </a:p>
        </p:txBody>
      </p:sp>
      <p:sp>
        <p:nvSpPr>
          <p:cNvPr id="40" name="Shape 33"/>
          <p:cNvSpPr/>
          <p:nvPr/>
        </p:nvSpPr>
        <p:spPr>
          <a:xfrm>
            <a:off x="365760" y="4270248"/>
            <a:ext cx="8412480" cy="594360"/>
          </a:xfrm>
          <a:prstGeom prst="rect">
            <a:avLst/>
          </a:prstGeom>
          <a:solidFill>
            <a:srgbClr val="F8FAFC"/>
          </a:solidFill>
          <a:ln w="6350">
            <a:solidFill>
              <a:srgbClr val="E2E8F0"/>
            </a:solidFill>
            <a:prstDash val="solid"/>
          </a:ln>
        </p:spPr>
        <p:txBody>
          <a:bodyPr/>
          <a:lstStyle/>
          <a:p>
            <a:endParaRPr lang="en-US"/>
          </a:p>
        </p:txBody>
      </p:sp>
      <p:sp>
        <p:nvSpPr>
          <p:cNvPr id="41" name="Shape 34"/>
          <p:cNvSpPr/>
          <p:nvPr/>
        </p:nvSpPr>
        <p:spPr>
          <a:xfrm>
            <a:off x="365760" y="4270248"/>
            <a:ext cx="54864" cy="594360"/>
          </a:xfrm>
          <a:prstGeom prst="rect">
            <a:avLst/>
          </a:prstGeom>
          <a:solidFill>
            <a:srgbClr val="DC2626"/>
          </a:solidFill>
          <a:ln w="12700">
            <a:solidFill>
              <a:srgbClr val="DC2626"/>
            </a:solidFill>
            <a:prstDash val="solid"/>
          </a:ln>
        </p:spPr>
        <p:txBody>
          <a:bodyPr/>
          <a:lstStyle/>
          <a:p>
            <a:endParaRPr lang="en-US"/>
          </a:p>
        </p:txBody>
      </p:sp>
      <p:sp>
        <p:nvSpPr>
          <p:cNvPr id="42" name="Shape 35"/>
          <p:cNvSpPr/>
          <p:nvPr/>
        </p:nvSpPr>
        <p:spPr>
          <a:xfrm>
            <a:off x="530352" y="4361688"/>
            <a:ext cx="411480" cy="411480"/>
          </a:xfrm>
          <a:prstGeom prst="ellipse">
            <a:avLst/>
          </a:prstGeom>
          <a:solidFill>
            <a:srgbClr val="DC2626">
              <a:alpha val="85000"/>
            </a:srgbClr>
          </a:solidFill>
          <a:ln w="12700">
            <a:solidFill>
              <a:srgbClr val="DC2626">
                <a:alpha val="70000"/>
              </a:srgbClr>
            </a:solidFill>
            <a:prstDash val="solid"/>
          </a:ln>
        </p:spPr>
        <p:txBody>
          <a:bodyPr/>
          <a:lstStyle/>
          <a:p>
            <a:endParaRPr lang="en-US"/>
          </a:p>
        </p:txBody>
      </p:sp>
      <p:pic>
        <p:nvPicPr>
          <p:cNvPr id="43" name="Image 5" descr="preencoded.png"/>
          <p:cNvPicPr>
            <a:picLocks noChangeAspect="1"/>
          </p:cNvPicPr>
          <p:nvPr/>
        </p:nvPicPr>
        <p:blipFill>
          <a:blip r:embed="rId7"/>
          <a:stretch>
            <a:fillRect/>
          </a:stretch>
        </p:blipFill>
        <p:spPr>
          <a:xfrm>
            <a:off x="603504" y="4416552"/>
            <a:ext cx="256032" cy="256032"/>
          </a:xfrm>
          <a:prstGeom prst="rect">
            <a:avLst/>
          </a:prstGeom>
        </p:spPr>
      </p:pic>
      <p:sp>
        <p:nvSpPr>
          <p:cNvPr id="44" name="Text 36"/>
          <p:cNvSpPr/>
          <p:nvPr/>
        </p:nvSpPr>
        <p:spPr>
          <a:xfrm>
            <a:off x="1078992" y="4361688"/>
            <a:ext cx="2331720" cy="402336"/>
          </a:xfrm>
          <a:prstGeom prst="rect">
            <a:avLst/>
          </a:prstGeom>
          <a:noFill/>
          <a:ln/>
        </p:spPr>
        <p:txBody>
          <a:bodyPr wrap="square" lIns="0" tIns="0" rIns="0" bIns="0" rtlCol="0" anchor="ctr"/>
          <a:lstStyle/>
          <a:p>
            <a:pPr marL="0" indent="0">
              <a:buNone/>
            </a:pPr>
            <a:r>
              <a:rPr lang="en-US" sz="1200" b="1" dirty="0">
                <a:solidFill>
                  <a:srgbClr val="1B2A4A"/>
                </a:solidFill>
                <a:latin typeface="Trebuchet MS" pitchFamily="34" charset="0"/>
                <a:ea typeface="Trebuchet MS" pitchFamily="34" charset="-122"/>
                <a:cs typeface="Trebuchet MS" pitchFamily="34" charset="-120"/>
              </a:rPr>
              <a:t>Audit / Examination Materials</a:t>
            </a:r>
            <a:endParaRPr lang="en-US" sz="1200" dirty="0"/>
          </a:p>
        </p:txBody>
      </p:sp>
      <p:sp>
        <p:nvSpPr>
          <p:cNvPr id="45" name="Text 37"/>
          <p:cNvSpPr/>
          <p:nvPr/>
        </p:nvSpPr>
        <p:spPr>
          <a:xfrm>
            <a:off x="3520440" y="4361688"/>
            <a:ext cx="3017520" cy="402336"/>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Inaccuracies have direct regulatory consequences</a:t>
            </a:r>
            <a:endParaRPr lang="en-US" sz="1100" dirty="0"/>
          </a:p>
        </p:txBody>
      </p:sp>
      <p:sp>
        <p:nvSpPr>
          <p:cNvPr id="46" name="Text 38"/>
          <p:cNvSpPr/>
          <p:nvPr/>
        </p:nvSpPr>
        <p:spPr>
          <a:xfrm>
            <a:off x="6656832" y="4361688"/>
            <a:ext cx="1993392" cy="402336"/>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Full human ownership of final content</a:t>
            </a:r>
            <a:endParaRPr lang="en-US" sz="1050" dirty="0"/>
          </a:p>
        </p:txBody>
      </p:sp>
      <p:sp>
        <p:nvSpPr>
          <p:cNvPr id="47" name="Shape 39"/>
          <p:cNvSpPr/>
          <p:nvPr/>
        </p:nvSpPr>
        <p:spPr>
          <a:xfrm>
            <a:off x="365760" y="914400"/>
            <a:ext cx="8412480" cy="109728"/>
          </a:xfrm>
          <a:prstGeom prst="rect">
            <a:avLst/>
          </a:prstGeom>
          <a:solidFill>
            <a:srgbClr val="1B2A4A"/>
          </a:solidFill>
          <a:ln w="12700">
            <a:solidFill>
              <a:srgbClr val="1B2A4A"/>
            </a:solidFill>
            <a:prstDash val="solid"/>
          </a:ln>
        </p:spPr>
        <p:txBody>
          <a:bodyPr/>
          <a:lstStyle/>
          <a:p>
            <a:endParaRPr lang="en-US"/>
          </a:p>
        </p:txBody>
      </p:sp>
      <p:sp>
        <p:nvSpPr>
          <p:cNvPr id="48" name="Text 40"/>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
    <p:bg>
      <p:bgPr>
        <a:solidFill>
          <a:srgbClr val="7C3AED"/>
        </a:solidFill>
        <a:effectLst/>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6D28D9">
              <a:alpha val="50000"/>
            </a:srgbClr>
          </a:solidFill>
          <a:ln w="12700">
            <a:solidFill>
              <a:srgbClr val="6D28D9">
                <a:alpha val="60000"/>
              </a:srgbClr>
            </a:solidFill>
            <a:prstDash val="solid"/>
          </a:ln>
        </p:spPr>
        <p:txBody>
          <a:bodyPr/>
          <a:lstStyle/>
          <a:p>
            <a:endParaRPr lang="en-US"/>
          </a:p>
        </p:txBody>
      </p:sp>
      <p:sp>
        <p:nvSpPr>
          <p:cNvPr id="3" name="Shape 1"/>
          <p:cNvSpPr/>
          <p:nvPr/>
        </p:nvSpPr>
        <p:spPr>
          <a:xfrm>
            <a:off x="6858000" y="2286000"/>
            <a:ext cx="3657600" cy="3657600"/>
          </a:xfrm>
          <a:prstGeom prst="ellipse">
            <a:avLst/>
          </a:prstGeom>
          <a:solidFill>
            <a:srgbClr val="5B21B6">
              <a:alpha val="60000"/>
            </a:srgbClr>
          </a:solidFill>
          <a:ln w="12700">
            <a:solidFill>
              <a:srgbClr val="5B21B6">
                <a:alpha val="70000"/>
              </a:srgbClr>
            </a:solidFill>
            <a:prstDash val="solid"/>
          </a:ln>
        </p:spPr>
        <p:txBody>
          <a:bodyPr/>
          <a:lstStyle/>
          <a:p>
            <a:endParaRPr lang="en-US"/>
          </a:p>
        </p:txBody>
      </p:sp>
      <p:sp>
        <p:nvSpPr>
          <p:cNvPr id="4" name="Shape 2"/>
          <p:cNvSpPr/>
          <p:nvPr/>
        </p:nvSpPr>
        <p:spPr>
          <a:xfrm>
            <a:off x="7498080" y="457200"/>
            <a:ext cx="640080" cy="640080"/>
          </a:xfrm>
          <a:prstGeom prst="ellipse">
            <a:avLst/>
          </a:prstGeom>
          <a:solidFill>
            <a:srgbClr val="0D9488">
              <a:alpha val="70000"/>
            </a:srgbClr>
          </a:solidFill>
          <a:ln w="12700">
            <a:solidFill>
              <a:srgbClr val="0D9488">
                <a:alpha val="80000"/>
              </a:srgbClr>
            </a:solidFill>
            <a:prstDash val="solid"/>
          </a:ln>
        </p:spPr>
        <p:txBody>
          <a:bodyPr/>
          <a:lstStyle/>
          <a:p>
            <a:endParaRPr lang="en-US"/>
          </a:p>
        </p:txBody>
      </p:sp>
      <p:sp>
        <p:nvSpPr>
          <p:cNvPr id="5" name="Text 3"/>
          <p:cNvSpPr/>
          <p:nvPr/>
        </p:nvSpPr>
        <p:spPr>
          <a:xfrm>
            <a:off x="7498080" y="457200"/>
            <a:ext cx="64008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D1</a:t>
            </a:r>
            <a:endParaRPr lang="en-US" sz="1100" dirty="0"/>
          </a:p>
        </p:txBody>
      </p:sp>
      <p:sp>
        <p:nvSpPr>
          <p:cNvPr id="6" name="Shape 4"/>
          <p:cNvSpPr/>
          <p:nvPr/>
        </p:nvSpPr>
        <p:spPr>
          <a:xfrm>
            <a:off x="8275320" y="457200"/>
            <a:ext cx="640080" cy="640080"/>
          </a:xfrm>
          <a:prstGeom prst="ellipse">
            <a:avLst/>
          </a:prstGeom>
          <a:solidFill>
            <a:srgbClr val="F97316">
              <a:alpha val="70000"/>
            </a:srgbClr>
          </a:solidFill>
          <a:ln w="12700">
            <a:solidFill>
              <a:srgbClr val="F97316">
                <a:alpha val="80000"/>
              </a:srgbClr>
            </a:solidFill>
            <a:prstDash val="solid"/>
          </a:ln>
        </p:spPr>
        <p:txBody>
          <a:bodyPr/>
          <a:lstStyle/>
          <a:p>
            <a:endParaRPr lang="en-US"/>
          </a:p>
        </p:txBody>
      </p:sp>
      <p:sp>
        <p:nvSpPr>
          <p:cNvPr id="7" name="Text 5"/>
          <p:cNvSpPr/>
          <p:nvPr/>
        </p:nvSpPr>
        <p:spPr>
          <a:xfrm>
            <a:off x="8275320" y="457200"/>
            <a:ext cx="64008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D2</a:t>
            </a:r>
            <a:endParaRPr lang="en-US" sz="1100" dirty="0"/>
          </a:p>
        </p:txBody>
      </p:sp>
      <p:sp>
        <p:nvSpPr>
          <p:cNvPr id="8" name="Shape 6"/>
          <p:cNvSpPr/>
          <p:nvPr/>
        </p:nvSpPr>
        <p:spPr>
          <a:xfrm>
            <a:off x="7498080" y="1234440"/>
            <a:ext cx="640080" cy="640080"/>
          </a:xfrm>
          <a:prstGeom prst="ellipse">
            <a:avLst/>
          </a:prstGeom>
          <a:solidFill>
            <a:srgbClr val="F59E0B">
              <a:alpha val="70000"/>
            </a:srgbClr>
          </a:solidFill>
          <a:ln w="12700">
            <a:solidFill>
              <a:srgbClr val="F59E0B">
                <a:alpha val="80000"/>
              </a:srgbClr>
            </a:solidFill>
            <a:prstDash val="solid"/>
          </a:ln>
        </p:spPr>
        <p:txBody>
          <a:bodyPr/>
          <a:lstStyle/>
          <a:p>
            <a:endParaRPr lang="en-US"/>
          </a:p>
        </p:txBody>
      </p:sp>
      <p:sp>
        <p:nvSpPr>
          <p:cNvPr id="9" name="Text 7"/>
          <p:cNvSpPr/>
          <p:nvPr/>
        </p:nvSpPr>
        <p:spPr>
          <a:xfrm>
            <a:off x="7498080" y="1234440"/>
            <a:ext cx="64008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D3</a:t>
            </a:r>
            <a:endParaRPr lang="en-US" sz="1100" dirty="0"/>
          </a:p>
        </p:txBody>
      </p:sp>
      <p:sp>
        <p:nvSpPr>
          <p:cNvPr id="10" name="Shape 8"/>
          <p:cNvSpPr/>
          <p:nvPr/>
        </p:nvSpPr>
        <p:spPr>
          <a:xfrm>
            <a:off x="8275320" y="1234440"/>
            <a:ext cx="640080" cy="640080"/>
          </a:xfrm>
          <a:prstGeom prst="ellipse">
            <a:avLst/>
          </a:prstGeom>
          <a:solidFill>
            <a:srgbClr val="16A34A">
              <a:alpha val="70000"/>
            </a:srgbClr>
          </a:solidFill>
          <a:ln w="12700">
            <a:solidFill>
              <a:srgbClr val="16A34A">
                <a:alpha val="80000"/>
              </a:srgbClr>
            </a:solidFill>
            <a:prstDash val="solid"/>
          </a:ln>
        </p:spPr>
        <p:txBody>
          <a:bodyPr/>
          <a:lstStyle/>
          <a:p>
            <a:endParaRPr lang="en-US"/>
          </a:p>
        </p:txBody>
      </p:sp>
      <p:sp>
        <p:nvSpPr>
          <p:cNvPr id="11" name="Text 9"/>
          <p:cNvSpPr/>
          <p:nvPr/>
        </p:nvSpPr>
        <p:spPr>
          <a:xfrm>
            <a:off x="8275320" y="1234440"/>
            <a:ext cx="64008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D4</a:t>
            </a:r>
            <a:endParaRPr lang="en-US" sz="1100" dirty="0"/>
          </a:p>
        </p:txBody>
      </p:sp>
      <p:sp>
        <p:nvSpPr>
          <p:cNvPr id="12" name="Text 10"/>
          <p:cNvSpPr/>
          <p:nvPr/>
        </p:nvSpPr>
        <p:spPr>
          <a:xfrm>
            <a:off x="548640" y="1097280"/>
            <a:ext cx="3657600" cy="365760"/>
          </a:xfrm>
          <a:prstGeom prst="rect">
            <a:avLst/>
          </a:prstGeom>
          <a:noFill/>
          <a:ln/>
        </p:spPr>
        <p:txBody>
          <a:bodyPr wrap="square" lIns="0" tIns="0" rIns="0" bIns="0" rtlCol="0" anchor="ctr"/>
          <a:lstStyle/>
          <a:p>
            <a:pPr marL="0" indent="0">
              <a:buNone/>
            </a:pPr>
            <a:r>
              <a:rPr lang="en-US" sz="1300" b="1" kern="0" spc="500" dirty="0">
                <a:solidFill>
                  <a:srgbClr val="FFFFFF"/>
                </a:solidFill>
                <a:latin typeface="Calibri" pitchFamily="34" charset="0"/>
                <a:ea typeface="Calibri" pitchFamily="34" charset="-122"/>
                <a:cs typeface="Calibri" pitchFamily="34" charset="-120"/>
              </a:rPr>
              <a:t>PART 3</a:t>
            </a:r>
            <a:endParaRPr lang="en-US" sz="1300" dirty="0"/>
          </a:p>
        </p:txBody>
      </p:sp>
      <p:sp>
        <p:nvSpPr>
          <p:cNvPr id="13" name="Text 11"/>
          <p:cNvSpPr/>
          <p:nvPr/>
        </p:nvSpPr>
        <p:spPr>
          <a:xfrm>
            <a:off x="548640" y="1508760"/>
            <a:ext cx="6858000" cy="1828800"/>
          </a:xfrm>
          <a:prstGeom prst="rect">
            <a:avLst/>
          </a:prstGeom>
          <a:noFill/>
          <a:ln/>
        </p:spPr>
        <p:txBody>
          <a:bodyPr wrap="square" lIns="0" tIns="0" rIns="0" bIns="0" rtlCol="0" anchor="ctr"/>
          <a:lstStyle/>
          <a:p>
            <a:pPr marL="0" indent="0">
              <a:buNone/>
            </a:pPr>
            <a:r>
              <a:rPr lang="en-US" sz="5200" b="1" dirty="0">
                <a:solidFill>
                  <a:srgbClr val="FFFFFF"/>
                </a:solidFill>
                <a:latin typeface="Trebuchet MS" pitchFamily="34" charset="0"/>
                <a:ea typeface="Trebuchet MS" pitchFamily="34" charset="-122"/>
                <a:cs typeface="Trebuchet MS" pitchFamily="34" charset="-120"/>
              </a:rPr>
              <a:t>The 4Ds</a:t>
            </a:r>
            <a:endParaRPr lang="en-US" sz="5200" dirty="0"/>
          </a:p>
          <a:p>
            <a:pPr marL="0" indent="0">
              <a:buNone/>
            </a:pPr>
            <a:r>
              <a:rPr lang="en-US" sz="5200" b="1" dirty="0">
                <a:solidFill>
                  <a:srgbClr val="FFFFFF"/>
                </a:solidFill>
                <a:latin typeface="Trebuchet MS" pitchFamily="34" charset="0"/>
                <a:ea typeface="Trebuchet MS" pitchFamily="34" charset="-122"/>
                <a:cs typeface="Trebuchet MS" pitchFamily="34" charset="-120"/>
              </a:rPr>
              <a:t>Framework</a:t>
            </a:r>
            <a:endParaRPr lang="en-US" sz="5200" dirty="0"/>
          </a:p>
        </p:txBody>
      </p:sp>
      <p:sp>
        <p:nvSpPr>
          <p:cNvPr id="14" name="Text 12"/>
          <p:cNvSpPr/>
          <p:nvPr/>
        </p:nvSpPr>
        <p:spPr>
          <a:xfrm>
            <a:off x="548640" y="3401568"/>
            <a:ext cx="7315200" cy="384048"/>
          </a:xfrm>
          <a:prstGeom prst="rect">
            <a:avLst/>
          </a:prstGeom>
          <a:noFill/>
          <a:ln/>
        </p:spPr>
        <p:txBody>
          <a:bodyPr wrap="square" lIns="0" tIns="0" rIns="0" bIns="0" rtlCol="0" anchor="ctr"/>
          <a:lstStyle/>
          <a:p>
            <a:pPr marL="0" indent="0">
              <a:buNone/>
            </a:pPr>
            <a:r>
              <a:rPr lang="en-US" sz="1500" i="1" kern="0" spc="100" dirty="0">
                <a:solidFill>
                  <a:srgbClr val="FFFFFF"/>
                </a:solidFill>
                <a:latin typeface="Calibri" pitchFamily="34" charset="0"/>
                <a:ea typeface="Calibri" pitchFamily="34" charset="-122"/>
                <a:cs typeface="Calibri" pitchFamily="34" charset="-120"/>
              </a:rPr>
              <a:t>Delegation  ·  Description  ·  Discernment  ·  Diligence</a:t>
            </a:r>
            <a:endParaRPr lang="en-US" sz="1500" dirty="0"/>
          </a:p>
        </p:txBody>
      </p:sp>
      <p:pic>
        <p:nvPicPr>
          <p:cNvPr id="15" name="Image 0" descr="preencoded.png"/>
          <p:cNvPicPr>
            <a:picLocks noChangeAspect="1"/>
          </p:cNvPicPr>
          <p:nvPr/>
        </p:nvPicPr>
        <p:blipFill>
          <a:blip r:embed="rId3"/>
          <a:stretch>
            <a:fillRect/>
          </a:stretch>
        </p:blipFill>
        <p:spPr>
          <a:xfrm>
            <a:off x="502920" y="3977640"/>
            <a:ext cx="475488" cy="475488"/>
          </a:xfrm>
          <a:prstGeom prst="rect">
            <a:avLst/>
          </a:prstGeom>
        </p:spPr>
      </p:pic>
      <p:sp>
        <p:nvSpPr>
          <p:cNvPr id="16" name="Text 13"/>
          <p:cNvSpPr/>
          <p:nvPr/>
        </p:nvSpPr>
        <p:spPr>
          <a:xfrm>
            <a:off x="1078992" y="4096512"/>
            <a:ext cx="6400800" cy="2743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Source: AI Fluency: Foundations of Working With AI  ·  Slides 22–31</a:t>
            </a:r>
            <a:endParaRPr lang="en-US" sz="1100" dirty="0"/>
          </a:p>
        </p:txBody>
      </p:sp>
      <p:sp>
        <p:nvSpPr>
          <p:cNvPr id="17" name="Text 14"/>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5EEAD4"/>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64592"/>
            <a:ext cx="8229600" cy="475488"/>
          </a:xfrm>
          <a:prstGeom prst="rect">
            <a:avLst/>
          </a:prstGeom>
          <a:noFill/>
          <a:ln/>
        </p:spPr>
        <p:txBody>
          <a:bodyPr wrap="square" lIns="0" tIns="0" rIns="0" bIns="0" rtlCol="0" anchor="ctr"/>
          <a:lstStyle/>
          <a:p>
            <a:pPr marL="0" indent="0">
              <a:buNone/>
            </a:pPr>
            <a:r>
              <a:rPr lang="en-US" sz="2600" b="1" dirty="0">
                <a:solidFill>
                  <a:srgbClr val="1B2A4A"/>
                </a:solidFill>
                <a:latin typeface="Trebuchet MS" pitchFamily="34" charset="0"/>
                <a:ea typeface="Trebuchet MS" pitchFamily="34" charset="-122"/>
                <a:cs typeface="Trebuchet MS" pitchFamily="34" charset="-120"/>
              </a:rPr>
              <a:t>Why a Framework? (And Why This One)</a:t>
            </a:r>
            <a:endParaRPr lang="en-US" sz="2600" dirty="0"/>
          </a:p>
        </p:txBody>
      </p:sp>
      <p:sp>
        <p:nvSpPr>
          <p:cNvPr id="4" name="Text 2"/>
          <p:cNvSpPr/>
          <p:nvPr/>
        </p:nvSpPr>
        <p:spPr>
          <a:xfrm>
            <a:off x="457200" y="667512"/>
            <a:ext cx="8229600" cy="25603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Tools change rapidly. Techniques evolve. The underlying professional judgment required doesn't.</a:t>
            </a:r>
            <a:endParaRPr lang="en-US" sz="1200" dirty="0"/>
          </a:p>
        </p:txBody>
      </p:sp>
      <p:sp>
        <p:nvSpPr>
          <p:cNvPr id="5" name="Shape 3"/>
          <p:cNvSpPr/>
          <p:nvPr/>
        </p:nvSpPr>
        <p:spPr>
          <a:xfrm>
            <a:off x="365760" y="1005840"/>
            <a:ext cx="3977640" cy="2999232"/>
          </a:xfrm>
          <a:prstGeom prst="rect">
            <a:avLst/>
          </a:prstGeom>
          <a:solidFill>
            <a:srgbClr val="FFFFFF"/>
          </a:solidFill>
          <a:ln w="1270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6" name="Shape 4"/>
          <p:cNvSpPr/>
          <p:nvPr/>
        </p:nvSpPr>
        <p:spPr>
          <a:xfrm>
            <a:off x="365760" y="1005840"/>
            <a:ext cx="64008" cy="2999232"/>
          </a:xfrm>
          <a:prstGeom prst="rect">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548640" y="1078992"/>
            <a:ext cx="3657600" cy="347472"/>
          </a:xfrm>
          <a:prstGeom prst="rect">
            <a:avLst/>
          </a:prstGeom>
          <a:noFill/>
          <a:ln/>
        </p:spPr>
        <p:txBody>
          <a:bodyPr wrap="square" lIns="0" tIns="0" rIns="0" bIns="0"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The Case for a Framework</a:t>
            </a:r>
            <a:endParaRPr lang="en-US" sz="1400" dirty="0"/>
          </a:p>
        </p:txBody>
      </p:sp>
      <p:sp>
        <p:nvSpPr>
          <p:cNvPr id="8" name="Text 6"/>
          <p:cNvSpPr/>
          <p:nvPr/>
        </p:nvSpPr>
        <p:spPr>
          <a:xfrm>
            <a:off x="548640" y="1508760"/>
            <a:ext cx="3657600" cy="2359152"/>
          </a:xfrm>
          <a:prstGeom prst="rect">
            <a:avLst/>
          </a:prstGeom>
          <a:noFill/>
          <a:ln/>
        </p:spPr>
        <p:txBody>
          <a:bodyPr wrap="square" lIns="0" tIns="0" rIns="0" bIns="0" rtlCol="0" anchor="ctr"/>
          <a:lstStyle/>
          <a:p>
            <a:pPr marL="0" indent="0">
              <a:buNone/>
            </a:pPr>
            <a:r>
              <a:rPr lang="en-US" sz="1200" b="1" dirty="0">
                <a:solidFill>
                  <a:srgbClr val="F97316"/>
                </a:solidFill>
                <a:latin typeface="Calibri" pitchFamily="34" charset="0"/>
                <a:ea typeface="Calibri" pitchFamily="34" charset="-122"/>
                <a:cs typeface="Calibri" pitchFamily="34" charset="-120"/>
              </a:rPr>
              <a:t>Specific tools will be replaced.</a:t>
            </a:r>
            <a:endParaRPr lang="en-US" sz="1200" dirty="0"/>
          </a:p>
          <a:p>
            <a:pPr marL="0" indent="0">
              <a:buNone/>
            </a:pPr>
            <a:r>
              <a:rPr lang="en-US" sz="1200" b="1" dirty="0">
                <a:solidFill>
                  <a:srgbClr val="F97316"/>
                </a:solidFill>
                <a:latin typeface="Calibri" pitchFamily="34" charset="0"/>
                <a:ea typeface="Calibri" pitchFamily="34" charset="-122"/>
                <a:cs typeface="Calibri" pitchFamily="34" charset="-120"/>
              </a:rPr>
              <a:t>Specific techniques will be superseded.
</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The 4Ds work for any AI interaction — regardless of tool, task, or technology.
</a:t>
            </a:r>
            <a:endParaRPr lang="en-US" sz="1200" dirty="0"/>
          </a:p>
          <a:p>
            <a:pPr marL="0" indent="0">
              <a:buNone/>
            </a:pPr>
            <a:r>
              <a:rPr lang="en-US" sz="1200" i="1" dirty="0">
                <a:solidFill>
                  <a:srgbClr val="475569"/>
                </a:solidFill>
                <a:latin typeface="Calibri" pitchFamily="34" charset="0"/>
                <a:ea typeface="Calibri" pitchFamily="34" charset="-122"/>
                <a:cs typeface="Calibri" pitchFamily="34" charset="-120"/>
              </a:rPr>
              <a:t>A participant who forgets every specific technique will still be well-equipped if they remember and apply the 4Ds.</a:t>
            </a:r>
            <a:endParaRPr lang="en-US" sz="1200" dirty="0"/>
          </a:p>
        </p:txBody>
      </p:sp>
      <p:sp>
        <p:nvSpPr>
          <p:cNvPr id="9" name="Shape 7"/>
          <p:cNvSpPr/>
          <p:nvPr/>
        </p:nvSpPr>
        <p:spPr>
          <a:xfrm>
            <a:off x="4663440" y="1005840"/>
            <a:ext cx="4114800" cy="2999232"/>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10" name="Shape 8"/>
          <p:cNvSpPr/>
          <p:nvPr/>
        </p:nvSpPr>
        <p:spPr>
          <a:xfrm>
            <a:off x="4663440" y="1005840"/>
            <a:ext cx="4114800" cy="384048"/>
          </a:xfrm>
          <a:prstGeom prst="rect">
            <a:avLst/>
          </a:prstGeom>
          <a:solidFill>
            <a:srgbClr val="7C3AED"/>
          </a:solidFill>
          <a:ln w="12700">
            <a:solidFill>
              <a:srgbClr val="7C3AED"/>
            </a:solidFill>
            <a:prstDash val="solid"/>
          </a:ln>
        </p:spPr>
        <p:txBody>
          <a:bodyPr/>
          <a:lstStyle/>
          <a:p>
            <a:endParaRPr lang="en-US"/>
          </a:p>
        </p:txBody>
      </p:sp>
      <p:sp>
        <p:nvSpPr>
          <p:cNvPr id="11" name="Text 9"/>
          <p:cNvSpPr/>
          <p:nvPr/>
        </p:nvSpPr>
        <p:spPr>
          <a:xfrm>
            <a:off x="4800600" y="1042416"/>
            <a:ext cx="3840480" cy="329184"/>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Four Questions Every Pro Should Ask</a:t>
            </a:r>
            <a:endParaRPr lang="en-US" sz="1300" dirty="0"/>
          </a:p>
        </p:txBody>
      </p:sp>
      <p:sp>
        <p:nvSpPr>
          <p:cNvPr id="12" name="Shape 10"/>
          <p:cNvSpPr/>
          <p:nvPr/>
        </p:nvSpPr>
        <p:spPr>
          <a:xfrm>
            <a:off x="4736592" y="1508760"/>
            <a:ext cx="3886200" cy="548640"/>
          </a:xfrm>
          <a:prstGeom prst="rect">
            <a:avLst/>
          </a:prstGeom>
          <a:solidFill>
            <a:srgbClr val="F8FAFC"/>
          </a:solidFill>
          <a:ln w="6350">
            <a:solidFill>
              <a:srgbClr val="E2E8F0"/>
            </a:solidFill>
            <a:prstDash val="solid"/>
          </a:ln>
        </p:spPr>
        <p:txBody>
          <a:bodyPr/>
          <a:lstStyle/>
          <a:p>
            <a:endParaRPr lang="en-US"/>
          </a:p>
        </p:txBody>
      </p:sp>
      <p:sp>
        <p:nvSpPr>
          <p:cNvPr id="13" name="Shape 11"/>
          <p:cNvSpPr/>
          <p:nvPr/>
        </p:nvSpPr>
        <p:spPr>
          <a:xfrm>
            <a:off x="4809744" y="1600200"/>
            <a:ext cx="365760" cy="365760"/>
          </a:xfrm>
          <a:prstGeom prst="ellipse">
            <a:avLst/>
          </a:prstGeom>
          <a:solidFill>
            <a:srgbClr val="0D9488"/>
          </a:solidFill>
          <a:ln w="12700">
            <a:solidFill>
              <a:srgbClr val="0D9488"/>
            </a:solidFill>
            <a:prstDash val="solid"/>
          </a:ln>
        </p:spPr>
        <p:txBody>
          <a:bodyPr/>
          <a:lstStyle/>
          <a:p>
            <a:endParaRPr lang="en-US"/>
          </a:p>
        </p:txBody>
      </p:sp>
      <p:sp>
        <p:nvSpPr>
          <p:cNvPr id="14" name="Text 12"/>
          <p:cNvSpPr/>
          <p:nvPr/>
        </p:nvSpPr>
        <p:spPr>
          <a:xfrm>
            <a:off x="5285232" y="1563624"/>
            <a:ext cx="251460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Should I be doing this with AI at all?</a:t>
            </a:r>
            <a:endParaRPr lang="en-US" sz="1100" dirty="0"/>
          </a:p>
        </p:txBody>
      </p:sp>
      <p:sp>
        <p:nvSpPr>
          <p:cNvPr id="15" name="Shape 13"/>
          <p:cNvSpPr/>
          <p:nvPr/>
        </p:nvSpPr>
        <p:spPr>
          <a:xfrm>
            <a:off x="7863840" y="1581912"/>
            <a:ext cx="658368" cy="402336"/>
          </a:xfrm>
          <a:prstGeom prst="rect">
            <a:avLst/>
          </a:prstGeom>
          <a:solidFill>
            <a:srgbClr val="0D9488"/>
          </a:solidFill>
          <a:ln w="12700">
            <a:solidFill>
              <a:srgbClr val="0D9488"/>
            </a:solidFill>
            <a:prstDash val="solid"/>
          </a:ln>
        </p:spPr>
        <p:txBody>
          <a:bodyPr/>
          <a:lstStyle/>
          <a:p>
            <a:endParaRPr lang="en-US"/>
          </a:p>
        </p:txBody>
      </p:sp>
      <p:sp>
        <p:nvSpPr>
          <p:cNvPr id="16" name="Text 14"/>
          <p:cNvSpPr/>
          <p:nvPr/>
        </p:nvSpPr>
        <p:spPr>
          <a:xfrm>
            <a:off x="7863840" y="1581912"/>
            <a:ext cx="658368" cy="40233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Delegation</a:t>
            </a:r>
            <a:endParaRPr lang="en-US" sz="900" dirty="0"/>
          </a:p>
        </p:txBody>
      </p:sp>
      <p:sp>
        <p:nvSpPr>
          <p:cNvPr id="17" name="Shape 15"/>
          <p:cNvSpPr/>
          <p:nvPr/>
        </p:nvSpPr>
        <p:spPr>
          <a:xfrm>
            <a:off x="4736592" y="2112264"/>
            <a:ext cx="3886200" cy="548640"/>
          </a:xfrm>
          <a:prstGeom prst="rect">
            <a:avLst/>
          </a:prstGeom>
          <a:solidFill>
            <a:srgbClr val="F8FAFC"/>
          </a:solidFill>
          <a:ln w="6350">
            <a:solidFill>
              <a:srgbClr val="E2E8F0"/>
            </a:solidFill>
            <a:prstDash val="solid"/>
          </a:ln>
        </p:spPr>
        <p:txBody>
          <a:bodyPr/>
          <a:lstStyle/>
          <a:p>
            <a:endParaRPr lang="en-US"/>
          </a:p>
        </p:txBody>
      </p:sp>
      <p:sp>
        <p:nvSpPr>
          <p:cNvPr id="18" name="Shape 16"/>
          <p:cNvSpPr/>
          <p:nvPr/>
        </p:nvSpPr>
        <p:spPr>
          <a:xfrm>
            <a:off x="4809744" y="2203704"/>
            <a:ext cx="365760" cy="365760"/>
          </a:xfrm>
          <a:prstGeom prst="ellipse">
            <a:avLst/>
          </a:prstGeom>
          <a:solidFill>
            <a:srgbClr val="F97316"/>
          </a:solidFill>
          <a:ln w="12700">
            <a:solidFill>
              <a:srgbClr val="F97316"/>
            </a:solidFill>
            <a:prstDash val="solid"/>
          </a:ln>
        </p:spPr>
        <p:txBody>
          <a:bodyPr/>
          <a:lstStyle/>
          <a:p>
            <a:endParaRPr lang="en-US"/>
          </a:p>
        </p:txBody>
      </p:sp>
      <p:sp>
        <p:nvSpPr>
          <p:cNvPr id="19" name="Text 17"/>
          <p:cNvSpPr/>
          <p:nvPr/>
        </p:nvSpPr>
        <p:spPr>
          <a:xfrm>
            <a:off x="5285232" y="2167128"/>
            <a:ext cx="251460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Am I communicating clearly enough?</a:t>
            </a:r>
            <a:endParaRPr lang="en-US" sz="1100" dirty="0"/>
          </a:p>
        </p:txBody>
      </p:sp>
      <p:sp>
        <p:nvSpPr>
          <p:cNvPr id="20" name="Shape 18"/>
          <p:cNvSpPr/>
          <p:nvPr/>
        </p:nvSpPr>
        <p:spPr>
          <a:xfrm>
            <a:off x="7863840" y="2185416"/>
            <a:ext cx="658368" cy="402336"/>
          </a:xfrm>
          <a:prstGeom prst="rect">
            <a:avLst/>
          </a:prstGeom>
          <a:solidFill>
            <a:srgbClr val="F97316"/>
          </a:solidFill>
          <a:ln w="12700">
            <a:solidFill>
              <a:srgbClr val="F97316"/>
            </a:solidFill>
            <a:prstDash val="solid"/>
          </a:ln>
        </p:spPr>
        <p:txBody>
          <a:bodyPr/>
          <a:lstStyle/>
          <a:p>
            <a:endParaRPr lang="en-US"/>
          </a:p>
        </p:txBody>
      </p:sp>
      <p:sp>
        <p:nvSpPr>
          <p:cNvPr id="21" name="Text 19"/>
          <p:cNvSpPr/>
          <p:nvPr/>
        </p:nvSpPr>
        <p:spPr>
          <a:xfrm>
            <a:off x="7863840" y="2185416"/>
            <a:ext cx="658368" cy="40233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Description</a:t>
            </a:r>
            <a:endParaRPr lang="en-US" sz="900" dirty="0"/>
          </a:p>
        </p:txBody>
      </p:sp>
      <p:sp>
        <p:nvSpPr>
          <p:cNvPr id="22" name="Shape 20"/>
          <p:cNvSpPr/>
          <p:nvPr/>
        </p:nvSpPr>
        <p:spPr>
          <a:xfrm>
            <a:off x="4736592" y="2715768"/>
            <a:ext cx="3886200" cy="548640"/>
          </a:xfrm>
          <a:prstGeom prst="rect">
            <a:avLst/>
          </a:prstGeom>
          <a:solidFill>
            <a:srgbClr val="F8FAFC"/>
          </a:solidFill>
          <a:ln w="6350">
            <a:solidFill>
              <a:srgbClr val="E2E8F0"/>
            </a:solidFill>
            <a:prstDash val="solid"/>
          </a:ln>
        </p:spPr>
        <p:txBody>
          <a:bodyPr/>
          <a:lstStyle/>
          <a:p>
            <a:endParaRPr lang="en-US"/>
          </a:p>
        </p:txBody>
      </p:sp>
      <p:sp>
        <p:nvSpPr>
          <p:cNvPr id="23" name="Shape 21"/>
          <p:cNvSpPr/>
          <p:nvPr/>
        </p:nvSpPr>
        <p:spPr>
          <a:xfrm>
            <a:off x="4809744" y="2807208"/>
            <a:ext cx="365760" cy="365760"/>
          </a:xfrm>
          <a:prstGeom prst="ellipse">
            <a:avLst/>
          </a:prstGeom>
          <a:solidFill>
            <a:srgbClr val="F59E0B"/>
          </a:solidFill>
          <a:ln w="12700">
            <a:solidFill>
              <a:srgbClr val="F59E0B"/>
            </a:solidFill>
            <a:prstDash val="solid"/>
          </a:ln>
        </p:spPr>
        <p:txBody>
          <a:bodyPr/>
          <a:lstStyle/>
          <a:p>
            <a:endParaRPr lang="en-US"/>
          </a:p>
        </p:txBody>
      </p:sp>
      <p:sp>
        <p:nvSpPr>
          <p:cNvPr id="24" name="Text 22"/>
          <p:cNvSpPr/>
          <p:nvPr/>
        </p:nvSpPr>
        <p:spPr>
          <a:xfrm>
            <a:off x="5285232" y="2770632"/>
            <a:ext cx="251460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Is what I'm getting back actually good?</a:t>
            </a:r>
            <a:endParaRPr lang="en-US" sz="1100" dirty="0"/>
          </a:p>
        </p:txBody>
      </p:sp>
      <p:sp>
        <p:nvSpPr>
          <p:cNvPr id="25" name="Shape 23"/>
          <p:cNvSpPr/>
          <p:nvPr/>
        </p:nvSpPr>
        <p:spPr>
          <a:xfrm>
            <a:off x="7863840" y="2788920"/>
            <a:ext cx="658368" cy="402336"/>
          </a:xfrm>
          <a:prstGeom prst="rect">
            <a:avLst/>
          </a:prstGeom>
          <a:solidFill>
            <a:srgbClr val="F59E0B"/>
          </a:solidFill>
          <a:ln w="12700">
            <a:solidFill>
              <a:srgbClr val="F59E0B"/>
            </a:solidFill>
            <a:prstDash val="solid"/>
          </a:ln>
        </p:spPr>
        <p:txBody>
          <a:bodyPr/>
          <a:lstStyle/>
          <a:p>
            <a:endParaRPr lang="en-US"/>
          </a:p>
        </p:txBody>
      </p:sp>
      <p:sp>
        <p:nvSpPr>
          <p:cNvPr id="26" name="Text 24"/>
          <p:cNvSpPr/>
          <p:nvPr/>
        </p:nvSpPr>
        <p:spPr>
          <a:xfrm>
            <a:off x="7863840" y="2788920"/>
            <a:ext cx="658368" cy="40233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Discernment</a:t>
            </a:r>
            <a:endParaRPr lang="en-US" sz="900" dirty="0"/>
          </a:p>
        </p:txBody>
      </p:sp>
      <p:sp>
        <p:nvSpPr>
          <p:cNvPr id="27" name="Shape 25"/>
          <p:cNvSpPr/>
          <p:nvPr/>
        </p:nvSpPr>
        <p:spPr>
          <a:xfrm>
            <a:off x="4736592" y="3319272"/>
            <a:ext cx="3886200" cy="548640"/>
          </a:xfrm>
          <a:prstGeom prst="rect">
            <a:avLst/>
          </a:prstGeom>
          <a:solidFill>
            <a:srgbClr val="F8FAFC"/>
          </a:solidFill>
          <a:ln w="6350">
            <a:solidFill>
              <a:srgbClr val="E2E8F0"/>
            </a:solidFill>
            <a:prstDash val="solid"/>
          </a:ln>
        </p:spPr>
        <p:txBody>
          <a:bodyPr/>
          <a:lstStyle/>
          <a:p>
            <a:endParaRPr lang="en-US"/>
          </a:p>
        </p:txBody>
      </p:sp>
      <p:sp>
        <p:nvSpPr>
          <p:cNvPr id="28" name="Shape 26"/>
          <p:cNvSpPr/>
          <p:nvPr/>
        </p:nvSpPr>
        <p:spPr>
          <a:xfrm>
            <a:off x="4809744" y="3410712"/>
            <a:ext cx="365760" cy="365760"/>
          </a:xfrm>
          <a:prstGeom prst="ellipse">
            <a:avLst/>
          </a:prstGeom>
          <a:solidFill>
            <a:srgbClr val="16A34A"/>
          </a:solidFill>
          <a:ln w="12700">
            <a:solidFill>
              <a:srgbClr val="16A34A"/>
            </a:solidFill>
            <a:prstDash val="solid"/>
          </a:ln>
        </p:spPr>
        <p:txBody>
          <a:bodyPr/>
          <a:lstStyle/>
          <a:p>
            <a:endParaRPr lang="en-US"/>
          </a:p>
        </p:txBody>
      </p:sp>
      <p:sp>
        <p:nvSpPr>
          <p:cNvPr id="29" name="Text 27"/>
          <p:cNvSpPr/>
          <p:nvPr/>
        </p:nvSpPr>
        <p:spPr>
          <a:xfrm>
            <a:off x="5285232" y="3374136"/>
            <a:ext cx="251460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Am I using this responsibly?</a:t>
            </a:r>
            <a:endParaRPr lang="en-US" sz="1100" dirty="0"/>
          </a:p>
        </p:txBody>
      </p:sp>
      <p:sp>
        <p:nvSpPr>
          <p:cNvPr id="30" name="Shape 28"/>
          <p:cNvSpPr/>
          <p:nvPr/>
        </p:nvSpPr>
        <p:spPr>
          <a:xfrm>
            <a:off x="7863840" y="3392424"/>
            <a:ext cx="658368" cy="402336"/>
          </a:xfrm>
          <a:prstGeom prst="rect">
            <a:avLst/>
          </a:prstGeom>
          <a:solidFill>
            <a:srgbClr val="16A34A"/>
          </a:solidFill>
          <a:ln w="12700">
            <a:solidFill>
              <a:srgbClr val="16A34A"/>
            </a:solidFill>
            <a:prstDash val="solid"/>
          </a:ln>
        </p:spPr>
        <p:txBody>
          <a:bodyPr/>
          <a:lstStyle/>
          <a:p>
            <a:endParaRPr lang="en-US"/>
          </a:p>
        </p:txBody>
      </p:sp>
      <p:sp>
        <p:nvSpPr>
          <p:cNvPr id="31" name="Text 29"/>
          <p:cNvSpPr/>
          <p:nvPr/>
        </p:nvSpPr>
        <p:spPr>
          <a:xfrm>
            <a:off x="7863840" y="3392424"/>
            <a:ext cx="658368" cy="40233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Diligence</a:t>
            </a:r>
            <a:endParaRPr lang="en-US" sz="900" dirty="0"/>
          </a:p>
        </p:txBody>
      </p:sp>
      <p:sp>
        <p:nvSpPr>
          <p:cNvPr id="32" name="Shape 30"/>
          <p:cNvSpPr/>
          <p:nvPr/>
        </p:nvSpPr>
        <p:spPr>
          <a:xfrm>
            <a:off x="365760" y="4114800"/>
            <a:ext cx="8412480" cy="731520"/>
          </a:xfrm>
          <a:prstGeom prst="rect">
            <a:avLst/>
          </a:prstGeom>
          <a:solidFill>
            <a:srgbClr val="7C3AED">
              <a:alpha val="10000"/>
            </a:srgbClr>
          </a:solidFill>
          <a:ln w="9525">
            <a:solidFill>
              <a:srgbClr val="7C3AED">
                <a:alpha val="50000"/>
              </a:srgbClr>
            </a:solidFill>
            <a:prstDash val="solid"/>
          </a:ln>
        </p:spPr>
        <p:txBody>
          <a:bodyPr/>
          <a:lstStyle/>
          <a:p>
            <a:endParaRPr lang="en-US"/>
          </a:p>
        </p:txBody>
      </p:sp>
      <p:sp>
        <p:nvSpPr>
          <p:cNvPr id="33" name="Text 31"/>
          <p:cNvSpPr/>
          <p:nvPr/>
        </p:nvSpPr>
        <p:spPr>
          <a:xfrm>
            <a:off x="548640" y="4169664"/>
            <a:ext cx="8046720" cy="347472"/>
          </a:xfrm>
          <a:prstGeom prst="rect">
            <a:avLst/>
          </a:prstGeom>
          <a:noFill/>
          <a:ln/>
        </p:spPr>
        <p:txBody>
          <a:bodyPr wrap="square" lIns="0" tIns="0" rIns="0" bIns="0" rtlCol="0" anchor="ctr"/>
          <a:lstStyle/>
          <a:p>
            <a:pPr marL="0" indent="0">
              <a:buNone/>
            </a:pPr>
            <a:r>
              <a:rPr lang="en-US" sz="1250" b="1" dirty="0">
                <a:solidFill>
                  <a:srgbClr val="1B2A4A"/>
                </a:solidFill>
                <a:latin typeface="Trebuchet MS" pitchFamily="34" charset="0"/>
                <a:ea typeface="Trebuchet MS" pitchFamily="34" charset="-122"/>
                <a:cs typeface="Trebuchet MS" pitchFamily="34" charset="-120"/>
              </a:rPr>
              <a:t>The 4Ds are not sequential steps — they're a continuous loop applied to every AI interaction.</a:t>
            </a:r>
            <a:endParaRPr lang="en-US" sz="1250" dirty="0"/>
          </a:p>
        </p:txBody>
      </p:sp>
      <p:sp>
        <p:nvSpPr>
          <p:cNvPr id="34" name="Text 32"/>
          <p:cNvSpPr/>
          <p:nvPr/>
        </p:nvSpPr>
        <p:spPr>
          <a:xfrm>
            <a:off x="548640" y="4517136"/>
            <a:ext cx="8046720" cy="27432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You revisit Delegation when Discernment reveals a mismatch. You refine Description when Discernment catches an error.</a:t>
            </a:r>
            <a:endParaRPr lang="en-US" sz="1050" dirty="0"/>
          </a:p>
        </p:txBody>
      </p:sp>
      <p:sp>
        <p:nvSpPr>
          <p:cNvPr id="35" name="Text 33"/>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64592"/>
            <a:ext cx="8229600" cy="475488"/>
          </a:xfrm>
          <a:prstGeom prst="rect">
            <a:avLst/>
          </a:prstGeom>
          <a:noFill/>
          <a:ln/>
        </p:spPr>
        <p:txBody>
          <a:bodyPr wrap="square" lIns="0" tIns="0" rIns="0" bIns="0" rtlCol="0" anchor="ctr"/>
          <a:lstStyle/>
          <a:p>
            <a:pPr marL="0" indent="0">
              <a:buNone/>
            </a:pPr>
            <a:r>
              <a:rPr lang="en-US" sz="2600" b="1" dirty="0">
                <a:solidFill>
                  <a:srgbClr val="1B2A4A"/>
                </a:solidFill>
                <a:latin typeface="Trebuchet MS" pitchFamily="34" charset="0"/>
                <a:ea typeface="Trebuchet MS" pitchFamily="34" charset="-122"/>
                <a:cs typeface="Trebuchet MS" pitchFamily="34" charset="-120"/>
              </a:rPr>
              <a:t>The Three Modes of AI Interaction</a:t>
            </a:r>
            <a:endParaRPr lang="en-US" sz="2600" dirty="0"/>
          </a:p>
        </p:txBody>
      </p:sp>
      <p:sp>
        <p:nvSpPr>
          <p:cNvPr id="4" name="Text 2"/>
          <p:cNvSpPr/>
          <p:nvPr/>
        </p:nvSpPr>
        <p:spPr>
          <a:xfrm>
            <a:off x="457200" y="667512"/>
            <a:ext cx="8229600" cy="25603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Before applying the 4Ds, know which mode you're operating in — it determines your risk level</a:t>
            </a:r>
            <a:endParaRPr lang="en-US" sz="1200" dirty="0"/>
          </a:p>
        </p:txBody>
      </p:sp>
      <p:sp>
        <p:nvSpPr>
          <p:cNvPr id="5" name="Shape 3"/>
          <p:cNvSpPr/>
          <p:nvPr/>
        </p:nvSpPr>
        <p:spPr>
          <a:xfrm>
            <a:off x="365760" y="1024128"/>
            <a:ext cx="2606040" cy="274320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6" name="Shape 4"/>
          <p:cNvSpPr/>
          <p:nvPr/>
        </p:nvSpPr>
        <p:spPr>
          <a:xfrm>
            <a:off x="365760" y="1024128"/>
            <a:ext cx="2606040" cy="594360"/>
          </a:xfrm>
          <a:prstGeom prst="rect">
            <a:avLst/>
          </a:prstGeom>
          <a:solidFill>
            <a:srgbClr val="0D9488"/>
          </a:solidFill>
          <a:ln w="12700">
            <a:solidFill>
              <a:srgbClr val="0D948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93776" y="1143000"/>
            <a:ext cx="384048" cy="384048"/>
          </a:xfrm>
          <a:prstGeom prst="rect">
            <a:avLst/>
          </a:prstGeom>
        </p:spPr>
      </p:pic>
      <p:sp>
        <p:nvSpPr>
          <p:cNvPr id="8" name="Text 5"/>
          <p:cNvSpPr/>
          <p:nvPr/>
        </p:nvSpPr>
        <p:spPr>
          <a:xfrm>
            <a:off x="960120" y="1133856"/>
            <a:ext cx="1920240" cy="402336"/>
          </a:xfrm>
          <a:prstGeom prst="rect">
            <a:avLst/>
          </a:prstGeom>
          <a:noFill/>
          <a:ln/>
        </p:spPr>
        <p:txBody>
          <a:bodyPr wrap="square" lIns="0" tIns="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Automation</a:t>
            </a:r>
            <a:endParaRPr lang="en-US" sz="1700" dirty="0"/>
          </a:p>
        </p:txBody>
      </p:sp>
      <p:sp>
        <p:nvSpPr>
          <p:cNvPr id="9" name="Text 6"/>
          <p:cNvSpPr/>
          <p:nvPr/>
        </p:nvSpPr>
        <p:spPr>
          <a:xfrm>
            <a:off x="493776" y="1737360"/>
            <a:ext cx="237744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AI performs the task; you review the output</a:t>
            </a:r>
            <a:endParaRPr lang="en-US" sz="1150" dirty="0"/>
          </a:p>
        </p:txBody>
      </p:sp>
      <p:sp>
        <p:nvSpPr>
          <p:cNvPr id="10" name="Shape 7"/>
          <p:cNvSpPr/>
          <p:nvPr/>
        </p:nvSpPr>
        <p:spPr>
          <a:xfrm>
            <a:off x="493776" y="2414016"/>
            <a:ext cx="2377440" cy="292608"/>
          </a:xfrm>
          <a:prstGeom prst="rect">
            <a:avLst/>
          </a:prstGeom>
          <a:solidFill>
            <a:srgbClr val="0D9488">
              <a:alpha val="12000"/>
            </a:srgbClr>
          </a:solidFill>
          <a:ln w="6350">
            <a:solidFill>
              <a:srgbClr val="0D9488">
                <a:alpha val="50000"/>
              </a:srgbClr>
            </a:solidFill>
            <a:prstDash val="solid"/>
          </a:ln>
        </p:spPr>
        <p:txBody>
          <a:bodyPr/>
          <a:lstStyle/>
          <a:p>
            <a:endParaRPr lang="en-US"/>
          </a:p>
        </p:txBody>
      </p:sp>
      <p:sp>
        <p:nvSpPr>
          <p:cNvPr id="11" name="Text 8"/>
          <p:cNvSpPr/>
          <p:nvPr/>
        </p:nvSpPr>
        <p:spPr>
          <a:xfrm>
            <a:off x="566928" y="2432304"/>
            <a:ext cx="2286000" cy="256032"/>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LEADS: AI leads</a:t>
            </a:r>
            <a:endParaRPr lang="en-US" sz="1000" dirty="0"/>
          </a:p>
        </p:txBody>
      </p:sp>
      <p:sp>
        <p:nvSpPr>
          <p:cNvPr id="12" name="Shape 9"/>
          <p:cNvSpPr/>
          <p:nvPr/>
        </p:nvSpPr>
        <p:spPr>
          <a:xfrm>
            <a:off x="493776" y="2779776"/>
            <a:ext cx="2377440" cy="566928"/>
          </a:xfrm>
          <a:prstGeom prst="rect">
            <a:avLst/>
          </a:prstGeom>
          <a:solidFill>
            <a:srgbClr val="F59E0B">
              <a:alpha val="12000"/>
            </a:srgbClr>
          </a:solidFill>
          <a:ln w="6350">
            <a:solidFill>
              <a:srgbClr val="F59E0B">
                <a:alpha val="50000"/>
              </a:srgbClr>
            </a:solidFill>
            <a:prstDash val="solid"/>
          </a:ln>
        </p:spPr>
        <p:txBody>
          <a:bodyPr/>
          <a:lstStyle/>
          <a:p>
            <a:endParaRPr lang="en-US"/>
          </a:p>
        </p:txBody>
      </p:sp>
      <p:sp>
        <p:nvSpPr>
          <p:cNvPr id="13" name="Text 10"/>
          <p:cNvSpPr/>
          <p:nvPr/>
        </p:nvSpPr>
        <p:spPr>
          <a:xfrm>
            <a:off x="566928" y="2816352"/>
            <a:ext cx="2286000" cy="237744"/>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Risk: Low–Medium</a:t>
            </a:r>
            <a:endParaRPr lang="en-US" sz="1100" dirty="0"/>
          </a:p>
        </p:txBody>
      </p:sp>
      <p:sp>
        <p:nvSpPr>
          <p:cNvPr id="14" name="Text 11"/>
          <p:cNvSpPr/>
          <p:nvPr/>
        </p:nvSpPr>
        <p:spPr>
          <a:xfrm>
            <a:off x="566928" y="3054096"/>
            <a:ext cx="228600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You catch errors in review</a:t>
            </a:r>
            <a:endParaRPr lang="en-US" sz="1000" dirty="0"/>
          </a:p>
        </p:txBody>
      </p:sp>
      <p:sp>
        <p:nvSpPr>
          <p:cNvPr id="15" name="Shape 12"/>
          <p:cNvSpPr/>
          <p:nvPr/>
        </p:nvSpPr>
        <p:spPr>
          <a:xfrm>
            <a:off x="3191256" y="1024128"/>
            <a:ext cx="2606040" cy="274320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16" name="Shape 13"/>
          <p:cNvSpPr/>
          <p:nvPr/>
        </p:nvSpPr>
        <p:spPr>
          <a:xfrm>
            <a:off x="3191256" y="1024128"/>
            <a:ext cx="2606040" cy="594360"/>
          </a:xfrm>
          <a:prstGeom prst="rect">
            <a:avLst/>
          </a:prstGeom>
          <a:solidFill>
            <a:srgbClr val="16A34A"/>
          </a:solidFill>
          <a:ln w="12700">
            <a:solidFill>
              <a:srgbClr val="16A34A"/>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3319272" y="1143000"/>
            <a:ext cx="384048" cy="384048"/>
          </a:xfrm>
          <a:prstGeom prst="rect">
            <a:avLst/>
          </a:prstGeom>
        </p:spPr>
      </p:pic>
      <p:sp>
        <p:nvSpPr>
          <p:cNvPr id="18" name="Text 14"/>
          <p:cNvSpPr/>
          <p:nvPr/>
        </p:nvSpPr>
        <p:spPr>
          <a:xfrm>
            <a:off x="3785616" y="1133856"/>
            <a:ext cx="1920240" cy="402336"/>
          </a:xfrm>
          <a:prstGeom prst="rect">
            <a:avLst/>
          </a:prstGeom>
          <a:noFill/>
          <a:ln/>
        </p:spPr>
        <p:txBody>
          <a:bodyPr wrap="square" lIns="0" tIns="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Augmentation</a:t>
            </a:r>
            <a:endParaRPr lang="en-US" sz="1700" dirty="0"/>
          </a:p>
        </p:txBody>
      </p:sp>
      <p:sp>
        <p:nvSpPr>
          <p:cNvPr id="19" name="Text 15"/>
          <p:cNvSpPr/>
          <p:nvPr/>
        </p:nvSpPr>
        <p:spPr>
          <a:xfrm>
            <a:off x="3319272" y="1737360"/>
            <a:ext cx="237744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AI assists with portions; you direct and lead</a:t>
            </a:r>
            <a:endParaRPr lang="en-US" sz="1150" dirty="0"/>
          </a:p>
        </p:txBody>
      </p:sp>
      <p:sp>
        <p:nvSpPr>
          <p:cNvPr id="20" name="Shape 16"/>
          <p:cNvSpPr/>
          <p:nvPr/>
        </p:nvSpPr>
        <p:spPr>
          <a:xfrm>
            <a:off x="3319272" y="2414016"/>
            <a:ext cx="2377440" cy="292608"/>
          </a:xfrm>
          <a:prstGeom prst="rect">
            <a:avLst/>
          </a:prstGeom>
          <a:solidFill>
            <a:srgbClr val="16A34A">
              <a:alpha val="12000"/>
            </a:srgbClr>
          </a:solidFill>
          <a:ln w="6350">
            <a:solidFill>
              <a:srgbClr val="16A34A">
                <a:alpha val="50000"/>
              </a:srgbClr>
            </a:solidFill>
            <a:prstDash val="solid"/>
          </a:ln>
        </p:spPr>
        <p:txBody>
          <a:bodyPr/>
          <a:lstStyle/>
          <a:p>
            <a:endParaRPr lang="en-US"/>
          </a:p>
        </p:txBody>
      </p:sp>
      <p:sp>
        <p:nvSpPr>
          <p:cNvPr id="21" name="Text 17"/>
          <p:cNvSpPr/>
          <p:nvPr/>
        </p:nvSpPr>
        <p:spPr>
          <a:xfrm>
            <a:off x="3392424" y="2432304"/>
            <a:ext cx="2286000" cy="256032"/>
          </a:xfrm>
          <a:prstGeom prst="rect">
            <a:avLst/>
          </a:prstGeom>
          <a:noFill/>
          <a:ln/>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LEADS: Human leads</a:t>
            </a:r>
            <a:endParaRPr lang="en-US" sz="1000" dirty="0"/>
          </a:p>
        </p:txBody>
      </p:sp>
      <p:sp>
        <p:nvSpPr>
          <p:cNvPr id="22" name="Shape 18"/>
          <p:cNvSpPr/>
          <p:nvPr/>
        </p:nvSpPr>
        <p:spPr>
          <a:xfrm>
            <a:off x="3319272" y="2779776"/>
            <a:ext cx="2377440" cy="566928"/>
          </a:xfrm>
          <a:prstGeom prst="rect">
            <a:avLst/>
          </a:prstGeom>
          <a:solidFill>
            <a:srgbClr val="16A34A">
              <a:alpha val="12000"/>
            </a:srgbClr>
          </a:solidFill>
          <a:ln w="6350">
            <a:solidFill>
              <a:srgbClr val="16A34A">
                <a:alpha val="50000"/>
              </a:srgbClr>
            </a:solidFill>
            <a:prstDash val="solid"/>
          </a:ln>
        </p:spPr>
        <p:txBody>
          <a:bodyPr/>
          <a:lstStyle/>
          <a:p>
            <a:endParaRPr lang="en-US"/>
          </a:p>
        </p:txBody>
      </p:sp>
      <p:sp>
        <p:nvSpPr>
          <p:cNvPr id="23" name="Text 19"/>
          <p:cNvSpPr/>
          <p:nvPr/>
        </p:nvSpPr>
        <p:spPr>
          <a:xfrm>
            <a:off x="3392424" y="2816352"/>
            <a:ext cx="2286000" cy="237744"/>
          </a:xfrm>
          <a:prstGeom prst="rect">
            <a:avLst/>
          </a:prstGeom>
          <a:noFill/>
          <a:ln/>
        </p:spPr>
        <p:txBody>
          <a:bodyPr wrap="square" lIns="0" tIns="0" rIns="0" bIns="0"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Risk: Lower</a:t>
            </a:r>
            <a:endParaRPr lang="en-US" sz="1100" dirty="0"/>
          </a:p>
        </p:txBody>
      </p:sp>
      <p:sp>
        <p:nvSpPr>
          <p:cNvPr id="24" name="Text 20"/>
          <p:cNvSpPr/>
          <p:nvPr/>
        </p:nvSpPr>
        <p:spPr>
          <a:xfrm>
            <a:off x="3392424" y="3054096"/>
            <a:ext cx="228600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Human judgment is primary</a:t>
            </a:r>
            <a:endParaRPr lang="en-US" sz="1000" dirty="0"/>
          </a:p>
        </p:txBody>
      </p:sp>
      <p:sp>
        <p:nvSpPr>
          <p:cNvPr id="25" name="Shape 21"/>
          <p:cNvSpPr/>
          <p:nvPr/>
        </p:nvSpPr>
        <p:spPr>
          <a:xfrm>
            <a:off x="6016752" y="1024128"/>
            <a:ext cx="2606040" cy="274320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26" name="Shape 22"/>
          <p:cNvSpPr/>
          <p:nvPr/>
        </p:nvSpPr>
        <p:spPr>
          <a:xfrm>
            <a:off x="6016752" y="1024128"/>
            <a:ext cx="2606040" cy="594360"/>
          </a:xfrm>
          <a:prstGeom prst="rect">
            <a:avLst/>
          </a:prstGeom>
          <a:solidFill>
            <a:srgbClr val="F97316"/>
          </a:solidFill>
          <a:ln w="12700">
            <a:solidFill>
              <a:srgbClr val="F97316"/>
            </a:solidFill>
            <a:prstDash val="solid"/>
          </a:ln>
        </p:spPr>
        <p:txBody>
          <a:bodyPr/>
          <a:lstStyle/>
          <a:p>
            <a:endParaRPr lang="en-US"/>
          </a:p>
        </p:txBody>
      </p:sp>
      <p:pic>
        <p:nvPicPr>
          <p:cNvPr id="27" name="Image 2" descr="preencoded.png"/>
          <p:cNvPicPr>
            <a:picLocks noChangeAspect="1"/>
          </p:cNvPicPr>
          <p:nvPr/>
        </p:nvPicPr>
        <p:blipFill>
          <a:blip r:embed="rId5"/>
          <a:stretch>
            <a:fillRect/>
          </a:stretch>
        </p:blipFill>
        <p:spPr>
          <a:xfrm>
            <a:off x="6144768" y="1143000"/>
            <a:ext cx="384048" cy="384048"/>
          </a:xfrm>
          <a:prstGeom prst="rect">
            <a:avLst/>
          </a:prstGeom>
        </p:spPr>
      </p:pic>
      <p:sp>
        <p:nvSpPr>
          <p:cNvPr id="28" name="Text 23"/>
          <p:cNvSpPr/>
          <p:nvPr/>
        </p:nvSpPr>
        <p:spPr>
          <a:xfrm>
            <a:off x="6611112" y="1133856"/>
            <a:ext cx="1920240" cy="402336"/>
          </a:xfrm>
          <a:prstGeom prst="rect">
            <a:avLst/>
          </a:prstGeom>
          <a:noFill/>
          <a:ln/>
        </p:spPr>
        <p:txBody>
          <a:bodyPr wrap="square" lIns="0" tIns="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Agency</a:t>
            </a:r>
            <a:endParaRPr lang="en-US" sz="1700" dirty="0"/>
          </a:p>
        </p:txBody>
      </p:sp>
      <p:sp>
        <p:nvSpPr>
          <p:cNvPr id="29" name="Text 24"/>
          <p:cNvSpPr/>
          <p:nvPr/>
        </p:nvSpPr>
        <p:spPr>
          <a:xfrm>
            <a:off x="6144768" y="1737360"/>
            <a:ext cx="2377440" cy="5943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AI takes multi-step autonomous actions with limited human oversight</a:t>
            </a:r>
            <a:endParaRPr lang="en-US" sz="1150" dirty="0"/>
          </a:p>
        </p:txBody>
      </p:sp>
      <p:sp>
        <p:nvSpPr>
          <p:cNvPr id="30" name="Shape 25"/>
          <p:cNvSpPr/>
          <p:nvPr/>
        </p:nvSpPr>
        <p:spPr>
          <a:xfrm>
            <a:off x="6144768" y="2414016"/>
            <a:ext cx="2377440" cy="292608"/>
          </a:xfrm>
          <a:prstGeom prst="rect">
            <a:avLst/>
          </a:prstGeom>
          <a:solidFill>
            <a:srgbClr val="F97316">
              <a:alpha val="12000"/>
            </a:srgbClr>
          </a:solidFill>
          <a:ln w="6350">
            <a:solidFill>
              <a:srgbClr val="F97316">
                <a:alpha val="50000"/>
              </a:srgbClr>
            </a:solidFill>
            <a:prstDash val="solid"/>
          </a:ln>
        </p:spPr>
        <p:txBody>
          <a:bodyPr/>
          <a:lstStyle/>
          <a:p>
            <a:endParaRPr lang="en-US"/>
          </a:p>
        </p:txBody>
      </p:sp>
      <p:sp>
        <p:nvSpPr>
          <p:cNvPr id="31" name="Text 26"/>
          <p:cNvSpPr/>
          <p:nvPr/>
        </p:nvSpPr>
        <p:spPr>
          <a:xfrm>
            <a:off x="6217920" y="2432304"/>
            <a:ext cx="2286000" cy="256032"/>
          </a:xfrm>
          <a:prstGeom prst="rect">
            <a:avLst/>
          </a:prstGeom>
          <a:noFill/>
          <a:ln/>
        </p:spPr>
        <p:txBody>
          <a:bodyPr wrap="square" lIns="0" tIns="0" rIns="0" bIns="0" rtlCol="0" anchor="ctr"/>
          <a:lstStyle/>
          <a:p>
            <a:pPr marL="0" indent="0">
              <a:buNone/>
            </a:pPr>
            <a:r>
              <a:rPr lang="en-US" sz="1000" b="1" dirty="0">
                <a:solidFill>
                  <a:srgbClr val="F97316"/>
                </a:solidFill>
                <a:latin typeface="Calibri" pitchFamily="34" charset="0"/>
                <a:ea typeface="Calibri" pitchFamily="34" charset="-122"/>
                <a:cs typeface="Calibri" pitchFamily="34" charset="-120"/>
              </a:rPr>
              <a:t>LEADS: AI leads</a:t>
            </a:r>
            <a:endParaRPr lang="en-US" sz="1000" dirty="0"/>
          </a:p>
        </p:txBody>
      </p:sp>
      <p:sp>
        <p:nvSpPr>
          <p:cNvPr id="32" name="Shape 27"/>
          <p:cNvSpPr/>
          <p:nvPr/>
        </p:nvSpPr>
        <p:spPr>
          <a:xfrm>
            <a:off x="6144768" y="2779776"/>
            <a:ext cx="2377440" cy="566928"/>
          </a:xfrm>
          <a:prstGeom prst="rect">
            <a:avLst/>
          </a:prstGeom>
          <a:solidFill>
            <a:srgbClr val="DC2626">
              <a:alpha val="12000"/>
            </a:srgbClr>
          </a:solidFill>
          <a:ln w="6350">
            <a:solidFill>
              <a:srgbClr val="DC2626">
                <a:alpha val="50000"/>
              </a:srgbClr>
            </a:solidFill>
            <a:prstDash val="solid"/>
          </a:ln>
        </p:spPr>
        <p:txBody>
          <a:bodyPr/>
          <a:lstStyle/>
          <a:p>
            <a:endParaRPr lang="en-US"/>
          </a:p>
        </p:txBody>
      </p:sp>
      <p:sp>
        <p:nvSpPr>
          <p:cNvPr id="33" name="Text 28"/>
          <p:cNvSpPr/>
          <p:nvPr/>
        </p:nvSpPr>
        <p:spPr>
          <a:xfrm>
            <a:off x="6217920" y="2816352"/>
            <a:ext cx="2286000" cy="237744"/>
          </a:xfrm>
          <a:prstGeom prst="rect">
            <a:avLst/>
          </a:prstGeom>
          <a:noFill/>
          <a:ln/>
        </p:spPr>
        <p:txBody>
          <a:bodyPr wrap="square" lIns="0" tIns="0" rIns="0" bIns="0"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Risk: Higher</a:t>
            </a:r>
            <a:endParaRPr lang="en-US" sz="1100" dirty="0"/>
          </a:p>
        </p:txBody>
      </p:sp>
      <p:sp>
        <p:nvSpPr>
          <p:cNvPr id="34" name="Text 29"/>
          <p:cNvSpPr/>
          <p:nvPr/>
        </p:nvSpPr>
        <p:spPr>
          <a:xfrm>
            <a:off x="6217920" y="3054096"/>
            <a:ext cx="228600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Errors compound before human review</a:t>
            </a:r>
            <a:endParaRPr lang="en-US" sz="1000" dirty="0"/>
          </a:p>
        </p:txBody>
      </p:sp>
      <p:sp>
        <p:nvSpPr>
          <p:cNvPr id="35" name="Shape 30"/>
          <p:cNvSpPr/>
          <p:nvPr/>
        </p:nvSpPr>
        <p:spPr>
          <a:xfrm>
            <a:off x="365760" y="3913632"/>
            <a:ext cx="8412480" cy="475488"/>
          </a:xfrm>
          <a:prstGeom prst="rect">
            <a:avLst/>
          </a:prstGeom>
          <a:solidFill>
            <a:srgbClr val="1B2A4A"/>
          </a:solidFill>
          <a:ln w="12700">
            <a:solidFill>
              <a:srgbClr val="1B2A4A"/>
            </a:solidFill>
            <a:prstDash val="solid"/>
          </a:ln>
          <a:effectLst>
            <a:outerShdw blurRad="101600" dist="38100" dir="8100000" algn="bl" rotWithShape="0">
              <a:srgbClr val="000000">
                <a:alpha val="13000"/>
              </a:srgbClr>
            </a:outerShdw>
          </a:effectLst>
        </p:spPr>
        <p:txBody>
          <a:bodyPr/>
          <a:lstStyle/>
          <a:p>
            <a:endParaRPr lang="en-US"/>
          </a:p>
        </p:txBody>
      </p:sp>
      <p:sp>
        <p:nvSpPr>
          <p:cNvPr id="36" name="Shape 31"/>
          <p:cNvSpPr/>
          <p:nvPr/>
        </p:nvSpPr>
        <p:spPr>
          <a:xfrm>
            <a:off x="365760" y="3913632"/>
            <a:ext cx="64008" cy="475488"/>
          </a:xfrm>
          <a:prstGeom prst="rect">
            <a:avLst/>
          </a:prstGeom>
          <a:solidFill>
            <a:srgbClr val="5EEAD4"/>
          </a:solidFill>
          <a:ln w="12700">
            <a:solidFill>
              <a:srgbClr val="5EEAD4"/>
            </a:solidFill>
            <a:prstDash val="solid"/>
          </a:ln>
        </p:spPr>
        <p:txBody>
          <a:bodyPr/>
          <a:lstStyle/>
          <a:p>
            <a:endParaRPr lang="en-US"/>
          </a:p>
        </p:txBody>
      </p:sp>
      <p:sp>
        <p:nvSpPr>
          <p:cNvPr id="37" name="Text 32"/>
          <p:cNvSpPr/>
          <p:nvPr/>
        </p:nvSpPr>
        <p:spPr>
          <a:xfrm>
            <a:off x="548640" y="3950208"/>
            <a:ext cx="8138160" cy="402336"/>
          </a:xfrm>
          <a:prstGeom prst="rect">
            <a:avLst/>
          </a:prstGeom>
          <a:noFill/>
          <a:ln/>
        </p:spPr>
        <p:txBody>
          <a:bodyPr wrap="square" lIns="0" tIns="0" rIns="0" bIns="0" rtlCol="0" anchor="ctr"/>
          <a:lstStyle/>
          <a:p>
            <a:pPr marL="0" indent="0">
              <a:buNone/>
            </a:pPr>
            <a:r>
              <a:rPr lang="en-US" sz="1150" b="1" dirty="0">
                <a:solidFill>
                  <a:srgbClr val="5EEAD4"/>
                </a:solidFill>
                <a:latin typeface="Calibri" pitchFamily="34" charset="0"/>
                <a:ea typeface="Calibri" pitchFamily="34" charset="-122"/>
                <a:cs typeface="Calibri" pitchFamily="34" charset="-120"/>
              </a:rPr>
              <a:t>FHB recommendation: </a:t>
            </a:r>
            <a:r>
              <a:rPr lang="en-US" sz="1150" dirty="0">
                <a:solidFill>
                  <a:srgbClr val="CBD5E0"/>
                </a:solidFill>
                <a:latin typeface="Calibri" pitchFamily="34" charset="0"/>
                <a:ea typeface="Calibri" pitchFamily="34" charset="-122"/>
                <a:cs typeface="Calibri" pitchFamily="34" charset="-120"/>
              </a:rPr>
              <a:t>Automation and Augmentation are the right modes for most tasks. Agency mode requires the most robust application of all four Ds.</a:t>
            </a:r>
            <a:endParaRPr lang="en-US" sz="1150" dirty="0"/>
          </a:p>
        </p:txBody>
      </p:sp>
      <p:sp>
        <p:nvSpPr>
          <p:cNvPr id="38" name="Shape 33"/>
          <p:cNvSpPr/>
          <p:nvPr/>
        </p:nvSpPr>
        <p:spPr>
          <a:xfrm>
            <a:off x="365760" y="4462272"/>
            <a:ext cx="8412480" cy="384048"/>
          </a:xfrm>
          <a:prstGeom prst="rect">
            <a:avLst/>
          </a:prstGeom>
          <a:solidFill>
            <a:srgbClr val="FEF2F2"/>
          </a:solidFill>
          <a:ln w="6350">
            <a:solidFill>
              <a:srgbClr val="FECACA"/>
            </a:solidFill>
            <a:prstDash val="solid"/>
          </a:ln>
        </p:spPr>
        <p:txBody>
          <a:bodyPr/>
          <a:lstStyle/>
          <a:p>
            <a:endParaRPr lang="en-US"/>
          </a:p>
        </p:txBody>
      </p:sp>
      <p:sp>
        <p:nvSpPr>
          <p:cNvPr id="39" name="Text 34"/>
          <p:cNvSpPr/>
          <p:nvPr/>
        </p:nvSpPr>
        <p:spPr>
          <a:xfrm>
            <a:off x="548640" y="4498848"/>
            <a:ext cx="8046720" cy="310896"/>
          </a:xfrm>
          <a:prstGeom prst="rect">
            <a:avLst/>
          </a:prstGeom>
          <a:noFill/>
          <a:ln/>
        </p:spPr>
        <p:txBody>
          <a:bodyPr wrap="square" lIns="0" tIns="0" rIns="0" bIns="0" rtlCol="0" anchor="ctr"/>
          <a:lstStyle/>
          <a:p>
            <a:pPr marL="0" indent="0">
              <a:buNone/>
            </a:pPr>
            <a:r>
              <a:rPr lang="en-US" sz="1100" i="1" dirty="0">
                <a:solidFill>
                  <a:srgbClr val="DC2626"/>
                </a:solidFill>
                <a:latin typeface="Calibri" pitchFamily="34" charset="0"/>
                <a:ea typeface="Calibri" pitchFamily="34" charset="-122"/>
                <a:cs typeface="Calibri" pitchFamily="34" charset="-120"/>
              </a:rPr>
              <a:t>Agency mode (agentic AI) is covered in depth in Track 2 — for now, know it requires the highest caution.</a:t>
            </a:r>
            <a:endParaRPr lang="en-US" sz="1100" dirty="0"/>
          </a:p>
        </p:txBody>
      </p:sp>
      <p:sp>
        <p:nvSpPr>
          <p:cNvPr id="40" name="Text 35"/>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5">
    <p:bg>
      <p:bgPr>
        <a:solidFill>
          <a:srgbClr val="F1F5F9"/>
        </a:solidFill>
        <a:effectLst/>
      </p:bgPr>
    </p:bg>
    <p:spTree>
      <p:nvGrpSpPr>
        <p:cNvPr id="1" name=""/>
        <p:cNvGrpSpPr/>
        <p:nvPr/>
      </p:nvGrpSpPr>
      <p:grpSpPr>
        <a:xfrm>
          <a:off x="0" y="0"/>
          <a:ext cx="0" cy="0"/>
          <a:chOff x="0" y="0"/>
          <a:chExt cx="0" cy="0"/>
        </a:xfrm>
      </p:grpSpPr>
      <p:sp>
        <p:nvSpPr>
          <p:cNvPr id="48" name="Oval 47">
            <a:extLst>
              <a:ext uri="{FF2B5EF4-FFF2-40B4-BE49-F238E27FC236}">
                <a16:creationId xmlns:a16="http://schemas.microsoft.com/office/drawing/2014/main" id="{E140428E-C844-B424-CC92-AAF8960C1F7D}"/>
              </a:ext>
            </a:extLst>
          </p:cNvPr>
          <p:cNvSpPr/>
          <p:nvPr/>
        </p:nvSpPr>
        <p:spPr>
          <a:xfrm>
            <a:off x="1647265" y="1504188"/>
            <a:ext cx="2714423" cy="2391155"/>
          </a:xfrm>
          <a:prstGeom prst="ellipse">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hape 0"/>
          <p:cNvSpPr/>
          <p:nvPr/>
        </p:nvSpPr>
        <p:spPr>
          <a:xfrm>
            <a:off x="0" y="0"/>
            <a:ext cx="9144000" cy="73152"/>
          </a:xfrm>
          <a:prstGeom prst="rect">
            <a:avLst/>
          </a:prstGeom>
          <a:solidFill>
            <a:srgbClr val="7C3AED"/>
          </a:solidFill>
          <a:ln w="12700">
            <a:solidFill>
              <a:srgbClr val="7C3AED"/>
            </a:solidFill>
            <a:prstDash val="solid"/>
          </a:ln>
        </p:spPr>
        <p:txBody>
          <a:bodyPr/>
          <a:lstStyle/>
          <a:p>
            <a:endParaRPr lang="en-US"/>
          </a:p>
        </p:txBody>
      </p:sp>
      <p:sp>
        <p:nvSpPr>
          <p:cNvPr id="3" name="Text 1"/>
          <p:cNvSpPr/>
          <p:nvPr/>
        </p:nvSpPr>
        <p:spPr>
          <a:xfrm>
            <a:off x="457200" y="164592"/>
            <a:ext cx="8229600" cy="438912"/>
          </a:xfrm>
          <a:prstGeom prst="rect">
            <a:avLst/>
          </a:prstGeom>
          <a:noFill/>
          <a:ln/>
        </p:spPr>
        <p:txBody>
          <a:bodyPr wrap="square" lIns="0" tIns="0" rIns="0" bIns="0" rtlCol="0" anchor="ctr"/>
          <a:lstStyle/>
          <a:p>
            <a:pPr marL="0" indent="0">
              <a:buNone/>
            </a:pPr>
            <a:r>
              <a:rPr lang="en-US" sz="2600" b="1" dirty="0">
                <a:solidFill>
                  <a:srgbClr val="1B2A4A"/>
                </a:solidFill>
                <a:latin typeface="Trebuchet MS" pitchFamily="34" charset="0"/>
                <a:ea typeface="Trebuchet MS" pitchFamily="34" charset="-122"/>
                <a:cs typeface="Trebuchet MS" pitchFamily="34" charset="-120"/>
              </a:rPr>
              <a:t>The 4Ds at a Glance</a:t>
            </a:r>
            <a:endParaRPr lang="en-US" sz="2600" dirty="0"/>
          </a:p>
        </p:txBody>
      </p:sp>
      <p:sp>
        <p:nvSpPr>
          <p:cNvPr id="4" name="Text 2"/>
          <p:cNvSpPr/>
          <p:nvPr/>
        </p:nvSpPr>
        <p:spPr>
          <a:xfrm>
            <a:off x="457200" y="621792"/>
            <a:ext cx="8229600" cy="256032"/>
          </a:xfrm>
          <a:prstGeom prst="rect">
            <a:avLst/>
          </a:prstGeom>
          <a:noFill/>
          <a:ln/>
        </p:spPr>
        <p:txBody>
          <a:bodyPr wrap="square" lIns="0" tIns="0" rIns="0" bIns="0" rtlCol="0" anchor="ctr"/>
          <a:lstStyle/>
          <a:p>
            <a:pPr marL="0" indent="0">
              <a:buNone/>
            </a:pPr>
            <a:r>
              <a:rPr lang="en-US" sz="1200" i="1" dirty="0">
                <a:solidFill>
                  <a:srgbClr val="0D9488"/>
                </a:solidFill>
                <a:latin typeface="Calibri" pitchFamily="34" charset="0"/>
                <a:ea typeface="Calibri" pitchFamily="34" charset="-122"/>
                <a:cs typeface="Calibri" pitchFamily="34" charset="-120"/>
              </a:rPr>
              <a:t>A continuous loop — not a one-time checklist</a:t>
            </a:r>
            <a:endParaRPr lang="en-US" sz="1200" dirty="0"/>
          </a:p>
        </p:txBody>
      </p:sp>
      <p:sp>
        <p:nvSpPr>
          <p:cNvPr id="7" name="Shape 5"/>
          <p:cNvSpPr/>
          <p:nvPr/>
        </p:nvSpPr>
        <p:spPr>
          <a:xfrm>
            <a:off x="2971800" y="3913632"/>
            <a:ext cx="0" cy="0"/>
          </a:xfrm>
          <a:prstGeom prst="line">
            <a:avLst/>
          </a:prstGeom>
          <a:noFill/>
          <a:ln w="19050">
            <a:solidFill>
              <a:srgbClr val="475569"/>
            </a:solidFill>
            <a:prstDash val="solid"/>
          </a:ln>
        </p:spPr>
        <p:txBody>
          <a:bodyPr/>
          <a:lstStyle/>
          <a:p>
            <a:endParaRPr lang="en-US"/>
          </a:p>
        </p:txBody>
      </p:sp>
      <p:sp>
        <p:nvSpPr>
          <p:cNvPr id="9" name="Shape 7"/>
          <p:cNvSpPr/>
          <p:nvPr/>
        </p:nvSpPr>
        <p:spPr>
          <a:xfrm>
            <a:off x="2258568" y="768096"/>
            <a:ext cx="1426464" cy="1426464"/>
          </a:xfrm>
          <a:prstGeom prst="ellipse">
            <a:avLst/>
          </a:prstGeom>
          <a:solidFill>
            <a:srgbClr val="0D9488">
              <a:alpha val="20000"/>
            </a:srgbClr>
          </a:solidFill>
          <a:ln w="12700">
            <a:solidFill>
              <a:srgbClr val="0D9488">
                <a:alpha val="40000"/>
              </a:srgbClr>
            </a:solidFill>
            <a:prstDash val="solid"/>
          </a:ln>
        </p:spPr>
        <p:txBody>
          <a:bodyPr/>
          <a:lstStyle/>
          <a:p>
            <a:endParaRPr lang="en-US"/>
          </a:p>
        </p:txBody>
      </p:sp>
      <p:sp>
        <p:nvSpPr>
          <p:cNvPr id="10" name="Shape 8"/>
          <p:cNvSpPr/>
          <p:nvPr/>
        </p:nvSpPr>
        <p:spPr>
          <a:xfrm>
            <a:off x="2350008" y="859536"/>
            <a:ext cx="1243584" cy="1243584"/>
          </a:xfrm>
          <a:prstGeom prst="ellipse">
            <a:avLst/>
          </a:prstGeom>
          <a:solidFill>
            <a:srgbClr val="0D9488"/>
          </a:solidFill>
          <a:ln w="12700">
            <a:solidFill>
              <a:srgbClr val="0D9488"/>
            </a:solidFill>
            <a:prstDash val="solid"/>
          </a:ln>
          <a:effectLst>
            <a:outerShdw blurRad="101600" dist="38100" dir="8100000" algn="bl" rotWithShape="0">
              <a:srgbClr val="000000">
                <a:alpha val="13000"/>
              </a:srgbClr>
            </a:outerShdw>
          </a:effectLst>
        </p:spPr>
        <p:txBody>
          <a:bodyPr/>
          <a:lstStyle/>
          <a:p>
            <a:endParaRPr lang="en-US"/>
          </a:p>
        </p:txBody>
      </p:sp>
      <p:pic>
        <p:nvPicPr>
          <p:cNvPr id="11" name="Image 0" descr="preencoded.png"/>
          <p:cNvPicPr>
            <a:picLocks noChangeAspect="1"/>
          </p:cNvPicPr>
          <p:nvPr/>
        </p:nvPicPr>
        <p:blipFill>
          <a:blip r:embed="rId3"/>
          <a:stretch>
            <a:fillRect/>
          </a:stretch>
        </p:blipFill>
        <p:spPr>
          <a:xfrm>
            <a:off x="2697480" y="1207008"/>
            <a:ext cx="548640" cy="548640"/>
          </a:xfrm>
          <a:prstGeom prst="rect">
            <a:avLst/>
          </a:prstGeom>
        </p:spPr>
      </p:pic>
      <p:sp>
        <p:nvSpPr>
          <p:cNvPr id="12" name="Shape 9"/>
          <p:cNvSpPr/>
          <p:nvPr/>
        </p:nvSpPr>
        <p:spPr>
          <a:xfrm>
            <a:off x="3630168" y="1984248"/>
            <a:ext cx="1426464" cy="1426464"/>
          </a:xfrm>
          <a:prstGeom prst="ellipse">
            <a:avLst/>
          </a:prstGeom>
          <a:solidFill>
            <a:srgbClr val="F97316">
              <a:alpha val="20000"/>
            </a:srgbClr>
          </a:solidFill>
          <a:ln w="12700">
            <a:solidFill>
              <a:srgbClr val="F97316">
                <a:alpha val="40000"/>
              </a:srgbClr>
            </a:solidFill>
            <a:prstDash val="solid"/>
          </a:ln>
        </p:spPr>
        <p:txBody>
          <a:bodyPr/>
          <a:lstStyle/>
          <a:p>
            <a:endParaRPr lang="en-US"/>
          </a:p>
        </p:txBody>
      </p:sp>
      <p:sp>
        <p:nvSpPr>
          <p:cNvPr id="13" name="Shape 10"/>
          <p:cNvSpPr/>
          <p:nvPr/>
        </p:nvSpPr>
        <p:spPr>
          <a:xfrm>
            <a:off x="3721608" y="2075688"/>
            <a:ext cx="1243584" cy="1243584"/>
          </a:xfrm>
          <a:prstGeom prst="ellipse">
            <a:avLst/>
          </a:prstGeom>
          <a:solidFill>
            <a:srgbClr val="F97316"/>
          </a:solidFill>
          <a:ln w="12700">
            <a:solidFill>
              <a:srgbClr val="F97316"/>
            </a:solidFill>
            <a:prstDash val="solid"/>
          </a:ln>
          <a:effectLst>
            <a:outerShdw blurRad="101600" dist="38100" dir="8100000" algn="bl" rotWithShape="0">
              <a:srgbClr val="000000">
                <a:alpha val="13000"/>
              </a:srgbClr>
            </a:outerShdw>
          </a:effectLst>
        </p:spPr>
        <p:txBody>
          <a:bodyPr/>
          <a:lstStyle/>
          <a:p>
            <a:endParaRPr lang="en-US"/>
          </a:p>
        </p:txBody>
      </p:sp>
      <p:pic>
        <p:nvPicPr>
          <p:cNvPr id="14" name="Image 1" descr="preencoded.png"/>
          <p:cNvPicPr>
            <a:picLocks noChangeAspect="1"/>
          </p:cNvPicPr>
          <p:nvPr/>
        </p:nvPicPr>
        <p:blipFill>
          <a:blip r:embed="rId4"/>
          <a:stretch>
            <a:fillRect/>
          </a:stretch>
        </p:blipFill>
        <p:spPr>
          <a:xfrm>
            <a:off x="4069080" y="2423160"/>
            <a:ext cx="548640" cy="548640"/>
          </a:xfrm>
          <a:prstGeom prst="rect">
            <a:avLst/>
          </a:prstGeom>
        </p:spPr>
      </p:pic>
      <p:sp>
        <p:nvSpPr>
          <p:cNvPr id="15" name="Shape 11"/>
          <p:cNvSpPr/>
          <p:nvPr/>
        </p:nvSpPr>
        <p:spPr>
          <a:xfrm>
            <a:off x="2258568" y="3200400"/>
            <a:ext cx="1426464" cy="1426464"/>
          </a:xfrm>
          <a:prstGeom prst="ellipse">
            <a:avLst/>
          </a:prstGeom>
          <a:solidFill>
            <a:srgbClr val="F59E0B">
              <a:alpha val="20000"/>
            </a:srgbClr>
          </a:solidFill>
          <a:ln w="12700">
            <a:solidFill>
              <a:srgbClr val="F59E0B">
                <a:alpha val="40000"/>
              </a:srgbClr>
            </a:solidFill>
            <a:prstDash val="solid"/>
          </a:ln>
        </p:spPr>
        <p:txBody>
          <a:bodyPr/>
          <a:lstStyle/>
          <a:p>
            <a:endParaRPr lang="en-US"/>
          </a:p>
        </p:txBody>
      </p:sp>
      <p:sp>
        <p:nvSpPr>
          <p:cNvPr id="16" name="Shape 12"/>
          <p:cNvSpPr/>
          <p:nvPr/>
        </p:nvSpPr>
        <p:spPr>
          <a:xfrm>
            <a:off x="2350008" y="3291840"/>
            <a:ext cx="1243584" cy="1243584"/>
          </a:xfrm>
          <a:prstGeom prst="ellipse">
            <a:avLst/>
          </a:prstGeom>
          <a:solidFill>
            <a:srgbClr val="F59E0B"/>
          </a:solidFill>
          <a:ln w="12700">
            <a:solidFill>
              <a:srgbClr val="F59E0B"/>
            </a:solidFill>
            <a:prstDash val="solid"/>
          </a:ln>
          <a:effectLst>
            <a:outerShdw blurRad="101600" dist="38100" dir="8100000" algn="bl" rotWithShape="0">
              <a:srgbClr val="000000">
                <a:alpha val="13000"/>
              </a:srgbClr>
            </a:outerShdw>
          </a:effectLst>
        </p:spPr>
        <p:txBody>
          <a:bodyPr/>
          <a:lstStyle/>
          <a:p>
            <a:endParaRPr lang="en-US"/>
          </a:p>
        </p:txBody>
      </p:sp>
      <p:pic>
        <p:nvPicPr>
          <p:cNvPr id="17" name="Image 2" descr="preencoded.png"/>
          <p:cNvPicPr>
            <a:picLocks noChangeAspect="1"/>
          </p:cNvPicPr>
          <p:nvPr/>
        </p:nvPicPr>
        <p:blipFill>
          <a:blip r:embed="rId5"/>
          <a:stretch>
            <a:fillRect/>
          </a:stretch>
        </p:blipFill>
        <p:spPr>
          <a:xfrm>
            <a:off x="2697480" y="3639312"/>
            <a:ext cx="548640" cy="548640"/>
          </a:xfrm>
          <a:prstGeom prst="rect">
            <a:avLst/>
          </a:prstGeom>
        </p:spPr>
      </p:pic>
      <p:sp>
        <p:nvSpPr>
          <p:cNvPr id="18" name="Shape 13"/>
          <p:cNvSpPr/>
          <p:nvPr/>
        </p:nvSpPr>
        <p:spPr>
          <a:xfrm>
            <a:off x="886968" y="1984248"/>
            <a:ext cx="1426464" cy="1426464"/>
          </a:xfrm>
          <a:prstGeom prst="ellipse">
            <a:avLst/>
          </a:prstGeom>
          <a:solidFill>
            <a:srgbClr val="16A34A">
              <a:alpha val="20000"/>
            </a:srgbClr>
          </a:solidFill>
          <a:ln w="12700">
            <a:solidFill>
              <a:srgbClr val="16A34A">
                <a:alpha val="40000"/>
              </a:srgbClr>
            </a:solidFill>
            <a:prstDash val="solid"/>
          </a:ln>
        </p:spPr>
        <p:txBody>
          <a:bodyPr/>
          <a:lstStyle/>
          <a:p>
            <a:endParaRPr lang="en-US"/>
          </a:p>
        </p:txBody>
      </p:sp>
      <p:sp>
        <p:nvSpPr>
          <p:cNvPr id="19" name="Shape 14"/>
          <p:cNvSpPr/>
          <p:nvPr/>
        </p:nvSpPr>
        <p:spPr>
          <a:xfrm>
            <a:off x="978408" y="2075688"/>
            <a:ext cx="1243584" cy="1243584"/>
          </a:xfrm>
          <a:prstGeom prst="ellipse">
            <a:avLst/>
          </a:prstGeom>
          <a:solidFill>
            <a:srgbClr val="16A34A"/>
          </a:solidFill>
          <a:ln w="12700">
            <a:solidFill>
              <a:srgbClr val="16A34A"/>
            </a:solidFill>
            <a:prstDash val="solid"/>
          </a:ln>
          <a:effectLst>
            <a:outerShdw blurRad="101600" dist="38100" dir="8100000" algn="bl" rotWithShape="0">
              <a:srgbClr val="000000">
                <a:alpha val="13000"/>
              </a:srgbClr>
            </a:outerShdw>
          </a:effectLst>
        </p:spPr>
        <p:txBody>
          <a:bodyPr/>
          <a:lstStyle/>
          <a:p>
            <a:endParaRPr lang="en-US"/>
          </a:p>
        </p:txBody>
      </p:sp>
      <p:pic>
        <p:nvPicPr>
          <p:cNvPr id="20" name="Image 3" descr="preencoded.png"/>
          <p:cNvPicPr>
            <a:picLocks noChangeAspect="1"/>
          </p:cNvPicPr>
          <p:nvPr/>
        </p:nvPicPr>
        <p:blipFill>
          <a:blip r:embed="rId6"/>
          <a:stretch>
            <a:fillRect/>
          </a:stretch>
        </p:blipFill>
        <p:spPr>
          <a:xfrm>
            <a:off x="1325880" y="2423160"/>
            <a:ext cx="548640" cy="548640"/>
          </a:xfrm>
          <a:prstGeom prst="rect">
            <a:avLst/>
          </a:prstGeom>
        </p:spPr>
      </p:pic>
      <p:sp>
        <p:nvSpPr>
          <p:cNvPr id="21" name="Text 15"/>
          <p:cNvSpPr/>
          <p:nvPr/>
        </p:nvSpPr>
        <p:spPr>
          <a:xfrm>
            <a:off x="2123292" y="2542032"/>
            <a:ext cx="1691640" cy="329184"/>
          </a:xfrm>
          <a:prstGeom prst="rect">
            <a:avLst/>
          </a:prstGeom>
          <a:noFill/>
          <a:ln/>
        </p:spPr>
        <p:txBody>
          <a:bodyPr wrap="square" lIns="0" tIns="0" rIns="0" bIns="0" rtlCol="0" anchor="ctr"/>
          <a:lstStyle/>
          <a:p>
            <a:pPr marL="0" indent="0" algn="ctr">
              <a:buNone/>
            </a:pPr>
            <a:r>
              <a:rPr lang="en-US" sz="1000" b="1" kern="0" spc="400" dirty="0">
                <a:solidFill>
                  <a:srgbClr val="475569"/>
                </a:solidFill>
                <a:latin typeface="Calibri" pitchFamily="34" charset="0"/>
                <a:ea typeface="Calibri" pitchFamily="34" charset="-122"/>
                <a:cs typeface="Calibri" pitchFamily="34" charset="-120"/>
              </a:rPr>
              <a:t>LOOP</a:t>
            </a:r>
            <a:endParaRPr lang="en-US" sz="1000" dirty="0"/>
          </a:p>
        </p:txBody>
      </p:sp>
      <p:sp>
        <p:nvSpPr>
          <p:cNvPr id="22" name="Shape 16"/>
          <p:cNvSpPr/>
          <p:nvPr/>
        </p:nvSpPr>
        <p:spPr>
          <a:xfrm>
            <a:off x="5120640" y="987552"/>
            <a:ext cx="3657600" cy="896112"/>
          </a:xfrm>
          <a:prstGeom prst="rect">
            <a:avLst/>
          </a:prstGeom>
          <a:solidFill>
            <a:srgbClr val="FFFFFF"/>
          </a:solidFill>
          <a:ln w="6350">
            <a:solidFill>
              <a:srgbClr val="374151"/>
            </a:solidFill>
            <a:prstDash val="solid"/>
          </a:ln>
          <a:effectLst>
            <a:outerShdw blurRad="152400" dist="50800" dir="8100000" algn="bl" rotWithShape="0">
              <a:srgbClr val="000000">
                <a:alpha val="10000"/>
              </a:srgbClr>
            </a:outerShdw>
          </a:effectLst>
        </p:spPr>
        <p:txBody>
          <a:bodyPr/>
          <a:lstStyle/>
          <a:p>
            <a:endParaRPr lang="en-US"/>
          </a:p>
        </p:txBody>
      </p:sp>
      <p:sp>
        <p:nvSpPr>
          <p:cNvPr id="23" name="Shape 17"/>
          <p:cNvSpPr/>
          <p:nvPr/>
        </p:nvSpPr>
        <p:spPr>
          <a:xfrm>
            <a:off x="5120640" y="987552"/>
            <a:ext cx="64008" cy="896112"/>
          </a:xfrm>
          <a:prstGeom prst="rect">
            <a:avLst/>
          </a:prstGeom>
          <a:solidFill>
            <a:srgbClr val="0D9488"/>
          </a:solidFill>
          <a:ln w="12700">
            <a:solidFill>
              <a:srgbClr val="0D9488"/>
            </a:solidFill>
            <a:prstDash val="solid"/>
          </a:ln>
        </p:spPr>
        <p:txBody>
          <a:bodyPr/>
          <a:lstStyle/>
          <a:p>
            <a:endParaRPr lang="en-US"/>
          </a:p>
        </p:txBody>
      </p:sp>
      <p:sp>
        <p:nvSpPr>
          <p:cNvPr id="24" name="Shape 18"/>
          <p:cNvSpPr/>
          <p:nvPr/>
        </p:nvSpPr>
        <p:spPr>
          <a:xfrm>
            <a:off x="5285232" y="1170432"/>
            <a:ext cx="530352" cy="530352"/>
          </a:xfrm>
          <a:prstGeom prst="ellipse">
            <a:avLst/>
          </a:prstGeom>
          <a:solidFill>
            <a:srgbClr val="0D9488"/>
          </a:solidFill>
          <a:ln w="12700">
            <a:solidFill>
              <a:srgbClr val="0D9488"/>
            </a:solidFill>
            <a:prstDash val="solid"/>
          </a:ln>
        </p:spPr>
        <p:txBody>
          <a:bodyPr/>
          <a:lstStyle/>
          <a:p>
            <a:endParaRPr lang="en-US"/>
          </a:p>
        </p:txBody>
      </p:sp>
      <p:sp>
        <p:nvSpPr>
          <p:cNvPr id="25" name="Text 19"/>
          <p:cNvSpPr/>
          <p:nvPr/>
        </p:nvSpPr>
        <p:spPr>
          <a:xfrm>
            <a:off x="5285232" y="1170432"/>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D1</a:t>
            </a:r>
            <a:endParaRPr lang="en-US" sz="1100" dirty="0"/>
          </a:p>
        </p:txBody>
      </p:sp>
      <p:sp>
        <p:nvSpPr>
          <p:cNvPr id="26" name="Text 20"/>
          <p:cNvSpPr/>
          <p:nvPr/>
        </p:nvSpPr>
        <p:spPr>
          <a:xfrm>
            <a:off x="5943600" y="1078992"/>
            <a:ext cx="2743200" cy="329184"/>
          </a:xfrm>
          <a:prstGeom prst="rect">
            <a:avLst/>
          </a:prstGeom>
          <a:noFill/>
          <a:ln/>
        </p:spPr>
        <p:txBody>
          <a:bodyPr wrap="square" lIns="0" tIns="0" rIns="0" bIns="0"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Delegation</a:t>
            </a:r>
            <a:endParaRPr lang="en-US" sz="1400" dirty="0"/>
          </a:p>
        </p:txBody>
      </p:sp>
      <p:sp>
        <p:nvSpPr>
          <p:cNvPr id="27" name="Text 21"/>
          <p:cNvSpPr/>
          <p:nvPr/>
        </p:nvSpPr>
        <p:spPr>
          <a:xfrm>
            <a:off x="5943600" y="1444752"/>
            <a:ext cx="2743200" cy="384048"/>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Choose the right work to give to AI</a:t>
            </a:r>
            <a:endParaRPr lang="en-US" sz="1100" dirty="0"/>
          </a:p>
        </p:txBody>
      </p:sp>
      <p:sp>
        <p:nvSpPr>
          <p:cNvPr id="28" name="Shape 22"/>
          <p:cNvSpPr/>
          <p:nvPr/>
        </p:nvSpPr>
        <p:spPr>
          <a:xfrm>
            <a:off x="5120640" y="1993392"/>
            <a:ext cx="3657600" cy="896112"/>
          </a:xfrm>
          <a:prstGeom prst="rect">
            <a:avLst/>
          </a:prstGeom>
          <a:solidFill>
            <a:srgbClr val="FFFFFF"/>
          </a:solidFill>
          <a:ln w="6350">
            <a:solidFill>
              <a:srgbClr val="374151"/>
            </a:solidFill>
            <a:prstDash val="solid"/>
          </a:ln>
          <a:effectLst>
            <a:outerShdw blurRad="152400" dist="50800" dir="8100000" algn="bl" rotWithShape="0">
              <a:srgbClr val="000000">
                <a:alpha val="10000"/>
              </a:srgbClr>
            </a:outerShdw>
          </a:effectLst>
        </p:spPr>
        <p:txBody>
          <a:bodyPr/>
          <a:lstStyle/>
          <a:p>
            <a:endParaRPr lang="en-US"/>
          </a:p>
        </p:txBody>
      </p:sp>
      <p:sp>
        <p:nvSpPr>
          <p:cNvPr id="29" name="Shape 23"/>
          <p:cNvSpPr/>
          <p:nvPr/>
        </p:nvSpPr>
        <p:spPr>
          <a:xfrm>
            <a:off x="5120640" y="1993392"/>
            <a:ext cx="64008" cy="896112"/>
          </a:xfrm>
          <a:prstGeom prst="rect">
            <a:avLst/>
          </a:prstGeom>
          <a:solidFill>
            <a:srgbClr val="F97316"/>
          </a:solidFill>
          <a:ln w="12700">
            <a:solidFill>
              <a:srgbClr val="F97316"/>
            </a:solidFill>
            <a:prstDash val="solid"/>
          </a:ln>
        </p:spPr>
        <p:txBody>
          <a:bodyPr/>
          <a:lstStyle/>
          <a:p>
            <a:endParaRPr lang="en-US"/>
          </a:p>
        </p:txBody>
      </p:sp>
      <p:sp>
        <p:nvSpPr>
          <p:cNvPr id="30" name="Shape 24"/>
          <p:cNvSpPr/>
          <p:nvPr/>
        </p:nvSpPr>
        <p:spPr>
          <a:xfrm>
            <a:off x="5285232" y="2176272"/>
            <a:ext cx="530352" cy="530352"/>
          </a:xfrm>
          <a:prstGeom prst="ellipse">
            <a:avLst/>
          </a:prstGeom>
          <a:solidFill>
            <a:srgbClr val="F97316"/>
          </a:solidFill>
          <a:ln w="12700">
            <a:solidFill>
              <a:srgbClr val="F97316"/>
            </a:solidFill>
            <a:prstDash val="solid"/>
          </a:ln>
        </p:spPr>
        <p:txBody>
          <a:bodyPr/>
          <a:lstStyle/>
          <a:p>
            <a:endParaRPr lang="en-US"/>
          </a:p>
        </p:txBody>
      </p:sp>
      <p:sp>
        <p:nvSpPr>
          <p:cNvPr id="31" name="Text 25"/>
          <p:cNvSpPr/>
          <p:nvPr/>
        </p:nvSpPr>
        <p:spPr>
          <a:xfrm>
            <a:off x="5285232" y="2176272"/>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D2</a:t>
            </a:r>
            <a:endParaRPr lang="en-US" sz="1100" dirty="0"/>
          </a:p>
        </p:txBody>
      </p:sp>
      <p:sp>
        <p:nvSpPr>
          <p:cNvPr id="32" name="Text 26"/>
          <p:cNvSpPr/>
          <p:nvPr/>
        </p:nvSpPr>
        <p:spPr>
          <a:xfrm>
            <a:off x="5943600" y="2084832"/>
            <a:ext cx="2743200" cy="329184"/>
          </a:xfrm>
          <a:prstGeom prst="rect">
            <a:avLst/>
          </a:prstGeom>
          <a:noFill/>
          <a:ln/>
        </p:spPr>
        <p:txBody>
          <a:bodyPr wrap="square" lIns="0" tIns="0" rIns="0" bIns="0" rtlCol="0" anchor="ctr"/>
          <a:lstStyle/>
          <a:p>
            <a:pPr marL="0" indent="0">
              <a:buNone/>
            </a:pPr>
            <a:r>
              <a:rPr lang="en-US" sz="1400" b="1" dirty="0">
                <a:solidFill>
                  <a:srgbClr val="F97316"/>
                </a:solidFill>
                <a:latin typeface="Trebuchet MS" pitchFamily="34" charset="0"/>
                <a:ea typeface="Trebuchet MS" pitchFamily="34" charset="-122"/>
                <a:cs typeface="Trebuchet MS" pitchFamily="34" charset="-120"/>
              </a:rPr>
              <a:t>Description</a:t>
            </a:r>
            <a:endParaRPr lang="en-US" sz="1400" dirty="0"/>
          </a:p>
        </p:txBody>
      </p:sp>
      <p:sp>
        <p:nvSpPr>
          <p:cNvPr id="33" name="Text 27"/>
          <p:cNvSpPr/>
          <p:nvPr/>
        </p:nvSpPr>
        <p:spPr>
          <a:xfrm>
            <a:off x="5943600" y="2450592"/>
            <a:ext cx="2743200" cy="384048"/>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Communicate clearly enough for AI to succeed</a:t>
            </a:r>
            <a:endParaRPr lang="en-US" sz="1100" dirty="0"/>
          </a:p>
        </p:txBody>
      </p:sp>
      <p:sp>
        <p:nvSpPr>
          <p:cNvPr id="34" name="Shape 28"/>
          <p:cNvSpPr/>
          <p:nvPr/>
        </p:nvSpPr>
        <p:spPr>
          <a:xfrm>
            <a:off x="5120640" y="2999232"/>
            <a:ext cx="3657600" cy="896112"/>
          </a:xfrm>
          <a:prstGeom prst="rect">
            <a:avLst/>
          </a:prstGeom>
          <a:solidFill>
            <a:srgbClr val="FFFFFF"/>
          </a:solidFill>
          <a:ln w="6350">
            <a:solidFill>
              <a:srgbClr val="374151"/>
            </a:solidFill>
            <a:prstDash val="solid"/>
          </a:ln>
          <a:effectLst>
            <a:outerShdw blurRad="152400" dist="50800" dir="8100000" algn="bl" rotWithShape="0">
              <a:srgbClr val="000000">
                <a:alpha val="10000"/>
              </a:srgbClr>
            </a:outerShdw>
          </a:effectLst>
        </p:spPr>
        <p:txBody>
          <a:bodyPr/>
          <a:lstStyle/>
          <a:p>
            <a:endParaRPr lang="en-US"/>
          </a:p>
        </p:txBody>
      </p:sp>
      <p:sp>
        <p:nvSpPr>
          <p:cNvPr id="35" name="Shape 29"/>
          <p:cNvSpPr/>
          <p:nvPr/>
        </p:nvSpPr>
        <p:spPr>
          <a:xfrm>
            <a:off x="5120640" y="2999232"/>
            <a:ext cx="64008" cy="896112"/>
          </a:xfrm>
          <a:prstGeom prst="rect">
            <a:avLst/>
          </a:prstGeom>
          <a:solidFill>
            <a:srgbClr val="F59E0B"/>
          </a:solidFill>
          <a:ln w="12700">
            <a:solidFill>
              <a:srgbClr val="F59E0B"/>
            </a:solidFill>
            <a:prstDash val="solid"/>
          </a:ln>
        </p:spPr>
        <p:txBody>
          <a:bodyPr/>
          <a:lstStyle/>
          <a:p>
            <a:endParaRPr lang="en-US"/>
          </a:p>
        </p:txBody>
      </p:sp>
      <p:sp>
        <p:nvSpPr>
          <p:cNvPr id="36" name="Shape 30"/>
          <p:cNvSpPr/>
          <p:nvPr/>
        </p:nvSpPr>
        <p:spPr>
          <a:xfrm>
            <a:off x="5285232" y="3182112"/>
            <a:ext cx="530352" cy="530352"/>
          </a:xfrm>
          <a:prstGeom prst="ellipse">
            <a:avLst/>
          </a:prstGeom>
          <a:solidFill>
            <a:srgbClr val="F59E0B"/>
          </a:solidFill>
          <a:ln w="12700">
            <a:solidFill>
              <a:srgbClr val="F59E0B"/>
            </a:solidFill>
            <a:prstDash val="solid"/>
          </a:ln>
        </p:spPr>
        <p:txBody>
          <a:bodyPr/>
          <a:lstStyle/>
          <a:p>
            <a:endParaRPr lang="en-US"/>
          </a:p>
        </p:txBody>
      </p:sp>
      <p:sp>
        <p:nvSpPr>
          <p:cNvPr id="37" name="Text 31"/>
          <p:cNvSpPr/>
          <p:nvPr/>
        </p:nvSpPr>
        <p:spPr>
          <a:xfrm>
            <a:off x="5285232" y="3182112"/>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D3</a:t>
            </a:r>
            <a:endParaRPr lang="en-US" sz="1100" dirty="0"/>
          </a:p>
        </p:txBody>
      </p:sp>
      <p:sp>
        <p:nvSpPr>
          <p:cNvPr id="38" name="Text 32"/>
          <p:cNvSpPr/>
          <p:nvPr/>
        </p:nvSpPr>
        <p:spPr>
          <a:xfrm>
            <a:off x="5943600" y="3090672"/>
            <a:ext cx="2743200" cy="329184"/>
          </a:xfrm>
          <a:prstGeom prst="rect">
            <a:avLst/>
          </a:prstGeom>
          <a:noFill/>
          <a:ln/>
        </p:spPr>
        <p:txBody>
          <a:bodyPr wrap="square" lIns="0" tIns="0" rIns="0" bIns="0" rtlCol="0" anchor="ctr"/>
          <a:lstStyle/>
          <a:p>
            <a:pPr marL="0" indent="0">
              <a:buNone/>
            </a:pPr>
            <a:r>
              <a:rPr lang="en-US" sz="1400" b="1" dirty="0">
                <a:solidFill>
                  <a:srgbClr val="F59E0B"/>
                </a:solidFill>
                <a:latin typeface="Trebuchet MS" pitchFamily="34" charset="0"/>
                <a:ea typeface="Trebuchet MS" pitchFamily="34" charset="-122"/>
                <a:cs typeface="Trebuchet MS" pitchFamily="34" charset="-120"/>
              </a:rPr>
              <a:t>Discernment</a:t>
            </a:r>
            <a:endParaRPr lang="en-US" sz="1400" dirty="0"/>
          </a:p>
        </p:txBody>
      </p:sp>
      <p:sp>
        <p:nvSpPr>
          <p:cNvPr id="39" name="Text 33"/>
          <p:cNvSpPr/>
          <p:nvPr/>
        </p:nvSpPr>
        <p:spPr>
          <a:xfrm>
            <a:off x="5943600" y="3456432"/>
            <a:ext cx="2743200" cy="384048"/>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Evaluate whether what you got back is good</a:t>
            </a:r>
            <a:endParaRPr lang="en-US" sz="1100" dirty="0"/>
          </a:p>
        </p:txBody>
      </p:sp>
      <p:sp>
        <p:nvSpPr>
          <p:cNvPr id="40" name="Shape 34"/>
          <p:cNvSpPr/>
          <p:nvPr/>
        </p:nvSpPr>
        <p:spPr>
          <a:xfrm>
            <a:off x="5120640" y="4005072"/>
            <a:ext cx="3657600" cy="896112"/>
          </a:xfrm>
          <a:prstGeom prst="rect">
            <a:avLst/>
          </a:prstGeom>
          <a:solidFill>
            <a:srgbClr val="FFFFFF"/>
          </a:solidFill>
          <a:ln w="6350">
            <a:solidFill>
              <a:srgbClr val="374151"/>
            </a:solidFill>
            <a:prstDash val="solid"/>
          </a:ln>
          <a:effectLst>
            <a:outerShdw blurRad="152400" dist="50800" dir="8100000" algn="bl" rotWithShape="0">
              <a:srgbClr val="000000">
                <a:alpha val="10000"/>
              </a:srgbClr>
            </a:outerShdw>
          </a:effectLst>
        </p:spPr>
        <p:txBody>
          <a:bodyPr/>
          <a:lstStyle/>
          <a:p>
            <a:endParaRPr lang="en-US"/>
          </a:p>
        </p:txBody>
      </p:sp>
      <p:sp>
        <p:nvSpPr>
          <p:cNvPr id="41" name="Shape 35"/>
          <p:cNvSpPr/>
          <p:nvPr/>
        </p:nvSpPr>
        <p:spPr>
          <a:xfrm>
            <a:off x="5120640" y="4005072"/>
            <a:ext cx="64008" cy="896112"/>
          </a:xfrm>
          <a:prstGeom prst="rect">
            <a:avLst/>
          </a:prstGeom>
          <a:solidFill>
            <a:srgbClr val="16A34A"/>
          </a:solidFill>
          <a:ln w="12700">
            <a:solidFill>
              <a:srgbClr val="16A34A"/>
            </a:solidFill>
            <a:prstDash val="solid"/>
          </a:ln>
        </p:spPr>
        <p:txBody>
          <a:bodyPr/>
          <a:lstStyle/>
          <a:p>
            <a:endParaRPr lang="en-US"/>
          </a:p>
        </p:txBody>
      </p:sp>
      <p:sp>
        <p:nvSpPr>
          <p:cNvPr id="42" name="Shape 36"/>
          <p:cNvSpPr/>
          <p:nvPr/>
        </p:nvSpPr>
        <p:spPr>
          <a:xfrm>
            <a:off x="5285232" y="4187952"/>
            <a:ext cx="530352" cy="530352"/>
          </a:xfrm>
          <a:prstGeom prst="ellipse">
            <a:avLst/>
          </a:prstGeom>
          <a:solidFill>
            <a:srgbClr val="16A34A"/>
          </a:solidFill>
          <a:ln w="12700">
            <a:solidFill>
              <a:srgbClr val="16A34A"/>
            </a:solidFill>
            <a:prstDash val="solid"/>
          </a:ln>
        </p:spPr>
        <p:txBody>
          <a:bodyPr/>
          <a:lstStyle/>
          <a:p>
            <a:endParaRPr lang="en-US"/>
          </a:p>
        </p:txBody>
      </p:sp>
      <p:sp>
        <p:nvSpPr>
          <p:cNvPr id="43" name="Text 37"/>
          <p:cNvSpPr/>
          <p:nvPr/>
        </p:nvSpPr>
        <p:spPr>
          <a:xfrm>
            <a:off x="5285232" y="4187952"/>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D4</a:t>
            </a:r>
            <a:endParaRPr lang="en-US" sz="1100" dirty="0"/>
          </a:p>
        </p:txBody>
      </p:sp>
      <p:sp>
        <p:nvSpPr>
          <p:cNvPr id="44" name="Text 38"/>
          <p:cNvSpPr/>
          <p:nvPr/>
        </p:nvSpPr>
        <p:spPr>
          <a:xfrm>
            <a:off x="5943600" y="4096512"/>
            <a:ext cx="2743200" cy="329184"/>
          </a:xfrm>
          <a:prstGeom prst="rect">
            <a:avLst/>
          </a:prstGeom>
          <a:noFill/>
          <a:ln/>
        </p:spPr>
        <p:txBody>
          <a:bodyPr wrap="square" lIns="0" tIns="0" rIns="0" bIns="0" rtlCol="0" anchor="ctr"/>
          <a:lstStyle/>
          <a:p>
            <a:pPr marL="0" indent="0">
              <a:buNone/>
            </a:pPr>
            <a:r>
              <a:rPr lang="en-US" sz="1400" b="1" dirty="0">
                <a:solidFill>
                  <a:srgbClr val="16A34A"/>
                </a:solidFill>
                <a:latin typeface="Trebuchet MS" pitchFamily="34" charset="0"/>
                <a:ea typeface="Trebuchet MS" pitchFamily="34" charset="-122"/>
                <a:cs typeface="Trebuchet MS" pitchFamily="34" charset="-120"/>
              </a:rPr>
              <a:t>Diligence</a:t>
            </a:r>
            <a:endParaRPr lang="en-US" sz="1400" dirty="0"/>
          </a:p>
        </p:txBody>
      </p:sp>
      <p:sp>
        <p:nvSpPr>
          <p:cNvPr id="45" name="Text 39"/>
          <p:cNvSpPr/>
          <p:nvPr/>
        </p:nvSpPr>
        <p:spPr>
          <a:xfrm>
            <a:off x="5943600" y="4462272"/>
            <a:ext cx="2743200" cy="384048"/>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Use AI responsibly, transparently, with oversight</a:t>
            </a:r>
            <a:endParaRPr lang="en-US" sz="1100" dirty="0"/>
          </a:p>
        </p:txBody>
      </p:sp>
      <p:sp>
        <p:nvSpPr>
          <p:cNvPr id="46" name="Text 40"/>
          <p:cNvSpPr/>
          <p:nvPr/>
        </p:nvSpPr>
        <p:spPr>
          <a:xfrm>
            <a:off x="457200" y="4846320"/>
            <a:ext cx="4572000" cy="201168"/>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Source: AI Fluency: Foundations of Working With AI</a:t>
            </a:r>
            <a:endParaRPr lang="en-US" sz="850" dirty="0"/>
          </a:p>
        </p:txBody>
      </p:sp>
      <p:sp>
        <p:nvSpPr>
          <p:cNvPr id="47" name="Text 41"/>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0D948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0D9488"/>
                </a:solidFill>
                <a:latin typeface="Calibri" pitchFamily="34" charset="0"/>
                <a:ea typeface="Calibri" pitchFamily="34" charset="-122"/>
                <a:cs typeface="Calibri" pitchFamily="34" charset="-120"/>
              </a:rPr>
              <a:t>26</a:t>
            </a:r>
            <a:endParaRPr lang="en-US" sz="900" dirty="0"/>
          </a:p>
        </p:txBody>
      </p:sp>
      <p:sp>
        <p:nvSpPr>
          <p:cNvPr id="4" name="Shape 2"/>
          <p:cNvSpPr/>
          <p:nvPr/>
        </p:nvSpPr>
        <p:spPr>
          <a:xfrm>
            <a:off x="320040" y="201168"/>
            <a:ext cx="594360" cy="594360"/>
          </a:xfrm>
          <a:prstGeom prst="ellipse">
            <a:avLst/>
          </a:prstGeom>
          <a:solidFill>
            <a:srgbClr val="0D9488"/>
          </a:solidFill>
          <a:ln w="12700">
            <a:solidFill>
              <a:srgbClr val="0D9488"/>
            </a:solidFill>
            <a:prstDash val="solid"/>
          </a:ln>
        </p:spPr>
        <p:txBody>
          <a:bodyPr/>
          <a:lstStyle/>
          <a:p>
            <a:endParaRPr lang="en-US"/>
          </a:p>
        </p:txBody>
      </p:sp>
      <p:sp>
        <p:nvSpPr>
          <p:cNvPr id="5" name="Text 3"/>
          <p:cNvSpPr/>
          <p:nvPr/>
        </p:nvSpPr>
        <p:spPr>
          <a:xfrm>
            <a:off x="320040" y="201168"/>
            <a:ext cx="594360" cy="59436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D1</a:t>
            </a:r>
            <a:endParaRPr lang="en-US" sz="1600" dirty="0"/>
          </a:p>
        </p:txBody>
      </p:sp>
      <p:sp>
        <p:nvSpPr>
          <p:cNvPr id="6" name="Text 4"/>
          <p:cNvSpPr/>
          <p:nvPr/>
        </p:nvSpPr>
        <p:spPr>
          <a:xfrm>
            <a:off x="1051560" y="155448"/>
            <a:ext cx="7772400" cy="548640"/>
          </a:xfrm>
          <a:prstGeom prst="rect">
            <a:avLst/>
          </a:prstGeom>
          <a:noFill/>
          <a:ln/>
        </p:spPr>
        <p:txBody>
          <a:bodyPr wrap="square" lIns="0" tIns="0" rIns="0" bIns="0" rtlCol="0" anchor="ctr"/>
          <a:lstStyle/>
          <a:p>
            <a:pPr marL="0" indent="0">
              <a:buNone/>
            </a:pPr>
            <a:r>
              <a:rPr lang="en-US" sz="2200" b="1" dirty="0">
                <a:solidFill>
                  <a:srgbClr val="1B2A4A"/>
                </a:solidFill>
                <a:latin typeface="Trebuchet MS" pitchFamily="34" charset="0"/>
                <a:ea typeface="Trebuchet MS" pitchFamily="34" charset="-122"/>
                <a:cs typeface="Trebuchet MS" pitchFamily="34" charset="-120"/>
              </a:rPr>
              <a:t>Delegation: What Work Should You Give to AI?</a:t>
            </a:r>
            <a:endParaRPr lang="en-US" sz="2200" dirty="0"/>
          </a:p>
        </p:txBody>
      </p:sp>
      <p:sp>
        <p:nvSpPr>
          <p:cNvPr id="7" name="Shape 5"/>
          <p:cNvSpPr/>
          <p:nvPr/>
        </p:nvSpPr>
        <p:spPr>
          <a:xfrm>
            <a:off x="1051560" y="777240"/>
            <a:ext cx="7772400" cy="292608"/>
          </a:xfrm>
          <a:prstGeom prst="rect">
            <a:avLst/>
          </a:prstGeom>
          <a:solidFill>
            <a:srgbClr val="0D9488"/>
          </a:solidFill>
          <a:ln w="12700">
            <a:solidFill>
              <a:srgbClr val="0D9488"/>
            </a:solidFill>
            <a:prstDash val="solid"/>
          </a:ln>
        </p:spPr>
        <p:txBody>
          <a:bodyPr/>
          <a:lstStyle/>
          <a:p>
            <a:endParaRPr lang="en-US"/>
          </a:p>
        </p:txBody>
      </p:sp>
      <p:sp>
        <p:nvSpPr>
          <p:cNvPr id="8" name="Text 6"/>
          <p:cNvSpPr/>
          <p:nvPr/>
        </p:nvSpPr>
        <p:spPr>
          <a:xfrm>
            <a:off x="1051560" y="777240"/>
            <a:ext cx="77724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Core question: What should you delegate to AI — and what should you own?</a:t>
            </a:r>
            <a:endParaRPr lang="en-US" sz="1100" dirty="0"/>
          </a:p>
        </p:txBody>
      </p:sp>
      <p:sp>
        <p:nvSpPr>
          <p:cNvPr id="9" name="Shape 7"/>
          <p:cNvSpPr/>
          <p:nvPr/>
        </p:nvSpPr>
        <p:spPr>
          <a:xfrm>
            <a:off x="320040" y="1170432"/>
            <a:ext cx="2743200" cy="347472"/>
          </a:xfrm>
          <a:prstGeom prst="rect">
            <a:avLst/>
          </a:prstGeom>
          <a:solidFill>
            <a:srgbClr val="0D9488"/>
          </a:solidFill>
          <a:ln w="12700">
            <a:solidFill>
              <a:srgbClr val="0D9488"/>
            </a:solidFill>
            <a:prstDash val="solid"/>
          </a:ln>
        </p:spPr>
        <p:txBody>
          <a:bodyPr/>
          <a:lstStyle/>
          <a:p>
            <a:endParaRPr lang="en-US"/>
          </a:p>
        </p:txBody>
      </p:sp>
      <p:sp>
        <p:nvSpPr>
          <p:cNvPr id="10" name="Text 8"/>
          <p:cNvSpPr/>
          <p:nvPr/>
        </p:nvSpPr>
        <p:spPr>
          <a:xfrm>
            <a:off x="320040" y="1170432"/>
            <a:ext cx="2743200" cy="347472"/>
          </a:xfrm>
          <a:prstGeom prst="rect">
            <a:avLst/>
          </a:prstGeom>
          <a:noFill/>
          <a:ln/>
        </p:spPr>
        <p:txBody>
          <a:bodyPr wrap="square"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FACTOR</a:t>
            </a:r>
            <a:endParaRPr lang="en-US" sz="1100" dirty="0"/>
          </a:p>
        </p:txBody>
      </p:sp>
      <p:sp>
        <p:nvSpPr>
          <p:cNvPr id="11" name="Shape 9"/>
          <p:cNvSpPr/>
          <p:nvPr/>
        </p:nvSpPr>
        <p:spPr>
          <a:xfrm>
            <a:off x="3108960" y="1170432"/>
            <a:ext cx="2834640" cy="347472"/>
          </a:xfrm>
          <a:prstGeom prst="rect">
            <a:avLst/>
          </a:prstGeom>
          <a:solidFill>
            <a:srgbClr val="16A34A"/>
          </a:solidFill>
          <a:ln w="12700">
            <a:solidFill>
              <a:srgbClr val="16A34A"/>
            </a:solidFill>
            <a:prstDash val="solid"/>
          </a:ln>
        </p:spPr>
        <p:txBody>
          <a:bodyPr/>
          <a:lstStyle/>
          <a:p>
            <a:endParaRPr lang="en-US"/>
          </a:p>
        </p:txBody>
      </p:sp>
      <p:sp>
        <p:nvSpPr>
          <p:cNvPr id="12" name="Text 10"/>
          <p:cNvSpPr/>
          <p:nvPr/>
        </p:nvSpPr>
        <p:spPr>
          <a:xfrm>
            <a:off x="3108960" y="1170432"/>
            <a:ext cx="2834640" cy="347472"/>
          </a:xfrm>
          <a:prstGeom prst="rect">
            <a:avLst/>
          </a:prstGeom>
          <a:noFill/>
          <a:ln/>
        </p:spPr>
        <p:txBody>
          <a:bodyPr wrap="square"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  DELEGATE MORE</a:t>
            </a:r>
            <a:endParaRPr lang="en-US" sz="1100" dirty="0"/>
          </a:p>
        </p:txBody>
      </p:sp>
      <p:sp>
        <p:nvSpPr>
          <p:cNvPr id="13" name="Shape 11"/>
          <p:cNvSpPr/>
          <p:nvPr/>
        </p:nvSpPr>
        <p:spPr>
          <a:xfrm>
            <a:off x="5989320" y="1170432"/>
            <a:ext cx="2834640" cy="347472"/>
          </a:xfrm>
          <a:prstGeom prst="rect">
            <a:avLst/>
          </a:prstGeom>
          <a:solidFill>
            <a:srgbClr val="F97316"/>
          </a:solidFill>
          <a:ln w="12700">
            <a:solidFill>
              <a:srgbClr val="F97316"/>
            </a:solidFill>
            <a:prstDash val="solid"/>
          </a:ln>
        </p:spPr>
        <p:txBody>
          <a:bodyPr/>
          <a:lstStyle/>
          <a:p>
            <a:endParaRPr lang="en-US"/>
          </a:p>
        </p:txBody>
      </p:sp>
      <p:sp>
        <p:nvSpPr>
          <p:cNvPr id="14" name="Text 12"/>
          <p:cNvSpPr/>
          <p:nvPr/>
        </p:nvSpPr>
        <p:spPr>
          <a:xfrm>
            <a:off x="5989320" y="1170432"/>
            <a:ext cx="2834640" cy="347472"/>
          </a:xfrm>
          <a:prstGeom prst="rect">
            <a:avLst/>
          </a:prstGeom>
          <a:noFill/>
          <a:ln/>
        </p:spPr>
        <p:txBody>
          <a:bodyPr wrap="square"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  OWN IT / DELEGATE LESS</a:t>
            </a:r>
            <a:endParaRPr lang="en-US" sz="1100" dirty="0"/>
          </a:p>
        </p:txBody>
      </p:sp>
      <p:sp>
        <p:nvSpPr>
          <p:cNvPr id="15" name="Shape 13"/>
          <p:cNvSpPr/>
          <p:nvPr/>
        </p:nvSpPr>
        <p:spPr>
          <a:xfrm>
            <a:off x="320040" y="1517904"/>
            <a:ext cx="2743200" cy="475488"/>
          </a:xfrm>
          <a:prstGeom prst="rect">
            <a:avLst/>
          </a:prstGeom>
          <a:solidFill>
            <a:srgbClr val="FFFFFF"/>
          </a:solidFill>
          <a:ln w="6350">
            <a:solidFill>
              <a:srgbClr val="E2E8F0"/>
            </a:solidFill>
            <a:prstDash val="solid"/>
          </a:ln>
        </p:spPr>
        <p:txBody>
          <a:bodyPr/>
          <a:lstStyle/>
          <a:p>
            <a:endParaRPr lang="en-US"/>
          </a:p>
        </p:txBody>
      </p:sp>
      <p:sp>
        <p:nvSpPr>
          <p:cNvPr id="16" name="Text 14"/>
          <p:cNvSpPr/>
          <p:nvPr/>
        </p:nvSpPr>
        <p:spPr>
          <a:xfrm>
            <a:off x="320040" y="1517904"/>
            <a:ext cx="2743200" cy="475488"/>
          </a:xfrm>
          <a:prstGeom prst="rect">
            <a:avLst/>
          </a:prstGeom>
          <a:noFill/>
          <a:ln/>
        </p:spPr>
        <p:txBody>
          <a:bodyPr wrap="square"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Stakes</a:t>
            </a:r>
            <a:endParaRPr lang="en-US" sz="1100" dirty="0"/>
          </a:p>
        </p:txBody>
      </p:sp>
      <p:sp>
        <p:nvSpPr>
          <p:cNvPr id="17" name="Shape 15"/>
          <p:cNvSpPr/>
          <p:nvPr/>
        </p:nvSpPr>
        <p:spPr>
          <a:xfrm>
            <a:off x="3108960" y="1517904"/>
            <a:ext cx="2834640" cy="475488"/>
          </a:xfrm>
          <a:prstGeom prst="rect">
            <a:avLst/>
          </a:prstGeom>
          <a:solidFill>
            <a:srgbClr val="FFFFFF"/>
          </a:solidFill>
          <a:ln w="6350">
            <a:solidFill>
              <a:srgbClr val="E2E8F0"/>
            </a:solidFill>
            <a:prstDash val="solid"/>
          </a:ln>
        </p:spPr>
        <p:txBody>
          <a:bodyPr/>
          <a:lstStyle/>
          <a:p>
            <a:endParaRPr lang="en-US"/>
          </a:p>
        </p:txBody>
      </p:sp>
      <p:sp>
        <p:nvSpPr>
          <p:cNvPr id="18" name="Text 16"/>
          <p:cNvSpPr/>
          <p:nvPr/>
        </p:nvSpPr>
        <p:spPr>
          <a:xfrm>
            <a:off x="3200400" y="1517904"/>
            <a:ext cx="2743200" cy="475488"/>
          </a:xfrm>
          <a:prstGeom prst="rect">
            <a:avLst/>
          </a:prstGeom>
          <a:noFill/>
          <a:ln/>
        </p:spPr>
        <p:txBody>
          <a:bodyPr wrap="square" rtlCol="0" anchor="ctr"/>
          <a:lstStyle/>
          <a:p>
            <a:pPr marL="0" indent="0" algn="l">
              <a:buNone/>
            </a:pPr>
            <a:r>
              <a:rPr lang="en-US" sz="1050" dirty="0">
                <a:solidFill>
                  <a:srgbClr val="475569"/>
                </a:solidFill>
                <a:latin typeface="Calibri" pitchFamily="34" charset="0"/>
                <a:ea typeface="Calibri" pitchFamily="34" charset="-122"/>
                <a:cs typeface="Calibri" pitchFamily="34" charset="-120"/>
              </a:rPr>
              <a:t>Low stakes, easy to verify</a:t>
            </a:r>
            <a:endParaRPr lang="en-US" sz="1050" dirty="0"/>
          </a:p>
        </p:txBody>
      </p:sp>
      <p:sp>
        <p:nvSpPr>
          <p:cNvPr id="19" name="Shape 17"/>
          <p:cNvSpPr/>
          <p:nvPr/>
        </p:nvSpPr>
        <p:spPr>
          <a:xfrm>
            <a:off x="5989320" y="1517904"/>
            <a:ext cx="2834640" cy="475488"/>
          </a:xfrm>
          <a:prstGeom prst="rect">
            <a:avLst/>
          </a:prstGeom>
          <a:solidFill>
            <a:srgbClr val="FFFFFF"/>
          </a:solidFill>
          <a:ln w="6350">
            <a:solidFill>
              <a:srgbClr val="E2E8F0"/>
            </a:solidFill>
            <a:prstDash val="solid"/>
          </a:ln>
        </p:spPr>
        <p:txBody>
          <a:bodyPr/>
          <a:lstStyle/>
          <a:p>
            <a:endParaRPr lang="en-US"/>
          </a:p>
        </p:txBody>
      </p:sp>
      <p:sp>
        <p:nvSpPr>
          <p:cNvPr id="20" name="Text 18"/>
          <p:cNvSpPr/>
          <p:nvPr/>
        </p:nvSpPr>
        <p:spPr>
          <a:xfrm>
            <a:off x="6080760" y="1517904"/>
            <a:ext cx="2743200" cy="475488"/>
          </a:xfrm>
          <a:prstGeom prst="rect">
            <a:avLst/>
          </a:prstGeom>
          <a:noFill/>
          <a:ln/>
        </p:spPr>
        <p:txBody>
          <a:bodyPr wrap="square" rtlCol="0" anchor="ctr"/>
          <a:lstStyle/>
          <a:p>
            <a:pPr marL="0" indent="0" algn="l">
              <a:buNone/>
            </a:pPr>
            <a:r>
              <a:rPr lang="en-US" sz="1050" dirty="0">
                <a:solidFill>
                  <a:srgbClr val="475569"/>
                </a:solidFill>
                <a:latin typeface="Calibri" pitchFamily="34" charset="0"/>
                <a:ea typeface="Calibri" pitchFamily="34" charset="-122"/>
                <a:cs typeface="Calibri" pitchFamily="34" charset="-120"/>
              </a:rPr>
              <a:t>High stakes, hard to verify</a:t>
            </a:r>
            <a:endParaRPr lang="en-US" sz="1050" dirty="0"/>
          </a:p>
        </p:txBody>
      </p:sp>
      <p:sp>
        <p:nvSpPr>
          <p:cNvPr id="21" name="Shape 19"/>
          <p:cNvSpPr/>
          <p:nvPr/>
        </p:nvSpPr>
        <p:spPr>
          <a:xfrm>
            <a:off x="320040" y="1993392"/>
            <a:ext cx="2743200" cy="475488"/>
          </a:xfrm>
          <a:prstGeom prst="rect">
            <a:avLst/>
          </a:prstGeom>
          <a:solidFill>
            <a:srgbClr val="FFFFFF"/>
          </a:solidFill>
          <a:ln w="6350">
            <a:solidFill>
              <a:srgbClr val="E2E8F0"/>
            </a:solidFill>
            <a:prstDash val="solid"/>
          </a:ln>
        </p:spPr>
        <p:txBody>
          <a:bodyPr/>
          <a:lstStyle/>
          <a:p>
            <a:endParaRPr lang="en-US"/>
          </a:p>
        </p:txBody>
      </p:sp>
      <p:sp>
        <p:nvSpPr>
          <p:cNvPr id="22" name="Text 20"/>
          <p:cNvSpPr/>
          <p:nvPr/>
        </p:nvSpPr>
        <p:spPr>
          <a:xfrm>
            <a:off x="320040" y="1993392"/>
            <a:ext cx="2743200" cy="475488"/>
          </a:xfrm>
          <a:prstGeom prst="rect">
            <a:avLst/>
          </a:prstGeom>
          <a:noFill/>
          <a:ln/>
        </p:spPr>
        <p:txBody>
          <a:bodyPr wrap="square"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Complexity</a:t>
            </a:r>
            <a:endParaRPr lang="en-US" sz="1100" dirty="0"/>
          </a:p>
        </p:txBody>
      </p:sp>
      <p:sp>
        <p:nvSpPr>
          <p:cNvPr id="23" name="Shape 21"/>
          <p:cNvSpPr/>
          <p:nvPr/>
        </p:nvSpPr>
        <p:spPr>
          <a:xfrm>
            <a:off x="3108960" y="1993392"/>
            <a:ext cx="2834640" cy="475488"/>
          </a:xfrm>
          <a:prstGeom prst="rect">
            <a:avLst/>
          </a:prstGeom>
          <a:solidFill>
            <a:srgbClr val="FFFFFF"/>
          </a:solidFill>
          <a:ln w="6350">
            <a:solidFill>
              <a:srgbClr val="E2E8F0"/>
            </a:solidFill>
            <a:prstDash val="solid"/>
          </a:ln>
        </p:spPr>
        <p:txBody>
          <a:bodyPr/>
          <a:lstStyle/>
          <a:p>
            <a:endParaRPr lang="en-US"/>
          </a:p>
        </p:txBody>
      </p:sp>
      <p:sp>
        <p:nvSpPr>
          <p:cNvPr id="24" name="Text 22"/>
          <p:cNvSpPr/>
          <p:nvPr/>
        </p:nvSpPr>
        <p:spPr>
          <a:xfrm>
            <a:off x="3200400" y="1993392"/>
            <a:ext cx="2743200" cy="475488"/>
          </a:xfrm>
          <a:prstGeom prst="rect">
            <a:avLst/>
          </a:prstGeom>
          <a:noFill/>
          <a:ln/>
        </p:spPr>
        <p:txBody>
          <a:bodyPr wrap="square" rtlCol="0" anchor="ctr"/>
          <a:lstStyle/>
          <a:p>
            <a:pPr marL="0" indent="0" algn="l">
              <a:buNone/>
            </a:pPr>
            <a:r>
              <a:rPr lang="en-US" sz="1050" dirty="0">
                <a:solidFill>
                  <a:srgbClr val="475569"/>
                </a:solidFill>
                <a:latin typeface="Calibri" pitchFamily="34" charset="0"/>
                <a:ea typeface="Calibri" pitchFamily="34" charset="-122"/>
                <a:cs typeface="Calibri" pitchFamily="34" charset="-120"/>
              </a:rPr>
              <a:t>Structured, bounded task</a:t>
            </a:r>
            <a:endParaRPr lang="en-US" sz="1050" dirty="0"/>
          </a:p>
        </p:txBody>
      </p:sp>
      <p:sp>
        <p:nvSpPr>
          <p:cNvPr id="25" name="Shape 23"/>
          <p:cNvSpPr/>
          <p:nvPr/>
        </p:nvSpPr>
        <p:spPr>
          <a:xfrm>
            <a:off x="5989320" y="1993392"/>
            <a:ext cx="2834640" cy="475488"/>
          </a:xfrm>
          <a:prstGeom prst="rect">
            <a:avLst/>
          </a:prstGeom>
          <a:solidFill>
            <a:srgbClr val="FFFFFF"/>
          </a:solidFill>
          <a:ln w="6350">
            <a:solidFill>
              <a:srgbClr val="E2E8F0"/>
            </a:solidFill>
            <a:prstDash val="solid"/>
          </a:ln>
        </p:spPr>
        <p:txBody>
          <a:bodyPr/>
          <a:lstStyle/>
          <a:p>
            <a:endParaRPr lang="en-US"/>
          </a:p>
        </p:txBody>
      </p:sp>
      <p:sp>
        <p:nvSpPr>
          <p:cNvPr id="26" name="Text 24"/>
          <p:cNvSpPr/>
          <p:nvPr/>
        </p:nvSpPr>
        <p:spPr>
          <a:xfrm>
            <a:off x="6080760" y="1993392"/>
            <a:ext cx="2743200" cy="475488"/>
          </a:xfrm>
          <a:prstGeom prst="rect">
            <a:avLst/>
          </a:prstGeom>
          <a:noFill/>
          <a:ln/>
        </p:spPr>
        <p:txBody>
          <a:bodyPr wrap="square" rtlCol="0" anchor="ctr"/>
          <a:lstStyle/>
          <a:p>
            <a:pPr marL="0" indent="0" algn="l">
              <a:buNone/>
            </a:pPr>
            <a:r>
              <a:rPr lang="en-US" sz="1050" dirty="0">
                <a:solidFill>
                  <a:srgbClr val="475569"/>
                </a:solidFill>
                <a:latin typeface="Calibri" pitchFamily="34" charset="0"/>
                <a:ea typeface="Calibri" pitchFamily="34" charset="-122"/>
                <a:cs typeface="Calibri" pitchFamily="34" charset="-120"/>
              </a:rPr>
              <a:t>Requires deep org context</a:t>
            </a:r>
            <a:endParaRPr lang="en-US" sz="1050" dirty="0"/>
          </a:p>
        </p:txBody>
      </p:sp>
      <p:sp>
        <p:nvSpPr>
          <p:cNvPr id="27" name="Shape 25"/>
          <p:cNvSpPr/>
          <p:nvPr/>
        </p:nvSpPr>
        <p:spPr>
          <a:xfrm>
            <a:off x="320040" y="2468880"/>
            <a:ext cx="2743200" cy="475488"/>
          </a:xfrm>
          <a:prstGeom prst="rect">
            <a:avLst/>
          </a:prstGeom>
          <a:solidFill>
            <a:srgbClr val="FFFFFF"/>
          </a:solidFill>
          <a:ln w="6350">
            <a:solidFill>
              <a:srgbClr val="E2E8F0"/>
            </a:solidFill>
            <a:prstDash val="solid"/>
          </a:ln>
        </p:spPr>
        <p:txBody>
          <a:bodyPr/>
          <a:lstStyle/>
          <a:p>
            <a:endParaRPr lang="en-US"/>
          </a:p>
        </p:txBody>
      </p:sp>
      <p:sp>
        <p:nvSpPr>
          <p:cNvPr id="28" name="Text 26"/>
          <p:cNvSpPr/>
          <p:nvPr/>
        </p:nvSpPr>
        <p:spPr>
          <a:xfrm>
            <a:off x="320040" y="2468880"/>
            <a:ext cx="2743200" cy="475488"/>
          </a:xfrm>
          <a:prstGeom prst="rect">
            <a:avLst/>
          </a:prstGeom>
          <a:noFill/>
          <a:ln/>
        </p:spPr>
        <p:txBody>
          <a:bodyPr wrap="square"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Reversibility</a:t>
            </a:r>
            <a:endParaRPr lang="en-US" sz="1100" dirty="0"/>
          </a:p>
        </p:txBody>
      </p:sp>
      <p:sp>
        <p:nvSpPr>
          <p:cNvPr id="29" name="Shape 27"/>
          <p:cNvSpPr/>
          <p:nvPr/>
        </p:nvSpPr>
        <p:spPr>
          <a:xfrm>
            <a:off x="3108960" y="2468880"/>
            <a:ext cx="2834640" cy="475488"/>
          </a:xfrm>
          <a:prstGeom prst="rect">
            <a:avLst/>
          </a:prstGeom>
          <a:solidFill>
            <a:srgbClr val="FFFFFF"/>
          </a:solidFill>
          <a:ln w="6350">
            <a:solidFill>
              <a:srgbClr val="E2E8F0"/>
            </a:solidFill>
            <a:prstDash val="solid"/>
          </a:ln>
        </p:spPr>
        <p:txBody>
          <a:bodyPr/>
          <a:lstStyle/>
          <a:p>
            <a:endParaRPr lang="en-US"/>
          </a:p>
        </p:txBody>
      </p:sp>
      <p:sp>
        <p:nvSpPr>
          <p:cNvPr id="30" name="Text 28"/>
          <p:cNvSpPr/>
          <p:nvPr/>
        </p:nvSpPr>
        <p:spPr>
          <a:xfrm>
            <a:off x="3200400" y="2468880"/>
            <a:ext cx="2743200" cy="475488"/>
          </a:xfrm>
          <a:prstGeom prst="rect">
            <a:avLst/>
          </a:prstGeom>
          <a:noFill/>
          <a:ln/>
        </p:spPr>
        <p:txBody>
          <a:bodyPr wrap="square" rtlCol="0" anchor="ctr"/>
          <a:lstStyle/>
          <a:p>
            <a:pPr marL="0" indent="0" algn="l">
              <a:buNone/>
            </a:pPr>
            <a:r>
              <a:rPr lang="en-US" sz="1050" dirty="0">
                <a:solidFill>
                  <a:srgbClr val="475569"/>
                </a:solidFill>
                <a:latin typeface="Calibri" pitchFamily="34" charset="0"/>
                <a:ea typeface="Calibri" pitchFamily="34" charset="-122"/>
                <a:cs typeface="Calibri" pitchFamily="34" charset="-120"/>
              </a:rPr>
              <a:t>Easy to revise or discard</a:t>
            </a:r>
            <a:endParaRPr lang="en-US" sz="1050" dirty="0"/>
          </a:p>
        </p:txBody>
      </p:sp>
      <p:sp>
        <p:nvSpPr>
          <p:cNvPr id="31" name="Shape 29"/>
          <p:cNvSpPr/>
          <p:nvPr/>
        </p:nvSpPr>
        <p:spPr>
          <a:xfrm>
            <a:off x="5989320" y="2468880"/>
            <a:ext cx="2834640" cy="475488"/>
          </a:xfrm>
          <a:prstGeom prst="rect">
            <a:avLst/>
          </a:prstGeom>
          <a:solidFill>
            <a:srgbClr val="FFFFFF"/>
          </a:solidFill>
          <a:ln w="6350">
            <a:solidFill>
              <a:srgbClr val="E2E8F0"/>
            </a:solidFill>
            <a:prstDash val="solid"/>
          </a:ln>
        </p:spPr>
        <p:txBody>
          <a:bodyPr/>
          <a:lstStyle/>
          <a:p>
            <a:endParaRPr lang="en-US"/>
          </a:p>
        </p:txBody>
      </p:sp>
      <p:sp>
        <p:nvSpPr>
          <p:cNvPr id="32" name="Text 30"/>
          <p:cNvSpPr/>
          <p:nvPr/>
        </p:nvSpPr>
        <p:spPr>
          <a:xfrm>
            <a:off x="6080760" y="2468880"/>
            <a:ext cx="2743200" cy="475488"/>
          </a:xfrm>
          <a:prstGeom prst="rect">
            <a:avLst/>
          </a:prstGeom>
          <a:noFill/>
          <a:ln/>
        </p:spPr>
        <p:txBody>
          <a:bodyPr wrap="square" rtlCol="0" anchor="ctr"/>
          <a:lstStyle/>
          <a:p>
            <a:pPr marL="0" indent="0" algn="l">
              <a:buNone/>
            </a:pPr>
            <a:r>
              <a:rPr lang="en-US" sz="1050" dirty="0">
                <a:solidFill>
                  <a:srgbClr val="475569"/>
                </a:solidFill>
                <a:latin typeface="Calibri" pitchFamily="34" charset="0"/>
                <a:ea typeface="Calibri" pitchFamily="34" charset="-122"/>
                <a:cs typeface="Calibri" pitchFamily="34" charset="-120"/>
              </a:rPr>
              <a:t>Hard to undo if wrong</a:t>
            </a:r>
            <a:endParaRPr lang="en-US" sz="1050" dirty="0"/>
          </a:p>
        </p:txBody>
      </p:sp>
      <p:sp>
        <p:nvSpPr>
          <p:cNvPr id="33" name="Shape 31"/>
          <p:cNvSpPr/>
          <p:nvPr/>
        </p:nvSpPr>
        <p:spPr>
          <a:xfrm>
            <a:off x="320040" y="2944368"/>
            <a:ext cx="2743200" cy="475488"/>
          </a:xfrm>
          <a:prstGeom prst="rect">
            <a:avLst/>
          </a:prstGeom>
          <a:solidFill>
            <a:srgbClr val="FFFFFF"/>
          </a:solidFill>
          <a:ln w="6350">
            <a:solidFill>
              <a:srgbClr val="E2E8F0"/>
            </a:solidFill>
            <a:prstDash val="solid"/>
          </a:ln>
        </p:spPr>
        <p:txBody>
          <a:bodyPr/>
          <a:lstStyle/>
          <a:p>
            <a:endParaRPr lang="en-US"/>
          </a:p>
        </p:txBody>
      </p:sp>
      <p:sp>
        <p:nvSpPr>
          <p:cNvPr id="34" name="Text 32"/>
          <p:cNvSpPr/>
          <p:nvPr/>
        </p:nvSpPr>
        <p:spPr>
          <a:xfrm>
            <a:off x="320040" y="2944368"/>
            <a:ext cx="2743200" cy="475488"/>
          </a:xfrm>
          <a:prstGeom prst="rect">
            <a:avLst/>
          </a:prstGeom>
          <a:noFill/>
          <a:ln/>
        </p:spPr>
        <p:txBody>
          <a:bodyPr wrap="square"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Regulatory Exposure</a:t>
            </a:r>
            <a:endParaRPr lang="en-US" sz="1100" dirty="0"/>
          </a:p>
        </p:txBody>
      </p:sp>
      <p:sp>
        <p:nvSpPr>
          <p:cNvPr id="35" name="Shape 33"/>
          <p:cNvSpPr/>
          <p:nvPr/>
        </p:nvSpPr>
        <p:spPr>
          <a:xfrm>
            <a:off x="3108960" y="2944368"/>
            <a:ext cx="2834640" cy="475488"/>
          </a:xfrm>
          <a:prstGeom prst="rect">
            <a:avLst/>
          </a:prstGeom>
          <a:solidFill>
            <a:srgbClr val="FFFFFF"/>
          </a:solidFill>
          <a:ln w="6350">
            <a:solidFill>
              <a:srgbClr val="E2E8F0"/>
            </a:solidFill>
            <a:prstDash val="solid"/>
          </a:ln>
        </p:spPr>
        <p:txBody>
          <a:bodyPr/>
          <a:lstStyle/>
          <a:p>
            <a:endParaRPr lang="en-US"/>
          </a:p>
        </p:txBody>
      </p:sp>
      <p:sp>
        <p:nvSpPr>
          <p:cNvPr id="36" name="Text 34"/>
          <p:cNvSpPr/>
          <p:nvPr/>
        </p:nvSpPr>
        <p:spPr>
          <a:xfrm>
            <a:off x="3200400" y="2944368"/>
            <a:ext cx="2743200" cy="475488"/>
          </a:xfrm>
          <a:prstGeom prst="rect">
            <a:avLst/>
          </a:prstGeom>
          <a:noFill/>
          <a:ln/>
        </p:spPr>
        <p:txBody>
          <a:bodyPr wrap="square" rtlCol="0" anchor="ctr"/>
          <a:lstStyle/>
          <a:p>
            <a:pPr marL="0" indent="0" algn="l">
              <a:buNone/>
            </a:pPr>
            <a:r>
              <a:rPr lang="en-US" sz="1050" dirty="0">
                <a:solidFill>
                  <a:srgbClr val="475569"/>
                </a:solidFill>
                <a:latin typeface="Calibri" pitchFamily="34" charset="0"/>
                <a:ea typeface="Calibri" pitchFamily="34" charset="-122"/>
                <a:cs typeface="Calibri" pitchFamily="34" charset="-120"/>
              </a:rPr>
              <a:t>Low regulatory sensitivity</a:t>
            </a:r>
            <a:endParaRPr lang="en-US" sz="1050" dirty="0"/>
          </a:p>
        </p:txBody>
      </p:sp>
      <p:sp>
        <p:nvSpPr>
          <p:cNvPr id="37" name="Shape 35"/>
          <p:cNvSpPr/>
          <p:nvPr/>
        </p:nvSpPr>
        <p:spPr>
          <a:xfrm>
            <a:off x="5989320" y="2944368"/>
            <a:ext cx="2834640" cy="475488"/>
          </a:xfrm>
          <a:prstGeom prst="rect">
            <a:avLst/>
          </a:prstGeom>
          <a:solidFill>
            <a:srgbClr val="FFFFFF"/>
          </a:solidFill>
          <a:ln w="6350">
            <a:solidFill>
              <a:srgbClr val="E2E8F0"/>
            </a:solidFill>
            <a:prstDash val="solid"/>
          </a:ln>
        </p:spPr>
        <p:txBody>
          <a:bodyPr/>
          <a:lstStyle/>
          <a:p>
            <a:endParaRPr lang="en-US"/>
          </a:p>
        </p:txBody>
      </p:sp>
      <p:sp>
        <p:nvSpPr>
          <p:cNvPr id="38" name="Text 36"/>
          <p:cNvSpPr/>
          <p:nvPr/>
        </p:nvSpPr>
        <p:spPr>
          <a:xfrm>
            <a:off x="6080760" y="2944368"/>
            <a:ext cx="2743200" cy="475488"/>
          </a:xfrm>
          <a:prstGeom prst="rect">
            <a:avLst/>
          </a:prstGeom>
          <a:noFill/>
          <a:ln/>
        </p:spPr>
        <p:txBody>
          <a:bodyPr wrap="square" rtlCol="0" anchor="ctr"/>
          <a:lstStyle/>
          <a:p>
            <a:pPr marL="0" indent="0" algn="l">
              <a:buNone/>
            </a:pPr>
            <a:r>
              <a:rPr lang="en-US" sz="1050" dirty="0">
                <a:solidFill>
                  <a:srgbClr val="475569"/>
                </a:solidFill>
                <a:latin typeface="Calibri" pitchFamily="34" charset="0"/>
                <a:ea typeface="Calibri" pitchFamily="34" charset="-122"/>
                <a:cs typeface="Calibri" pitchFamily="34" charset="-120"/>
              </a:rPr>
              <a:t>Direct legal or regulatory impact</a:t>
            </a:r>
            <a:endParaRPr lang="en-US" sz="1050" dirty="0"/>
          </a:p>
        </p:txBody>
      </p:sp>
      <p:sp>
        <p:nvSpPr>
          <p:cNvPr id="39" name="Shape 37"/>
          <p:cNvSpPr/>
          <p:nvPr/>
        </p:nvSpPr>
        <p:spPr>
          <a:xfrm>
            <a:off x="320040" y="3529584"/>
            <a:ext cx="4206240" cy="960120"/>
          </a:xfrm>
          <a:prstGeom prst="rect">
            <a:avLst/>
          </a:prstGeom>
          <a:solidFill>
            <a:srgbClr val="FFFFFF"/>
          </a:solidFill>
          <a:ln w="19050">
            <a:solidFill>
              <a:srgbClr val="16A34A"/>
            </a:solidFill>
            <a:prstDash val="solid"/>
          </a:ln>
        </p:spPr>
        <p:txBody>
          <a:bodyPr/>
          <a:lstStyle/>
          <a:p>
            <a:endParaRPr lang="en-US"/>
          </a:p>
        </p:txBody>
      </p:sp>
      <p:sp>
        <p:nvSpPr>
          <p:cNvPr id="40" name="Text 38"/>
          <p:cNvSpPr/>
          <p:nvPr/>
        </p:nvSpPr>
        <p:spPr>
          <a:xfrm>
            <a:off x="320040" y="3529584"/>
            <a:ext cx="4206240" cy="256032"/>
          </a:xfrm>
          <a:prstGeom prst="rect">
            <a:avLst/>
          </a:prstGeom>
          <a:noFill/>
          <a:ln/>
        </p:spPr>
        <p:txBody>
          <a:bodyPr wrap="square" rtlCol="0" anchor="ctr"/>
          <a:lstStyle/>
          <a:p>
            <a:pPr marL="0" indent="0" algn="ctr">
              <a:buNone/>
            </a:pPr>
            <a:r>
              <a:rPr lang="en-US" sz="1000" b="1" dirty="0">
                <a:solidFill>
                  <a:srgbClr val="16A34A"/>
                </a:solidFill>
                <a:latin typeface="Trebuchet MS" pitchFamily="34" charset="0"/>
                <a:ea typeface="Trebuchet MS" pitchFamily="34" charset="-122"/>
                <a:cs typeface="Trebuchet MS" pitchFamily="34" charset="-120"/>
              </a:rPr>
              <a:t>✓  GOOD DELEGATION AT FHB</a:t>
            </a:r>
            <a:endParaRPr lang="en-US" sz="1000" dirty="0"/>
          </a:p>
        </p:txBody>
      </p:sp>
      <p:sp>
        <p:nvSpPr>
          <p:cNvPr id="41" name="Text 39"/>
          <p:cNvSpPr/>
          <p:nvPr/>
        </p:nvSpPr>
        <p:spPr>
          <a:xfrm>
            <a:off x="457200" y="3785616"/>
            <a:ext cx="3977640" cy="658368"/>
          </a:xfrm>
          <a:prstGeom prst="rect">
            <a:avLst/>
          </a:prstGeom>
          <a:noFill/>
          <a:ln/>
        </p:spPr>
        <p:txBody>
          <a:bodyPr wrap="square" rtlCol="0" anchor="t"/>
          <a:lstStyle/>
          <a:p>
            <a:pPr marL="0" indent="0">
              <a:buNone/>
            </a:pPr>
            <a:r>
              <a:rPr lang="en-US" sz="1000" dirty="0">
                <a:solidFill>
                  <a:srgbClr val="475569"/>
                </a:solidFill>
                <a:latin typeface="Calibri" pitchFamily="34" charset="0"/>
                <a:ea typeface="Calibri" pitchFamily="34" charset="-122"/>
                <a:cs typeface="Calibri" pitchFamily="34" charset="-120"/>
              </a:rPr>
              <a:t>First draft of a vendor security summary
Synthesizing a long policy document
Generating interview or assessment questions</a:t>
            </a:r>
            <a:endParaRPr lang="en-US" sz="1000" dirty="0"/>
          </a:p>
        </p:txBody>
      </p:sp>
      <p:sp>
        <p:nvSpPr>
          <p:cNvPr id="42" name="Shape 40"/>
          <p:cNvSpPr/>
          <p:nvPr/>
        </p:nvSpPr>
        <p:spPr>
          <a:xfrm>
            <a:off x="4709160" y="3529584"/>
            <a:ext cx="4206240" cy="960120"/>
          </a:xfrm>
          <a:prstGeom prst="rect">
            <a:avLst/>
          </a:prstGeom>
          <a:solidFill>
            <a:srgbClr val="FFFFFF"/>
          </a:solidFill>
          <a:ln w="19050">
            <a:solidFill>
              <a:srgbClr val="F97316"/>
            </a:solidFill>
            <a:prstDash val="solid"/>
          </a:ln>
        </p:spPr>
        <p:txBody>
          <a:bodyPr/>
          <a:lstStyle/>
          <a:p>
            <a:endParaRPr lang="en-US"/>
          </a:p>
        </p:txBody>
      </p:sp>
      <p:sp>
        <p:nvSpPr>
          <p:cNvPr id="43" name="Text 41"/>
          <p:cNvSpPr/>
          <p:nvPr/>
        </p:nvSpPr>
        <p:spPr>
          <a:xfrm>
            <a:off x="4709160" y="3529584"/>
            <a:ext cx="4206240" cy="256032"/>
          </a:xfrm>
          <a:prstGeom prst="rect">
            <a:avLst/>
          </a:prstGeom>
          <a:noFill/>
          <a:ln/>
        </p:spPr>
        <p:txBody>
          <a:bodyPr wrap="square" rtlCol="0" anchor="ctr"/>
          <a:lstStyle/>
          <a:p>
            <a:pPr marL="0" indent="0" algn="ctr">
              <a:buNone/>
            </a:pPr>
            <a:r>
              <a:rPr lang="en-US" sz="1000" b="1" dirty="0">
                <a:solidFill>
                  <a:srgbClr val="F97316"/>
                </a:solidFill>
                <a:latin typeface="Trebuchet MS" pitchFamily="34" charset="0"/>
                <a:ea typeface="Trebuchet MS" pitchFamily="34" charset="-122"/>
                <a:cs typeface="Trebuchet MS" pitchFamily="34" charset="-120"/>
              </a:rPr>
              <a:t>✗  POOR DELEGATION AT FHB</a:t>
            </a:r>
            <a:endParaRPr lang="en-US" sz="1000" dirty="0"/>
          </a:p>
        </p:txBody>
      </p:sp>
      <p:sp>
        <p:nvSpPr>
          <p:cNvPr id="44" name="Text 42"/>
          <p:cNvSpPr/>
          <p:nvPr/>
        </p:nvSpPr>
        <p:spPr>
          <a:xfrm>
            <a:off x="4846320" y="3785616"/>
            <a:ext cx="3977640" cy="658368"/>
          </a:xfrm>
          <a:prstGeom prst="rect">
            <a:avLst/>
          </a:prstGeom>
          <a:noFill/>
          <a:ln/>
        </p:spPr>
        <p:txBody>
          <a:bodyPr wrap="square" rtlCol="0" anchor="t"/>
          <a:lstStyle/>
          <a:p>
            <a:pPr marL="0" indent="0">
              <a:buNone/>
            </a:pPr>
            <a:r>
              <a:rPr lang="en-US" sz="1000" dirty="0">
                <a:solidFill>
                  <a:srgbClr val="475569"/>
                </a:solidFill>
                <a:latin typeface="Calibri" pitchFamily="34" charset="0"/>
                <a:ea typeface="Calibri" pitchFamily="34" charset="-122"/>
                <a:cs typeface="Calibri" pitchFamily="34" charset="-120"/>
              </a:rPr>
              <a:t>Final risk rating for a vendor
Legal conclusions in a contract
Sign-off on regulatory filings</a:t>
            </a:r>
            <a:endParaRPr lang="en-US" sz="1000" dirty="0"/>
          </a:p>
        </p:txBody>
      </p:sp>
      <p:sp>
        <p:nvSpPr>
          <p:cNvPr id="45" name="Shape 43"/>
          <p:cNvSpPr/>
          <p:nvPr/>
        </p:nvSpPr>
        <p:spPr>
          <a:xfrm>
            <a:off x="320040" y="4535424"/>
            <a:ext cx="8595360" cy="256032"/>
          </a:xfrm>
          <a:prstGeom prst="rect">
            <a:avLst/>
          </a:prstGeom>
          <a:solidFill>
            <a:srgbClr val="FFFFFF"/>
          </a:solidFill>
          <a:ln w="12700">
            <a:solidFill>
              <a:srgbClr val="F59E0B"/>
            </a:solidFill>
            <a:prstDash val="solid"/>
          </a:ln>
        </p:spPr>
        <p:txBody>
          <a:bodyPr/>
          <a:lstStyle/>
          <a:p>
            <a:endParaRPr lang="en-US"/>
          </a:p>
        </p:txBody>
      </p:sp>
      <p:sp>
        <p:nvSpPr>
          <p:cNvPr id="46" name="Text 44"/>
          <p:cNvSpPr/>
          <p:nvPr/>
        </p:nvSpPr>
        <p:spPr>
          <a:xfrm>
            <a:off x="320040" y="4535424"/>
            <a:ext cx="8595360" cy="256032"/>
          </a:xfrm>
          <a:prstGeom prst="rect">
            <a:avLst/>
          </a:prstGeom>
          <a:noFill/>
          <a:ln/>
        </p:spPr>
        <p:txBody>
          <a:bodyPr wrap="square" rtlCol="0" anchor="ctr"/>
          <a:lstStyle/>
          <a:p>
            <a:pPr marL="0" indent="0" algn="ctr">
              <a:buNone/>
            </a:pPr>
            <a:r>
              <a:rPr lang="en-US" sz="1000" i="1" dirty="0">
                <a:solidFill>
                  <a:srgbClr val="F59E0B"/>
                </a:solidFill>
                <a:latin typeface="Calibri" pitchFamily="34" charset="0"/>
                <a:ea typeface="Calibri" pitchFamily="34" charset="-122"/>
                <a:cs typeface="Calibri" pitchFamily="34" charset="-120"/>
              </a:rPr>
              <a:t>Key insight: Delegation is not binary. Most valuable work involves thoughtful splitting — AI drafts, human judges.</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
        <p:nvSpPr>
          <p:cNvPr id="4" name="Shape 2"/>
          <p:cNvSpPr/>
          <p:nvPr/>
        </p:nvSpPr>
        <p:spPr>
          <a:xfrm>
            <a:off x="320040" y="201168"/>
            <a:ext cx="594360" cy="594360"/>
          </a:xfrm>
          <a:prstGeom prst="ellipse">
            <a:avLst/>
          </a:prstGeom>
          <a:solidFill>
            <a:srgbClr val="F97316"/>
          </a:solidFill>
          <a:ln w="12700">
            <a:solidFill>
              <a:srgbClr val="F97316"/>
            </a:solidFill>
            <a:prstDash val="solid"/>
          </a:ln>
        </p:spPr>
        <p:txBody>
          <a:bodyPr/>
          <a:lstStyle/>
          <a:p>
            <a:endParaRPr lang="en-US"/>
          </a:p>
        </p:txBody>
      </p:sp>
      <p:sp>
        <p:nvSpPr>
          <p:cNvPr id="5" name="Text 3"/>
          <p:cNvSpPr/>
          <p:nvPr/>
        </p:nvSpPr>
        <p:spPr>
          <a:xfrm>
            <a:off x="320040" y="201168"/>
            <a:ext cx="594360" cy="59436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D2</a:t>
            </a:r>
            <a:endParaRPr lang="en-US" sz="1600" dirty="0"/>
          </a:p>
        </p:txBody>
      </p:sp>
      <p:sp>
        <p:nvSpPr>
          <p:cNvPr id="6" name="Text 4"/>
          <p:cNvSpPr/>
          <p:nvPr/>
        </p:nvSpPr>
        <p:spPr>
          <a:xfrm>
            <a:off x="1051560" y="155448"/>
            <a:ext cx="7772400" cy="502920"/>
          </a:xfrm>
          <a:prstGeom prst="rect">
            <a:avLst/>
          </a:prstGeom>
          <a:noFill/>
          <a:ln/>
        </p:spPr>
        <p:txBody>
          <a:bodyPr wrap="square" lIns="0" tIns="0" rIns="0" bIns="0" rtlCol="0" anchor="ctr"/>
          <a:lstStyle/>
          <a:p>
            <a:pPr marL="0" indent="0">
              <a:buNone/>
            </a:pPr>
            <a:r>
              <a:rPr lang="en-US" sz="2000" b="1" dirty="0">
                <a:solidFill>
                  <a:srgbClr val="1B2A4A"/>
                </a:solidFill>
                <a:latin typeface="Trebuchet MS" pitchFamily="34" charset="0"/>
                <a:ea typeface="Trebuchet MS" pitchFamily="34" charset="-122"/>
                <a:cs typeface="Trebuchet MS" pitchFamily="34" charset="-120"/>
              </a:rPr>
              <a:t>Description: Communicating Clearly for AI to Succeed</a:t>
            </a:r>
            <a:endParaRPr lang="en-US" sz="2000" dirty="0"/>
          </a:p>
        </p:txBody>
      </p:sp>
      <p:sp>
        <p:nvSpPr>
          <p:cNvPr id="7" name="Text 5"/>
          <p:cNvSpPr/>
          <p:nvPr/>
        </p:nvSpPr>
        <p:spPr>
          <a:xfrm>
            <a:off x="1051560" y="676656"/>
            <a:ext cx="7772400" cy="256032"/>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The core question: Am I communicating clearly enough for AI to understand what I actually need?</a:t>
            </a:r>
            <a:endParaRPr lang="en-US" sz="1100" dirty="0"/>
          </a:p>
        </p:txBody>
      </p:sp>
      <p:sp>
        <p:nvSpPr>
          <p:cNvPr id="8" name="Shape 6"/>
          <p:cNvSpPr/>
          <p:nvPr/>
        </p:nvSpPr>
        <p:spPr>
          <a:xfrm>
            <a:off x="320040" y="1024128"/>
            <a:ext cx="8503920" cy="676656"/>
          </a:xfrm>
          <a:prstGeom prst="rect">
            <a:avLst/>
          </a:prstGeom>
          <a:solidFill>
            <a:srgbClr val="FFFFFF"/>
          </a:solidFill>
          <a:ln w="6350">
            <a:solidFill>
              <a:srgbClr val="E2E8F0"/>
            </a:solidFill>
            <a:prstDash val="solid"/>
          </a:ln>
          <a:effectLst>
            <a:outerShdw blurRad="101600" dist="38100" dir="8100000" algn="bl" rotWithShape="0">
              <a:srgbClr val="000000">
                <a:alpha val="13000"/>
              </a:srgbClr>
            </a:outerShdw>
          </a:effectLst>
        </p:spPr>
        <p:txBody>
          <a:bodyPr/>
          <a:lstStyle/>
          <a:p>
            <a:endParaRPr lang="en-US"/>
          </a:p>
        </p:txBody>
      </p:sp>
      <p:sp>
        <p:nvSpPr>
          <p:cNvPr id="9" name="Shape 7"/>
          <p:cNvSpPr/>
          <p:nvPr/>
        </p:nvSpPr>
        <p:spPr>
          <a:xfrm>
            <a:off x="320040" y="1024128"/>
            <a:ext cx="347472" cy="676656"/>
          </a:xfrm>
          <a:prstGeom prst="rect">
            <a:avLst/>
          </a:prstGeom>
          <a:solidFill>
            <a:srgbClr val="DC2626"/>
          </a:solidFill>
          <a:ln w="12700">
            <a:solidFill>
              <a:srgbClr val="DC2626"/>
            </a:solidFill>
            <a:prstDash val="solid"/>
          </a:ln>
        </p:spPr>
        <p:txBody>
          <a:bodyPr/>
          <a:lstStyle/>
          <a:p>
            <a:endParaRPr lang="en-US"/>
          </a:p>
        </p:txBody>
      </p:sp>
      <p:sp>
        <p:nvSpPr>
          <p:cNvPr id="10" name="Text 8"/>
          <p:cNvSpPr/>
          <p:nvPr/>
        </p:nvSpPr>
        <p:spPr>
          <a:xfrm>
            <a:off x="347472" y="1024128"/>
            <a:ext cx="292608" cy="338328"/>
          </a:xfrm>
          <a:prstGeom prst="rect">
            <a:avLst/>
          </a:prstGeom>
          <a:noFill/>
          <a:ln/>
        </p:spPr>
        <p:txBody>
          <a:bodyPr wrap="square" rtlCol="0" anchor="ctr"/>
          <a:lstStyle/>
          <a:p>
            <a:pPr marL="0" indent="0" algn="ctr">
              <a:buNone/>
            </a:pPr>
            <a:r>
              <a:rPr lang="en-US" sz="800" b="1" dirty="0">
                <a:solidFill>
                  <a:srgbClr val="FFFFFF"/>
                </a:solidFill>
                <a:latin typeface="Trebuchet MS" pitchFamily="34" charset="0"/>
                <a:ea typeface="Trebuchet MS" pitchFamily="34" charset="-122"/>
                <a:cs typeface="Trebuchet MS" pitchFamily="34" charset="-120"/>
              </a:rPr>
              <a:t>L1</a:t>
            </a:r>
            <a:endParaRPr lang="en-US" sz="800" dirty="0"/>
          </a:p>
        </p:txBody>
      </p:sp>
      <p:sp>
        <p:nvSpPr>
          <p:cNvPr id="11" name="Text 9"/>
          <p:cNvSpPr/>
          <p:nvPr/>
        </p:nvSpPr>
        <p:spPr>
          <a:xfrm>
            <a:off x="758952" y="1060704"/>
            <a:ext cx="1143000" cy="324795"/>
          </a:xfrm>
          <a:prstGeom prst="rect">
            <a:avLst/>
          </a:prstGeom>
          <a:noFill/>
          <a:ln/>
        </p:spPr>
        <p:txBody>
          <a:bodyPr wrap="square" rtlCol="0" anchor="ctr"/>
          <a:lstStyle/>
          <a:p>
            <a:pPr marL="0" indent="0" algn="l">
              <a:buNone/>
            </a:pPr>
            <a:r>
              <a:rPr lang="en-US" sz="1000" b="1" dirty="0">
                <a:solidFill>
                  <a:srgbClr val="DC2626"/>
                </a:solidFill>
                <a:latin typeface="Trebuchet MS" pitchFamily="34" charset="0"/>
                <a:ea typeface="Trebuchet MS" pitchFamily="34" charset="-122"/>
                <a:cs typeface="Trebuchet MS" pitchFamily="34" charset="-120"/>
              </a:rPr>
              <a:t>VAGUE</a:t>
            </a:r>
            <a:endParaRPr lang="en-US" sz="1000" dirty="0"/>
          </a:p>
        </p:txBody>
      </p:sp>
      <p:sp>
        <p:nvSpPr>
          <p:cNvPr id="12" name="Text 10"/>
          <p:cNvSpPr/>
          <p:nvPr/>
        </p:nvSpPr>
        <p:spPr>
          <a:xfrm>
            <a:off x="758952" y="1335390"/>
            <a:ext cx="7991856" cy="311262"/>
          </a:xfrm>
          <a:prstGeom prst="rect">
            <a:avLst/>
          </a:prstGeom>
          <a:noFill/>
          <a:ln/>
        </p:spPr>
        <p:txBody>
          <a:bodyPr wrap="square" rtlCol="0" anchor="ctr"/>
          <a:lstStyle/>
          <a:p>
            <a:pPr marL="0" indent="0" algn="l">
              <a:buNone/>
            </a:pPr>
            <a:r>
              <a:rPr lang="en-US" sz="950" i="1" dirty="0">
                <a:solidFill>
                  <a:srgbClr val="1E293B"/>
                </a:solidFill>
                <a:latin typeface="Calibri" pitchFamily="34" charset="0"/>
                <a:ea typeface="Calibri" pitchFamily="34" charset="-122"/>
                <a:cs typeface="Calibri" pitchFamily="34" charset="-120"/>
              </a:rPr>
              <a:t>"Summarize this document"</a:t>
            </a:r>
            <a:endParaRPr lang="en-US" sz="950" dirty="0"/>
          </a:p>
        </p:txBody>
      </p:sp>
      <p:sp>
        <p:nvSpPr>
          <p:cNvPr id="13" name="Text 11"/>
          <p:cNvSpPr/>
          <p:nvPr/>
        </p:nvSpPr>
        <p:spPr>
          <a:xfrm>
            <a:off x="2039112" y="1060704"/>
            <a:ext cx="6647688" cy="311262"/>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 AI guesses your intent — returns a statistically average answer</a:t>
            </a:r>
            <a:endParaRPr lang="en-US" sz="850" dirty="0"/>
          </a:p>
        </p:txBody>
      </p:sp>
      <p:sp>
        <p:nvSpPr>
          <p:cNvPr id="14" name="Shape 12"/>
          <p:cNvSpPr/>
          <p:nvPr/>
        </p:nvSpPr>
        <p:spPr>
          <a:xfrm>
            <a:off x="320040" y="1773936"/>
            <a:ext cx="8503920" cy="676656"/>
          </a:xfrm>
          <a:prstGeom prst="rect">
            <a:avLst/>
          </a:prstGeom>
          <a:solidFill>
            <a:srgbClr val="EEF7F1"/>
          </a:solidFill>
          <a:ln w="6350">
            <a:solidFill>
              <a:srgbClr val="E2E8F0"/>
            </a:solidFill>
            <a:prstDash val="solid"/>
          </a:ln>
          <a:effectLst>
            <a:outerShdw blurRad="101600" dist="38100" dir="8100000" algn="bl" rotWithShape="0">
              <a:srgbClr val="000000">
                <a:alpha val="13000"/>
              </a:srgbClr>
            </a:outerShdw>
          </a:effectLst>
        </p:spPr>
        <p:txBody>
          <a:bodyPr/>
          <a:lstStyle/>
          <a:p>
            <a:endParaRPr lang="en-US"/>
          </a:p>
        </p:txBody>
      </p:sp>
      <p:sp>
        <p:nvSpPr>
          <p:cNvPr id="15" name="Shape 13"/>
          <p:cNvSpPr/>
          <p:nvPr/>
        </p:nvSpPr>
        <p:spPr>
          <a:xfrm>
            <a:off x="320040" y="1773936"/>
            <a:ext cx="594360" cy="676656"/>
          </a:xfrm>
          <a:prstGeom prst="rect">
            <a:avLst/>
          </a:prstGeom>
          <a:solidFill>
            <a:srgbClr val="F59E0B"/>
          </a:solidFill>
          <a:ln w="12700">
            <a:solidFill>
              <a:srgbClr val="F59E0B"/>
            </a:solidFill>
            <a:prstDash val="solid"/>
          </a:ln>
        </p:spPr>
        <p:txBody>
          <a:bodyPr/>
          <a:lstStyle/>
          <a:p>
            <a:endParaRPr lang="en-US"/>
          </a:p>
        </p:txBody>
      </p:sp>
      <p:sp>
        <p:nvSpPr>
          <p:cNvPr id="16" name="Text 14"/>
          <p:cNvSpPr/>
          <p:nvPr/>
        </p:nvSpPr>
        <p:spPr>
          <a:xfrm>
            <a:off x="347472" y="1773936"/>
            <a:ext cx="539496" cy="338328"/>
          </a:xfrm>
          <a:prstGeom prst="rect">
            <a:avLst/>
          </a:prstGeom>
          <a:noFill/>
          <a:ln/>
        </p:spPr>
        <p:txBody>
          <a:bodyPr wrap="square" rtlCol="0" anchor="ctr"/>
          <a:lstStyle/>
          <a:p>
            <a:pPr marL="0" indent="0" algn="ctr">
              <a:buNone/>
            </a:pPr>
            <a:r>
              <a:rPr lang="en-US" sz="800" b="1" dirty="0">
                <a:solidFill>
                  <a:srgbClr val="FFFFFF"/>
                </a:solidFill>
                <a:latin typeface="Trebuchet MS" pitchFamily="34" charset="0"/>
                <a:ea typeface="Trebuchet MS" pitchFamily="34" charset="-122"/>
                <a:cs typeface="Trebuchet MS" pitchFamily="34" charset="-120"/>
              </a:rPr>
              <a:t>L2</a:t>
            </a:r>
            <a:endParaRPr lang="en-US" sz="800" dirty="0"/>
          </a:p>
        </p:txBody>
      </p:sp>
      <p:sp>
        <p:nvSpPr>
          <p:cNvPr id="17" name="Text 15"/>
          <p:cNvSpPr/>
          <p:nvPr/>
        </p:nvSpPr>
        <p:spPr>
          <a:xfrm>
            <a:off x="1005840" y="1810512"/>
            <a:ext cx="1143000" cy="324795"/>
          </a:xfrm>
          <a:prstGeom prst="rect">
            <a:avLst/>
          </a:prstGeom>
          <a:noFill/>
          <a:ln/>
        </p:spPr>
        <p:txBody>
          <a:bodyPr wrap="square" rtlCol="0" anchor="ctr"/>
          <a:lstStyle/>
          <a:p>
            <a:pPr marL="0" indent="0" algn="l">
              <a:buNone/>
            </a:pPr>
            <a:r>
              <a:rPr lang="en-US" sz="1000" b="1" dirty="0">
                <a:solidFill>
                  <a:srgbClr val="F59E0B"/>
                </a:solidFill>
                <a:latin typeface="Trebuchet MS" pitchFamily="34" charset="0"/>
                <a:ea typeface="Trebuchet MS" pitchFamily="34" charset="-122"/>
                <a:cs typeface="Trebuchet MS" pitchFamily="34" charset="-120"/>
              </a:rPr>
              <a:t>SPECIFIC</a:t>
            </a:r>
            <a:endParaRPr lang="en-US" sz="1000" dirty="0"/>
          </a:p>
        </p:txBody>
      </p:sp>
      <p:sp>
        <p:nvSpPr>
          <p:cNvPr id="18" name="Text 16"/>
          <p:cNvSpPr/>
          <p:nvPr/>
        </p:nvSpPr>
        <p:spPr>
          <a:xfrm>
            <a:off x="1005840" y="2085198"/>
            <a:ext cx="7744968" cy="311262"/>
          </a:xfrm>
          <a:prstGeom prst="rect">
            <a:avLst/>
          </a:prstGeom>
          <a:noFill/>
          <a:ln/>
        </p:spPr>
        <p:txBody>
          <a:bodyPr wrap="square" rtlCol="0" anchor="ctr"/>
          <a:lstStyle/>
          <a:p>
            <a:pPr marL="0" indent="0" algn="l">
              <a:buNone/>
            </a:pPr>
            <a:r>
              <a:rPr lang="en-US" sz="950" i="1" dirty="0">
                <a:solidFill>
                  <a:srgbClr val="1E293B"/>
                </a:solidFill>
                <a:latin typeface="Calibri" pitchFamily="34" charset="0"/>
                <a:ea typeface="Calibri" pitchFamily="34" charset="-122"/>
                <a:cs typeface="Calibri" pitchFamily="34" charset="-120"/>
              </a:rPr>
              <a:t>"Summarize this vendor contract in plain language"</a:t>
            </a:r>
            <a:endParaRPr lang="en-US" sz="950" dirty="0"/>
          </a:p>
        </p:txBody>
      </p:sp>
      <p:sp>
        <p:nvSpPr>
          <p:cNvPr id="19" name="Text 17"/>
          <p:cNvSpPr/>
          <p:nvPr/>
        </p:nvSpPr>
        <p:spPr>
          <a:xfrm>
            <a:off x="2286000" y="1810512"/>
            <a:ext cx="6400800" cy="311262"/>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 Better — but missing audience, scope, and output format</a:t>
            </a:r>
            <a:endParaRPr lang="en-US" sz="850" dirty="0"/>
          </a:p>
        </p:txBody>
      </p:sp>
      <p:sp>
        <p:nvSpPr>
          <p:cNvPr id="20" name="Shape 18"/>
          <p:cNvSpPr/>
          <p:nvPr/>
        </p:nvSpPr>
        <p:spPr>
          <a:xfrm>
            <a:off x="320040" y="2523744"/>
            <a:ext cx="8503920" cy="676656"/>
          </a:xfrm>
          <a:prstGeom prst="rect">
            <a:avLst/>
          </a:prstGeom>
          <a:solidFill>
            <a:srgbClr val="FFFFFF"/>
          </a:solidFill>
          <a:ln w="6350">
            <a:solidFill>
              <a:srgbClr val="E2E8F0"/>
            </a:solidFill>
            <a:prstDash val="solid"/>
          </a:ln>
          <a:effectLst>
            <a:outerShdw blurRad="101600" dist="38100" dir="8100000" algn="bl" rotWithShape="0">
              <a:srgbClr val="000000">
                <a:alpha val="13000"/>
              </a:srgbClr>
            </a:outerShdw>
          </a:effectLst>
        </p:spPr>
        <p:txBody>
          <a:bodyPr/>
          <a:lstStyle/>
          <a:p>
            <a:endParaRPr lang="en-US"/>
          </a:p>
        </p:txBody>
      </p:sp>
      <p:sp>
        <p:nvSpPr>
          <p:cNvPr id="21" name="Shape 19"/>
          <p:cNvSpPr/>
          <p:nvPr/>
        </p:nvSpPr>
        <p:spPr>
          <a:xfrm>
            <a:off x="320040" y="2523744"/>
            <a:ext cx="914400" cy="676656"/>
          </a:xfrm>
          <a:prstGeom prst="rect">
            <a:avLst/>
          </a:prstGeom>
          <a:solidFill>
            <a:srgbClr val="0D9488"/>
          </a:solidFill>
          <a:ln w="12700">
            <a:solidFill>
              <a:srgbClr val="0D9488"/>
            </a:solidFill>
            <a:prstDash val="solid"/>
          </a:ln>
        </p:spPr>
        <p:txBody>
          <a:bodyPr/>
          <a:lstStyle/>
          <a:p>
            <a:endParaRPr lang="en-US"/>
          </a:p>
        </p:txBody>
      </p:sp>
      <p:sp>
        <p:nvSpPr>
          <p:cNvPr id="22" name="Text 20"/>
          <p:cNvSpPr/>
          <p:nvPr/>
        </p:nvSpPr>
        <p:spPr>
          <a:xfrm>
            <a:off x="347472" y="2523744"/>
            <a:ext cx="859536" cy="338328"/>
          </a:xfrm>
          <a:prstGeom prst="rect">
            <a:avLst/>
          </a:prstGeom>
          <a:noFill/>
          <a:ln/>
        </p:spPr>
        <p:txBody>
          <a:bodyPr wrap="square" rtlCol="0" anchor="ctr"/>
          <a:lstStyle/>
          <a:p>
            <a:pPr marL="0" indent="0" algn="ctr">
              <a:buNone/>
            </a:pPr>
            <a:r>
              <a:rPr lang="en-US" sz="800" b="1" dirty="0">
                <a:solidFill>
                  <a:srgbClr val="FFFFFF"/>
                </a:solidFill>
                <a:latin typeface="Trebuchet MS" pitchFamily="34" charset="0"/>
                <a:ea typeface="Trebuchet MS" pitchFamily="34" charset="-122"/>
                <a:cs typeface="Trebuchet MS" pitchFamily="34" charset="-120"/>
              </a:rPr>
              <a:t>L3</a:t>
            </a:r>
            <a:endParaRPr lang="en-US" sz="800" dirty="0"/>
          </a:p>
        </p:txBody>
      </p:sp>
      <p:sp>
        <p:nvSpPr>
          <p:cNvPr id="23" name="Text 21"/>
          <p:cNvSpPr/>
          <p:nvPr/>
        </p:nvSpPr>
        <p:spPr>
          <a:xfrm>
            <a:off x="1325880" y="2560320"/>
            <a:ext cx="1143000" cy="324795"/>
          </a:xfrm>
          <a:prstGeom prst="rect">
            <a:avLst/>
          </a:prstGeom>
          <a:noFill/>
          <a:ln/>
        </p:spPr>
        <p:txBody>
          <a:bodyPr wrap="square" rtlCol="0" anchor="ctr"/>
          <a:lstStyle/>
          <a:p>
            <a:pPr marL="0" indent="0" algn="l">
              <a:buNone/>
            </a:pPr>
            <a:r>
              <a:rPr lang="en-US" sz="1000" b="1" dirty="0">
                <a:solidFill>
                  <a:srgbClr val="0D9488"/>
                </a:solidFill>
                <a:latin typeface="Trebuchet MS" pitchFamily="34" charset="0"/>
                <a:ea typeface="Trebuchet MS" pitchFamily="34" charset="-122"/>
                <a:cs typeface="Trebuchet MS" pitchFamily="34" charset="-120"/>
              </a:rPr>
              <a:t>PRECISE</a:t>
            </a:r>
            <a:endParaRPr lang="en-US" sz="1000" dirty="0"/>
          </a:p>
        </p:txBody>
      </p:sp>
      <p:sp>
        <p:nvSpPr>
          <p:cNvPr id="24" name="Text 22"/>
          <p:cNvSpPr/>
          <p:nvPr/>
        </p:nvSpPr>
        <p:spPr>
          <a:xfrm>
            <a:off x="1325880" y="2835006"/>
            <a:ext cx="7424928" cy="311262"/>
          </a:xfrm>
          <a:prstGeom prst="rect">
            <a:avLst/>
          </a:prstGeom>
          <a:noFill/>
          <a:ln/>
        </p:spPr>
        <p:txBody>
          <a:bodyPr wrap="square" rtlCol="0" anchor="ctr"/>
          <a:lstStyle/>
          <a:p>
            <a:pPr marL="0" indent="0" algn="l">
              <a:buNone/>
            </a:pPr>
            <a:r>
              <a:rPr lang="en-US" sz="950" i="1" dirty="0">
                <a:solidFill>
                  <a:srgbClr val="1E293B"/>
                </a:solidFill>
                <a:latin typeface="Calibri" pitchFamily="34" charset="0"/>
                <a:ea typeface="Calibri" pitchFamily="34" charset="-122"/>
                <a:cs typeface="Calibri" pitchFamily="34" charset="-120"/>
              </a:rPr>
              <a:t>"Summarize for a non-technical exec. Focus on data handling, termination, indemnification. Max 200 words."</a:t>
            </a:r>
            <a:endParaRPr lang="en-US" sz="950" dirty="0"/>
          </a:p>
        </p:txBody>
      </p:sp>
      <p:sp>
        <p:nvSpPr>
          <p:cNvPr id="25" name="Text 23"/>
          <p:cNvSpPr/>
          <p:nvPr/>
        </p:nvSpPr>
        <p:spPr>
          <a:xfrm>
            <a:off x="2606040" y="2560320"/>
            <a:ext cx="6080760" cy="311262"/>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 Strong — clear scope, audience, constraints</a:t>
            </a:r>
            <a:endParaRPr lang="en-US" sz="850" dirty="0"/>
          </a:p>
        </p:txBody>
      </p:sp>
      <p:sp>
        <p:nvSpPr>
          <p:cNvPr id="26" name="Shape 24"/>
          <p:cNvSpPr/>
          <p:nvPr/>
        </p:nvSpPr>
        <p:spPr>
          <a:xfrm>
            <a:off x="320040" y="3273552"/>
            <a:ext cx="8503920" cy="676656"/>
          </a:xfrm>
          <a:prstGeom prst="rect">
            <a:avLst/>
          </a:prstGeom>
          <a:solidFill>
            <a:srgbClr val="EEF7F1"/>
          </a:solidFill>
          <a:ln w="6350">
            <a:solidFill>
              <a:srgbClr val="E2E8F0"/>
            </a:solidFill>
            <a:prstDash val="solid"/>
          </a:ln>
          <a:effectLst>
            <a:outerShdw blurRad="101600" dist="38100" dir="8100000" algn="bl" rotWithShape="0">
              <a:srgbClr val="000000">
                <a:alpha val="13000"/>
              </a:srgbClr>
            </a:outerShdw>
          </a:effectLst>
        </p:spPr>
        <p:txBody>
          <a:bodyPr/>
          <a:lstStyle/>
          <a:p>
            <a:endParaRPr lang="en-US"/>
          </a:p>
        </p:txBody>
      </p:sp>
      <p:sp>
        <p:nvSpPr>
          <p:cNvPr id="27" name="Shape 25"/>
          <p:cNvSpPr/>
          <p:nvPr/>
        </p:nvSpPr>
        <p:spPr>
          <a:xfrm>
            <a:off x="320040" y="3273552"/>
            <a:ext cx="1325880" cy="676656"/>
          </a:xfrm>
          <a:prstGeom prst="rect">
            <a:avLst/>
          </a:prstGeom>
          <a:solidFill>
            <a:srgbClr val="16A34A"/>
          </a:solidFill>
          <a:ln w="12700">
            <a:solidFill>
              <a:srgbClr val="16A34A"/>
            </a:solidFill>
            <a:prstDash val="solid"/>
          </a:ln>
        </p:spPr>
        <p:txBody>
          <a:bodyPr/>
          <a:lstStyle/>
          <a:p>
            <a:endParaRPr lang="en-US"/>
          </a:p>
        </p:txBody>
      </p:sp>
      <p:sp>
        <p:nvSpPr>
          <p:cNvPr id="28" name="Text 26"/>
          <p:cNvSpPr/>
          <p:nvPr/>
        </p:nvSpPr>
        <p:spPr>
          <a:xfrm>
            <a:off x="347472" y="3273552"/>
            <a:ext cx="1271016" cy="338328"/>
          </a:xfrm>
          <a:prstGeom prst="rect">
            <a:avLst/>
          </a:prstGeom>
          <a:noFill/>
          <a:ln/>
        </p:spPr>
        <p:txBody>
          <a:bodyPr wrap="square" rtlCol="0" anchor="ctr"/>
          <a:lstStyle/>
          <a:p>
            <a:pPr marL="0" indent="0" algn="ctr">
              <a:buNone/>
            </a:pPr>
            <a:r>
              <a:rPr lang="en-US" sz="800" b="1" dirty="0">
                <a:solidFill>
                  <a:srgbClr val="FFFFFF"/>
                </a:solidFill>
                <a:latin typeface="Trebuchet MS" pitchFamily="34" charset="0"/>
                <a:ea typeface="Trebuchet MS" pitchFamily="34" charset="-122"/>
                <a:cs typeface="Trebuchet MS" pitchFamily="34" charset="-120"/>
              </a:rPr>
              <a:t>L4</a:t>
            </a:r>
            <a:endParaRPr lang="en-US" sz="800" dirty="0"/>
          </a:p>
        </p:txBody>
      </p:sp>
      <p:sp>
        <p:nvSpPr>
          <p:cNvPr id="29" name="Text 27"/>
          <p:cNvSpPr/>
          <p:nvPr/>
        </p:nvSpPr>
        <p:spPr>
          <a:xfrm>
            <a:off x="1737360" y="3310128"/>
            <a:ext cx="1143000" cy="324795"/>
          </a:xfrm>
          <a:prstGeom prst="rect">
            <a:avLst/>
          </a:prstGeom>
          <a:noFill/>
          <a:ln/>
        </p:spPr>
        <p:txBody>
          <a:bodyPr wrap="square" rtlCol="0" anchor="ctr"/>
          <a:lstStyle/>
          <a:p>
            <a:pPr marL="0" indent="0" algn="l">
              <a:buNone/>
            </a:pPr>
            <a:r>
              <a:rPr lang="en-US" sz="1000" b="1" dirty="0">
                <a:solidFill>
                  <a:srgbClr val="16A34A"/>
                </a:solidFill>
                <a:latin typeface="Trebuchet MS" pitchFamily="34" charset="0"/>
                <a:ea typeface="Trebuchet MS" pitchFamily="34" charset="-122"/>
                <a:cs typeface="Trebuchet MS" pitchFamily="34" charset="-120"/>
              </a:rPr>
              <a:t>STRUCTURED</a:t>
            </a:r>
            <a:endParaRPr lang="en-US" sz="1000" dirty="0"/>
          </a:p>
        </p:txBody>
      </p:sp>
      <p:sp>
        <p:nvSpPr>
          <p:cNvPr id="30" name="Text 28"/>
          <p:cNvSpPr/>
          <p:nvPr/>
        </p:nvSpPr>
        <p:spPr>
          <a:xfrm>
            <a:off x="1737360" y="3584814"/>
            <a:ext cx="7013448" cy="311262"/>
          </a:xfrm>
          <a:prstGeom prst="rect">
            <a:avLst/>
          </a:prstGeom>
          <a:noFill/>
          <a:ln/>
        </p:spPr>
        <p:txBody>
          <a:bodyPr wrap="square" rtlCol="0" anchor="ctr"/>
          <a:lstStyle/>
          <a:p>
            <a:pPr marL="0" indent="0" algn="l">
              <a:buNone/>
            </a:pPr>
            <a:r>
              <a:rPr lang="en-US" sz="950" i="1" dirty="0">
                <a:solidFill>
                  <a:srgbClr val="1E293B"/>
                </a:solidFill>
                <a:latin typeface="Calibri" pitchFamily="34" charset="0"/>
                <a:ea typeface="Calibri" pitchFamily="34" charset="-122"/>
                <a:cs typeface="Calibri" pitchFamily="34" charset="-120"/>
              </a:rPr>
              <a:t>Level 3 + role framing + few-shot example + format specification</a:t>
            </a:r>
            <a:endParaRPr lang="en-US" sz="950" dirty="0"/>
          </a:p>
        </p:txBody>
      </p:sp>
      <p:sp>
        <p:nvSpPr>
          <p:cNvPr id="31" name="Text 29"/>
          <p:cNvSpPr/>
          <p:nvPr/>
        </p:nvSpPr>
        <p:spPr>
          <a:xfrm>
            <a:off x="3017520" y="3310128"/>
            <a:ext cx="5669280" cy="311262"/>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 Maximum clarity — for recurring, high-stakes tasks</a:t>
            </a:r>
            <a:endParaRPr lang="en-US" sz="850" dirty="0"/>
          </a:p>
        </p:txBody>
      </p:sp>
      <p:sp>
        <p:nvSpPr>
          <p:cNvPr id="32" name="Shape 30"/>
          <p:cNvSpPr/>
          <p:nvPr/>
        </p:nvSpPr>
        <p:spPr>
          <a:xfrm>
            <a:off x="320040" y="4059936"/>
            <a:ext cx="8503920" cy="256032"/>
          </a:xfrm>
          <a:prstGeom prst="rect">
            <a:avLst/>
          </a:prstGeom>
          <a:solidFill>
            <a:srgbClr val="1B2A4A"/>
          </a:solidFill>
          <a:ln w="12700">
            <a:solidFill>
              <a:srgbClr val="1B2A4A"/>
            </a:solidFill>
            <a:prstDash val="solid"/>
          </a:ln>
        </p:spPr>
        <p:txBody>
          <a:bodyPr/>
          <a:lstStyle/>
          <a:p>
            <a:endParaRPr lang="en-US"/>
          </a:p>
        </p:txBody>
      </p:sp>
      <p:sp>
        <p:nvSpPr>
          <p:cNvPr id="33" name="Text 31"/>
          <p:cNvSpPr/>
          <p:nvPr/>
        </p:nvSpPr>
        <p:spPr>
          <a:xfrm>
            <a:off x="320040" y="4059936"/>
            <a:ext cx="8503920" cy="25603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Description is the container that holds all Part 1 prompting skills. Better Description = fewer errors to catch in Discernment.</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
        <p:nvSpPr>
          <p:cNvPr id="4" name="Shape 2"/>
          <p:cNvSpPr/>
          <p:nvPr/>
        </p:nvSpPr>
        <p:spPr>
          <a:xfrm>
            <a:off x="320040" y="201168"/>
            <a:ext cx="594360" cy="594360"/>
          </a:xfrm>
          <a:prstGeom prst="ellipse">
            <a:avLst/>
          </a:prstGeom>
          <a:solidFill>
            <a:srgbClr val="7C3AED"/>
          </a:solidFill>
          <a:ln w="12700">
            <a:solidFill>
              <a:srgbClr val="7C3AED"/>
            </a:solidFill>
            <a:prstDash val="solid"/>
          </a:ln>
        </p:spPr>
        <p:txBody>
          <a:bodyPr/>
          <a:lstStyle/>
          <a:p>
            <a:endParaRPr lang="en-US"/>
          </a:p>
        </p:txBody>
      </p:sp>
      <p:sp>
        <p:nvSpPr>
          <p:cNvPr id="5" name="Text 3"/>
          <p:cNvSpPr/>
          <p:nvPr/>
        </p:nvSpPr>
        <p:spPr>
          <a:xfrm>
            <a:off x="320040" y="201168"/>
            <a:ext cx="594360" cy="59436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D3</a:t>
            </a:r>
            <a:endParaRPr lang="en-US" sz="1600" dirty="0"/>
          </a:p>
        </p:txBody>
      </p:sp>
      <p:sp>
        <p:nvSpPr>
          <p:cNvPr id="6" name="Text 4"/>
          <p:cNvSpPr/>
          <p:nvPr/>
        </p:nvSpPr>
        <p:spPr>
          <a:xfrm>
            <a:off x="1051560" y="155448"/>
            <a:ext cx="7772400" cy="530352"/>
          </a:xfrm>
          <a:prstGeom prst="rect">
            <a:avLst/>
          </a:prstGeom>
          <a:noFill/>
          <a:ln/>
        </p:spPr>
        <p:txBody>
          <a:bodyPr wrap="square" lIns="0" tIns="0" rIns="0" bIns="0" rtlCol="0" anchor="ctr"/>
          <a:lstStyle/>
          <a:p>
            <a:pPr marL="0" indent="0">
              <a:buNone/>
            </a:pPr>
            <a:r>
              <a:rPr lang="en-US" sz="2100" b="1" dirty="0">
                <a:solidFill>
                  <a:srgbClr val="1B2A4A"/>
                </a:solidFill>
                <a:latin typeface="Trebuchet MS" pitchFamily="34" charset="0"/>
                <a:ea typeface="Trebuchet MS" pitchFamily="34" charset="-122"/>
                <a:cs typeface="Trebuchet MS" pitchFamily="34" charset="-120"/>
              </a:rPr>
              <a:t>Discernment: Is What You Got Back Actually Good?</a:t>
            </a:r>
            <a:endParaRPr lang="en-US" sz="2100" dirty="0"/>
          </a:p>
        </p:txBody>
      </p:sp>
      <p:sp>
        <p:nvSpPr>
          <p:cNvPr id="7" name="Text 5"/>
          <p:cNvSpPr/>
          <p:nvPr/>
        </p:nvSpPr>
        <p:spPr>
          <a:xfrm>
            <a:off x="1051560" y="713232"/>
            <a:ext cx="7772400" cy="256032"/>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The core question: Is what I got back actually good — and how do I know?</a:t>
            </a:r>
            <a:endParaRPr lang="en-US" sz="1100" dirty="0"/>
          </a:p>
        </p:txBody>
      </p:sp>
      <p:sp>
        <p:nvSpPr>
          <p:cNvPr id="8" name="Shape 6"/>
          <p:cNvSpPr/>
          <p:nvPr/>
        </p:nvSpPr>
        <p:spPr>
          <a:xfrm>
            <a:off x="320040" y="1078992"/>
            <a:ext cx="2743200" cy="219456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9" name="Shape 7"/>
          <p:cNvSpPr/>
          <p:nvPr/>
        </p:nvSpPr>
        <p:spPr>
          <a:xfrm>
            <a:off x="320040" y="1078992"/>
            <a:ext cx="2743200" cy="566928"/>
          </a:xfrm>
          <a:prstGeom prst="rect">
            <a:avLst/>
          </a:prstGeom>
          <a:solidFill>
            <a:srgbClr val="0D9488"/>
          </a:solidFill>
          <a:ln w="12700">
            <a:solidFill>
              <a:srgbClr val="0D9488"/>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429768" y="1170432"/>
            <a:ext cx="347472" cy="347472"/>
          </a:xfrm>
          <a:prstGeom prst="rect">
            <a:avLst/>
          </a:prstGeom>
        </p:spPr>
      </p:pic>
      <p:sp>
        <p:nvSpPr>
          <p:cNvPr id="11" name="Text 8"/>
          <p:cNvSpPr/>
          <p:nvPr/>
        </p:nvSpPr>
        <p:spPr>
          <a:xfrm>
            <a:off x="822960" y="1152144"/>
            <a:ext cx="2148840" cy="256032"/>
          </a:xfrm>
          <a:prstGeom prst="rect">
            <a:avLst/>
          </a:prstGeom>
          <a:noFill/>
          <a:ln/>
        </p:spPr>
        <p:txBody>
          <a:bodyPr wrap="square" lIns="0" tIns="0" rIns="0" bIns="0" rtlCol="0" anchor="ctr"/>
          <a:lstStyle/>
          <a:p>
            <a:pPr marL="0" indent="0">
              <a:buNone/>
            </a:pPr>
            <a:r>
              <a:rPr lang="en-US" sz="950" b="1" dirty="0">
                <a:solidFill>
                  <a:srgbClr val="FFFFFF"/>
                </a:solidFill>
                <a:latin typeface="Trebuchet MS" pitchFamily="34" charset="0"/>
                <a:ea typeface="Trebuchet MS" pitchFamily="34" charset="-122"/>
                <a:cs typeface="Trebuchet MS" pitchFamily="34" charset="-120"/>
              </a:rPr>
              <a:t>PRODUCT DISCERNMENT</a:t>
            </a:r>
            <a:endParaRPr lang="en-US" sz="950" dirty="0"/>
          </a:p>
        </p:txBody>
      </p:sp>
      <p:sp>
        <p:nvSpPr>
          <p:cNvPr id="12" name="Text 9"/>
          <p:cNvSpPr/>
          <p:nvPr/>
        </p:nvSpPr>
        <p:spPr>
          <a:xfrm>
            <a:off x="822960" y="1399032"/>
            <a:ext cx="2148840" cy="201168"/>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Is this output good?</a:t>
            </a:r>
            <a:endParaRPr lang="en-US" sz="900" dirty="0"/>
          </a:p>
        </p:txBody>
      </p:sp>
      <p:sp>
        <p:nvSpPr>
          <p:cNvPr id="13" name="Shape 10"/>
          <p:cNvSpPr/>
          <p:nvPr/>
        </p:nvSpPr>
        <p:spPr>
          <a:xfrm>
            <a:off x="457200" y="1865376"/>
            <a:ext cx="91440" cy="91440"/>
          </a:xfrm>
          <a:prstGeom prst="ellipse">
            <a:avLst/>
          </a:prstGeom>
          <a:solidFill>
            <a:srgbClr val="0D9488"/>
          </a:solidFill>
          <a:ln w="12700">
            <a:solidFill>
              <a:srgbClr val="0D9488"/>
            </a:solidFill>
            <a:prstDash val="solid"/>
          </a:ln>
        </p:spPr>
        <p:txBody>
          <a:bodyPr/>
          <a:lstStyle/>
          <a:p>
            <a:endParaRPr lang="en-US"/>
          </a:p>
        </p:txBody>
      </p:sp>
      <p:sp>
        <p:nvSpPr>
          <p:cNvPr id="14" name="Text 11"/>
          <p:cNvSpPr/>
          <p:nvPr/>
        </p:nvSpPr>
        <p:spPr>
          <a:xfrm>
            <a:off x="612648" y="1737360"/>
            <a:ext cx="2359152" cy="47548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Is it accurate, complete, and appropriately scoped?</a:t>
            </a:r>
            <a:endParaRPr lang="en-US" sz="1000" dirty="0"/>
          </a:p>
        </p:txBody>
      </p:sp>
      <p:sp>
        <p:nvSpPr>
          <p:cNvPr id="15" name="Shape 12"/>
          <p:cNvSpPr/>
          <p:nvPr/>
        </p:nvSpPr>
        <p:spPr>
          <a:xfrm>
            <a:off x="457200" y="2377440"/>
            <a:ext cx="91440" cy="91440"/>
          </a:xfrm>
          <a:prstGeom prst="ellipse">
            <a:avLst/>
          </a:prstGeom>
          <a:solidFill>
            <a:srgbClr val="0D9488"/>
          </a:solidFill>
          <a:ln w="12700">
            <a:solidFill>
              <a:srgbClr val="0D9488"/>
            </a:solidFill>
            <a:prstDash val="solid"/>
          </a:ln>
        </p:spPr>
        <p:txBody>
          <a:bodyPr/>
          <a:lstStyle/>
          <a:p>
            <a:endParaRPr lang="en-US"/>
          </a:p>
        </p:txBody>
      </p:sp>
      <p:sp>
        <p:nvSpPr>
          <p:cNvPr id="16" name="Text 13"/>
          <p:cNvSpPr/>
          <p:nvPr/>
        </p:nvSpPr>
        <p:spPr>
          <a:xfrm>
            <a:off x="612648" y="2249424"/>
            <a:ext cx="2359152" cy="47548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Does it meet the standard for this use case?</a:t>
            </a:r>
            <a:endParaRPr lang="en-US" sz="1000" dirty="0"/>
          </a:p>
        </p:txBody>
      </p:sp>
      <p:sp>
        <p:nvSpPr>
          <p:cNvPr id="17" name="Shape 14"/>
          <p:cNvSpPr/>
          <p:nvPr/>
        </p:nvSpPr>
        <p:spPr>
          <a:xfrm>
            <a:off x="457200" y="2889504"/>
            <a:ext cx="91440" cy="91440"/>
          </a:xfrm>
          <a:prstGeom prst="ellipse">
            <a:avLst/>
          </a:prstGeom>
          <a:solidFill>
            <a:srgbClr val="0D9488"/>
          </a:solidFill>
          <a:ln w="12700">
            <a:solidFill>
              <a:srgbClr val="0D9488"/>
            </a:solidFill>
            <a:prstDash val="solid"/>
          </a:ln>
        </p:spPr>
        <p:txBody>
          <a:bodyPr/>
          <a:lstStyle/>
          <a:p>
            <a:endParaRPr lang="en-US"/>
          </a:p>
        </p:txBody>
      </p:sp>
      <p:sp>
        <p:nvSpPr>
          <p:cNvPr id="18" name="Text 15"/>
          <p:cNvSpPr/>
          <p:nvPr/>
        </p:nvSpPr>
        <p:spPr>
          <a:xfrm>
            <a:off x="612648" y="2761488"/>
            <a:ext cx="2359152" cy="47548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Apply failure-mode knowledge: hallucination, sycophancy, staleness</a:t>
            </a:r>
            <a:endParaRPr lang="en-US" sz="1000" dirty="0"/>
          </a:p>
        </p:txBody>
      </p:sp>
      <p:sp>
        <p:nvSpPr>
          <p:cNvPr id="19" name="Shape 16"/>
          <p:cNvSpPr/>
          <p:nvPr/>
        </p:nvSpPr>
        <p:spPr>
          <a:xfrm>
            <a:off x="3264408" y="1078992"/>
            <a:ext cx="2743200" cy="219456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20" name="Shape 17"/>
          <p:cNvSpPr/>
          <p:nvPr/>
        </p:nvSpPr>
        <p:spPr>
          <a:xfrm>
            <a:off x="3264408" y="1078992"/>
            <a:ext cx="2743200" cy="566928"/>
          </a:xfrm>
          <a:prstGeom prst="rect">
            <a:avLst/>
          </a:prstGeom>
          <a:solidFill>
            <a:srgbClr val="7C3AED"/>
          </a:solidFill>
          <a:ln w="12700">
            <a:solidFill>
              <a:srgbClr val="7C3AED"/>
            </a:solidFill>
            <a:prstDash val="solid"/>
          </a:ln>
        </p:spPr>
        <p:txBody>
          <a:bodyPr/>
          <a:lstStyle/>
          <a:p>
            <a:endParaRPr lang="en-US"/>
          </a:p>
        </p:txBody>
      </p:sp>
      <p:pic>
        <p:nvPicPr>
          <p:cNvPr id="21" name="Image 1" descr="preencoded.png"/>
          <p:cNvPicPr>
            <a:picLocks noChangeAspect="1"/>
          </p:cNvPicPr>
          <p:nvPr/>
        </p:nvPicPr>
        <p:blipFill>
          <a:blip r:embed="rId4"/>
          <a:stretch>
            <a:fillRect/>
          </a:stretch>
        </p:blipFill>
        <p:spPr>
          <a:xfrm>
            <a:off x="3374136" y="1170432"/>
            <a:ext cx="347472" cy="347472"/>
          </a:xfrm>
          <a:prstGeom prst="rect">
            <a:avLst/>
          </a:prstGeom>
        </p:spPr>
      </p:pic>
      <p:sp>
        <p:nvSpPr>
          <p:cNvPr id="22" name="Text 18"/>
          <p:cNvSpPr/>
          <p:nvPr/>
        </p:nvSpPr>
        <p:spPr>
          <a:xfrm>
            <a:off x="3767328" y="1152144"/>
            <a:ext cx="2148840" cy="256032"/>
          </a:xfrm>
          <a:prstGeom prst="rect">
            <a:avLst/>
          </a:prstGeom>
          <a:noFill/>
          <a:ln/>
        </p:spPr>
        <p:txBody>
          <a:bodyPr wrap="square" lIns="0" tIns="0" rIns="0" bIns="0" rtlCol="0" anchor="ctr"/>
          <a:lstStyle/>
          <a:p>
            <a:pPr marL="0" indent="0">
              <a:buNone/>
            </a:pPr>
            <a:r>
              <a:rPr lang="en-US" sz="950" b="1" dirty="0">
                <a:solidFill>
                  <a:srgbClr val="FFFFFF"/>
                </a:solidFill>
                <a:latin typeface="Trebuchet MS" pitchFamily="34" charset="0"/>
                <a:ea typeface="Trebuchet MS" pitchFamily="34" charset="-122"/>
                <a:cs typeface="Trebuchet MS" pitchFamily="34" charset="-120"/>
              </a:rPr>
              <a:t>PROCESS DISCERNMENT</a:t>
            </a:r>
            <a:endParaRPr lang="en-US" sz="950" dirty="0"/>
          </a:p>
        </p:txBody>
      </p:sp>
      <p:sp>
        <p:nvSpPr>
          <p:cNvPr id="23" name="Text 19"/>
          <p:cNvSpPr/>
          <p:nvPr/>
        </p:nvSpPr>
        <p:spPr>
          <a:xfrm>
            <a:off x="3767328" y="1399032"/>
            <a:ext cx="2148840" cy="201168"/>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Did AI take the right approach?</a:t>
            </a:r>
            <a:endParaRPr lang="en-US" sz="900" dirty="0"/>
          </a:p>
        </p:txBody>
      </p:sp>
      <p:sp>
        <p:nvSpPr>
          <p:cNvPr id="24" name="Shape 20"/>
          <p:cNvSpPr/>
          <p:nvPr/>
        </p:nvSpPr>
        <p:spPr>
          <a:xfrm>
            <a:off x="3401568" y="1865376"/>
            <a:ext cx="91440" cy="91440"/>
          </a:xfrm>
          <a:prstGeom prst="ellipse">
            <a:avLst/>
          </a:prstGeom>
          <a:solidFill>
            <a:srgbClr val="7C3AED"/>
          </a:solidFill>
          <a:ln w="12700">
            <a:solidFill>
              <a:srgbClr val="7C3AED"/>
            </a:solidFill>
            <a:prstDash val="solid"/>
          </a:ln>
        </p:spPr>
        <p:txBody>
          <a:bodyPr/>
          <a:lstStyle/>
          <a:p>
            <a:endParaRPr lang="en-US"/>
          </a:p>
        </p:txBody>
      </p:sp>
      <p:sp>
        <p:nvSpPr>
          <p:cNvPr id="25" name="Text 21"/>
          <p:cNvSpPr/>
          <p:nvPr/>
        </p:nvSpPr>
        <p:spPr>
          <a:xfrm>
            <a:off x="3557016" y="1737360"/>
            <a:ext cx="2359152" cy="47548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Did the AI make reasonable assumptions?</a:t>
            </a:r>
            <a:endParaRPr lang="en-US" sz="1000" dirty="0"/>
          </a:p>
        </p:txBody>
      </p:sp>
      <p:sp>
        <p:nvSpPr>
          <p:cNvPr id="26" name="Shape 22"/>
          <p:cNvSpPr/>
          <p:nvPr/>
        </p:nvSpPr>
        <p:spPr>
          <a:xfrm>
            <a:off x="3401568" y="2377440"/>
            <a:ext cx="91440" cy="91440"/>
          </a:xfrm>
          <a:prstGeom prst="ellipse">
            <a:avLst/>
          </a:prstGeom>
          <a:solidFill>
            <a:srgbClr val="7C3AED"/>
          </a:solidFill>
          <a:ln w="12700">
            <a:solidFill>
              <a:srgbClr val="7C3AED"/>
            </a:solidFill>
            <a:prstDash val="solid"/>
          </a:ln>
        </p:spPr>
        <p:txBody>
          <a:bodyPr/>
          <a:lstStyle/>
          <a:p>
            <a:endParaRPr lang="en-US"/>
          </a:p>
        </p:txBody>
      </p:sp>
      <p:sp>
        <p:nvSpPr>
          <p:cNvPr id="27" name="Text 23"/>
          <p:cNvSpPr/>
          <p:nvPr/>
        </p:nvSpPr>
        <p:spPr>
          <a:xfrm>
            <a:off x="3557016" y="2249424"/>
            <a:ext cx="2359152" cy="47548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Did it follow your instructions — or interpret differently?</a:t>
            </a:r>
            <a:endParaRPr lang="en-US" sz="1000" dirty="0"/>
          </a:p>
        </p:txBody>
      </p:sp>
      <p:sp>
        <p:nvSpPr>
          <p:cNvPr id="28" name="Shape 24"/>
          <p:cNvSpPr/>
          <p:nvPr/>
        </p:nvSpPr>
        <p:spPr>
          <a:xfrm>
            <a:off x="3401568" y="2889504"/>
            <a:ext cx="91440" cy="91440"/>
          </a:xfrm>
          <a:prstGeom prst="ellipse">
            <a:avLst/>
          </a:prstGeom>
          <a:solidFill>
            <a:srgbClr val="7C3AED"/>
          </a:solidFill>
          <a:ln w="12700">
            <a:solidFill>
              <a:srgbClr val="7C3AED"/>
            </a:solidFill>
            <a:prstDash val="solid"/>
          </a:ln>
        </p:spPr>
        <p:txBody>
          <a:bodyPr/>
          <a:lstStyle/>
          <a:p>
            <a:endParaRPr lang="en-US"/>
          </a:p>
        </p:txBody>
      </p:sp>
      <p:sp>
        <p:nvSpPr>
          <p:cNvPr id="29" name="Text 25"/>
          <p:cNvSpPr/>
          <p:nvPr/>
        </p:nvSpPr>
        <p:spPr>
          <a:xfrm>
            <a:off x="3557016" y="2761488"/>
            <a:ext cx="2359152" cy="47548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Are there gaps in its reasoning or logic?</a:t>
            </a:r>
            <a:endParaRPr lang="en-US" sz="1000" dirty="0"/>
          </a:p>
        </p:txBody>
      </p:sp>
      <p:sp>
        <p:nvSpPr>
          <p:cNvPr id="30" name="Shape 26"/>
          <p:cNvSpPr/>
          <p:nvPr/>
        </p:nvSpPr>
        <p:spPr>
          <a:xfrm>
            <a:off x="6208776" y="1078992"/>
            <a:ext cx="2743200" cy="219456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31" name="Shape 27"/>
          <p:cNvSpPr/>
          <p:nvPr/>
        </p:nvSpPr>
        <p:spPr>
          <a:xfrm>
            <a:off x="6208776" y="1078992"/>
            <a:ext cx="2743200" cy="566928"/>
          </a:xfrm>
          <a:prstGeom prst="rect">
            <a:avLst/>
          </a:prstGeom>
          <a:solidFill>
            <a:srgbClr val="F97316"/>
          </a:solidFill>
          <a:ln w="12700">
            <a:solidFill>
              <a:srgbClr val="F97316"/>
            </a:solidFill>
            <a:prstDash val="solid"/>
          </a:ln>
        </p:spPr>
        <p:txBody>
          <a:bodyPr/>
          <a:lstStyle/>
          <a:p>
            <a:endParaRPr lang="en-US"/>
          </a:p>
        </p:txBody>
      </p:sp>
      <p:pic>
        <p:nvPicPr>
          <p:cNvPr id="32" name="Image 2" descr="preencoded.png"/>
          <p:cNvPicPr>
            <a:picLocks noChangeAspect="1"/>
          </p:cNvPicPr>
          <p:nvPr/>
        </p:nvPicPr>
        <p:blipFill>
          <a:blip r:embed="rId5"/>
          <a:stretch>
            <a:fillRect/>
          </a:stretch>
        </p:blipFill>
        <p:spPr>
          <a:xfrm>
            <a:off x="6318504" y="1170432"/>
            <a:ext cx="347472" cy="347472"/>
          </a:xfrm>
          <a:prstGeom prst="rect">
            <a:avLst/>
          </a:prstGeom>
        </p:spPr>
      </p:pic>
      <p:sp>
        <p:nvSpPr>
          <p:cNvPr id="33" name="Text 28"/>
          <p:cNvSpPr/>
          <p:nvPr/>
        </p:nvSpPr>
        <p:spPr>
          <a:xfrm>
            <a:off x="6711696" y="1152144"/>
            <a:ext cx="2148840" cy="256032"/>
          </a:xfrm>
          <a:prstGeom prst="rect">
            <a:avLst/>
          </a:prstGeom>
          <a:noFill/>
          <a:ln/>
        </p:spPr>
        <p:txBody>
          <a:bodyPr wrap="square" lIns="0" tIns="0" rIns="0" bIns="0" rtlCol="0" anchor="ctr"/>
          <a:lstStyle/>
          <a:p>
            <a:pPr marL="0" indent="0">
              <a:buNone/>
            </a:pPr>
            <a:r>
              <a:rPr lang="en-US" sz="950" b="1" dirty="0">
                <a:solidFill>
                  <a:srgbClr val="FFFFFF"/>
                </a:solidFill>
                <a:latin typeface="Trebuchet MS" pitchFamily="34" charset="0"/>
                <a:ea typeface="Trebuchet MS" pitchFamily="34" charset="-122"/>
                <a:cs typeface="Trebuchet MS" pitchFamily="34" charset="-120"/>
              </a:rPr>
              <a:t>PERFORMANCE DISCERNMENT</a:t>
            </a:r>
            <a:endParaRPr lang="en-US" sz="950" dirty="0"/>
          </a:p>
        </p:txBody>
      </p:sp>
      <p:sp>
        <p:nvSpPr>
          <p:cNvPr id="34" name="Text 29"/>
          <p:cNvSpPr/>
          <p:nvPr/>
        </p:nvSpPr>
        <p:spPr>
          <a:xfrm>
            <a:off x="6711696" y="1399032"/>
            <a:ext cx="2148840" cy="201168"/>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Is this tool right for this task?</a:t>
            </a:r>
            <a:endParaRPr lang="en-US" sz="900" dirty="0"/>
          </a:p>
        </p:txBody>
      </p:sp>
      <p:sp>
        <p:nvSpPr>
          <p:cNvPr id="35" name="Shape 30"/>
          <p:cNvSpPr/>
          <p:nvPr/>
        </p:nvSpPr>
        <p:spPr>
          <a:xfrm>
            <a:off x="6345936" y="1865376"/>
            <a:ext cx="91440" cy="91440"/>
          </a:xfrm>
          <a:prstGeom prst="ellipse">
            <a:avLst/>
          </a:prstGeom>
          <a:solidFill>
            <a:srgbClr val="F97316"/>
          </a:solidFill>
          <a:ln w="12700">
            <a:solidFill>
              <a:srgbClr val="F97316"/>
            </a:solidFill>
            <a:prstDash val="solid"/>
          </a:ln>
        </p:spPr>
        <p:txBody>
          <a:bodyPr/>
          <a:lstStyle/>
          <a:p>
            <a:endParaRPr lang="en-US"/>
          </a:p>
        </p:txBody>
      </p:sp>
      <p:sp>
        <p:nvSpPr>
          <p:cNvPr id="36" name="Text 31"/>
          <p:cNvSpPr/>
          <p:nvPr/>
        </p:nvSpPr>
        <p:spPr>
          <a:xfrm>
            <a:off x="6501384" y="1737360"/>
            <a:ext cx="2359152" cy="47548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Is this the right AI tool for what you're trying to do?</a:t>
            </a:r>
            <a:endParaRPr lang="en-US" sz="1000" dirty="0"/>
          </a:p>
        </p:txBody>
      </p:sp>
      <p:sp>
        <p:nvSpPr>
          <p:cNvPr id="37" name="Shape 32"/>
          <p:cNvSpPr/>
          <p:nvPr/>
        </p:nvSpPr>
        <p:spPr>
          <a:xfrm>
            <a:off x="6345936" y="2377440"/>
            <a:ext cx="91440" cy="91440"/>
          </a:xfrm>
          <a:prstGeom prst="ellipse">
            <a:avLst/>
          </a:prstGeom>
          <a:solidFill>
            <a:srgbClr val="F97316"/>
          </a:solidFill>
          <a:ln w="12700">
            <a:solidFill>
              <a:srgbClr val="F97316"/>
            </a:solidFill>
            <a:prstDash val="solid"/>
          </a:ln>
        </p:spPr>
        <p:txBody>
          <a:bodyPr/>
          <a:lstStyle/>
          <a:p>
            <a:endParaRPr lang="en-US"/>
          </a:p>
        </p:txBody>
      </p:sp>
      <p:sp>
        <p:nvSpPr>
          <p:cNvPr id="38" name="Text 33"/>
          <p:cNvSpPr/>
          <p:nvPr/>
        </p:nvSpPr>
        <p:spPr>
          <a:xfrm>
            <a:off x="6501384" y="2249424"/>
            <a:ext cx="2359152" cy="47548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Would a different model, tool, or human approach work better?</a:t>
            </a:r>
            <a:endParaRPr lang="en-US" sz="1000" dirty="0"/>
          </a:p>
        </p:txBody>
      </p:sp>
      <p:sp>
        <p:nvSpPr>
          <p:cNvPr id="39" name="Shape 34"/>
          <p:cNvSpPr/>
          <p:nvPr/>
        </p:nvSpPr>
        <p:spPr>
          <a:xfrm>
            <a:off x="6345936" y="2889504"/>
            <a:ext cx="91440" cy="91440"/>
          </a:xfrm>
          <a:prstGeom prst="ellipse">
            <a:avLst/>
          </a:prstGeom>
          <a:solidFill>
            <a:srgbClr val="F97316"/>
          </a:solidFill>
          <a:ln w="12700">
            <a:solidFill>
              <a:srgbClr val="F97316"/>
            </a:solidFill>
            <a:prstDash val="solid"/>
          </a:ln>
        </p:spPr>
        <p:txBody>
          <a:bodyPr/>
          <a:lstStyle/>
          <a:p>
            <a:endParaRPr lang="en-US"/>
          </a:p>
        </p:txBody>
      </p:sp>
      <p:sp>
        <p:nvSpPr>
          <p:cNvPr id="40" name="Text 35"/>
          <p:cNvSpPr/>
          <p:nvPr/>
        </p:nvSpPr>
        <p:spPr>
          <a:xfrm>
            <a:off x="6501384" y="2761488"/>
            <a:ext cx="2359152" cy="47548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Meta-level: evaluate the approach, not just the output</a:t>
            </a:r>
            <a:endParaRPr lang="en-US" sz="1000" dirty="0"/>
          </a:p>
        </p:txBody>
      </p:sp>
      <p:sp>
        <p:nvSpPr>
          <p:cNvPr id="41" name="Shape 36"/>
          <p:cNvSpPr/>
          <p:nvPr/>
        </p:nvSpPr>
        <p:spPr>
          <a:xfrm>
            <a:off x="320040" y="3383280"/>
            <a:ext cx="8503920" cy="658368"/>
          </a:xfrm>
          <a:prstGeom prst="rect">
            <a:avLst/>
          </a:prstGeom>
          <a:solidFill>
            <a:srgbClr val="F1F5F9"/>
          </a:solidFill>
          <a:ln w="12700">
            <a:solidFill>
              <a:srgbClr val="E2E8F0"/>
            </a:solidFill>
            <a:prstDash val="solid"/>
          </a:ln>
        </p:spPr>
        <p:txBody>
          <a:bodyPr/>
          <a:lstStyle/>
          <a:p>
            <a:endParaRPr lang="en-US"/>
          </a:p>
        </p:txBody>
      </p:sp>
      <p:sp>
        <p:nvSpPr>
          <p:cNvPr id="42" name="Text 37"/>
          <p:cNvSpPr/>
          <p:nvPr/>
        </p:nvSpPr>
        <p:spPr>
          <a:xfrm>
            <a:off x="411480" y="3419856"/>
            <a:ext cx="8321040" cy="201168"/>
          </a:xfrm>
          <a:prstGeom prst="rect">
            <a:avLst/>
          </a:prstGeom>
          <a:noFill/>
          <a:ln/>
        </p:spPr>
        <p:txBody>
          <a:bodyPr wrap="square" rtlCol="0" anchor="ctr"/>
          <a:lstStyle/>
          <a:p>
            <a:pPr marL="0" indent="0" algn="ctr">
              <a:buNone/>
            </a:pPr>
            <a:r>
              <a:rPr lang="en-US" sz="1000" b="1" dirty="0">
                <a:solidFill>
                  <a:srgbClr val="0D9488"/>
                </a:solidFill>
                <a:latin typeface="Trebuchet MS" pitchFamily="34" charset="0"/>
                <a:ea typeface="Trebuchet MS" pitchFamily="34" charset="-122"/>
                <a:cs typeface="Trebuchet MS" pitchFamily="34" charset="-120"/>
              </a:rPr>
              <a:t>THE DISCERNMENT FEEDBACK LOOP</a:t>
            </a:r>
            <a:endParaRPr lang="en-US" sz="1000" dirty="0"/>
          </a:p>
        </p:txBody>
      </p:sp>
      <p:sp>
        <p:nvSpPr>
          <p:cNvPr id="43" name="Text 38"/>
          <p:cNvSpPr/>
          <p:nvPr/>
        </p:nvSpPr>
        <p:spPr>
          <a:xfrm>
            <a:off x="411480" y="3639312"/>
            <a:ext cx="8321040" cy="329184"/>
          </a:xfrm>
          <a:prstGeom prst="rect">
            <a:avLst/>
          </a:prstGeom>
          <a:noFill/>
          <a:ln/>
        </p:spPr>
        <p:txBody>
          <a:bodyPr wrap="square"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Discernment → Description: Catch the same error repeatedly? Improve the prompt.     </a:t>
            </a:r>
          </a:p>
          <a:p>
            <a:pPr marL="0" indent="0" algn="ctr">
              <a:buNone/>
            </a:pPr>
            <a:r>
              <a:rPr lang="en-US" sz="950" dirty="0">
                <a:solidFill>
                  <a:srgbClr val="1E293B"/>
                </a:solidFill>
                <a:latin typeface="Calibri" pitchFamily="34" charset="0"/>
                <a:ea typeface="Calibri" pitchFamily="34" charset="-122"/>
                <a:cs typeface="Calibri" pitchFamily="34" charset="-120"/>
              </a:rPr>
              <a:t>Discernment → Delegation: AI consistently underperforms on a task type? Take it back.</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4">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0D9488"/>
                </a:solidFill>
                <a:latin typeface="Calibri" pitchFamily="34" charset="0"/>
                <a:ea typeface="Calibri" pitchFamily="34" charset="-122"/>
                <a:cs typeface="Calibri" pitchFamily="34" charset="-120"/>
              </a:rPr>
              <a:t>29</a:t>
            </a:r>
            <a:endParaRPr lang="en-US" sz="900" dirty="0"/>
          </a:p>
        </p:txBody>
      </p:sp>
      <p:sp>
        <p:nvSpPr>
          <p:cNvPr id="4" name="Shape 2"/>
          <p:cNvSpPr/>
          <p:nvPr/>
        </p:nvSpPr>
        <p:spPr>
          <a:xfrm>
            <a:off x="320040" y="201168"/>
            <a:ext cx="594360" cy="594360"/>
          </a:xfrm>
          <a:prstGeom prst="ellipse">
            <a:avLst/>
          </a:prstGeom>
          <a:solidFill>
            <a:srgbClr val="16A34A"/>
          </a:solidFill>
          <a:ln w="12700">
            <a:solidFill>
              <a:srgbClr val="16A34A"/>
            </a:solidFill>
            <a:prstDash val="solid"/>
          </a:ln>
        </p:spPr>
        <p:txBody>
          <a:bodyPr/>
          <a:lstStyle/>
          <a:p>
            <a:endParaRPr lang="en-US"/>
          </a:p>
        </p:txBody>
      </p:sp>
      <p:sp>
        <p:nvSpPr>
          <p:cNvPr id="5" name="Text 3"/>
          <p:cNvSpPr/>
          <p:nvPr/>
        </p:nvSpPr>
        <p:spPr>
          <a:xfrm>
            <a:off x="320040" y="201168"/>
            <a:ext cx="594360" cy="59436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D4</a:t>
            </a:r>
            <a:endParaRPr lang="en-US" sz="1600" dirty="0"/>
          </a:p>
        </p:txBody>
      </p:sp>
      <p:sp>
        <p:nvSpPr>
          <p:cNvPr id="6" name="Text 4"/>
          <p:cNvSpPr/>
          <p:nvPr/>
        </p:nvSpPr>
        <p:spPr>
          <a:xfrm>
            <a:off x="1051560" y="155448"/>
            <a:ext cx="7772400" cy="530352"/>
          </a:xfrm>
          <a:prstGeom prst="rect">
            <a:avLst/>
          </a:prstGeom>
          <a:noFill/>
          <a:ln/>
        </p:spPr>
        <p:txBody>
          <a:bodyPr wrap="square" lIns="0" tIns="0" rIns="0" bIns="0" rtlCol="0" anchor="ctr"/>
          <a:lstStyle/>
          <a:p>
            <a:pPr marL="0" indent="0">
              <a:buNone/>
            </a:pPr>
            <a:r>
              <a:rPr lang="en-US" sz="1800" b="1" dirty="0">
                <a:solidFill>
                  <a:srgbClr val="1B2A4A"/>
                </a:solidFill>
                <a:latin typeface="Trebuchet MS" pitchFamily="34" charset="0"/>
                <a:ea typeface="Trebuchet MS" pitchFamily="34" charset="-122"/>
                <a:cs typeface="Trebuchet MS" pitchFamily="34" charset="-120"/>
              </a:rPr>
              <a:t>Diligence: Responsible AI Use and Professional Oversight</a:t>
            </a:r>
            <a:endParaRPr lang="en-US" sz="1800" dirty="0"/>
          </a:p>
        </p:txBody>
      </p:sp>
      <p:sp>
        <p:nvSpPr>
          <p:cNvPr id="7" name="Text 5"/>
          <p:cNvSpPr/>
          <p:nvPr/>
        </p:nvSpPr>
        <p:spPr>
          <a:xfrm>
            <a:off x="1051560" y="713232"/>
            <a:ext cx="7772400" cy="256032"/>
          </a:xfrm>
          <a:prstGeom prst="rect">
            <a:avLst/>
          </a:prstGeom>
          <a:noFill/>
          <a:ln/>
        </p:spPr>
        <p:txBody>
          <a:bodyPr wrap="square" lIns="0" tIns="0" rIns="0" bIns="0" rtlCol="0" anchor="ctr"/>
          <a:lstStyle/>
          <a:p>
            <a:pPr marL="0" indent="0">
              <a:buNone/>
            </a:pPr>
            <a:r>
              <a:rPr lang="en-US" sz="1100" i="1" dirty="0">
                <a:solidFill>
                  <a:srgbClr val="0D9488"/>
                </a:solidFill>
                <a:latin typeface="Calibri" pitchFamily="34" charset="0"/>
                <a:ea typeface="Calibri" pitchFamily="34" charset="-122"/>
                <a:cs typeface="Calibri" pitchFamily="34" charset="-120"/>
              </a:rPr>
              <a:t>The core question: Am I using this responsibly, transparently, and with appropriate oversight?</a:t>
            </a:r>
            <a:endParaRPr lang="en-US" sz="1100" dirty="0"/>
          </a:p>
        </p:txBody>
      </p:sp>
      <p:sp>
        <p:nvSpPr>
          <p:cNvPr id="8" name="Shape 6"/>
          <p:cNvSpPr/>
          <p:nvPr/>
        </p:nvSpPr>
        <p:spPr>
          <a:xfrm>
            <a:off x="320040" y="1078992"/>
            <a:ext cx="2743200" cy="2286000"/>
          </a:xfrm>
          <a:prstGeom prst="rect">
            <a:avLst/>
          </a:prstGeom>
          <a:solidFill>
            <a:srgbClr val="FFFFFF"/>
          </a:solidFill>
          <a:ln w="1270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9" name="Shape 7"/>
          <p:cNvSpPr/>
          <p:nvPr/>
        </p:nvSpPr>
        <p:spPr>
          <a:xfrm>
            <a:off x="320040" y="1078992"/>
            <a:ext cx="2743200" cy="566928"/>
          </a:xfrm>
          <a:prstGeom prst="rect">
            <a:avLst/>
          </a:prstGeom>
          <a:solidFill>
            <a:srgbClr val="0D9488"/>
          </a:solidFill>
          <a:ln w="12700">
            <a:solidFill>
              <a:srgbClr val="0D9488"/>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429768" y="1170432"/>
            <a:ext cx="347472" cy="347472"/>
          </a:xfrm>
          <a:prstGeom prst="rect">
            <a:avLst/>
          </a:prstGeom>
        </p:spPr>
      </p:pic>
      <p:sp>
        <p:nvSpPr>
          <p:cNvPr id="11" name="Text 8"/>
          <p:cNvSpPr/>
          <p:nvPr/>
        </p:nvSpPr>
        <p:spPr>
          <a:xfrm>
            <a:off x="822960" y="1152144"/>
            <a:ext cx="2148840" cy="256032"/>
          </a:xfrm>
          <a:prstGeom prst="rect">
            <a:avLst/>
          </a:prstGeom>
          <a:noFill/>
          <a:ln/>
        </p:spPr>
        <p:txBody>
          <a:bodyPr wrap="square" lIns="0" tIns="0" rIns="0" bIns="0" rtlCol="0" anchor="ctr"/>
          <a:lstStyle/>
          <a:p>
            <a:pPr marL="0" indent="0">
              <a:buNone/>
            </a:pPr>
            <a:r>
              <a:rPr lang="en-US" sz="950" b="1" dirty="0">
                <a:solidFill>
                  <a:srgbClr val="FFFFFF"/>
                </a:solidFill>
                <a:latin typeface="Trebuchet MS" pitchFamily="34" charset="0"/>
                <a:ea typeface="Trebuchet MS" pitchFamily="34" charset="-122"/>
                <a:cs typeface="Trebuchet MS" pitchFamily="34" charset="-120"/>
              </a:rPr>
              <a:t>CREATION DILIGENCE</a:t>
            </a:r>
            <a:endParaRPr lang="en-US" sz="950" dirty="0"/>
          </a:p>
        </p:txBody>
      </p:sp>
      <p:sp>
        <p:nvSpPr>
          <p:cNvPr id="12" name="Text 9"/>
          <p:cNvSpPr/>
          <p:nvPr/>
        </p:nvSpPr>
        <p:spPr>
          <a:xfrm>
            <a:off x="822960" y="1399032"/>
            <a:ext cx="2148840" cy="201168"/>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Verify what you create with AI</a:t>
            </a:r>
            <a:endParaRPr lang="en-US" sz="900" dirty="0"/>
          </a:p>
        </p:txBody>
      </p:sp>
      <p:sp>
        <p:nvSpPr>
          <p:cNvPr id="13" name="Shape 10"/>
          <p:cNvSpPr/>
          <p:nvPr/>
        </p:nvSpPr>
        <p:spPr>
          <a:xfrm>
            <a:off x="457200" y="1892808"/>
            <a:ext cx="91440" cy="91440"/>
          </a:xfrm>
          <a:prstGeom prst="ellipse">
            <a:avLst/>
          </a:prstGeom>
          <a:solidFill>
            <a:srgbClr val="0D9488"/>
          </a:solidFill>
          <a:ln w="12700">
            <a:solidFill>
              <a:srgbClr val="0D9488"/>
            </a:solidFill>
            <a:prstDash val="solid"/>
          </a:ln>
        </p:spPr>
        <p:txBody>
          <a:bodyPr/>
          <a:lstStyle/>
          <a:p>
            <a:endParaRPr lang="en-US"/>
          </a:p>
        </p:txBody>
      </p:sp>
      <p:sp>
        <p:nvSpPr>
          <p:cNvPr id="14" name="Text 11"/>
          <p:cNvSpPr/>
          <p:nvPr/>
        </p:nvSpPr>
        <p:spPr>
          <a:xfrm>
            <a:off x="612648" y="1737360"/>
            <a:ext cx="2359152" cy="512064"/>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Don't ship AI-assisted work without appropriate verification</a:t>
            </a:r>
            <a:endParaRPr lang="en-US" sz="1000" dirty="0"/>
          </a:p>
        </p:txBody>
      </p:sp>
      <p:sp>
        <p:nvSpPr>
          <p:cNvPr id="15" name="Shape 12"/>
          <p:cNvSpPr/>
          <p:nvPr/>
        </p:nvSpPr>
        <p:spPr>
          <a:xfrm>
            <a:off x="457200" y="2441448"/>
            <a:ext cx="91440" cy="91440"/>
          </a:xfrm>
          <a:prstGeom prst="ellipse">
            <a:avLst/>
          </a:prstGeom>
          <a:solidFill>
            <a:srgbClr val="0D9488"/>
          </a:solidFill>
          <a:ln w="12700">
            <a:solidFill>
              <a:srgbClr val="0D9488"/>
            </a:solidFill>
            <a:prstDash val="solid"/>
          </a:ln>
        </p:spPr>
        <p:txBody>
          <a:bodyPr/>
          <a:lstStyle/>
          <a:p>
            <a:endParaRPr lang="en-US"/>
          </a:p>
        </p:txBody>
      </p:sp>
      <p:sp>
        <p:nvSpPr>
          <p:cNvPr id="16" name="Text 13"/>
          <p:cNvSpPr/>
          <p:nvPr/>
        </p:nvSpPr>
        <p:spPr>
          <a:xfrm>
            <a:off x="612648" y="2286000"/>
            <a:ext cx="2359152" cy="512064"/>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Apply the Part 2 verification strategies to the stakes level</a:t>
            </a:r>
            <a:endParaRPr lang="en-US" sz="1000" dirty="0"/>
          </a:p>
        </p:txBody>
      </p:sp>
      <p:sp>
        <p:nvSpPr>
          <p:cNvPr id="17" name="Shape 14"/>
          <p:cNvSpPr/>
          <p:nvPr/>
        </p:nvSpPr>
        <p:spPr>
          <a:xfrm>
            <a:off x="457200" y="2990088"/>
            <a:ext cx="91440" cy="91440"/>
          </a:xfrm>
          <a:prstGeom prst="ellipse">
            <a:avLst/>
          </a:prstGeom>
          <a:solidFill>
            <a:srgbClr val="0D9488"/>
          </a:solidFill>
          <a:ln w="12700">
            <a:solidFill>
              <a:srgbClr val="0D9488"/>
            </a:solidFill>
            <a:prstDash val="solid"/>
          </a:ln>
        </p:spPr>
        <p:txBody>
          <a:bodyPr/>
          <a:lstStyle/>
          <a:p>
            <a:endParaRPr lang="en-US"/>
          </a:p>
        </p:txBody>
      </p:sp>
      <p:sp>
        <p:nvSpPr>
          <p:cNvPr id="18" name="Text 15"/>
          <p:cNvSpPr/>
          <p:nvPr/>
        </p:nvSpPr>
        <p:spPr>
          <a:xfrm>
            <a:off x="612648" y="2834640"/>
            <a:ext cx="2359152" cy="512064"/>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You own the output — regardless of how it was created</a:t>
            </a:r>
            <a:endParaRPr lang="en-US" sz="1000" dirty="0"/>
          </a:p>
        </p:txBody>
      </p:sp>
      <p:sp>
        <p:nvSpPr>
          <p:cNvPr id="19" name="Shape 16"/>
          <p:cNvSpPr/>
          <p:nvPr/>
        </p:nvSpPr>
        <p:spPr>
          <a:xfrm>
            <a:off x="3264408" y="1078992"/>
            <a:ext cx="2743200" cy="2286000"/>
          </a:xfrm>
          <a:prstGeom prst="rect">
            <a:avLst/>
          </a:prstGeom>
          <a:solidFill>
            <a:srgbClr val="FFFFFF"/>
          </a:solidFill>
          <a:ln w="1270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20" name="Shape 17"/>
          <p:cNvSpPr/>
          <p:nvPr/>
        </p:nvSpPr>
        <p:spPr>
          <a:xfrm>
            <a:off x="3264408" y="1078992"/>
            <a:ext cx="2743200" cy="566928"/>
          </a:xfrm>
          <a:prstGeom prst="rect">
            <a:avLst/>
          </a:prstGeom>
          <a:solidFill>
            <a:srgbClr val="F59E0B"/>
          </a:solidFill>
          <a:ln w="12700">
            <a:solidFill>
              <a:srgbClr val="F59E0B"/>
            </a:solidFill>
            <a:prstDash val="solid"/>
          </a:ln>
        </p:spPr>
        <p:txBody>
          <a:bodyPr/>
          <a:lstStyle/>
          <a:p>
            <a:endParaRPr lang="en-US"/>
          </a:p>
        </p:txBody>
      </p:sp>
      <p:pic>
        <p:nvPicPr>
          <p:cNvPr id="21" name="Image 1" descr="preencoded.png"/>
          <p:cNvPicPr>
            <a:picLocks noChangeAspect="1"/>
          </p:cNvPicPr>
          <p:nvPr/>
        </p:nvPicPr>
        <p:blipFill>
          <a:blip r:embed="rId4"/>
          <a:stretch>
            <a:fillRect/>
          </a:stretch>
        </p:blipFill>
        <p:spPr>
          <a:xfrm>
            <a:off x="3374136" y="1170432"/>
            <a:ext cx="347472" cy="347472"/>
          </a:xfrm>
          <a:prstGeom prst="rect">
            <a:avLst/>
          </a:prstGeom>
        </p:spPr>
      </p:pic>
      <p:sp>
        <p:nvSpPr>
          <p:cNvPr id="22" name="Text 18"/>
          <p:cNvSpPr/>
          <p:nvPr/>
        </p:nvSpPr>
        <p:spPr>
          <a:xfrm>
            <a:off x="3767328" y="1152144"/>
            <a:ext cx="2148840" cy="256032"/>
          </a:xfrm>
          <a:prstGeom prst="rect">
            <a:avLst/>
          </a:prstGeom>
          <a:noFill/>
          <a:ln/>
        </p:spPr>
        <p:txBody>
          <a:bodyPr wrap="square" lIns="0" tIns="0" rIns="0" bIns="0" rtlCol="0" anchor="ctr"/>
          <a:lstStyle/>
          <a:p>
            <a:pPr marL="0" indent="0">
              <a:buNone/>
            </a:pPr>
            <a:r>
              <a:rPr lang="en-US" sz="950" b="1" dirty="0">
                <a:solidFill>
                  <a:srgbClr val="FFFFFF"/>
                </a:solidFill>
                <a:latin typeface="Trebuchet MS" pitchFamily="34" charset="0"/>
                <a:ea typeface="Trebuchet MS" pitchFamily="34" charset="-122"/>
                <a:cs typeface="Trebuchet MS" pitchFamily="34" charset="-120"/>
              </a:rPr>
              <a:t>TRANSPARENCY DILIGENCE</a:t>
            </a:r>
            <a:endParaRPr lang="en-US" sz="950" dirty="0"/>
          </a:p>
        </p:txBody>
      </p:sp>
      <p:sp>
        <p:nvSpPr>
          <p:cNvPr id="23" name="Text 19"/>
          <p:cNvSpPr/>
          <p:nvPr/>
        </p:nvSpPr>
        <p:spPr>
          <a:xfrm>
            <a:off x="3767328" y="1399032"/>
            <a:ext cx="2148840" cy="201168"/>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Be honest about how AI was used</a:t>
            </a:r>
            <a:endParaRPr lang="en-US" sz="900" dirty="0"/>
          </a:p>
        </p:txBody>
      </p:sp>
      <p:sp>
        <p:nvSpPr>
          <p:cNvPr id="24" name="Shape 20"/>
          <p:cNvSpPr/>
          <p:nvPr/>
        </p:nvSpPr>
        <p:spPr>
          <a:xfrm>
            <a:off x="3401568" y="1892808"/>
            <a:ext cx="91440" cy="91440"/>
          </a:xfrm>
          <a:prstGeom prst="ellipse">
            <a:avLst/>
          </a:prstGeom>
          <a:solidFill>
            <a:srgbClr val="F59E0B"/>
          </a:solidFill>
          <a:ln w="12700">
            <a:solidFill>
              <a:srgbClr val="F59E0B"/>
            </a:solidFill>
            <a:prstDash val="solid"/>
          </a:ln>
        </p:spPr>
        <p:txBody>
          <a:bodyPr/>
          <a:lstStyle/>
          <a:p>
            <a:endParaRPr lang="en-US"/>
          </a:p>
        </p:txBody>
      </p:sp>
      <p:sp>
        <p:nvSpPr>
          <p:cNvPr id="25" name="Text 21"/>
          <p:cNvSpPr/>
          <p:nvPr/>
        </p:nvSpPr>
        <p:spPr>
          <a:xfrm>
            <a:off x="3557016" y="1737360"/>
            <a:ext cx="2359152" cy="512064"/>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Internal: log AI involvement for audit trails and version history</a:t>
            </a:r>
            <a:endParaRPr lang="en-US" sz="1000" dirty="0"/>
          </a:p>
        </p:txBody>
      </p:sp>
      <p:sp>
        <p:nvSpPr>
          <p:cNvPr id="26" name="Shape 22"/>
          <p:cNvSpPr/>
          <p:nvPr/>
        </p:nvSpPr>
        <p:spPr>
          <a:xfrm>
            <a:off x="3401568" y="2441448"/>
            <a:ext cx="91440" cy="91440"/>
          </a:xfrm>
          <a:prstGeom prst="ellipse">
            <a:avLst/>
          </a:prstGeom>
          <a:solidFill>
            <a:srgbClr val="F59E0B"/>
          </a:solidFill>
          <a:ln w="12700">
            <a:solidFill>
              <a:srgbClr val="F59E0B"/>
            </a:solidFill>
            <a:prstDash val="solid"/>
          </a:ln>
        </p:spPr>
        <p:txBody>
          <a:bodyPr/>
          <a:lstStyle/>
          <a:p>
            <a:endParaRPr lang="en-US"/>
          </a:p>
        </p:txBody>
      </p:sp>
      <p:sp>
        <p:nvSpPr>
          <p:cNvPr id="27" name="Text 23"/>
          <p:cNvSpPr/>
          <p:nvPr/>
        </p:nvSpPr>
        <p:spPr>
          <a:xfrm>
            <a:off x="3557016" y="2286000"/>
            <a:ext cx="2359152" cy="512064"/>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External: disclose AI use in regulatory or customer-facing materials</a:t>
            </a:r>
            <a:endParaRPr lang="en-US" sz="1000" dirty="0"/>
          </a:p>
        </p:txBody>
      </p:sp>
      <p:sp>
        <p:nvSpPr>
          <p:cNvPr id="28" name="Shape 24"/>
          <p:cNvSpPr/>
          <p:nvPr/>
        </p:nvSpPr>
        <p:spPr>
          <a:xfrm>
            <a:off x="3401568" y="2990088"/>
            <a:ext cx="91440" cy="91440"/>
          </a:xfrm>
          <a:prstGeom prst="ellipse">
            <a:avLst/>
          </a:prstGeom>
          <a:solidFill>
            <a:srgbClr val="F59E0B"/>
          </a:solidFill>
          <a:ln w="12700">
            <a:solidFill>
              <a:srgbClr val="F59E0B"/>
            </a:solidFill>
            <a:prstDash val="solid"/>
          </a:ln>
        </p:spPr>
        <p:txBody>
          <a:bodyPr/>
          <a:lstStyle/>
          <a:p>
            <a:endParaRPr lang="en-US"/>
          </a:p>
        </p:txBody>
      </p:sp>
      <p:sp>
        <p:nvSpPr>
          <p:cNvPr id="29" name="Text 25"/>
          <p:cNvSpPr/>
          <p:nvPr/>
        </p:nvSpPr>
        <p:spPr>
          <a:xfrm>
            <a:off x="3557016" y="2834640"/>
            <a:ext cx="2359152" cy="512064"/>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FHB: transparency practices will become regulatory expectations</a:t>
            </a:r>
            <a:endParaRPr lang="en-US" sz="1000" dirty="0"/>
          </a:p>
        </p:txBody>
      </p:sp>
      <p:sp>
        <p:nvSpPr>
          <p:cNvPr id="30" name="Shape 26"/>
          <p:cNvSpPr/>
          <p:nvPr/>
        </p:nvSpPr>
        <p:spPr>
          <a:xfrm>
            <a:off x="6208776" y="1078992"/>
            <a:ext cx="2743200" cy="2286000"/>
          </a:xfrm>
          <a:prstGeom prst="rect">
            <a:avLst/>
          </a:prstGeom>
          <a:solidFill>
            <a:srgbClr val="FFFFFF"/>
          </a:solidFill>
          <a:ln w="1270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31" name="Shape 27"/>
          <p:cNvSpPr/>
          <p:nvPr/>
        </p:nvSpPr>
        <p:spPr>
          <a:xfrm>
            <a:off x="6208776" y="1078992"/>
            <a:ext cx="2743200" cy="566928"/>
          </a:xfrm>
          <a:prstGeom prst="rect">
            <a:avLst/>
          </a:prstGeom>
          <a:solidFill>
            <a:srgbClr val="F97316"/>
          </a:solidFill>
          <a:ln w="12700">
            <a:solidFill>
              <a:srgbClr val="F97316"/>
            </a:solidFill>
            <a:prstDash val="solid"/>
          </a:ln>
        </p:spPr>
        <p:txBody>
          <a:bodyPr/>
          <a:lstStyle/>
          <a:p>
            <a:endParaRPr lang="en-US"/>
          </a:p>
        </p:txBody>
      </p:sp>
      <p:pic>
        <p:nvPicPr>
          <p:cNvPr id="32" name="Image 2" descr="preencoded.png"/>
          <p:cNvPicPr>
            <a:picLocks noChangeAspect="1"/>
          </p:cNvPicPr>
          <p:nvPr/>
        </p:nvPicPr>
        <p:blipFill>
          <a:blip r:embed="rId5"/>
          <a:stretch>
            <a:fillRect/>
          </a:stretch>
        </p:blipFill>
        <p:spPr>
          <a:xfrm>
            <a:off x="6318504" y="1170432"/>
            <a:ext cx="347472" cy="347472"/>
          </a:xfrm>
          <a:prstGeom prst="rect">
            <a:avLst/>
          </a:prstGeom>
        </p:spPr>
      </p:pic>
      <p:sp>
        <p:nvSpPr>
          <p:cNvPr id="33" name="Text 28"/>
          <p:cNvSpPr/>
          <p:nvPr/>
        </p:nvSpPr>
        <p:spPr>
          <a:xfrm>
            <a:off x="6711696" y="1152144"/>
            <a:ext cx="2148840" cy="256032"/>
          </a:xfrm>
          <a:prstGeom prst="rect">
            <a:avLst/>
          </a:prstGeom>
          <a:noFill/>
          <a:ln/>
        </p:spPr>
        <p:txBody>
          <a:bodyPr wrap="square" lIns="0" tIns="0" rIns="0" bIns="0" rtlCol="0" anchor="ctr"/>
          <a:lstStyle/>
          <a:p>
            <a:pPr marL="0" indent="0">
              <a:buNone/>
            </a:pPr>
            <a:r>
              <a:rPr lang="en-US" sz="950" b="1" dirty="0">
                <a:solidFill>
                  <a:srgbClr val="FFFFFF"/>
                </a:solidFill>
                <a:latin typeface="Trebuchet MS" pitchFamily="34" charset="0"/>
                <a:ea typeface="Trebuchet MS" pitchFamily="34" charset="-122"/>
                <a:cs typeface="Trebuchet MS" pitchFamily="34" charset="-120"/>
              </a:rPr>
              <a:t>DEPLOYMENT DILIGENCE</a:t>
            </a:r>
            <a:endParaRPr lang="en-US" sz="950" dirty="0"/>
          </a:p>
        </p:txBody>
      </p:sp>
      <p:sp>
        <p:nvSpPr>
          <p:cNvPr id="34" name="Text 29"/>
          <p:cNvSpPr/>
          <p:nvPr/>
        </p:nvSpPr>
        <p:spPr>
          <a:xfrm>
            <a:off x="6711696" y="1399032"/>
            <a:ext cx="2148840" cy="201168"/>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Consider downstream effects</a:t>
            </a:r>
            <a:endParaRPr lang="en-US" sz="900" dirty="0"/>
          </a:p>
        </p:txBody>
      </p:sp>
      <p:sp>
        <p:nvSpPr>
          <p:cNvPr id="35" name="Shape 30"/>
          <p:cNvSpPr/>
          <p:nvPr/>
        </p:nvSpPr>
        <p:spPr>
          <a:xfrm>
            <a:off x="6345936" y="1892808"/>
            <a:ext cx="91440" cy="91440"/>
          </a:xfrm>
          <a:prstGeom prst="ellipse">
            <a:avLst/>
          </a:prstGeom>
          <a:solidFill>
            <a:srgbClr val="F97316"/>
          </a:solidFill>
          <a:ln w="12700">
            <a:solidFill>
              <a:srgbClr val="F97316"/>
            </a:solidFill>
            <a:prstDash val="solid"/>
          </a:ln>
        </p:spPr>
        <p:txBody>
          <a:bodyPr/>
          <a:lstStyle/>
          <a:p>
            <a:endParaRPr lang="en-US"/>
          </a:p>
        </p:txBody>
      </p:sp>
      <p:sp>
        <p:nvSpPr>
          <p:cNvPr id="36" name="Text 31"/>
          <p:cNvSpPr/>
          <p:nvPr/>
        </p:nvSpPr>
        <p:spPr>
          <a:xfrm>
            <a:off x="6501384" y="1737360"/>
            <a:ext cx="2359152" cy="512064"/>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Who will use this? What decisions will they make based on it?</a:t>
            </a:r>
            <a:endParaRPr lang="en-US" sz="1000" dirty="0"/>
          </a:p>
        </p:txBody>
      </p:sp>
      <p:sp>
        <p:nvSpPr>
          <p:cNvPr id="37" name="Shape 32"/>
          <p:cNvSpPr/>
          <p:nvPr/>
        </p:nvSpPr>
        <p:spPr>
          <a:xfrm>
            <a:off x="6345936" y="2441448"/>
            <a:ext cx="91440" cy="91440"/>
          </a:xfrm>
          <a:prstGeom prst="ellipse">
            <a:avLst/>
          </a:prstGeom>
          <a:solidFill>
            <a:srgbClr val="F97316"/>
          </a:solidFill>
          <a:ln w="12700">
            <a:solidFill>
              <a:srgbClr val="F97316"/>
            </a:solidFill>
            <a:prstDash val="solid"/>
          </a:ln>
        </p:spPr>
        <p:txBody>
          <a:bodyPr/>
          <a:lstStyle/>
          <a:p>
            <a:endParaRPr lang="en-US"/>
          </a:p>
        </p:txBody>
      </p:sp>
      <p:sp>
        <p:nvSpPr>
          <p:cNvPr id="38" name="Text 33"/>
          <p:cNvSpPr/>
          <p:nvPr/>
        </p:nvSpPr>
        <p:spPr>
          <a:xfrm>
            <a:off x="6501384" y="2286000"/>
            <a:ext cx="2359152" cy="512064"/>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What happens if this is wrong — who bears the consequence?</a:t>
            </a:r>
            <a:endParaRPr lang="en-US" sz="1000" dirty="0"/>
          </a:p>
        </p:txBody>
      </p:sp>
      <p:sp>
        <p:nvSpPr>
          <p:cNvPr id="39" name="Shape 34"/>
          <p:cNvSpPr/>
          <p:nvPr/>
        </p:nvSpPr>
        <p:spPr>
          <a:xfrm>
            <a:off x="6345936" y="2990088"/>
            <a:ext cx="91440" cy="91440"/>
          </a:xfrm>
          <a:prstGeom prst="ellipse">
            <a:avLst/>
          </a:prstGeom>
          <a:solidFill>
            <a:srgbClr val="F97316"/>
          </a:solidFill>
          <a:ln w="12700">
            <a:solidFill>
              <a:srgbClr val="F97316"/>
            </a:solidFill>
            <a:prstDash val="solid"/>
          </a:ln>
        </p:spPr>
        <p:txBody>
          <a:bodyPr/>
          <a:lstStyle/>
          <a:p>
            <a:endParaRPr lang="en-US"/>
          </a:p>
        </p:txBody>
      </p:sp>
      <p:sp>
        <p:nvSpPr>
          <p:cNvPr id="40" name="Text 35"/>
          <p:cNvSpPr/>
          <p:nvPr/>
        </p:nvSpPr>
        <p:spPr>
          <a:xfrm>
            <a:off x="6501384" y="2834640"/>
            <a:ext cx="2359152" cy="512064"/>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Have the appropriate people reviewed and approved it?</a:t>
            </a:r>
            <a:endParaRPr lang="en-US" sz="1000" dirty="0"/>
          </a:p>
        </p:txBody>
      </p:sp>
      <p:sp>
        <p:nvSpPr>
          <p:cNvPr id="41" name="Shape 36"/>
          <p:cNvSpPr/>
          <p:nvPr/>
        </p:nvSpPr>
        <p:spPr>
          <a:xfrm>
            <a:off x="320040" y="3474720"/>
            <a:ext cx="8503920" cy="713232"/>
          </a:xfrm>
          <a:prstGeom prst="rect">
            <a:avLst/>
          </a:prstGeom>
          <a:solidFill>
            <a:srgbClr val="FFFFFF"/>
          </a:solidFill>
          <a:ln w="19050">
            <a:solidFill>
              <a:srgbClr val="16A34A"/>
            </a:solidFill>
            <a:prstDash val="solid"/>
          </a:ln>
        </p:spPr>
        <p:txBody>
          <a:bodyPr/>
          <a:lstStyle/>
          <a:p>
            <a:endParaRPr lang="en-US"/>
          </a:p>
        </p:txBody>
      </p:sp>
      <p:sp>
        <p:nvSpPr>
          <p:cNvPr id="42" name="Text 37"/>
          <p:cNvSpPr/>
          <p:nvPr/>
        </p:nvSpPr>
        <p:spPr>
          <a:xfrm>
            <a:off x="411480" y="3520440"/>
            <a:ext cx="8321040" cy="219456"/>
          </a:xfrm>
          <a:prstGeom prst="rect">
            <a:avLst/>
          </a:prstGeom>
          <a:noFill/>
          <a:ln/>
        </p:spPr>
        <p:txBody>
          <a:bodyPr wrap="square" rtlCol="0" anchor="ctr"/>
          <a:lstStyle/>
          <a:p>
            <a:pPr marL="0" indent="0" algn="ctr">
              <a:buNone/>
            </a:pPr>
            <a:r>
              <a:rPr lang="en-US" sz="1000" b="1" dirty="0">
                <a:solidFill>
                  <a:srgbClr val="16A34A"/>
                </a:solidFill>
                <a:latin typeface="Trebuchet MS" pitchFamily="34" charset="0"/>
                <a:ea typeface="Trebuchet MS" pitchFamily="34" charset="-122"/>
                <a:cs typeface="Trebuchet MS" pitchFamily="34" charset="-120"/>
              </a:rPr>
              <a:t>THE COMPLIANCE CONNECTION</a:t>
            </a:r>
            <a:endParaRPr lang="en-US" sz="1000" dirty="0"/>
          </a:p>
        </p:txBody>
      </p:sp>
      <p:sp>
        <p:nvSpPr>
          <p:cNvPr id="43" name="Text 38"/>
          <p:cNvSpPr/>
          <p:nvPr/>
        </p:nvSpPr>
        <p:spPr>
          <a:xfrm>
            <a:off x="411480" y="3749040"/>
            <a:ext cx="8321040" cy="384048"/>
          </a:xfrm>
          <a:prstGeom prst="rect">
            <a:avLst/>
          </a:prstGeom>
          <a:noFill/>
          <a:ln/>
        </p:spPr>
        <p:txBody>
          <a:bodyPr wrap="square" rtlCol="0" anchor="ctr"/>
          <a:lstStyle/>
          <a:p>
            <a:pPr marL="0" indent="0" algn="ctr">
              <a:buNone/>
            </a:pPr>
            <a:r>
              <a:rPr lang="en-US" sz="950" dirty="0">
                <a:solidFill>
                  <a:srgbClr val="475569"/>
                </a:solidFill>
                <a:latin typeface="Calibri" pitchFamily="34" charset="0"/>
                <a:ea typeface="Calibri" pitchFamily="34" charset="-122"/>
                <a:cs typeface="Calibri" pitchFamily="34" charset="-120"/>
              </a:rPr>
              <a:t>Diligence bridges individual practice and organizational policy. </a:t>
            </a:r>
          </a:p>
          <a:p>
            <a:pPr marL="0" indent="0" algn="ctr">
              <a:buNone/>
            </a:pPr>
            <a:r>
              <a:rPr lang="en-US" sz="950" dirty="0">
                <a:solidFill>
                  <a:srgbClr val="475569"/>
                </a:solidFill>
                <a:latin typeface="Calibri" pitchFamily="34" charset="0"/>
                <a:ea typeface="Calibri" pitchFamily="34" charset="-122"/>
                <a:cs typeface="Calibri" pitchFamily="34" charset="-120"/>
              </a:rPr>
              <a:t>In regulated environments, these habits are professional obligations — not optional best practices. </a:t>
            </a:r>
          </a:p>
          <a:p>
            <a:pPr marL="0" indent="0" algn="ctr">
              <a:buNone/>
            </a:pPr>
            <a:r>
              <a:rPr lang="en-US" sz="950" dirty="0">
                <a:solidFill>
                  <a:srgbClr val="475569"/>
                </a:solidFill>
                <a:latin typeface="Calibri" pitchFamily="34" charset="0"/>
                <a:ea typeface="Calibri" pitchFamily="34" charset="-122"/>
                <a:cs typeface="Calibri" pitchFamily="34" charset="-120"/>
              </a:rPr>
              <a:t>The Air Canada case: no diligence = legal liability.</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5">
    <p:bg>
      <p:bgPr>
        <a:solidFill>
          <a:srgbClr val="F0FDF4"/>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
        <p:nvSpPr>
          <p:cNvPr id="4" name="Shape 2"/>
          <p:cNvSpPr/>
          <p:nvPr/>
        </p:nvSpPr>
        <p:spPr>
          <a:xfrm>
            <a:off x="320040" y="137160"/>
            <a:ext cx="1325880" cy="384048"/>
          </a:xfrm>
          <a:prstGeom prst="rect">
            <a:avLst/>
          </a:prstGeom>
          <a:solidFill>
            <a:srgbClr val="0D9488"/>
          </a:solidFill>
          <a:ln w="12700">
            <a:solidFill>
              <a:srgbClr val="0D9488"/>
            </a:solidFill>
            <a:prstDash val="solid"/>
          </a:ln>
        </p:spPr>
        <p:txBody>
          <a:bodyPr/>
          <a:lstStyle/>
          <a:p>
            <a:endParaRPr lang="en-US"/>
          </a:p>
        </p:txBody>
      </p:sp>
      <p:sp>
        <p:nvSpPr>
          <p:cNvPr id="5" name="Text 3"/>
          <p:cNvSpPr/>
          <p:nvPr/>
        </p:nvSpPr>
        <p:spPr>
          <a:xfrm>
            <a:off x="320040" y="137160"/>
            <a:ext cx="1325880" cy="384048"/>
          </a:xfrm>
          <a:prstGeom prst="rect">
            <a:avLst/>
          </a:prstGeom>
          <a:noFill/>
          <a:ln/>
        </p:spPr>
        <p:txBody>
          <a:bodyPr wrap="square"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WORKSHOP</a:t>
            </a:r>
            <a:endParaRPr lang="en-US" sz="1100" dirty="0"/>
          </a:p>
        </p:txBody>
      </p:sp>
      <p:sp>
        <p:nvSpPr>
          <p:cNvPr id="6" name="Text 4"/>
          <p:cNvSpPr/>
          <p:nvPr/>
        </p:nvSpPr>
        <p:spPr>
          <a:xfrm>
            <a:off x="1737360" y="137160"/>
            <a:ext cx="7132320" cy="384048"/>
          </a:xfrm>
          <a:prstGeom prst="rect">
            <a:avLst/>
          </a:prstGeom>
          <a:noFill/>
          <a:ln/>
        </p:spPr>
        <p:txBody>
          <a:bodyPr wrap="square" lIns="0" tIns="0" rIns="0" bIns="0" rtlCol="0" anchor="ctr"/>
          <a:lstStyle/>
          <a:p>
            <a:pPr marL="0" indent="0">
              <a:buNone/>
            </a:pPr>
            <a:r>
              <a:rPr lang="en-US" sz="1900" b="1" dirty="0">
                <a:solidFill>
                  <a:srgbClr val="1B2A4A"/>
                </a:solidFill>
                <a:latin typeface="Trebuchet MS" pitchFamily="34" charset="0"/>
                <a:ea typeface="Trebuchet MS" pitchFamily="34" charset="-122"/>
                <a:cs typeface="Trebuchet MS" pitchFamily="34" charset="-120"/>
              </a:rPr>
              <a:t>Applied Scenario: Vendor Security Assessment</a:t>
            </a:r>
            <a:endParaRPr lang="en-US" sz="1900" dirty="0"/>
          </a:p>
        </p:txBody>
      </p:sp>
      <p:sp>
        <p:nvSpPr>
          <p:cNvPr id="7" name="Shape 5"/>
          <p:cNvSpPr/>
          <p:nvPr/>
        </p:nvSpPr>
        <p:spPr>
          <a:xfrm>
            <a:off x="320040" y="621792"/>
            <a:ext cx="8503920" cy="749808"/>
          </a:xfrm>
          <a:prstGeom prst="rect">
            <a:avLst/>
          </a:prstGeom>
          <a:solidFill>
            <a:srgbClr val="1B2A4A"/>
          </a:solidFill>
          <a:ln w="12700">
            <a:solidFill>
              <a:srgbClr val="1B2A4A"/>
            </a:solidFill>
            <a:prstDash val="solid"/>
          </a:ln>
          <a:effectLst>
            <a:outerShdw blurRad="101600" dist="38100" dir="8100000" algn="bl" rotWithShape="0">
              <a:srgbClr val="000000">
                <a:alpha val="13000"/>
              </a:srgbClr>
            </a:outerShdw>
          </a:effectLst>
        </p:spPr>
        <p:txBody>
          <a:bodyPr/>
          <a:lstStyle/>
          <a:p>
            <a:endParaRPr lang="en-US"/>
          </a:p>
        </p:txBody>
      </p:sp>
      <p:sp>
        <p:nvSpPr>
          <p:cNvPr id="8" name="Text 6"/>
          <p:cNvSpPr/>
          <p:nvPr/>
        </p:nvSpPr>
        <p:spPr>
          <a:xfrm>
            <a:off x="411480" y="640080"/>
            <a:ext cx="8321040" cy="201168"/>
          </a:xfrm>
          <a:prstGeom prst="rect">
            <a:avLst/>
          </a:prstGeom>
          <a:noFill/>
          <a:ln/>
        </p:spPr>
        <p:txBody>
          <a:bodyPr wrap="square" rtlCol="0" anchor="ctr"/>
          <a:lstStyle/>
          <a:p>
            <a:pPr marL="0" indent="0">
              <a:buNone/>
            </a:pPr>
            <a:r>
              <a:rPr lang="en-US" sz="1000" b="1" dirty="0">
                <a:solidFill>
                  <a:srgbClr val="5EEAD4"/>
                </a:solidFill>
                <a:latin typeface="Trebuchet MS" pitchFamily="34" charset="0"/>
                <a:ea typeface="Trebuchet MS" pitchFamily="34" charset="-122"/>
                <a:cs typeface="Trebuchet MS" pitchFamily="34" charset="-120"/>
              </a:rPr>
              <a:t>SCENARIO SETUP</a:t>
            </a:r>
            <a:endParaRPr lang="en-US" sz="1000" dirty="0"/>
          </a:p>
        </p:txBody>
      </p:sp>
      <p:sp>
        <p:nvSpPr>
          <p:cNvPr id="9" name="Text 7"/>
          <p:cNvSpPr/>
          <p:nvPr/>
        </p:nvSpPr>
        <p:spPr>
          <a:xfrm>
            <a:off x="411480" y="850392"/>
            <a:ext cx="8321040" cy="475488"/>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Your team must produce a security assessment for a new fintech vendor integrating with FHB's core banking platform. You have the vendor's security documentation packet and access to Claude. The assessment will be reviewed by the CISO and shared with the vendor.</a:t>
            </a:r>
            <a:endParaRPr lang="en-US" sz="1050" dirty="0"/>
          </a:p>
        </p:txBody>
      </p:sp>
      <p:sp>
        <p:nvSpPr>
          <p:cNvPr id="10" name="Shape 8"/>
          <p:cNvSpPr/>
          <p:nvPr/>
        </p:nvSpPr>
        <p:spPr>
          <a:xfrm>
            <a:off x="320040" y="1481328"/>
            <a:ext cx="8503920" cy="530352"/>
          </a:xfrm>
          <a:prstGeom prst="rect">
            <a:avLst/>
          </a:prstGeom>
          <a:solidFill>
            <a:srgbClr val="FFFFFF"/>
          </a:solidFill>
          <a:ln w="6350">
            <a:solidFill>
              <a:srgbClr val="E2E8F0"/>
            </a:solidFill>
            <a:prstDash val="solid"/>
          </a:ln>
          <a:effectLst>
            <a:outerShdw blurRad="101600" dist="38100" dir="8100000" algn="bl" rotWithShape="0">
              <a:srgbClr val="000000">
                <a:alpha val="13000"/>
              </a:srgbClr>
            </a:outerShdw>
          </a:effectLst>
        </p:spPr>
        <p:txBody>
          <a:bodyPr/>
          <a:lstStyle/>
          <a:p>
            <a:endParaRPr lang="en-US"/>
          </a:p>
        </p:txBody>
      </p:sp>
      <p:sp>
        <p:nvSpPr>
          <p:cNvPr id="11" name="Shape 9"/>
          <p:cNvSpPr/>
          <p:nvPr/>
        </p:nvSpPr>
        <p:spPr>
          <a:xfrm>
            <a:off x="457200" y="1572768"/>
            <a:ext cx="347472" cy="347472"/>
          </a:xfrm>
          <a:prstGeom prst="ellipse">
            <a:avLst/>
          </a:prstGeom>
          <a:solidFill>
            <a:srgbClr val="0D9488"/>
          </a:solidFill>
          <a:ln w="12700">
            <a:solidFill>
              <a:srgbClr val="0D9488"/>
            </a:solidFill>
            <a:prstDash val="solid"/>
          </a:ln>
        </p:spPr>
        <p:txBody>
          <a:bodyPr/>
          <a:lstStyle/>
          <a:p>
            <a:endParaRPr lang="en-US"/>
          </a:p>
        </p:txBody>
      </p:sp>
      <p:sp>
        <p:nvSpPr>
          <p:cNvPr id="12" name="Text 10"/>
          <p:cNvSpPr/>
          <p:nvPr/>
        </p:nvSpPr>
        <p:spPr>
          <a:xfrm>
            <a:off x="457200" y="1572768"/>
            <a:ext cx="347472" cy="347472"/>
          </a:xfrm>
          <a:prstGeom prst="rect">
            <a:avLst/>
          </a:prstGeom>
          <a:noFill/>
          <a:ln/>
        </p:spPr>
        <p:txBody>
          <a:bodyPr wrap="square"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D1</a:t>
            </a:r>
            <a:endParaRPr lang="en-US" sz="1100" dirty="0"/>
          </a:p>
        </p:txBody>
      </p:sp>
      <p:sp>
        <p:nvSpPr>
          <p:cNvPr id="13" name="Text 11"/>
          <p:cNvSpPr/>
          <p:nvPr/>
        </p:nvSpPr>
        <p:spPr>
          <a:xfrm>
            <a:off x="868680" y="1517904"/>
            <a:ext cx="1417320" cy="457200"/>
          </a:xfrm>
          <a:prstGeom prst="rect">
            <a:avLst/>
          </a:prstGeom>
          <a:noFill/>
          <a:ln/>
        </p:spPr>
        <p:txBody>
          <a:bodyPr wrap="square" rtlCol="0" anchor="ctr"/>
          <a:lstStyle/>
          <a:p>
            <a:pPr marL="0" indent="0" algn="l">
              <a:buNone/>
            </a:pPr>
            <a:r>
              <a:rPr lang="en-US" sz="1000" b="1" dirty="0">
                <a:solidFill>
                  <a:srgbClr val="0D9488"/>
                </a:solidFill>
                <a:latin typeface="Trebuchet MS" pitchFamily="34" charset="0"/>
                <a:ea typeface="Trebuchet MS" pitchFamily="34" charset="-122"/>
                <a:cs typeface="Trebuchet MS" pitchFamily="34" charset="-120"/>
              </a:rPr>
              <a:t>DELEGATION</a:t>
            </a:r>
            <a:endParaRPr lang="en-US" sz="1000" dirty="0"/>
          </a:p>
        </p:txBody>
      </p:sp>
      <p:sp>
        <p:nvSpPr>
          <p:cNvPr id="14" name="Shape 12"/>
          <p:cNvSpPr/>
          <p:nvPr/>
        </p:nvSpPr>
        <p:spPr>
          <a:xfrm>
            <a:off x="2359152" y="1618488"/>
            <a:ext cx="18288" cy="256032"/>
          </a:xfrm>
          <a:prstGeom prst="rect">
            <a:avLst/>
          </a:prstGeom>
          <a:solidFill>
            <a:srgbClr val="E2E8F0"/>
          </a:solidFill>
          <a:ln w="12700">
            <a:solidFill>
              <a:srgbClr val="E2E8F0"/>
            </a:solidFill>
            <a:prstDash val="solid"/>
          </a:ln>
        </p:spPr>
        <p:txBody>
          <a:bodyPr/>
          <a:lstStyle/>
          <a:p>
            <a:endParaRPr lang="en-US"/>
          </a:p>
        </p:txBody>
      </p:sp>
      <p:sp>
        <p:nvSpPr>
          <p:cNvPr id="15" name="Text 13"/>
          <p:cNvSpPr/>
          <p:nvPr/>
        </p:nvSpPr>
        <p:spPr>
          <a:xfrm>
            <a:off x="2450592" y="1517904"/>
            <a:ext cx="6236208" cy="457200"/>
          </a:xfrm>
          <a:prstGeom prst="rect">
            <a:avLst/>
          </a:prstGeom>
          <a:noFill/>
          <a:ln/>
        </p:spPr>
        <p:txBody>
          <a:bodyPr wrap="square" rtlCol="0" anchor="ctr"/>
          <a:lstStyle/>
          <a:p>
            <a:pPr marL="0" indent="0" algn="l">
              <a:buNone/>
            </a:pPr>
            <a:r>
              <a:rPr lang="en-US" sz="1050" dirty="0">
                <a:solidFill>
                  <a:srgbClr val="1E293B"/>
                </a:solidFill>
                <a:latin typeface="Calibri" pitchFamily="34" charset="0"/>
                <a:ea typeface="Calibri" pitchFamily="34" charset="-122"/>
                <a:cs typeface="Calibri" pitchFamily="34" charset="-120"/>
              </a:rPr>
              <a:t>What parts of this assessment will you delegate to AI? What will you own completely? Create a task breakdown.</a:t>
            </a:r>
            <a:endParaRPr lang="en-US" sz="1050" dirty="0"/>
          </a:p>
        </p:txBody>
      </p:sp>
      <p:sp>
        <p:nvSpPr>
          <p:cNvPr id="16" name="Shape 14"/>
          <p:cNvSpPr/>
          <p:nvPr/>
        </p:nvSpPr>
        <p:spPr>
          <a:xfrm>
            <a:off x="320040" y="2066544"/>
            <a:ext cx="8503920" cy="530352"/>
          </a:xfrm>
          <a:prstGeom prst="rect">
            <a:avLst/>
          </a:prstGeom>
          <a:solidFill>
            <a:srgbClr val="F1FDF5"/>
          </a:solidFill>
          <a:ln w="6350">
            <a:solidFill>
              <a:srgbClr val="E2E8F0"/>
            </a:solidFill>
            <a:prstDash val="solid"/>
          </a:ln>
          <a:effectLst>
            <a:outerShdw blurRad="101600" dist="38100" dir="8100000" algn="bl" rotWithShape="0">
              <a:srgbClr val="000000">
                <a:alpha val="13000"/>
              </a:srgbClr>
            </a:outerShdw>
          </a:effectLst>
        </p:spPr>
        <p:txBody>
          <a:bodyPr/>
          <a:lstStyle/>
          <a:p>
            <a:endParaRPr lang="en-US"/>
          </a:p>
        </p:txBody>
      </p:sp>
      <p:sp>
        <p:nvSpPr>
          <p:cNvPr id="17" name="Shape 15"/>
          <p:cNvSpPr/>
          <p:nvPr/>
        </p:nvSpPr>
        <p:spPr>
          <a:xfrm>
            <a:off x="457200" y="2157984"/>
            <a:ext cx="347472" cy="347472"/>
          </a:xfrm>
          <a:prstGeom prst="ellipse">
            <a:avLst/>
          </a:prstGeom>
          <a:solidFill>
            <a:srgbClr val="F97316"/>
          </a:solidFill>
          <a:ln w="12700">
            <a:solidFill>
              <a:srgbClr val="F97316"/>
            </a:solidFill>
            <a:prstDash val="solid"/>
          </a:ln>
        </p:spPr>
        <p:txBody>
          <a:bodyPr/>
          <a:lstStyle/>
          <a:p>
            <a:endParaRPr lang="en-US"/>
          </a:p>
        </p:txBody>
      </p:sp>
      <p:sp>
        <p:nvSpPr>
          <p:cNvPr id="18" name="Text 16"/>
          <p:cNvSpPr/>
          <p:nvPr/>
        </p:nvSpPr>
        <p:spPr>
          <a:xfrm>
            <a:off x="457200" y="2157984"/>
            <a:ext cx="347472" cy="347472"/>
          </a:xfrm>
          <a:prstGeom prst="rect">
            <a:avLst/>
          </a:prstGeom>
          <a:noFill/>
          <a:ln/>
        </p:spPr>
        <p:txBody>
          <a:bodyPr wrap="square"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D2</a:t>
            </a:r>
            <a:endParaRPr lang="en-US" sz="1100" dirty="0"/>
          </a:p>
        </p:txBody>
      </p:sp>
      <p:sp>
        <p:nvSpPr>
          <p:cNvPr id="19" name="Text 17"/>
          <p:cNvSpPr/>
          <p:nvPr/>
        </p:nvSpPr>
        <p:spPr>
          <a:xfrm>
            <a:off x="868680" y="2103120"/>
            <a:ext cx="1417320" cy="457200"/>
          </a:xfrm>
          <a:prstGeom prst="rect">
            <a:avLst/>
          </a:prstGeom>
          <a:noFill/>
          <a:ln/>
        </p:spPr>
        <p:txBody>
          <a:bodyPr wrap="square" rtlCol="0" anchor="ctr"/>
          <a:lstStyle/>
          <a:p>
            <a:pPr marL="0" indent="0" algn="l">
              <a:buNone/>
            </a:pPr>
            <a:r>
              <a:rPr lang="en-US" sz="1000" b="1" dirty="0">
                <a:solidFill>
                  <a:srgbClr val="F97316"/>
                </a:solidFill>
                <a:latin typeface="Trebuchet MS" pitchFamily="34" charset="0"/>
                <a:ea typeface="Trebuchet MS" pitchFamily="34" charset="-122"/>
                <a:cs typeface="Trebuchet MS" pitchFamily="34" charset="-120"/>
              </a:rPr>
              <a:t>DESCRIPTION</a:t>
            </a:r>
            <a:endParaRPr lang="en-US" sz="1000" dirty="0"/>
          </a:p>
        </p:txBody>
      </p:sp>
      <p:sp>
        <p:nvSpPr>
          <p:cNvPr id="20" name="Shape 18"/>
          <p:cNvSpPr/>
          <p:nvPr/>
        </p:nvSpPr>
        <p:spPr>
          <a:xfrm>
            <a:off x="2359152" y="2203704"/>
            <a:ext cx="18288" cy="256032"/>
          </a:xfrm>
          <a:prstGeom prst="rect">
            <a:avLst/>
          </a:prstGeom>
          <a:solidFill>
            <a:srgbClr val="E2E8F0"/>
          </a:solidFill>
          <a:ln w="12700">
            <a:solidFill>
              <a:srgbClr val="E2E8F0"/>
            </a:solidFill>
            <a:prstDash val="solid"/>
          </a:ln>
        </p:spPr>
        <p:txBody>
          <a:bodyPr/>
          <a:lstStyle/>
          <a:p>
            <a:endParaRPr lang="en-US"/>
          </a:p>
        </p:txBody>
      </p:sp>
      <p:sp>
        <p:nvSpPr>
          <p:cNvPr id="21" name="Text 19"/>
          <p:cNvSpPr/>
          <p:nvPr/>
        </p:nvSpPr>
        <p:spPr>
          <a:xfrm>
            <a:off x="2450592" y="2103120"/>
            <a:ext cx="6236208" cy="457200"/>
          </a:xfrm>
          <a:prstGeom prst="rect">
            <a:avLst/>
          </a:prstGeom>
          <a:noFill/>
          <a:ln/>
        </p:spPr>
        <p:txBody>
          <a:bodyPr wrap="square" rtlCol="0" anchor="ctr"/>
          <a:lstStyle/>
          <a:p>
            <a:pPr marL="0" indent="0" algn="l">
              <a:buNone/>
            </a:pPr>
            <a:r>
              <a:rPr lang="en-US" sz="1050" dirty="0">
                <a:solidFill>
                  <a:srgbClr val="1E293B"/>
                </a:solidFill>
                <a:latin typeface="Calibri" pitchFamily="34" charset="0"/>
                <a:ea typeface="Calibri" pitchFamily="34" charset="-122"/>
                <a:cs typeface="Calibri" pitchFamily="34" charset="-120"/>
              </a:rPr>
              <a:t>Draft three prompts you would actually use. Include role framing, format specification, and constraints.</a:t>
            </a:r>
            <a:endParaRPr lang="en-US" sz="1050" dirty="0"/>
          </a:p>
        </p:txBody>
      </p:sp>
      <p:sp>
        <p:nvSpPr>
          <p:cNvPr id="22" name="Shape 20"/>
          <p:cNvSpPr/>
          <p:nvPr/>
        </p:nvSpPr>
        <p:spPr>
          <a:xfrm>
            <a:off x="320040" y="2651760"/>
            <a:ext cx="8503920" cy="530352"/>
          </a:xfrm>
          <a:prstGeom prst="rect">
            <a:avLst/>
          </a:prstGeom>
          <a:solidFill>
            <a:srgbClr val="FFFFFF"/>
          </a:solidFill>
          <a:ln w="6350">
            <a:solidFill>
              <a:srgbClr val="E2E8F0"/>
            </a:solidFill>
            <a:prstDash val="solid"/>
          </a:ln>
          <a:effectLst>
            <a:outerShdw blurRad="101600" dist="38100" dir="8100000" algn="bl" rotWithShape="0">
              <a:srgbClr val="000000">
                <a:alpha val="13000"/>
              </a:srgbClr>
            </a:outerShdw>
          </a:effectLst>
        </p:spPr>
        <p:txBody>
          <a:bodyPr/>
          <a:lstStyle/>
          <a:p>
            <a:endParaRPr lang="en-US"/>
          </a:p>
        </p:txBody>
      </p:sp>
      <p:sp>
        <p:nvSpPr>
          <p:cNvPr id="23" name="Shape 21"/>
          <p:cNvSpPr/>
          <p:nvPr/>
        </p:nvSpPr>
        <p:spPr>
          <a:xfrm>
            <a:off x="457200" y="2743200"/>
            <a:ext cx="347472" cy="347472"/>
          </a:xfrm>
          <a:prstGeom prst="ellipse">
            <a:avLst/>
          </a:prstGeom>
          <a:solidFill>
            <a:srgbClr val="7C3AED"/>
          </a:solidFill>
          <a:ln w="12700">
            <a:solidFill>
              <a:srgbClr val="7C3AED"/>
            </a:solidFill>
            <a:prstDash val="solid"/>
          </a:ln>
        </p:spPr>
        <p:txBody>
          <a:bodyPr/>
          <a:lstStyle/>
          <a:p>
            <a:endParaRPr lang="en-US"/>
          </a:p>
        </p:txBody>
      </p:sp>
      <p:sp>
        <p:nvSpPr>
          <p:cNvPr id="24" name="Text 22"/>
          <p:cNvSpPr/>
          <p:nvPr/>
        </p:nvSpPr>
        <p:spPr>
          <a:xfrm>
            <a:off x="457200" y="2743200"/>
            <a:ext cx="347472" cy="347472"/>
          </a:xfrm>
          <a:prstGeom prst="rect">
            <a:avLst/>
          </a:prstGeom>
          <a:noFill/>
          <a:ln/>
        </p:spPr>
        <p:txBody>
          <a:bodyPr wrap="square"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D3</a:t>
            </a:r>
            <a:endParaRPr lang="en-US" sz="1100" dirty="0"/>
          </a:p>
        </p:txBody>
      </p:sp>
      <p:sp>
        <p:nvSpPr>
          <p:cNvPr id="25" name="Text 23"/>
          <p:cNvSpPr/>
          <p:nvPr/>
        </p:nvSpPr>
        <p:spPr>
          <a:xfrm>
            <a:off x="868680" y="2688336"/>
            <a:ext cx="1417320" cy="457200"/>
          </a:xfrm>
          <a:prstGeom prst="rect">
            <a:avLst/>
          </a:prstGeom>
          <a:noFill/>
          <a:ln/>
        </p:spPr>
        <p:txBody>
          <a:bodyPr wrap="square" rtlCol="0" anchor="ctr"/>
          <a:lstStyle/>
          <a:p>
            <a:pPr marL="0" indent="0" algn="l">
              <a:buNone/>
            </a:pPr>
            <a:r>
              <a:rPr lang="en-US" sz="1000" b="1" dirty="0">
                <a:solidFill>
                  <a:srgbClr val="7C3AED"/>
                </a:solidFill>
                <a:latin typeface="Trebuchet MS" pitchFamily="34" charset="0"/>
                <a:ea typeface="Trebuchet MS" pitchFamily="34" charset="-122"/>
                <a:cs typeface="Trebuchet MS" pitchFamily="34" charset="-120"/>
              </a:rPr>
              <a:t>DISCERNMENT</a:t>
            </a:r>
            <a:endParaRPr lang="en-US" sz="1000" dirty="0"/>
          </a:p>
        </p:txBody>
      </p:sp>
      <p:sp>
        <p:nvSpPr>
          <p:cNvPr id="26" name="Shape 24"/>
          <p:cNvSpPr/>
          <p:nvPr/>
        </p:nvSpPr>
        <p:spPr>
          <a:xfrm>
            <a:off x="2359152" y="2788920"/>
            <a:ext cx="18288" cy="256032"/>
          </a:xfrm>
          <a:prstGeom prst="rect">
            <a:avLst/>
          </a:prstGeom>
          <a:solidFill>
            <a:srgbClr val="E2E8F0"/>
          </a:solidFill>
          <a:ln w="12700">
            <a:solidFill>
              <a:srgbClr val="E2E8F0"/>
            </a:solidFill>
            <a:prstDash val="solid"/>
          </a:ln>
        </p:spPr>
        <p:txBody>
          <a:bodyPr/>
          <a:lstStyle/>
          <a:p>
            <a:endParaRPr lang="en-US"/>
          </a:p>
        </p:txBody>
      </p:sp>
      <p:sp>
        <p:nvSpPr>
          <p:cNvPr id="27" name="Text 25"/>
          <p:cNvSpPr/>
          <p:nvPr/>
        </p:nvSpPr>
        <p:spPr>
          <a:xfrm>
            <a:off x="2450592" y="2688336"/>
            <a:ext cx="6236208" cy="457200"/>
          </a:xfrm>
          <a:prstGeom prst="rect">
            <a:avLst/>
          </a:prstGeom>
          <a:noFill/>
          <a:ln/>
        </p:spPr>
        <p:txBody>
          <a:bodyPr wrap="square" rtlCol="0" anchor="ctr"/>
          <a:lstStyle/>
          <a:p>
            <a:pPr marL="0" indent="0" algn="l">
              <a:buNone/>
            </a:pPr>
            <a:r>
              <a:rPr lang="en-US" sz="1050" dirty="0">
                <a:solidFill>
                  <a:srgbClr val="1E293B"/>
                </a:solidFill>
                <a:latin typeface="Calibri" pitchFamily="34" charset="0"/>
                <a:ea typeface="Calibri" pitchFamily="34" charset="-122"/>
                <a:cs typeface="Calibri" pitchFamily="34" charset="-120"/>
              </a:rPr>
              <a:t>How would you evaluate the AI's output? What would be a red flag? What verification steps before it goes to the CISO?</a:t>
            </a:r>
            <a:endParaRPr lang="en-US" sz="1050" dirty="0"/>
          </a:p>
        </p:txBody>
      </p:sp>
      <p:sp>
        <p:nvSpPr>
          <p:cNvPr id="28" name="Shape 26"/>
          <p:cNvSpPr/>
          <p:nvPr/>
        </p:nvSpPr>
        <p:spPr>
          <a:xfrm>
            <a:off x="320040" y="3236976"/>
            <a:ext cx="8503920" cy="530352"/>
          </a:xfrm>
          <a:prstGeom prst="rect">
            <a:avLst/>
          </a:prstGeom>
          <a:solidFill>
            <a:srgbClr val="F1FDF5"/>
          </a:solidFill>
          <a:ln w="6350">
            <a:solidFill>
              <a:srgbClr val="E2E8F0"/>
            </a:solidFill>
            <a:prstDash val="solid"/>
          </a:ln>
          <a:effectLst>
            <a:outerShdw blurRad="101600" dist="38100" dir="8100000" algn="bl" rotWithShape="0">
              <a:srgbClr val="000000">
                <a:alpha val="13000"/>
              </a:srgbClr>
            </a:outerShdw>
          </a:effectLst>
        </p:spPr>
        <p:txBody>
          <a:bodyPr/>
          <a:lstStyle/>
          <a:p>
            <a:endParaRPr lang="en-US"/>
          </a:p>
        </p:txBody>
      </p:sp>
      <p:sp>
        <p:nvSpPr>
          <p:cNvPr id="29" name="Shape 27"/>
          <p:cNvSpPr/>
          <p:nvPr/>
        </p:nvSpPr>
        <p:spPr>
          <a:xfrm>
            <a:off x="457200" y="3328416"/>
            <a:ext cx="347472" cy="347472"/>
          </a:xfrm>
          <a:prstGeom prst="ellipse">
            <a:avLst/>
          </a:prstGeom>
          <a:solidFill>
            <a:srgbClr val="16A34A"/>
          </a:solidFill>
          <a:ln w="12700">
            <a:solidFill>
              <a:srgbClr val="16A34A"/>
            </a:solidFill>
            <a:prstDash val="solid"/>
          </a:ln>
        </p:spPr>
        <p:txBody>
          <a:bodyPr/>
          <a:lstStyle/>
          <a:p>
            <a:endParaRPr lang="en-US"/>
          </a:p>
        </p:txBody>
      </p:sp>
      <p:sp>
        <p:nvSpPr>
          <p:cNvPr id="30" name="Text 28"/>
          <p:cNvSpPr/>
          <p:nvPr/>
        </p:nvSpPr>
        <p:spPr>
          <a:xfrm>
            <a:off x="457200" y="3328416"/>
            <a:ext cx="347472" cy="347472"/>
          </a:xfrm>
          <a:prstGeom prst="rect">
            <a:avLst/>
          </a:prstGeom>
          <a:noFill/>
          <a:ln/>
        </p:spPr>
        <p:txBody>
          <a:bodyPr wrap="square"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D4</a:t>
            </a:r>
            <a:endParaRPr lang="en-US" sz="1100" dirty="0"/>
          </a:p>
        </p:txBody>
      </p:sp>
      <p:sp>
        <p:nvSpPr>
          <p:cNvPr id="31" name="Text 29"/>
          <p:cNvSpPr/>
          <p:nvPr/>
        </p:nvSpPr>
        <p:spPr>
          <a:xfrm>
            <a:off x="868680" y="3273552"/>
            <a:ext cx="1417320" cy="457200"/>
          </a:xfrm>
          <a:prstGeom prst="rect">
            <a:avLst/>
          </a:prstGeom>
          <a:noFill/>
          <a:ln/>
        </p:spPr>
        <p:txBody>
          <a:bodyPr wrap="square" rtlCol="0" anchor="ctr"/>
          <a:lstStyle/>
          <a:p>
            <a:pPr marL="0" indent="0" algn="l">
              <a:buNone/>
            </a:pPr>
            <a:r>
              <a:rPr lang="en-US" sz="1000" b="1" dirty="0">
                <a:solidFill>
                  <a:srgbClr val="16A34A"/>
                </a:solidFill>
                <a:latin typeface="Trebuchet MS" pitchFamily="34" charset="0"/>
                <a:ea typeface="Trebuchet MS" pitchFamily="34" charset="-122"/>
                <a:cs typeface="Trebuchet MS" pitchFamily="34" charset="-120"/>
              </a:rPr>
              <a:t>DILIGENCE</a:t>
            </a:r>
            <a:endParaRPr lang="en-US" sz="1000" dirty="0"/>
          </a:p>
        </p:txBody>
      </p:sp>
      <p:sp>
        <p:nvSpPr>
          <p:cNvPr id="32" name="Shape 30"/>
          <p:cNvSpPr/>
          <p:nvPr/>
        </p:nvSpPr>
        <p:spPr>
          <a:xfrm>
            <a:off x="2359152" y="3374136"/>
            <a:ext cx="18288" cy="256032"/>
          </a:xfrm>
          <a:prstGeom prst="rect">
            <a:avLst/>
          </a:prstGeom>
          <a:solidFill>
            <a:srgbClr val="E2E8F0"/>
          </a:solidFill>
          <a:ln w="12700">
            <a:solidFill>
              <a:srgbClr val="E2E8F0"/>
            </a:solidFill>
            <a:prstDash val="solid"/>
          </a:ln>
        </p:spPr>
        <p:txBody>
          <a:bodyPr/>
          <a:lstStyle/>
          <a:p>
            <a:endParaRPr lang="en-US"/>
          </a:p>
        </p:txBody>
      </p:sp>
      <p:sp>
        <p:nvSpPr>
          <p:cNvPr id="33" name="Text 31"/>
          <p:cNvSpPr/>
          <p:nvPr/>
        </p:nvSpPr>
        <p:spPr>
          <a:xfrm>
            <a:off x="2450592" y="3273552"/>
            <a:ext cx="6236208" cy="457200"/>
          </a:xfrm>
          <a:prstGeom prst="rect">
            <a:avLst/>
          </a:prstGeom>
          <a:noFill/>
          <a:ln/>
        </p:spPr>
        <p:txBody>
          <a:bodyPr wrap="square" rtlCol="0" anchor="ctr"/>
          <a:lstStyle/>
          <a:p>
            <a:pPr marL="0" indent="0" algn="l">
              <a:buNone/>
            </a:pPr>
            <a:r>
              <a:rPr lang="en-US" sz="1050" dirty="0">
                <a:solidFill>
                  <a:srgbClr val="1E293B"/>
                </a:solidFill>
                <a:latin typeface="Calibri" pitchFamily="34" charset="0"/>
                <a:ea typeface="Calibri" pitchFamily="34" charset="-122"/>
                <a:cs typeface="Calibri" pitchFamily="34" charset="-120"/>
              </a:rPr>
              <a:t>What documentation, review steps, and disclosure practices apply? Who reviews before this leaves your team?</a:t>
            </a:r>
            <a:endParaRPr lang="en-US" sz="1050" dirty="0"/>
          </a:p>
        </p:txBody>
      </p:sp>
      <p:sp>
        <p:nvSpPr>
          <p:cNvPr id="34" name="Shape 32"/>
          <p:cNvSpPr/>
          <p:nvPr/>
        </p:nvSpPr>
        <p:spPr>
          <a:xfrm>
            <a:off x="320040" y="3895344"/>
            <a:ext cx="8503920" cy="594360"/>
          </a:xfrm>
          <a:prstGeom prst="rect">
            <a:avLst/>
          </a:prstGeom>
          <a:solidFill>
            <a:srgbClr val="1B2A4A"/>
          </a:solidFill>
          <a:ln w="12700">
            <a:solidFill>
              <a:srgbClr val="1B2A4A"/>
            </a:solidFill>
            <a:prstDash val="solid"/>
          </a:ln>
        </p:spPr>
        <p:txBody>
          <a:bodyPr/>
          <a:lstStyle/>
          <a:p>
            <a:endParaRPr lang="en-US"/>
          </a:p>
        </p:txBody>
      </p:sp>
      <p:sp>
        <p:nvSpPr>
          <p:cNvPr id="35" name="Text 33"/>
          <p:cNvSpPr/>
          <p:nvPr/>
        </p:nvSpPr>
        <p:spPr>
          <a:xfrm>
            <a:off x="411480" y="3931920"/>
            <a:ext cx="8321040" cy="182880"/>
          </a:xfrm>
          <a:prstGeom prst="rect">
            <a:avLst/>
          </a:prstGeom>
          <a:noFill/>
          <a:ln/>
        </p:spPr>
        <p:txBody>
          <a:bodyPr wrap="square" rtlCol="0" anchor="ctr"/>
          <a:lstStyle/>
          <a:p>
            <a:pPr marL="0" indent="0">
              <a:buNone/>
            </a:pPr>
            <a:r>
              <a:rPr lang="en-US" sz="950" b="1" dirty="0">
                <a:solidFill>
                  <a:srgbClr val="F59E0B"/>
                </a:solidFill>
                <a:latin typeface="Trebuchet MS" pitchFamily="34" charset="0"/>
                <a:ea typeface="Trebuchet MS" pitchFamily="34" charset="-122"/>
                <a:cs typeface="Trebuchet MS" pitchFamily="34" charset="-120"/>
              </a:rPr>
              <a:t>DEBRIEF QUESTIONS</a:t>
            </a:r>
            <a:endParaRPr lang="en-US" sz="950" dirty="0"/>
          </a:p>
        </p:txBody>
      </p:sp>
      <p:sp>
        <p:nvSpPr>
          <p:cNvPr id="36" name="Text 34"/>
          <p:cNvSpPr/>
          <p:nvPr/>
        </p:nvSpPr>
        <p:spPr>
          <a:xfrm>
            <a:off x="411480" y="4133088"/>
            <a:ext cx="8321040" cy="2926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What was the hardest D to apply?   ·   Where did your group disagree?   ·   What would you do differently from your current practice?</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8595360" y="4800600"/>
            <a:ext cx="41148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31</a:t>
            </a:r>
            <a:endParaRPr lang="en-US" sz="900" dirty="0"/>
          </a:p>
        </p:txBody>
      </p:sp>
      <p:sp>
        <p:nvSpPr>
          <p:cNvPr id="4" name="Text 2"/>
          <p:cNvSpPr/>
          <p:nvPr/>
        </p:nvSpPr>
        <p:spPr>
          <a:xfrm>
            <a:off x="320040" y="109728"/>
            <a:ext cx="8503920" cy="457200"/>
          </a:xfrm>
          <a:prstGeom prst="rect">
            <a:avLst/>
          </a:prstGeom>
          <a:noFill/>
          <a:ln/>
        </p:spPr>
        <p:txBody>
          <a:bodyPr wrap="square" lIns="0" tIns="0" rIns="0" bIns="0" rtlCol="0" anchor="ctr"/>
          <a:lstStyle/>
          <a:p>
            <a:pPr marL="0" indent="0">
              <a:buNone/>
            </a:pPr>
            <a:r>
              <a:rPr lang="en-US" sz="2400" b="1" dirty="0">
                <a:solidFill>
                  <a:srgbClr val="1B2A4A"/>
                </a:solidFill>
                <a:latin typeface="Trebuchet MS" pitchFamily="34" charset="0"/>
                <a:ea typeface="Trebuchet MS" pitchFamily="34" charset="-122"/>
                <a:cs typeface="Trebuchet MS" pitchFamily="34" charset="-120"/>
              </a:rPr>
              <a:t>Recap</a:t>
            </a:r>
            <a:endParaRPr lang="en-US" sz="2400" dirty="0"/>
          </a:p>
        </p:txBody>
      </p:sp>
      <p:sp>
        <p:nvSpPr>
          <p:cNvPr id="5" name="Shape 3"/>
          <p:cNvSpPr/>
          <p:nvPr/>
        </p:nvSpPr>
        <p:spPr>
          <a:xfrm>
            <a:off x="320040" y="685800"/>
            <a:ext cx="2697480" cy="192024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6" name="Shape 4"/>
          <p:cNvSpPr/>
          <p:nvPr/>
        </p:nvSpPr>
        <p:spPr>
          <a:xfrm>
            <a:off x="320040" y="685800"/>
            <a:ext cx="2697480" cy="502920"/>
          </a:xfrm>
          <a:prstGeom prst="rect">
            <a:avLst/>
          </a:prstGeom>
          <a:solidFill>
            <a:srgbClr val="0D9488"/>
          </a:solidFill>
          <a:ln w="12700">
            <a:solidFill>
              <a:srgbClr val="0D948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11480" y="758952"/>
            <a:ext cx="329184" cy="329184"/>
          </a:xfrm>
          <a:prstGeom prst="rect">
            <a:avLst/>
          </a:prstGeom>
        </p:spPr>
      </p:pic>
      <p:sp>
        <p:nvSpPr>
          <p:cNvPr id="8" name="Text 5"/>
          <p:cNvSpPr/>
          <p:nvPr/>
        </p:nvSpPr>
        <p:spPr>
          <a:xfrm>
            <a:off x="777240" y="722376"/>
            <a:ext cx="640080" cy="219456"/>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Part 1</a:t>
            </a:r>
            <a:endParaRPr lang="en-US" sz="900" dirty="0"/>
          </a:p>
        </p:txBody>
      </p:sp>
      <p:sp>
        <p:nvSpPr>
          <p:cNvPr id="9" name="Text 6"/>
          <p:cNvSpPr/>
          <p:nvPr/>
        </p:nvSpPr>
        <p:spPr>
          <a:xfrm>
            <a:off x="777240" y="941832"/>
            <a:ext cx="2148840" cy="219456"/>
          </a:xfrm>
          <a:prstGeom prst="rect">
            <a:avLst/>
          </a:prstGeom>
          <a:noFill/>
          <a:ln/>
        </p:spPr>
        <p:txBody>
          <a:bodyPr wrap="square" rtlCol="0" anchor="ctr"/>
          <a:lstStyle/>
          <a:p>
            <a:pPr marL="0" indent="0">
              <a:buNone/>
            </a:pPr>
            <a:r>
              <a:rPr lang="en-US" sz="900" b="1" dirty="0">
                <a:solidFill>
                  <a:srgbClr val="FFFFFF"/>
                </a:solidFill>
                <a:latin typeface="Trebuchet MS" pitchFamily="34" charset="0"/>
                <a:ea typeface="Trebuchet MS" pitchFamily="34" charset="-122"/>
                <a:cs typeface="Trebuchet MS" pitchFamily="34" charset="-120"/>
              </a:rPr>
              <a:t>Prompt Like a Professional</a:t>
            </a:r>
            <a:endParaRPr lang="en-US" sz="900" dirty="0"/>
          </a:p>
        </p:txBody>
      </p:sp>
      <p:sp>
        <p:nvSpPr>
          <p:cNvPr id="10" name="Shape 7"/>
          <p:cNvSpPr/>
          <p:nvPr/>
        </p:nvSpPr>
        <p:spPr>
          <a:xfrm>
            <a:off x="429768" y="1344168"/>
            <a:ext cx="91440" cy="91440"/>
          </a:xfrm>
          <a:prstGeom prst="ellipse">
            <a:avLst/>
          </a:prstGeom>
          <a:solidFill>
            <a:srgbClr val="0D9488"/>
          </a:solidFill>
          <a:ln w="12700">
            <a:solidFill>
              <a:srgbClr val="0D9488"/>
            </a:solidFill>
            <a:prstDash val="solid"/>
          </a:ln>
        </p:spPr>
        <p:txBody>
          <a:bodyPr/>
          <a:lstStyle/>
          <a:p>
            <a:endParaRPr lang="en-US"/>
          </a:p>
        </p:txBody>
      </p:sp>
      <p:sp>
        <p:nvSpPr>
          <p:cNvPr id="11" name="Text 8"/>
          <p:cNvSpPr/>
          <p:nvPr/>
        </p:nvSpPr>
        <p:spPr>
          <a:xfrm>
            <a:off x="576072" y="1252728"/>
            <a:ext cx="2350008" cy="310896"/>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Anatomy of an effective prompt</a:t>
            </a:r>
            <a:endParaRPr lang="en-US" sz="950" dirty="0"/>
          </a:p>
        </p:txBody>
      </p:sp>
      <p:sp>
        <p:nvSpPr>
          <p:cNvPr id="12" name="Shape 9"/>
          <p:cNvSpPr/>
          <p:nvPr/>
        </p:nvSpPr>
        <p:spPr>
          <a:xfrm>
            <a:off x="429768" y="1673352"/>
            <a:ext cx="91440" cy="91440"/>
          </a:xfrm>
          <a:prstGeom prst="ellipse">
            <a:avLst/>
          </a:prstGeom>
          <a:solidFill>
            <a:srgbClr val="0D9488"/>
          </a:solidFill>
          <a:ln w="12700">
            <a:solidFill>
              <a:srgbClr val="0D9488"/>
            </a:solidFill>
            <a:prstDash val="solid"/>
          </a:ln>
        </p:spPr>
        <p:txBody>
          <a:bodyPr/>
          <a:lstStyle/>
          <a:p>
            <a:endParaRPr lang="en-US"/>
          </a:p>
        </p:txBody>
      </p:sp>
      <p:sp>
        <p:nvSpPr>
          <p:cNvPr id="13" name="Text 10"/>
          <p:cNvSpPr/>
          <p:nvPr/>
        </p:nvSpPr>
        <p:spPr>
          <a:xfrm>
            <a:off x="576072" y="1581912"/>
            <a:ext cx="2350008" cy="310896"/>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5 principles of prompting</a:t>
            </a:r>
            <a:endParaRPr lang="en-US" sz="950" dirty="0"/>
          </a:p>
        </p:txBody>
      </p:sp>
      <p:sp>
        <p:nvSpPr>
          <p:cNvPr id="14" name="Shape 11"/>
          <p:cNvSpPr/>
          <p:nvPr/>
        </p:nvSpPr>
        <p:spPr>
          <a:xfrm>
            <a:off x="429768" y="2002536"/>
            <a:ext cx="91440" cy="91440"/>
          </a:xfrm>
          <a:prstGeom prst="ellipse">
            <a:avLst/>
          </a:prstGeom>
          <a:solidFill>
            <a:srgbClr val="0D9488"/>
          </a:solidFill>
          <a:ln w="12700">
            <a:solidFill>
              <a:srgbClr val="0D9488"/>
            </a:solidFill>
            <a:prstDash val="solid"/>
          </a:ln>
        </p:spPr>
        <p:txBody>
          <a:bodyPr/>
          <a:lstStyle/>
          <a:p>
            <a:endParaRPr lang="en-US"/>
          </a:p>
        </p:txBody>
      </p:sp>
      <p:sp>
        <p:nvSpPr>
          <p:cNvPr id="15" name="Text 12"/>
          <p:cNvSpPr/>
          <p:nvPr/>
        </p:nvSpPr>
        <p:spPr>
          <a:xfrm>
            <a:off x="576072" y="1911096"/>
            <a:ext cx="2350008" cy="310896"/>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Iteration as a core skill</a:t>
            </a:r>
            <a:endParaRPr lang="en-US" sz="950" dirty="0"/>
          </a:p>
        </p:txBody>
      </p:sp>
      <p:sp>
        <p:nvSpPr>
          <p:cNvPr id="16" name="Shape 13"/>
          <p:cNvSpPr/>
          <p:nvPr/>
        </p:nvSpPr>
        <p:spPr>
          <a:xfrm>
            <a:off x="429768" y="2331720"/>
            <a:ext cx="91440" cy="91440"/>
          </a:xfrm>
          <a:prstGeom prst="ellipse">
            <a:avLst/>
          </a:prstGeom>
          <a:solidFill>
            <a:srgbClr val="0D9488"/>
          </a:solidFill>
          <a:ln w="12700">
            <a:solidFill>
              <a:srgbClr val="0D9488"/>
            </a:solidFill>
            <a:prstDash val="solid"/>
          </a:ln>
        </p:spPr>
        <p:txBody>
          <a:bodyPr/>
          <a:lstStyle/>
          <a:p>
            <a:endParaRPr lang="en-US"/>
          </a:p>
        </p:txBody>
      </p:sp>
      <p:sp>
        <p:nvSpPr>
          <p:cNvPr id="17" name="Text 14"/>
          <p:cNvSpPr/>
          <p:nvPr/>
        </p:nvSpPr>
        <p:spPr>
          <a:xfrm>
            <a:off x="576072" y="2240280"/>
            <a:ext cx="2350008" cy="310896"/>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Reusable prompt templates</a:t>
            </a:r>
            <a:endParaRPr lang="en-US" sz="950" dirty="0"/>
          </a:p>
        </p:txBody>
      </p:sp>
      <p:sp>
        <p:nvSpPr>
          <p:cNvPr id="18" name="Shape 15"/>
          <p:cNvSpPr/>
          <p:nvPr/>
        </p:nvSpPr>
        <p:spPr>
          <a:xfrm>
            <a:off x="3223260" y="1737360"/>
            <a:ext cx="2697480" cy="192024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19" name="Shape 16"/>
          <p:cNvSpPr/>
          <p:nvPr/>
        </p:nvSpPr>
        <p:spPr>
          <a:xfrm>
            <a:off x="3223260" y="1737360"/>
            <a:ext cx="2697480" cy="502920"/>
          </a:xfrm>
          <a:prstGeom prst="rect">
            <a:avLst/>
          </a:prstGeom>
          <a:solidFill>
            <a:srgbClr val="F97316"/>
          </a:solidFill>
          <a:ln w="12700">
            <a:solidFill>
              <a:srgbClr val="F97316"/>
            </a:solidFill>
            <a:prstDash val="solid"/>
          </a:ln>
        </p:spPr>
        <p:txBody>
          <a:bodyPr/>
          <a:lstStyle/>
          <a:p>
            <a:endParaRPr lang="en-US"/>
          </a:p>
        </p:txBody>
      </p:sp>
      <p:pic>
        <p:nvPicPr>
          <p:cNvPr id="20" name="Image 1" descr="preencoded.png"/>
          <p:cNvPicPr>
            <a:picLocks noChangeAspect="1"/>
          </p:cNvPicPr>
          <p:nvPr/>
        </p:nvPicPr>
        <p:blipFill>
          <a:blip r:embed="rId4"/>
          <a:stretch>
            <a:fillRect/>
          </a:stretch>
        </p:blipFill>
        <p:spPr>
          <a:xfrm>
            <a:off x="3314700" y="1810512"/>
            <a:ext cx="329184" cy="329184"/>
          </a:xfrm>
          <a:prstGeom prst="rect">
            <a:avLst/>
          </a:prstGeom>
        </p:spPr>
      </p:pic>
      <p:sp>
        <p:nvSpPr>
          <p:cNvPr id="21" name="Text 17"/>
          <p:cNvSpPr/>
          <p:nvPr/>
        </p:nvSpPr>
        <p:spPr>
          <a:xfrm>
            <a:off x="3680460" y="1773936"/>
            <a:ext cx="640080" cy="219456"/>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Part 2</a:t>
            </a:r>
            <a:endParaRPr lang="en-US" sz="900" dirty="0"/>
          </a:p>
        </p:txBody>
      </p:sp>
      <p:sp>
        <p:nvSpPr>
          <p:cNvPr id="22" name="Text 18"/>
          <p:cNvSpPr/>
          <p:nvPr/>
        </p:nvSpPr>
        <p:spPr>
          <a:xfrm>
            <a:off x="3680460" y="1993392"/>
            <a:ext cx="2148840" cy="219456"/>
          </a:xfrm>
          <a:prstGeom prst="rect">
            <a:avLst/>
          </a:prstGeom>
          <a:noFill/>
          <a:ln/>
        </p:spPr>
        <p:txBody>
          <a:bodyPr wrap="square" rtlCol="0" anchor="ctr"/>
          <a:lstStyle/>
          <a:p>
            <a:pPr marL="0" indent="0">
              <a:buNone/>
            </a:pPr>
            <a:r>
              <a:rPr lang="en-US" sz="900" b="1" dirty="0">
                <a:solidFill>
                  <a:srgbClr val="FFFFFF"/>
                </a:solidFill>
                <a:latin typeface="Trebuchet MS" pitchFamily="34" charset="0"/>
                <a:ea typeface="Trebuchet MS" pitchFamily="34" charset="-122"/>
                <a:cs typeface="Trebuchet MS" pitchFamily="34" charset="-120"/>
              </a:rPr>
              <a:t>Verify Like a Skeptic</a:t>
            </a:r>
            <a:endParaRPr lang="en-US" sz="900" dirty="0"/>
          </a:p>
        </p:txBody>
      </p:sp>
      <p:sp>
        <p:nvSpPr>
          <p:cNvPr id="23" name="Shape 19"/>
          <p:cNvSpPr/>
          <p:nvPr/>
        </p:nvSpPr>
        <p:spPr>
          <a:xfrm>
            <a:off x="3332988" y="2395728"/>
            <a:ext cx="91440" cy="91440"/>
          </a:xfrm>
          <a:prstGeom prst="ellipse">
            <a:avLst/>
          </a:prstGeom>
          <a:solidFill>
            <a:srgbClr val="F97316"/>
          </a:solidFill>
          <a:ln w="12700">
            <a:solidFill>
              <a:srgbClr val="F97316"/>
            </a:solidFill>
            <a:prstDash val="solid"/>
          </a:ln>
        </p:spPr>
        <p:txBody>
          <a:bodyPr/>
          <a:lstStyle/>
          <a:p>
            <a:endParaRPr lang="en-US"/>
          </a:p>
        </p:txBody>
      </p:sp>
      <p:sp>
        <p:nvSpPr>
          <p:cNvPr id="24" name="Text 20"/>
          <p:cNvSpPr/>
          <p:nvPr/>
        </p:nvSpPr>
        <p:spPr>
          <a:xfrm>
            <a:off x="3479292" y="2304288"/>
            <a:ext cx="2350008" cy="310896"/>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The trust spectrum</a:t>
            </a:r>
            <a:endParaRPr lang="en-US" sz="950" dirty="0"/>
          </a:p>
        </p:txBody>
      </p:sp>
      <p:sp>
        <p:nvSpPr>
          <p:cNvPr id="25" name="Shape 21"/>
          <p:cNvSpPr/>
          <p:nvPr/>
        </p:nvSpPr>
        <p:spPr>
          <a:xfrm>
            <a:off x="3332988" y="2724912"/>
            <a:ext cx="91440" cy="91440"/>
          </a:xfrm>
          <a:prstGeom prst="ellipse">
            <a:avLst/>
          </a:prstGeom>
          <a:solidFill>
            <a:srgbClr val="F97316"/>
          </a:solidFill>
          <a:ln w="12700">
            <a:solidFill>
              <a:srgbClr val="F97316"/>
            </a:solidFill>
            <a:prstDash val="solid"/>
          </a:ln>
        </p:spPr>
        <p:txBody>
          <a:bodyPr/>
          <a:lstStyle/>
          <a:p>
            <a:endParaRPr lang="en-US"/>
          </a:p>
        </p:txBody>
      </p:sp>
      <p:sp>
        <p:nvSpPr>
          <p:cNvPr id="26" name="Text 22"/>
          <p:cNvSpPr/>
          <p:nvPr/>
        </p:nvSpPr>
        <p:spPr>
          <a:xfrm>
            <a:off x="3479292" y="2633472"/>
            <a:ext cx="2350008" cy="310896"/>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Hallucination, sycophancy, staleness</a:t>
            </a:r>
            <a:endParaRPr lang="en-US" sz="950" dirty="0"/>
          </a:p>
        </p:txBody>
      </p:sp>
      <p:sp>
        <p:nvSpPr>
          <p:cNvPr id="27" name="Shape 23"/>
          <p:cNvSpPr/>
          <p:nvPr/>
        </p:nvSpPr>
        <p:spPr>
          <a:xfrm>
            <a:off x="3332988" y="3054096"/>
            <a:ext cx="91440" cy="91440"/>
          </a:xfrm>
          <a:prstGeom prst="ellipse">
            <a:avLst/>
          </a:prstGeom>
          <a:solidFill>
            <a:srgbClr val="F97316"/>
          </a:solidFill>
          <a:ln w="12700">
            <a:solidFill>
              <a:srgbClr val="F97316"/>
            </a:solidFill>
            <a:prstDash val="solid"/>
          </a:ln>
        </p:spPr>
        <p:txBody>
          <a:bodyPr/>
          <a:lstStyle/>
          <a:p>
            <a:endParaRPr lang="en-US"/>
          </a:p>
        </p:txBody>
      </p:sp>
      <p:sp>
        <p:nvSpPr>
          <p:cNvPr id="28" name="Text 24"/>
          <p:cNvSpPr/>
          <p:nvPr/>
        </p:nvSpPr>
        <p:spPr>
          <a:xfrm>
            <a:off x="3479292" y="2962656"/>
            <a:ext cx="2350008" cy="310896"/>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Real-world case studies</a:t>
            </a:r>
            <a:endParaRPr lang="en-US" sz="950" dirty="0"/>
          </a:p>
        </p:txBody>
      </p:sp>
      <p:sp>
        <p:nvSpPr>
          <p:cNvPr id="29" name="Shape 25"/>
          <p:cNvSpPr/>
          <p:nvPr/>
        </p:nvSpPr>
        <p:spPr>
          <a:xfrm>
            <a:off x="3332988" y="3383280"/>
            <a:ext cx="91440" cy="91440"/>
          </a:xfrm>
          <a:prstGeom prst="ellipse">
            <a:avLst/>
          </a:prstGeom>
          <a:solidFill>
            <a:srgbClr val="F97316"/>
          </a:solidFill>
          <a:ln w="12700">
            <a:solidFill>
              <a:srgbClr val="F97316"/>
            </a:solidFill>
            <a:prstDash val="solid"/>
          </a:ln>
        </p:spPr>
        <p:txBody>
          <a:bodyPr/>
          <a:lstStyle/>
          <a:p>
            <a:endParaRPr lang="en-US"/>
          </a:p>
        </p:txBody>
      </p:sp>
      <p:sp>
        <p:nvSpPr>
          <p:cNvPr id="30" name="Text 26"/>
          <p:cNvSpPr/>
          <p:nvPr/>
        </p:nvSpPr>
        <p:spPr>
          <a:xfrm>
            <a:off x="3479292" y="3291840"/>
            <a:ext cx="2350008" cy="310896"/>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Verification strategy toolkit</a:t>
            </a:r>
            <a:endParaRPr lang="en-US" sz="950" dirty="0"/>
          </a:p>
        </p:txBody>
      </p:sp>
      <p:sp>
        <p:nvSpPr>
          <p:cNvPr id="31" name="Shape 27"/>
          <p:cNvSpPr/>
          <p:nvPr/>
        </p:nvSpPr>
        <p:spPr>
          <a:xfrm>
            <a:off x="6126480" y="2788920"/>
            <a:ext cx="2697480" cy="1920240"/>
          </a:xfrm>
          <a:prstGeom prst="rect">
            <a:avLst/>
          </a:prstGeom>
          <a:solidFill>
            <a:srgbClr val="FFFFFF"/>
          </a:solidFill>
          <a:ln w="6350">
            <a:solidFill>
              <a:srgbClr val="E2E8F0"/>
            </a:solidFill>
            <a:prstDash val="solid"/>
          </a:ln>
          <a:effectLst>
            <a:outerShdw blurRad="152400" dist="50800" dir="8100000" algn="bl" rotWithShape="0">
              <a:srgbClr val="000000">
                <a:alpha val="10000"/>
              </a:srgbClr>
            </a:outerShdw>
          </a:effectLst>
        </p:spPr>
        <p:txBody>
          <a:bodyPr/>
          <a:lstStyle/>
          <a:p>
            <a:endParaRPr lang="en-US"/>
          </a:p>
        </p:txBody>
      </p:sp>
      <p:sp>
        <p:nvSpPr>
          <p:cNvPr id="32" name="Shape 28"/>
          <p:cNvSpPr/>
          <p:nvPr/>
        </p:nvSpPr>
        <p:spPr>
          <a:xfrm>
            <a:off x="6126480" y="2788920"/>
            <a:ext cx="2697480" cy="502920"/>
          </a:xfrm>
          <a:prstGeom prst="rect">
            <a:avLst/>
          </a:prstGeom>
          <a:solidFill>
            <a:srgbClr val="7C3AED"/>
          </a:solidFill>
          <a:ln w="12700">
            <a:solidFill>
              <a:srgbClr val="7C3AED"/>
            </a:solidFill>
            <a:prstDash val="solid"/>
          </a:ln>
        </p:spPr>
        <p:txBody>
          <a:bodyPr/>
          <a:lstStyle/>
          <a:p>
            <a:endParaRPr lang="en-US"/>
          </a:p>
        </p:txBody>
      </p:sp>
      <p:pic>
        <p:nvPicPr>
          <p:cNvPr id="33" name="Image 2" descr="preencoded.png"/>
          <p:cNvPicPr>
            <a:picLocks noChangeAspect="1"/>
          </p:cNvPicPr>
          <p:nvPr/>
        </p:nvPicPr>
        <p:blipFill>
          <a:blip r:embed="rId5"/>
          <a:stretch>
            <a:fillRect/>
          </a:stretch>
        </p:blipFill>
        <p:spPr>
          <a:xfrm>
            <a:off x="6217920" y="2862072"/>
            <a:ext cx="329184" cy="329184"/>
          </a:xfrm>
          <a:prstGeom prst="rect">
            <a:avLst/>
          </a:prstGeom>
        </p:spPr>
      </p:pic>
      <p:sp>
        <p:nvSpPr>
          <p:cNvPr id="34" name="Text 29"/>
          <p:cNvSpPr/>
          <p:nvPr/>
        </p:nvSpPr>
        <p:spPr>
          <a:xfrm>
            <a:off x="6583680" y="2825496"/>
            <a:ext cx="640080" cy="219456"/>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Part 3</a:t>
            </a:r>
            <a:endParaRPr lang="en-US" sz="900" dirty="0"/>
          </a:p>
        </p:txBody>
      </p:sp>
      <p:sp>
        <p:nvSpPr>
          <p:cNvPr id="35" name="Text 30"/>
          <p:cNvSpPr/>
          <p:nvPr/>
        </p:nvSpPr>
        <p:spPr>
          <a:xfrm>
            <a:off x="6583680" y="3044952"/>
            <a:ext cx="2148840" cy="219456"/>
          </a:xfrm>
          <a:prstGeom prst="rect">
            <a:avLst/>
          </a:prstGeom>
          <a:noFill/>
          <a:ln/>
        </p:spPr>
        <p:txBody>
          <a:bodyPr wrap="square" rtlCol="0" anchor="ctr"/>
          <a:lstStyle/>
          <a:p>
            <a:pPr marL="0" indent="0">
              <a:buNone/>
            </a:pPr>
            <a:r>
              <a:rPr lang="en-US" sz="900" b="1" dirty="0">
                <a:solidFill>
                  <a:srgbClr val="FFFFFF"/>
                </a:solidFill>
                <a:latin typeface="Trebuchet MS" pitchFamily="34" charset="0"/>
                <a:ea typeface="Trebuchet MS" pitchFamily="34" charset="-122"/>
                <a:cs typeface="Trebuchet MS" pitchFamily="34" charset="-120"/>
              </a:rPr>
              <a:t>Lead Like a Pro</a:t>
            </a:r>
            <a:endParaRPr lang="en-US" sz="900" dirty="0"/>
          </a:p>
        </p:txBody>
      </p:sp>
      <p:sp>
        <p:nvSpPr>
          <p:cNvPr id="36" name="Shape 31"/>
          <p:cNvSpPr/>
          <p:nvPr/>
        </p:nvSpPr>
        <p:spPr>
          <a:xfrm>
            <a:off x="6236208" y="3447288"/>
            <a:ext cx="91440" cy="91440"/>
          </a:xfrm>
          <a:prstGeom prst="ellipse">
            <a:avLst/>
          </a:prstGeom>
          <a:solidFill>
            <a:srgbClr val="7C3AED"/>
          </a:solidFill>
          <a:ln w="12700">
            <a:solidFill>
              <a:srgbClr val="7C3AED"/>
            </a:solidFill>
            <a:prstDash val="solid"/>
          </a:ln>
        </p:spPr>
        <p:txBody>
          <a:bodyPr/>
          <a:lstStyle/>
          <a:p>
            <a:endParaRPr lang="en-US"/>
          </a:p>
        </p:txBody>
      </p:sp>
      <p:sp>
        <p:nvSpPr>
          <p:cNvPr id="37" name="Text 32"/>
          <p:cNvSpPr/>
          <p:nvPr/>
        </p:nvSpPr>
        <p:spPr>
          <a:xfrm>
            <a:off x="6382512" y="3355848"/>
            <a:ext cx="2350008" cy="310896"/>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Delegation</a:t>
            </a:r>
            <a:endParaRPr lang="en-US" sz="950" dirty="0"/>
          </a:p>
        </p:txBody>
      </p:sp>
      <p:sp>
        <p:nvSpPr>
          <p:cNvPr id="38" name="Shape 33"/>
          <p:cNvSpPr/>
          <p:nvPr/>
        </p:nvSpPr>
        <p:spPr>
          <a:xfrm>
            <a:off x="6236208" y="3776472"/>
            <a:ext cx="91440" cy="91440"/>
          </a:xfrm>
          <a:prstGeom prst="ellipse">
            <a:avLst/>
          </a:prstGeom>
          <a:solidFill>
            <a:srgbClr val="7C3AED"/>
          </a:solidFill>
          <a:ln w="12700">
            <a:solidFill>
              <a:srgbClr val="7C3AED"/>
            </a:solidFill>
            <a:prstDash val="solid"/>
          </a:ln>
        </p:spPr>
        <p:txBody>
          <a:bodyPr/>
          <a:lstStyle/>
          <a:p>
            <a:endParaRPr lang="en-US"/>
          </a:p>
        </p:txBody>
      </p:sp>
      <p:sp>
        <p:nvSpPr>
          <p:cNvPr id="39" name="Text 34"/>
          <p:cNvSpPr/>
          <p:nvPr/>
        </p:nvSpPr>
        <p:spPr>
          <a:xfrm>
            <a:off x="6382512" y="3685032"/>
            <a:ext cx="2350008" cy="310896"/>
          </a:xfrm>
          <a:prstGeom prst="rect">
            <a:avLst/>
          </a:prstGeom>
          <a:noFill/>
          <a:ln/>
        </p:spPr>
        <p:txBody>
          <a:bodyPr wrap="square" rtlCol="0" anchor="ctr"/>
          <a:lstStyle/>
          <a:p>
            <a:r>
              <a:rPr lang="en-US" sz="950" dirty="0">
                <a:solidFill>
                  <a:srgbClr val="1E293B"/>
                </a:solidFill>
                <a:latin typeface="Calibri" pitchFamily="34" charset="0"/>
                <a:ea typeface="Calibri" pitchFamily="34" charset="-122"/>
                <a:cs typeface="Calibri" pitchFamily="34" charset="-120"/>
              </a:rPr>
              <a:t>Description</a:t>
            </a:r>
            <a:endParaRPr lang="en-US" sz="950" dirty="0"/>
          </a:p>
        </p:txBody>
      </p:sp>
      <p:sp>
        <p:nvSpPr>
          <p:cNvPr id="40" name="Shape 35"/>
          <p:cNvSpPr/>
          <p:nvPr/>
        </p:nvSpPr>
        <p:spPr>
          <a:xfrm>
            <a:off x="6236208" y="4105656"/>
            <a:ext cx="91440" cy="91440"/>
          </a:xfrm>
          <a:prstGeom prst="ellipse">
            <a:avLst/>
          </a:prstGeom>
          <a:solidFill>
            <a:srgbClr val="7C3AED"/>
          </a:solidFill>
          <a:ln w="12700">
            <a:solidFill>
              <a:srgbClr val="7C3AED"/>
            </a:solidFill>
            <a:prstDash val="solid"/>
          </a:ln>
        </p:spPr>
        <p:txBody>
          <a:bodyPr/>
          <a:lstStyle/>
          <a:p>
            <a:endParaRPr lang="en-US"/>
          </a:p>
        </p:txBody>
      </p:sp>
      <p:sp>
        <p:nvSpPr>
          <p:cNvPr id="41" name="Text 36"/>
          <p:cNvSpPr/>
          <p:nvPr/>
        </p:nvSpPr>
        <p:spPr>
          <a:xfrm>
            <a:off x="6382512" y="4014216"/>
            <a:ext cx="2350008" cy="310896"/>
          </a:xfrm>
          <a:prstGeom prst="rect">
            <a:avLst/>
          </a:prstGeom>
          <a:noFill/>
          <a:ln/>
        </p:spPr>
        <p:txBody>
          <a:bodyPr wrap="square" rtlCol="0" anchor="ctr"/>
          <a:lstStyle/>
          <a:p>
            <a:r>
              <a:rPr lang="en-US" sz="950" dirty="0">
                <a:solidFill>
                  <a:srgbClr val="1E293B"/>
                </a:solidFill>
                <a:latin typeface="Calibri" pitchFamily="34" charset="0"/>
                <a:ea typeface="Calibri" pitchFamily="34" charset="-122"/>
                <a:cs typeface="Calibri" pitchFamily="34" charset="-120"/>
              </a:rPr>
              <a:t>Discernment</a:t>
            </a:r>
            <a:endParaRPr lang="en-US" sz="950" dirty="0"/>
          </a:p>
        </p:txBody>
      </p:sp>
      <p:sp>
        <p:nvSpPr>
          <p:cNvPr id="42" name="Shape 37"/>
          <p:cNvSpPr/>
          <p:nvPr/>
        </p:nvSpPr>
        <p:spPr>
          <a:xfrm>
            <a:off x="6236208" y="4434840"/>
            <a:ext cx="91440" cy="91440"/>
          </a:xfrm>
          <a:prstGeom prst="ellipse">
            <a:avLst/>
          </a:prstGeom>
          <a:solidFill>
            <a:srgbClr val="7C3AED"/>
          </a:solidFill>
          <a:ln w="12700">
            <a:solidFill>
              <a:srgbClr val="7C3AED"/>
            </a:solidFill>
            <a:prstDash val="solid"/>
          </a:ln>
        </p:spPr>
        <p:txBody>
          <a:bodyPr/>
          <a:lstStyle/>
          <a:p>
            <a:endParaRPr lang="en-US"/>
          </a:p>
        </p:txBody>
      </p:sp>
      <p:sp>
        <p:nvSpPr>
          <p:cNvPr id="43" name="Text 38"/>
          <p:cNvSpPr/>
          <p:nvPr/>
        </p:nvSpPr>
        <p:spPr>
          <a:xfrm>
            <a:off x="6382512" y="4343400"/>
            <a:ext cx="2350008" cy="310896"/>
          </a:xfrm>
          <a:prstGeom prst="rect">
            <a:avLst/>
          </a:prstGeom>
          <a:noFill/>
          <a:ln/>
        </p:spPr>
        <p:txBody>
          <a:bodyPr wrap="square" rtlCol="0" anchor="ctr"/>
          <a:lstStyle/>
          <a:p>
            <a:r>
              <a:rPr lang="en-US" sz="950" dirty="0">
                <a:solidFill>
                  <a:srgbClr val="1E293B"/>
                </a:solidFill>
                <a:latin typeface="Calibri" pitchFamily="34" charset="0"/>
                <a:ea typeface="Calibri" pitchFamily="34" charset="-122"/>
                <a:cs typeface="Calibri" pitchFamily="34" charset="-120"/>
              </a:rPr>
              <a:t>Diligence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3653</Words>
  <Application>Microsoft Macintosh PowerPoint</Application>
  <PresentationFormat>On-screen Show (16:9)</PresentationFormat>
  <Paragraphs>528</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Communicating with AI: Prompts, Precision &amp; Professional Judgment</dc:title>
  <dc:subject>PptxGenJS Presentation</dc:subject>
  <dc:creator>First Hawaiian Bank — Cybersecurity &amp; Technology</dc:creator>
  <cp:lastModifiedBy>James Jaworski</cp:lastModifiedBy>
  <cp:revision>17</cp:revision>
  <dcterms:created xsi:type="dcterms:W3CDTF">2026-04-20T00:27:43Z</dcterms:created>
  <dcterms:modified xsi:type="dcterms:W3CDTF">2026-04-20T04:56:43Z</dcterms:modified>
</cp:coreProperties>
</file>